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not memorising 200 answers. We are learning the 40 or so patterns that keep repeating, so that any new question looks familiar. Ask students: how many of you ran out of time on the last 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areas. Point out that scenario questions dominate: about half the paper is "here is a situation, what is happening". Tell students there will be a quick check slide after each block, where they answer before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with any question from the papers: read it aloud, ask the class to shout the clue words, then the concept, and only then reveal the options. Emphasise step 2: deciding the concept before reading options stops distractors from steering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to a trade-off question always names both sides. Distractors usually name a real trade-off that belongs to a different scenario. Ask students for one more example from their own experience, for instance Wi-Fi vs cables (mobility vs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Ask for a show of hands per option, then click to reveal. Point out that A, B and D are all real trade-offs, just not the one this scenario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layers on the board: cable and IP, then name resolution, then port and service. Whatever works in the scenario rules out everything beneath it. If ping works, the cable and IP are fine. If HTTP works, DNS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step 3, eliminate: shared folders work, so A is impossible. Other floors are fine, so C and D are unlikely. That leaves the gateway that only this floor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 question aloud and have students translate it phrase by phrase. Common traps: WHERE COUNT(*) is invalid; INNER JOIN silently drops rows with no match; = NULL never matches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paper had six index questions in a row, all about composite index order. Drill the first rule hardest: equality-filtered columns first, the range-filtered column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forms in one line each: 1NF one value per cell; 2NF no column depends on only part of a composite key; 3NF no non-key column depends on another non-key column. ACID: atomicity is all-or-nothing, durability is committed means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Follow-up question for the class: what does SUM(Bonus) do with the NULLs? (It ignores them too.) And Amount - Discount when Discount is NULL? (Returns NULL; fix with COALESCE.)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one code snippet from the guess papers without the question, and ask the class to name the technique from its shape alone. Then show the question. This trains the reflex that saves the most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is memoized climb() O(n) but the plain version O(2^n)? Because each distinct n is solved once. Then ask why factorial uses O(n) space: one stack frame waits per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 the “3rd bit” means position 2 because counting starts at 0. Write 1 &lt;&lt; 2 = 100 in binary on the board. AND without assignment never changes x; it only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build the trace table on paper: n in binary, count. This is step 4 of the method. Then ask what x &amp; (x - 1) == 0 would tell you about 13 (not a power of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favourites in the papers: no base case (stack overflow), missing return in recursion (returns None), == on Java strings, modifying a list while looping over it, max initialised to 0, local variable shadowing a global, timestamps not in UTC.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say A. Trace it on the board with indices: index 0 removes 2, list becomes [4, 6, 7]; index 1 is 6, removed, list becomes [4, 7]; index 2 does not exist, loop ends. The fix is a list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pairs from the papers: ring buffer for keep-last-N, union-find for same-group questions, adjacency list for sparse graphs, counting sort for small integer ranges such as ages, resize the hash table when load factor is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oral drill: call out a clue from the left column and have students shout the concept. Overriding vs overloading is the most commonly confused pair: same signature in a subclass vs different parameters in the same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Idempotent means repeating the same request leaves the same final state, which matters when a client retries after a timeout. Ask: why is GET /deleteUser?id=5 dangerous? Because crawlers follow links and GET must be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main and a feature branch on the board. Show merge (keeps the fork, adds a merge commit) vs rebase (replays commits for a straight line). Then contrast reset (rewrites history, local only) with revert (adds an undo commit, safe when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Elasticity is the other favourite cloud term: servers added during a flash sale and removed after. For tokens, add that a refresh token is what keeps users logged in for weeks while access tokens expire every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Docker in one sentence: it packages the app with its dependencies so it runs the same everywhere. CI versus CD: CI builds and tests every push; continuous deployment also releases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while summarising. The single habit that improves scores most is deciding the concept from the clue before the options can steer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five guess papers and the cheat sheet with the class. Suggest they log each wrong answer with the clue they missed, since the same clues repeat across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81150"/>
            <a:ext cx="10566400" cy="40640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81150"/>
            <a:ext cx="10566400" cy="40640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2A65A"/>
          </a:solidFill>
          <a:ln/>
        </p:spPr>
      </p:sp>
      <p:sp>
        <p:nvSpPr>
          <p:cNvPr id="3" name="Text 1"/>
          <p:cNvSpPr/>
          <p:nvPr/>
        </p:nvSpPr>
        <p:spPr>
          <a:xfrm>
            <a:off x="812800" y="158879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A65A"/>
                </a:solidFill>
                <a:latin typeface="Rubik" pitchFamily="34" charset="0"/>
                <a:ea typeface="Rubik" pitchFamily="34" charset="-122"/>
                <a:cs typeface="Rubik" pitchFamily="34" charset="-120"/>
              </a:rPr>
              <a:t>TECHNICAL OA · CLASS DISCUSSION</a:t>
            </a:r>
            <a:endParaRPr lang="en-US" sz="1400" dirty="0"/>
          </a:p>
        </p:txBody>
      </p:sp>
      <p:sp>
        <p:nvSpPr>
          <p:cNvPr id="4" name="Text 2"/>
          <p:cNvSpPr/>
          <p:nvPr>
            <p:ph type="title"/>
          </p:nvPr>
        </p:nvSpPr>
        <p:spPr>
          <a:xfrm>
            <a:off x="812800" y="209168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Cracking the</a:t>
            </a:r>
            <a:endParaRPr lang="en-US" sz="6000" dirty="0"/>
          </a:p>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Technical OA</a:t>
            </a:r>
            <a:endParaRPr lang="en-US" sz="6000" dirty="0"/>
          </a:p>
        </p:txBody>
      </p:sp>
      <p:sp>
        <p:nvSpPr>
          <p:cNvPr id="5" name="Text 3"/>
          <p:cNvSpPr/>
          <p:nvPr/>
        </p:nvSpPr>
        <p:spPr>
          <a:xfrm>
            <a:off x="812800" y="3945880"/>
            <a:ext cx="85026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3E6"/>
                </a:solidFill>
                <a:latin typeface="Rubik" pitchFamily="34" charset="0"/>
                <a:ea typeface="Rubik" pitchFamily="34" charset="-122"/>
                <a:cs typeface="Rubik" pitchFamily="34" charset="-120"/>
              </a:rPr>
              <a:t>The patterns, traps and memory tricks behind 200 practice MCQs, so you can spot the answer in under a minute.</a:t>
            </a:r>
            <a:endParaRPr lang="en-US" sz="2000" dirty="0"/>
          </a:p>
        </p:txBody>
      </p:sp>
      <p:sp>
        <p:nvSpPr>
          <p:cNvPr id="6" name="Text 4"/>
          <p:cNvSpPr/>
          <p:nvPr/>
        </p:nvSpPr>
        <p:spPr>
          <a:xfrm>
            <a:off x="812800" y="4885680"/>
            <a:ext cx="1520726" cy="383530"/>
          </a:xfrm>
          <a:prstGeom prst="roundRect">
            <a:avLst>
              <a:gd name="adj" fmla="val 50000"/>
            </a:avLst>
          </a:prstGeom>
          <a:solidFill>
            <a:srgbClr val="22305A"/>
          </a:solidFill>
          <a:ln/>
        </p:spPr>
        <p:txBody>
          <a:bodyPr wrap="none" lIns="0" tIns="0" rIns="0" bIns="0" rtlCol="0" anchor="ctr">
            <a:normAutofit/>
          </a:bodyPr>
          <a:lstStyle/>
          <a:p>
            <a:pPr algn="ctr" indent="0" marL="0">
              <a:lnSpc>
                <a:spcPts val="1820"/>
              </a:lnSpc>
              <a:buNone/>
            </a:pPr>
            <a:r>
              <a:rPr lang="en-US" sz="1300" dirty="0">
                <a:solidFill>
                  <a:srgbClr val="F7F5EF"/>
                </a:solidFill>
                <a:latin typeface="Rubik" pitchFamily="34" charset="0"/>
                <a:ea typeface="Rubik" pitchFamily="34" charset="-122"/>
                <a:cs typeface="Rubik" pitchFamily="34" charset="-120"/>
              </a:rPr>
              <a:t>5 guess papers</a:t>
            </a:r>
            <a:endParaRPr lang="en-US" sz="1300" dirty="0"/>
          </a:p>
        </p:txBody>
      </p:sp>
      <p:sp>
        <p:nvSpPr>
          <p:cNvPr id="7" name="Text 5"/>
          <p:cNvSpPr/>
          <p:nvPr/>
        </p:nvSpPr>
        <p:spPr>
          <a:xfrm>
            <a:off x="2485926" y="4885680"/>
            <a:ext cx="1460500" cy="383530"/>
          </a:xfrm>
          <a:prstGeom prst="roundRect">
            <a:avLst>
              <a:gd name="adj" fmla="val 50000"/>
            </a:avLst>
          </a:prstGeom>
          <a:solidFill>
            <a:srgbClr val="22305A"/>
          </a:solidFill>
          <a:ln/>
        </p:spPr>
        <p:txBody>
          <a:bodyPr wrap="none" lIns="0" tIns="0" rIns="0" bIns="0" rtlCol="0" anchor="ctr">
            <a:normAutofit/>
          </a:bodyPr>
          <a:lstStyle/>
          <a:p>
            <a:pPr algn="ctr" indent="0" marL="0">
              <a:lnSpc>
                <a:spcPts val="1820"/>
              </a:lnSpc>
              <a:buNone/>
            </a:pPr>
            <a:r>
              <a:rPr lang="en-US" sz="1300" dirty="0">
                <a:solidFill>
                  <a:srgbClr val="F7F5EF"/>
                </a:solidFill>
                <a:latin typeface="Rubik" pitchFamily="34" charset="0"/>
                <a:ea typeface="Rubik" pitchFamily="34" charset="-122"/>
                <a:cs typeface="Rubik" pitchFamily="34" charset="-120"/>
              </a:rPr>
              <a:t>200 questions</a:t>
            </a:r>
            <a:endParaRPr lang="en-US" sz="1300" dirty="0"/>
          </a:p>
        </p:txBody>
      </p:sp>
      <p:sp>
        <p:nvSpPr>
          <p:cNvPr id="8" name="Text 6"/>
          <p:cNvSpPr/>
          <p:nvPr/>
        </p:nvSpPr>
        <p:spPr>
          <a:xfrm>
            <a:off x="4098826" y="4885680"/>
            <a:ext cx="1584474" cy="383530"/>
          </a:xfrm>
          <a:prstGeom prst="roundRect">
            <a:avLst>
              <a:gd name="adj" fmla="val 50000"/>
            </a:avLst>
          </a:prstGeom>
          <a:solidFill>
            <a:srgbClr val="22305A"/>
          </a:solidFill>
          <a:ln/>
        </p:spPr>
        <p:txBody>
          <a:bodyPr wrap="none" lIns="0" tIns="0" rIns="0" bIns="0" rtlCol="0" anchor="ctr">
            <a:normAutofit/>
          </a:bodyPr>
          <a:lstStyle/>
          <a:p>
            <a:pPr algn="ctr" indent="0" marL="0">
              <a:lnSpc>
                <a:spcPts val="1820"/>
              </a:lnSpc>
              <a:buNone/>
            </a:pPr>
            <a:r>
              <a:rPr lang="en-US" sz="1300" dirty="0">
                <a:solidFill>
                  <a:srgbClr val="F7F5EF"/>
                </a:solidFill>
                <a:latin typeface="Rubik" pitchFamily="34" charset="0"/>
                <a:ea typeface="Rubik" pitchFamily="34" charset="-122"/>
                <a:cs typeface="Rubik" pitchFamily="34" charset="-120"/>
              </a:rPr>
              <a:t>4 syllabus areas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THE PAPER</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40 MCQs across four syllabus areas</a:t>
            </a:r>
            <a:endParaRPr lang="en-US" sz="3200" dirty="0"/>
          </a:p>
        </p:txBody>
      </p:sp>
      <p:sp>
        <p:nvSpPr>
          <p:cNvPr id="4" name="Shape 2"/>
          <p:cNvSpPr/>
          <p:nvPr/>
        </p:nvSpPr>
        <p:spPr>
          <a:xfrm>
            <a:off x="815975" y="1984325"/>
            <a:ext cx="5175250" cy="1054050"/>
          </a:xfrm>
          <a:prstGeom prst="roundRect">
            <a:avLst>
              <a:gd name="adj" fmla="val 9338"/>
            </a:avLst>
          </a:prstGeom>
          <a:solidFill>
            <a:srgbClr val="FFFFFF"/>
          </a:solidFill>
          <a:ln w="6350">
            <a:solidFill>
              <a:srgbClr val="E2DFD5"/>
            </a:solidFill>
            <a:prstDash val="solid"/>
          </a:ln>
        </p:spPr>
      </p:sp>
      <p:sp>
        <p:nvSpPr>
          <p:cNvPr id="5" name="Text 3"/>
          <p:cNvSpPr/>
          <p:nvPr/>
        </p:nvSpPr>
        <p:spPr>
          <a:xfrm>
            <a:off x="1047750" y="2216100"/>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Programming logic</a:t>
            </a:r>
            <a:endParaRPr lang="en-US" sz="1800" dirty="0"/>
          </a:p>
        </p:txBody>
      </p:sp>
      <p:sp>
        <p:nvSpPr>
          <p:cNvPr id="6" name="Text 4"/>
          <p:cNvSpPr/>
          <p:nvPr/>
        </p:nvSpPr>
        <p:spPr>
          <a:xfrm>
            <a:off x="1047750" y="2566591"/>
            <a:ext cx="485305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Rubik" pitchFamily="34" charset="0"/>
                <a:ea typeface="Rubik" pitchFamily="34" charset="-122"/>
                <a:cs typeface="Rubik" pitchFamily="34" charset="-120"/>
              </a:rPr>
              <a:t>Data types, I/O, debugging, reading pseudocode</a:t>
            </a:r>
            <a:endParaRPr lang="en-US" sz="1400" dirty="0"/>
          </a:p>
        </p:txBody>
      </p:sp>
      <p:sp>
        <p:nvSpPr>
          <p:cNvPr id="7" name="Shape 5"/>
          <p:cNvSpPr/>
          <p:nvPr/>
        </p:nvSpPr>
        <p:spPr>
          <a:xfrm>
            <a:off x="6200775" y="1984325"/>
            <a:ext cx="5175250" cy="1054050"/>
          </a:xfrm>
          <a:prstGeom prst="roundRect">
            <a:avLst>
              <a:gd name="adj" fmla="val 9338"/>
            </a:avLst>
          </a:prstGeom>
          <a:solidFill>
            <a:srgbClr val="FFFFFF"/>
          </a:solidFill>
          <a:ln w="6350">
            <a:solidFill>
              <a:srgbClr val="E2DFD5"/>
            </a:solidFill>
            <a:prstDash val="solid"/>
          </a:ln>
        </p:spPr>
      </p:sp>
      <p:sp>
        <p:nvSpPr>
          <p:cNvPr id="8" name="Text 6"/>
          <p:cNvSpPr/>
          <p:nvPr/>
        </p:nvSpPr>
        <p:spPr>
          <a:xfrm>
            <a:off x="6432550" y="2216100"/>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Data structures &amp; algorithms</a:t>
            </a:r>
            <a:endParaRPr lang="en-US" sz="1800" dirty="0"/>
          </a:p>
        </p:txBody>
      </p:sp>
      <p:sp>
        <p:nvSpPr>
          <p:cNvPr id="9" name="Text 7"/>
          <p:cNvSpPr/>
          <p:nvPr/>
        </p:nvSpPr>
        <p:spPr>
          <a:xfrm>
            <a:off x="6432550" y="2566591"/>
            <a:ext cx="485305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Rubik" pitchFamily="34" charset="0"/>
                <a:ea typeface="Rubik" pitchFamily="34" charset="-122"/>
                <a:cs typeface="Rubik" pitchFamily="34" charset="-120"/>
              </a:rPr>
              <a:t>Arrays, strings, hashing, searching, sorting, Big-O</a:t>
            </a:r>
            <a:endParaRPr lang="en-US" sz="1400" dirty="0"/>
          </a:p>
        </p:txBody>
      </p:sp>
      <p:sp>
        <p:nvSpPr>
          <p:cNvPr id="10" name="Shape 8"/>
          <p:cNvSpPr/>
          <p:nvPr/>
        </p:nvSpPr>
        <p:spPr>
          <a:xfrm>
            <a:off x="815975" y="3247926"/>
            <a:ext cx="5175250" cy="1054050"/>
          </a:xfrm>
          <a:prstGeom prst="roundRect">
            <a:avLst>
              <a:gd name="adj" fmla="val 9338"/>
            </a:avLst>
          </a:prstGeom>
          <a:solidFill>
            <a:srgbClr val="FFFFFF"/>
          </a:solidFill>
          <a:ln w="6350">
            <a:solidFill>
              <a:srgbClr val="E2DFD5"/>
            </a:solidFill>
            <a:prstDash val="solid"/>
          </a:ln>
        </p:spPr>
      </p:sp>
      <p:sp>
        <p:nvSpPr>
          <p:cNvPr id="11" name="Text 9"/>
          <p:cNvSpPr/>
          <p:nvPr/>
        </p:nvSpPr>
        <p:spPr>
          <a:xfrm>
            <a:off x="1047750" y="3479701"/>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Software engineering</a:t>
            </a:r>
            <a:endParaRPr lang="en-US" sz="1800" dirty="0"/>
          </a:p>
        </p:txBody>
      </p:sp>
      <p:sp>
        <p:nvSpPr>
          <p:cNvPr id="12" name="Text 10"/>
          <p:cNvSpPr/>
          <p:nvPr/>
        </p:nvSpPr>
        <p:spPr>
          <a:xfrm>
            <a:off x="1047750" y="3830191"/>
            <a:ext cx="485305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Rubik" pitchFamily="34" charset="0"/>
                <a:ea typeface="Rubik" pitchFamily="34" charset="-122"/>
                <a:cs typeface="Rubik" pitchFamily="34" charset="-120"/>
              </a:rPr>
              <a:t>OOP, DBMS, SQL, REST, HTTP, Git</a:t>
            </a:r>
            <a:endParaRPr lang="en-US" sz="1400" dirty="0"/>
          </a:p>
        </p:txBody>
      </p:sp>
      <p:sp>
        <p:nvSpPr>
          <p:cNvPr id="13" name="Shape 11"/>
          <p:cNvSpPr/>
          <p:nvPr/>
        </p:nvSpPr>
        <p:spPr>
          <a:xfrm>
            <a:off x="6200775" y="3247926"/>
            <a:ext cx="5175250" cy="1054050"/>
          </a:xfrm>
          <a:prstGeom prst="roundRect">
            <a:avLst>
              <a:gd name="adj" fmla="val 9338"/>
            </a:avLst>
          </a:prstGeom>
          <a:solidFill>
            <a:srgbClr val="FFFFFF"/>
          </a:solidFill>
          <a:ln w="6350">
            <a:solidFill>
              <a:srgbClr val="E2DFD5"/>
            </a:solidFill>
            <a:prstDash val="solid"/>
          </a:ln>
        </p:spPr>
      </p:sp>
      <p:sp>
        <p:nvSpPr>
          <p:cNvPr id="14" name="Text 12"/>
          <p:cNvSpPr/>
          <p:nvPr/>
        </p:nvSpPr>
        <p:spPr>
          <a:xfrm>
            <a:off x="6432550" y="3479701"/>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Modern engineering</a:t>
            </a:r>
            <a:endParaRPr lang="en-US" sz="1800" dirty="0"/>
          </a:p>
        </p:txBody>
      </p:sp>
      <p:sp>
        <p:nvSpPr>
          <p:cNvPr id="15" name="Text 13"/>
          <p:cNvSpPr/>
          <p:nvPr/>
        </p:nvSpPr>
        <p:spPr>
          <a:xfrm>
            <a:off x="6432550" y="3830191"/>
            <a:ext cx="485305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Rubik" pitchFamily="34" charset="0"/>
                <a:ea typeface="Rubik" pitchFamily="34" charset="-122"/>
                <a:cs typeface="Rubik" pitchFamily="34" charset="-120"/>
              </a:rPr>
              <a:t>Networking, cloud, security, DevOps, Docker, Agile</a:t>
            </a:r>
            <a:endParaRPr lang="en-US" sz="1400" dirty="0"/>
          </a:p>
        </p:txBody>
      </p:sp>
      <p:sp>
        <p:nvSpPr>
          <p:cNvPr id="16" name="Text 14"/>
          <p:cNvSpPr/>
          <p:nvPr/>
        </p:nvSpPr>
        <p:spPr>
          <a:xfrm>
            <a:off x="812800" y="455915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Rubik" pitchFamily="34" charset="0"/>
                <a:ea typeface="Rubik" pitchFamily="34" charset="-122"/>
                <a:cs typeface="Rubik" pitchFamily="34" charset="-120"/>
              </a:rPr>
              <a:t>Today: one method, then each area as </a:t>
            </a:r>
            <a:r>
              <a:rPr lang="en-US" sz="1400" b="1" dirty="0">
                <a:solidFill>
                  <a:srgbClr val="4A5568"/>
                </a:solidFill>
                <a:latin typeface="Rubik" pitchFamily="34" charset="0"/>
                <a:ea typeface="Rubik" pitchFamily="34" charset="-122"/>
                <a:cs typeface="Rubik" pitchFamily="34" charset="-120"/>
              </a:rPr>
              <a:t>“when you see X → answer Y”</a:t>
            </a:r>
            <a:r>
              <a:rPr lang="en-US" sz="1400" dirty="0">
                <a:solidFill>
                  <a:srgbClr val="4A5568"/>
                </a:solidFill>
                <a:latin typeface="Rubik" pitchFamily="34" charset="0"/>
                <a:ea typeface="Rubik" pitchFamily="34" charset="-122"/>
                <a:cs typeface="Rubik" pitchFamily="34" charset="-120"/>
              </a:rPr>
              <a:t> rules, with a quick check after each block.</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Overview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THE METHOD</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Four steps, about 60 seconds per question</a:t>
            </a:r>
            <a:endParaRPr lang="en-US" sz="3200" dirty="0"/>
          </a:p>
        </p:txBody>
      </p:sp>
      <p:sp>
        <p:nvSpPr>
          <p:cNvPr id="4" name="Shape 2"/>
          <p:cNvSpPr/>
          <p:nvPr/>
        </p:nvSpPr>
        <p:spPr>
          <a:xfrm>
            <a:off x="812800" y="1981150"/>
            <a:ext cx="2508250" cy="2318941"/>
          </a:xfrm>
          <a:prstGeom prst="roundRect">
            <a:avLst>
              <a:gd name="adj" fmla="val 3286"/>
            </a:avLst>
          </a:prstGeom>
          <a:solidFill>
            <a:srgbClr val="FFFFFF"/>
          </a:solidFill>
          <a:ln/>
        </p:spPr>
      </p:sp>
      <p:sp>
        <p:nvSpPr>
          <p:cNvPr id="5" name="Shape 3"/>
          <p:cNvSpPr/>
          <p:nvPr/>
        </p:nvSpPr>
        <p:spPr>
          <a:xfrm>
            <a:off x="812800" y="1981150"/>
            <a:ext cx="2508250" cy="2318941"/>
          </a:xfrm>
          <a:custGeom>
            <a:avLst/>
            <a:gdLst/>
            <a:ahLst/>
            <a:cxnLst/>
            <a:rect l="l" t="t" r="r" b="b"/>
            <a:pathLst>
              <a:path w="2508250" h="2318941">
                <a:moveTo>
                  <a:pt x="0" y="76200"/>
                </a:moveTo>
                <a:lnTo>
                  <a:pt x="0" y="76200"/>
                </a:lnTo>
                <a:arcTo hR="76200" wR="76200" stAng="10800000" swAng="5400000"/>
                <a:lnTo>
                  <a:pt x="2432050" y="0"/>
                </a:lnTo>
                <a:arcTo hR="76200" wR="76200" stAng="16200000" swAng="5400000"/>
                <a:lnTo>
                  <a:pt x="2508250" y="76200"/>
                </a:lnTo>
                <a:arcTo hR="25400" wR="76200" stAng="0" swAng="-5400000"/>
                <a:lnTo>
                  <a:pt x="76200" y="50800"/>
                </a:lnTo>
                <a:arcTo hR="25400" wR="76200" stAng="16200000" swAng="-5400000"/>
                <a:close/>
              </a:path>
            </a:pathLst>
          </a:custGeom>
          <a:solidFill>
            <a:srgbClr val="B5541A"/>
          </a:solidFill>
          <a:ln/>
        </p:spPr>
      </p:sp>
      <p:sp>
        <p:nvSpPr>
          <p:cNvPr id="6" name="Text 4"/>
          <p:cNvSpPr/>
          <p:nvPr/>
        </p:nvSpPr>
        <p:spPr>
          <a:xfrm>
            <a:off x="1041400" y="2260550"/>
            <a:ext cx="211258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5541A"/>
                </a:solidFill>
                <a:latin typeface="Rubik" pitchFamily="34" charset="0"/>
                <a:ea typeface="Rubik" pitchFamily="34" charset="-122"/>
                <a:cs typeface="Rubik" pitchFamily="34" charset="-120"/>
              </a:rPr>
              <a:t>1</a:t>
            </a:r>
            <a:endParaRPr lang="en-US" sz="3600" dirty="0"/>
          </a:p>
        </p:txBody>
      </p:sp>
      <p:sp>
        <p:nvSpPr>
          <p:cNvPr id="7" name="Text 5"/>
          <p:cNvSpPr/>
          <p:nvPr/>
        </p:nvSpPr>
        <p:spPr>
          <a:xfrm>
            <a:off x="1041400" y="3002211"/>
            <a:ext cx="211258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Find the clue</a:t>
            </a:r>
            <a:endParaRPr lang="en-US" sz="1800" dirty="0"/>
          </a:p>
        </p:txBody>
      </p:sp>
      <p:sp>
        <p:nvSpPr>
          <p:cNvPr id="8" name="Text 6"/>
          <p:cNvSpPr/>
          <p:nvPr/>
        </p:nvSpPr>
        <p:spPr>
          <a:xfrm>
            <a:off x="1041400" y="3378101"/>
            <a:ext cx="211258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1–2 phrases give it away: “works by IP, not by name”</a:t>
            </a:r>
            <a:endParaRPr lang="en-US" sz="1300" dirty="0"/>
          </a:p>
        </p:txBody>
      </p:sp>
      <p:sp>
        <p:nvSpPr>
          <p:cNvPr id="9" name="Shape 7"/>
          <p:cNvSpPr/>
          <p:nvPr/>
        </p:nvSpPr>
        <p:spPr>
          <a:xfrm>
            <a:off x="3498850" y="1981150"/>
            <a:ext cx="2508250" cy="2318941"/>
          </a:xfrm>
          <a:prstGeom prst="roundRect">
            <a:avLst>
              <a:gd name="adj" fmla="val 3286"/>
            </a:avLst>
          </a:prstGeom>
          <a:solidFill>
            <a:srgbClr val="FFFFFF"/>
          </a:solidFill>
          <a:ln/>
        </p:spPr>
      </p:sp>
      <p:sp>
        <p:nvSpPr>
          <p:cNvPr id="10" name="Shape 8"/>
          <p:cNvSpPr/>
          <p:nvPr/>
        </p:nvSpPr>
        <p:spPr>
          <a:xfrm>
            <a:off x="3498850" y="1981150"/>
            <a:ext cx="2508250" cy="2318941"/>
          </a:xfrm>
          <a:custGeom>
            <a:avLst/>
            <a:gdLst/>
            <a:ahLst/>
            <a:cxnLst/>
            <a:rect l="l" t="t" r="r" b="b"/>
            <a:pathLst>
              <a:path w="2508250" h="2318941">
                <a:moveTo>
                  <a:pt x="0" y="76200"/>
                </a:moveTo>
                <a:lnTo>
                  <a:pt x="0" y="76200"/>
                </a:lnTo>
                <a:arcTo hR="76200" wR="76200" stAng="10800000" swAng="5400000"/>
                <a:lnTo>
                  <a:pt x="2432050" y="0"/>
                </a:lnTo>
                <a:arcTo hR="76200" wR="76200" stAng="16200000" swAng="5400000"/>
                <a:lnTo>
                  <a:pt x="2508250" y="76200"/>
                </a:lnTo>
                <a:arcTo hR="25400" wR="76200" stAng="0" swAng="-5400000"/>
                <a:lnTo>
                  <a:pt x="76200" y="50800"/>
                </a:lnTo>
                <a:arcTo hR="25400" wR="76200" stAng="16200000" swAng="-5400000"/>
                <a:close/>
              </a:path>
            </a:pathLst>
          </a:custGeom>
          <a:solidFill>
            <a:srgbClr val="B5541A"/>
          </a:solidFill>
          <a:ln/>
        </p:spPr>
      </p:sp>
      <p:sp>
        <p:nvSpPr>
          <p:cNvPr id="11" name="Text 9"/>
          <p:cNvSpPr/>
          <p:nvPr/>
        </p:nvSpPr>
        <p:spPr>
          <a:xfrm>
            <a:off x="3727450" y="2260550"/>
            <a:ext cx="211258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5541A"/>
                </a:solidFill>
                <a:latin typeface="Rubik" pitchFamily="34" charset="0"/>
                <a:ea typeface="Rubik" pitchFamily="34" charset="-122"/>
                <a:cs typeface="Rubik" pitchFamily="34" charset="-120"/>
              </a:rPr>
              <a:t>2</a:t>
            </a:r>
            <a:endParaRPr lang="en-US" sz="3600" dirty="0"/>
          </a:p>
        </p:txBody>
      </p:sp>
      <p:sp>
        <p:nvSpPr>
          <p:cNvPr id="12" name="Text 10"/>
          <p:cNvSpPr/>
          <p:nvPr/>
        </p:nvSpPr>
        <p:spPr>
          <a:xfrm>
            <a:off x="3727450" y="3002211"/>
            <a:ext cx="211258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Name it first</a:t>
            </a:r>
            <a:endParaRPr lang="en-US" sz="1800" dirty="0"/>
          </a:p>
        </p:txBody>
      </p:sp>
      <p:sp>
        <p:nvSpPr>
          <p:cNvPr id="13" name="Text 11"/>
          <p:cNvSpPr/>
          <p:nvPr/>
        </p:nvSpPr>
        <p:spPr>
          <a:xfrm>
            <a:off x="3727450" y="3378101"/>
            <a:ext cx="211258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Say the concept before reading the options: “that’s DNS”</a:t>
            </a:r>
            <a:endParaRPr lang="en-US" sz="1300" dirty="0"/>
          </a:p>
        </p:txBody>
      </p:sp>
      <p:sp>
        <p:nvSpPr>
          <p:cNvPr id="14" name="Shape 12"/>
          <p:cNvSpPr/>
          <p:nvPr/>
        </p:nvSpPr>
        <p:spPr>
          <a:xfrm>
            <a:off x="6184900" y="1981150"/>
            <a:ext cx="2508250" cy="2318941"/>
          </a:xfrm>
          <a:prstGeom prst="roundRect">
            <a:avLst>
              <a:gd name="adj" fmla="val 3286"/>
            </a:avLst>
          </a:prstGeom>
          <a:solidFill>
            <a:srgbClr val="FFFFFF"/>
          </a:solidFill>
          <a:ln/>
        </p:spPr>
      </p:sp>
      <p:sp>
        <p:nvSpPr>
          <p:cNvPr id="15" name="Shape 13"/>
          <p:cNvSpPr/>
          <p:nvPr/>
        </p:nvSpPr>
        <p:spPr>
          <a:xfrm>
            <a:off x="6184900" y="1981150"/>
            <a:ext cx="2508250" cy="2318941"/>
          </a:xfrm>
          <a:custGeom>
            <a:avLst/>
            <a:gdLst/>
            <a:ahLst/>
            <a:cxnLst/>
            <a:rect l="l" t="t" r="r" b="b"/>
            <a:pathLst>
              <a:path w="2508250" h="2318941">
                <a:moveTo>
                  <a:pt x="0" y="76200"/>
                </a:moveTo>
                <a:lnTo>
                  <a:pt x="0" y="76200"/>
                </a:lnTo>
                <a:arcTo hR="76200" wR="76200" stAng="10800000" swAng="5400000"/>
                <a:lnTo>
                  <a:pt x="2432050" y="0"/>
                </a:lnTo>
                <a:arcTo hR="76200" wR="76200" stAng="16200000" swAng="5400000"/>
                <a:lnTo>
                  <a:pt x="2508250" y="76200"/>
                </a:lnTo>
                <a:arcTo hR="25400" wR="76200" stAng="0" swAng="-5400000"/>
                <a:lnTo>
                  <a:pt x="76200" y="50800"/>
                </a:lnTo>
                <a:arcTo hR="25400" wR="76200" stAng="16200000" swAng="-5400000"/>
                <a:close/>
              </a:path>
            </a:pathLst>
          </a:custGeom>
          <a:solidFill>
            <a:srgbClr val="B5541A"/>
          </a:solidFill>
          <a:ln/>
        </p:spPr>
      </p:sp>
      <p:sp>
        <p:nvSpPr>
          <p:cNvPr id="16" name="Text 14"/>
          <p:cNvSpPr/>
          <p:nvPr/>
        </p:nvSpPr>
        <p:spPr>
          <a:xfrm>
            <a:off x="6413500" y="2260550"/>
            <a:ext cx="211258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5541A"/>
                </a:solidFill>
                <a:latin typeface="Rubik" pitchFamily="34" charset="0"/>
                <a:ea typeface="Rubik" pitchFamily="34" charset="-122"/>
                <a:cs typeface="Rubik" pitchFamily="34" charset="-120"/>
              </a:rPr>
              <a:t>3</a:t>
            </a:r>
            <a:endParaRPr lang="en-US" sz="3600" dirty="0"/>
          </a:p>
        </p:txBody>
      </p:sp>
      <p:sp>
        <p:nvSpPr>
          <p:cNvPr id="17" name="Text 15"/>
          <p:cNvSpPr/>
          <p:nvPr/>
        </p:nvSpPr>
        <p:spPr>
          <a:xfrm>
            <a:off x="6413500" y="3002211"/>
            <a:ext cx="211258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Eliminate</a:t>
            </a:r>
            <a:endParaRPr lang="en-US" sz="1800" dirty="0"/>
          </a:p>
        </p:txBody>
      </p:sp>
      <p:sp>
        <p:nvSpPr>
          <p:cNvPr id="18" name="Text 16"/>
          <p:cNvSpPr/>
          <p:nvPr/>
        </p:nvSpPr>
        <p:spPr>
          <a:xfrm>
            <a:off x="6413500" y="3378101"/>
            <a:ext cx="211258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Drop options that contradict a fact: ping works → cable is fine</a:t>
            </a:r>
            <a:endParaRPr lang="en-US" sz="1300" dirty="0"/>
          </a:p>
        </p:txBody>
      </p:sp>
      <p:sp>
        <p:nvSpPr>
          <p:cNvPr id="19" name="Shape 17"/>
          <p:cNvSpPr/>
          <p:nvPr/>
        </p:nvSpPr>
        <p:spPr>
          <a:xfrm>
            <a:off x="8870950" y="1981150"/>
            <a:ext cx="2508250" cy="2318941"/>
          </a:xfrm>
          <a:prstGeom prst="roundRect">
            <a:avLst>
              <a:gd name="adj" fmla="val 3286"/>
            </a:avLst>
          </a:prstGeom>
          <a:solidFill>
            <a:srgbClr val="FFFFFF"/>
          </a:solidFill>
          <a:ln/>
        </p:spPr>
      </p:sp>
      <p:sp>
        <p:nvSpPr>
          <p:cNvPr id="20" name="Shape 18"/>
          <p:cNvSpPr/>
          <p:nvPr/>
        </p:nvSpPr>
        <p:spPr>
          <a:xfrm>
            <a:off x="8870950" y="1981150"/>
            <a:ext cx="2508250" cy="2318941"/>
          </a:xfrm>
          <a:custGeom>
            <a:avLst/>
            <a:gdLst/>
            <a:ahLst/>
            <a:cxnLst/>
            <a:rect l="l" t="t" r="r" b="b"/>
            <a:pathLst>
              <a:path w="2508250" h="2318941">
                <a:moveTo>
                  <a:pt x="0" y="76200"/>
                </a:moveTo>
                <a:lnTo>
                  <a:pt x="0" y="76200"/>
                </a:lnTo>
                <a:arcTo hR="76200" wR="76200" stAng="10800000" swAng="5400000"/>
                <a:lnTo>
                  <a:pt x="2432050" y="0"/>
                </a:lnTo>
                <a:arcTo hR="76200" wR="76200" stAng="16200000" swAng="5400000"/>
                <a:lnTo>
                  <a:pt x="2508250" y="76200"/>
                </a:lnTo>
                <a:arcTo hR="25400" wR="76200" stAng="0" swAng="-5400000"/>
                <a:lnTo>
                  <a:pt x="76200" y="50800"/>
                </a:lnTo>
                <a:arcTo hR="25400" wR="76200" stAng="16200000" swAng="-5400000"/>
                <a:close/>
              </a:path>
            </a:pathLst>
          </a:custGeom>
          <a:solidFill>
            <a:srgbClr val="B5541A"/>
          </a:solidFill>
          <a:ln/>
        </p:spPr>
      </p:sp>
      <p:sp>
        <p:nvSpPr>
          <p:cNvPr id="21" name="Text 19"/>
          <p:cNvSpPr/>
          <p:nvPr/>
        </p:nvSpPr>
        <p:spPr>
          <a:xfrm>
            <a:off x="9099550" y="2260550"/>
            <a:ext cx="211258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5541A"/>
                </a:solidFill>
                <a:latin typeface="Rubik" pitchFamily="34" charset="0"/>
                <a:ea typeface="Rubik" pitchFamily="34" charset="-122"/>
                <a:cs typeface="Rubik" pitchFamily="34" charset="-120"/>
              </a:rPr>
              <a:t>4</a:t>
            </a:r>
            <a:endParaRPr lang="en-US" sz="3600" dirty="0"/>
          </a:p>
        </p:txBody>
      </p:sp>
      <p:sp>
        <p:nvSpPr>
          <p:cNvPr id="22" name="Text 20"/>
          <p:cNvSpPr/>
          <p:nvPr/>
        </p:nvSpPr>
        <p:spPr>
          <a:xfrm>
            <a:off x="9099550" y="3002211"/>
            <a:ext cx="211258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Trace code</a:t>
            </a:r>
            <a:endParaRPr lang="en-US" sz="1800" dirty="0"/>
          </a:p>
        </p:txBody>
      </p:sp>
      <p:sp>
        <p:nvSpPr>
          <p:cNvPr id="23" name="Text 21"/>
          <p:cNvSpPr/>
          <p:nvPr/>
        </p:nvSpPr>
        <p:spPr>
          <a:xfrm>
            <a:off x="9099550" y="3378101"/>
            <a:ext cx="211258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Never guess an output: write i, variable, result and step through</a:t>
            </a:r>
            <a:endParaRPr lang="en-US" sz="1300" dirty="0"/>
          </a:p>
        </p:txBody>
      </p:sp>
      <p:sp>
        <p:nvSpPr>
          <p:cNvPr id="24" name="Text 22"/>
          <p:cNvSpPr/>
          <p:nvPr/>
        </p:nvSpPr>
        <p:spPr>
          <a:xfrm>
            <a:off x="812800" y="455409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Rubik" pitchFamily="34" charset="0"/>
                <a:ea typeface="Rubik" pitchFamily="34" charset="-122"/>
                <a:cs typeface="Rubik" pitchFamily="34" charset="-120"/>
              </a:rPr>
              <a:t>Two exact opposites among the options? One of them is usually the answer.</a:t>
            </a:r>
            <a:endParaRPr lang="en-US" sz="1400" dirty="0"/>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Method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INFRASTRUCTURE TRADE-OFFS</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What do they gain, and what does it cost?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3593207"/>
        </p:xfrm>
        <a:graphic>
          <a:graphicData uri="http://schemas.openxmlformats.org/drawingml/2006/table">
            <a:tbl>
              <a:tblPr/>
              <a:tblGrid>
                <a:gridCol w="4010406"/>
                <a:gridCol w="3588258"/>
                <a:gridCol w="2955036"/>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When you see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Trade-off</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Memory trick</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Second ISP, standby site, replication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Cost vs. reliability</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Pay twice, fail less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Old backup now vs. latest data later</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Accuracy vs. restore speed</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Fast but stale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Hotspots, BYOD, workarounds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Productivity vs. security</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Untracked = unguarded</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Encrypt all traffic (TLS)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Security vs. performance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Locks slow the door</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Sync vs. async replication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Consistency vs. latency</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Sync safe and slow</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Network split: refuse or serve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Consistency vs. availability</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Correct or available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Proprietary cloud service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Speed vs. portability</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Easy in, hard out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Microservices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Agility vs. complexity</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More pieces to manage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Copy data to skip a join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Read speed vs. write effort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Copy to read fast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Infrastructure · 27 trade-off patterns in the cheat sheet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Rubik" pitchFamily="34" charset="0"/>
                <a:ea typeface="Rubik" pitchFamily="34" charset="-122"/>
                <a:cs typeface="Rubik" pitchFamily="34" charset="-120"/>
              </a:rPr>
              <a:t>QUICK CHECK · TRADE-OFFS</a:t>
            </a:r>
            <a:endParaRPr lang="en-US" sz="1200" dirty="0"/>
          </a:p>
        </p:txBody>
      </p:sp>
      <p:sp>
        <p:nvSpPr>
          <p:cNvPr id="3" name="Text 1"/>
          <p:cNvSpPr/>
          <p:nvPr>
            <p:ph type="title"/>
          </p:nvPr>
        </p:nvSpPr>
        <p:spPr>
          <a:xfrm>
            <a:off x="812800" y="1280120"/>
            <a:ext cx="10883392" cy="1214090"/>
          </a:xfrm>
          <a:prstGeom prst="rect">
            <a:avLst/>
          </a:prstGeom>
          <a:noFill/>
          <a:ln/>
        </p:spPr>
        <p:txBody>
          <a:bodyPr wrap="square" lIns="0" tIns="0" rIns="0" bIns="0" rtlCol="0" anchor="t">
            <a:normAutofit/>
          </a:bodyPr>
          <a:lstStyle/>
          <a:p>
            <a:pPr algn="l" indent="0" marL="0">
              <a:lnSpc>
                <a:spcPts val="3120"/>
              </a:lnSpc>
              <a:buNone/>
            </a:pPr>
            <a:r>
              <a:rPr lang="en-US" sz="2600" b="1" i="0" dirty="0">
                <a:solidFill>
                  <a:srgbClr val="F7F5EF"/>
                </a:solidFill>
                <a:latin typeface="Rubik" pitchFamily="34" charset="0"/>
                <a:ea typeface="Rubik" pitchFamily="34" charset="-122"/>
                <a:cs typeface="Rubik" pitchFamily="34" charset="-120"/>
              </a:rPr>
              <a:t>IT enforces 16-character passwords that change every 30 days. Soon, passwords appear on sticky notes. Which trade-off was mishandled?</a:t>
            </a:r>
            <a:endParaRPr lang="en-US" sz="2600" dirty="0"/>
          </a:p>
        </p:txBody>
      </p:sp>
      <p:sp>
        <p:nvSpPr>
          <p:cNvPr id="4" name="Text 2"/>
          <p:cNvSpPr/>
          <p:nvPr/>
        </p:nvSpPr>
        <p:spPr>
          <a:xfrm>
            <a:off x="812800" y="2722811"/>
            <a:ext cx="5207000" cy="640060"/>
          </a:xfrm>
          <a:prstGeom prst="roundRect">
            <a:avLst>
              <a:gd name="adj" fmla="val 11905"/>
            </a:avLst>
          </a:prstGeom>
          <a:solidFill>
            <a:srgbClr val="22305A"/>
          </a:solidFill>
          <a:ln/>
        </p:spPr>
        <p:txBody>
          <a:bodyPr wrap="square" lIns="206282" tIns="155482" rIns="63788" bIns="130082" rtlCol="0" anchor="t">
            <a:normAutofit/>
          </a:bodyPr>
          <a:lstStyle/>
          <a:p>
            <a:pPr algn="l" indent="0" marL="0">
              <a:lnSpc>
                <a:spcPts val="2240"/>
              </a:lnSpc>
              <a:buNone/>
            </a:pPr>
            <a:r>
              <a:rPr lang="en-US" sz="1600" dirty="0">
                <a:solidFill>
                  <a:srgbClr val="F7F5EF"/>
                </a:solidFill>
                <a:latin typeface="Rubik" pitchFamily="34" charset="0"/>
                <a:ea typeface="Rubik" pitchFamily="34" charset="-122"/>
                <a:cs typeface="Rubik" pitchFamily="34" charset="-120"/>
              </a:rPr>
              <a:t>A) Cost vs. hardware redundancy</a:t>
            </a:r>
            <a:endParaRPr lang="en-US" sz="1600" dirty="0"/>
          </a:p>
        </p:txBody>
      </p:sp>
      <p:sp>
        <p:nvSpPr>
          <p:cNvPr id="5" name="Text 3"/>
          <p:cNvSpPr/>
          <p:nvPr/>
        </p:nvSpPr>
        <p:spPr>
          <a:xfrm>
            <a:off x="6172200" y="2722811"/>
            <a:ext cx="5207000" cy="640060"/>
          </a:xfrm>
          <a:prstGeom prst="roundRect">
            <a:avLst>
              <a:gd name="adj" fmla="val 11905"/>
            </a:avLst>
          </a:prstGeom>
          <a:solidFill>
            <a:srgbClr val="22305A"/>
          </a:solidFill>
          <a:ln/>
        </p:spPr>
        <p:txBody>
          <a:bodyPr wrap="square" lIns="206282" tIns="155482" rIns="63788" bIns="130082" rtlCol="0" anchor="t">
            <a:normAutofit/>
          </a:bodyPr>
          <a:lstStyle/>
          <a:p>
            <a:pPr algn="l" indent="0" marL="0">
              <a:lnSpc>
                <a:spcPts val="2240"/>
              </a:lnSpc>
              <a:buNone/>
            </a:pPr>
            <a:r>
              <a:rPr lang="en-US" sz="1600" dirty="0">
                <a:solidFill>
                  <a:srgbClr val="F7F5EF"/>
                </a:solidFill>
                <a:latin typeface="Rubik" pitchFamily="34" charset="0"/>
                <a:ea typeface="Rubik" pitchFamily="34" charset="-122"/>
                <a:cs typeface="Rubik" pitchFamily="34" charset="-120"/>
              </a:rPr>
              <a:t>B) Bandwidth vs. network latency</a:t>
            </a:r>
            <a:endParaRPr lang="en-US" sz="1600" dirty="0"/>
          </a:p>
        </p:txBody>
      </p:sp>
      <p:sp>
        <p:nvSpPr>
          <p:cNvPr id="6" name="Text 4"/>
          <p:cNvSpPr/>
          <p:nvPr/>
        </p:nvSpPr>
        <p:spPr>
          <a:xfrm>
            <a:off x="812800" y="3515271"/>
            <a:ext cx="5207000" cy="640060"/>
          </a:xfrm>
          <a:prstGeom prst="roundRect">
            <a:avLst>
              <a:gd name="adj" fmla="val 11905"/>
            </a:avLst>
          </a:prstGeom>
          <a:solidFill>
            <a:srgbClr val="22305A"/>
          </a:solidFill>
          <a:ln/>
        </p:spPr>
        <p:txBody>
          <a:bodyPr wrap="square" lIns="206282" tIns="155482" rIns="63788" bIns="130082" rtlCol="0" anchor="t">
            <a:normAutofit/>
          </a:bodyPr>
          <a:lstStyle/>
          <a:p>
            <a:pPr algn="l" indent="0" marL="0">
              <a:lnSpc>
                <a:spcPts val="2240"/>
              </a:lnSpc>
              <a:buNone/>
            </a:pPr>
            <a:r>
              <a:rPr lang="en-US" sz="1600" dirty="0">
                <a:solidFill>
                  <a:srgbClr val="F7F5EF"/>
                </a:solidFill>
                <a:latin typeface="Rubik" pitchFamily="34" charset="0"/>
                <a:ea typeface="Rubik" pitchFamily="34" charset="-122"/>
                <a:cs typeface="Rubik" pitchFamily="34" charset="-120"/>
              </a:rPr>
              <a:t>C) Security strictness vs. usability</a:t>
            </a:r>
            <a:endParaRPr lang="en-US" sz="1600" dirty="0"/>
          </a:p>
        </p:txBody>
      </p:sp>
      <p:sp>
        <p:nvSpPr>
          <p:cNvPr id="7" name="Text 5"/>
          <p:cNvSpPr/>
          <p:nvPr/>
        </p:nvSpPr>
        <p:spPr>
          <a:xfrm>
            <a:off x="6172200" y="3515271"/>
            <a:ext cx="5207000" cy="640060"/>
          </a:xfrm>
          <a:prstGeom prst="roundRect">
            <a:avLst>
              <a:gd name="adj" fmla="val 11905"/>
            </a:avLst>
          </a:prstGeom>
          <a:solidFill>
            <a:srgbClr val="22305A"/>
          </a:solidFill>
          <a:ln/>
        </p:spPr>
        <p:txBody>
          <a:bodyPr wrap="square" lIns="206282" tIns="155482" rIns="63788" bIns="130082" rtlCol="0" anchor="t">
            <a:normAutofit/>
          </a:bodyPr>
          <a:lstStyle/>
          <a:p>
            <a:pPr algn="l" indent="0" marL="0">
              <a:lnSpc>
                <a:spcPts val="2240"/>
              </a:lnSpc>
              <a:buNone/>
            </a:pPr>
            <a:r>
              <a:rPr lang="en-US" sz="1600" dirty="0">
                <a:solidFill>
                  <a:srgbClr val="F7F5EF"/>
                </a:solidFill>
                <a:latin typeface="Rubik" pitchFamily="34" charset="0"/>
                <a:ea typeface="Rubik" pitchFamily="34" charset="-122"/>
                <a:cs typeface="Rubik" pitchFamily="34" charset="-120"/>
              </a:rPr>
              <a:t>D) Performance vs. data freshness</a:t>
            </a:r>
            <a:endParaRPr lang="en-US" sz="1600" dirty="0"/>
          </a:p>
        </p:txBody>
      </p:sp>
      <p:sp>
        <p:nvSpPr>
          <p:cNvPr id="8" name="Text 6"/>
          <p:cNvSpPr/>
          <p:nvPr/>
        </p:nvSpPr>
        <p:spPr>
          <a:xfrm>
            <a:off x="812800" y="5410200"/>
            <a:ext cx="10566400" cy="571500"/>
          </a:xfrm>
          <a:prstGeom prst="roundRect">
            <a:avLst>
              <a:gd name="adj" fmla="val 13333"/>
            </a:avLst>
          </a:prstGeom>
          <a:solidFill>
            <a:srgbClr val="F2A65A"/>
          </a:solidFill>
          <a:ln/>
        </p:spPr>
        <p:txBody>
          <a:bodyPr wrap="square" lIns="206282" tIns="130082" rIns="0" bIns="104682" rtlCol="0" anchor="t">
            <a:normAutofit/>
          </a:bodyPr>
          <a:lstStyle/>
          <a:p>
            <a:pPr algn="l" indent="0" marL="0">
              <a:lnSpc>
                <a:spcPts val="2100"/>
              </a:lnSpc>
              <a:buNone/>
            </a:pPr>
            <a:r>
              <a:rPr lang="en-US" sz="1500" b="1" dirty="0">
                <a:solidFill>
                  <a:srgbClr val="14213D"/>
                </a:solidFill>
                <a:latin typeface="Rubik" pitchFamily="34" charset="0"/>
                <a:ea typeface="Rubik" pitchFamily="34" charset="-122"/>
                <a:cs typeface="Rubik" pitchFamily="34" charset="-120"/>
              </a:rPr>
              <a:t>Answer: C.</a:t>
            </a:r>
            <a:r>
              <a:rPr lang="en-US" sz="1500" dirty="0">
                <a:solidFill>
                  <a:srgbClr val="14213D"/>
                </a:solidFill>
                <a:latin typeface="Rubik" pitchFamily="34" charset="0"/>
                <a:ea typeface="Rubik" pitchFamily="34" charset="-122"/>
                <a:cs typeface="Rubik" pitchFamily="34" charset="-120"/>
              </a:rPr>
              <a:t> Over-strict rules breed unsafe workarounds. “Make it too hard, and they’ll write it down.”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NETWORK TROUBLESHOOTING</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What works rules out the layers beneath it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3593207"/>
        </p:xfrm>
        <a:graphic>
          <a:graphicData uri="http://schemas.openxmlformats.org/drawingml/2006/table">
            <a:tbl>
              <a:tblPr/>
              <a:tblGrid>
                <a:gridCol w="4643628"/>
                <a:gridCol w="3166110"/>
                <a:gridCol w="2743962"/>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Symptom</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Cause</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Memory trick</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Works by IP, fails by domain name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DNS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Name broken, not the path</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IP address is 169.254.x.x</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No DHCP reply</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169.254 = DHCP no-show</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http loads, https times out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Port 443 blocked</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Same host, other port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Ping OK, SSH “Connection refused”</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Service not listening</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Nobody at that door</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Local shares work, internet doesn’t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Default gateway down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Exit is blocked</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Drops + duplicate-address warning</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IP conflict</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Two hosts, one address</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Same switch, 192.168.1.x vs .2.x (/24)</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Needs a router</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Different subnet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Far users slow, near users fast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Use a CDN</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Bring content closer</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50 private devices, 1 public IP</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NAT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Many inside, one outside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Networking · Ports: 22 SSH · 53 DNS · 80 HTTP · 443 HTTPS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Rubik" pitchFamily="34" charset="0"/>
                <a:ea typeface="Rubik" pitchFamily="34" charset="-122"/>
                <a:cs typeface="Rubik" pitchFamily="34" charset="-120"/>
              </a:rPr>
              <a:t>QUICK CHECK · NETWORKING</a:t>
            </a:r>
            <a:endParaRPr lang="en-US" sz="1200" dirty="0"/>
          </a:p>
        </p:txBody>
      </p:sp>
      <p:sp>
        <p:nvSpPr>
          <p:cNvPr id="3" name="Text 1"/>
          <p:cNvSpPr/>
          <p:nvPr>
            <p:ph type="title"/>
          </p:nvPr>
        </p:nvSpPr>
        <p:spPr>
          <a:xfrm>
            <a:off x="812800" y="1280120"/>
            <a:ext cx="10883392" cy="817860"/>
          </a:xfrm>
          <a:prstGeom prst="rect">
            <a:avLst/>
          </a:prstGeom>
          <a:noFill/>
          <a:ln/>
        </p:spPr>
        <p:txBody>
          <a:bodyPr wrap="square" lIns="0" tIns="0" rIns="0" bIns="0" rtlCol="0" anchor="t">
            <a:normAutofit/>
          </a:bodyPr>
          <a:lstStyle/>
          <a:p>
            <a:pPr algn="l" indent="0" marL="0">
              <a:lnSpc>
                <a:spcPts val="3120"/>
              </a:lnSpc>
              <a:buNone/>
            </a:pPr>
            <a:r>
              <a:rPr lang="en-US" sz="2600" b="1" i="0" dirty="0">
                <a:solidFill>
                  <a:srgbClr val="F7F5EF"/>
                </a:solidFill>
                <a:latin typeface="Rubik" pitchFamily="34" charset="0"/>
                <a:ea typeface="Rubik" pitchFamily="34" charset="-122"/>
                <a:cs typeface="Rubik" pitchFamily="34" charset="-120"/>
              </a:rPr>
              <a:t>3rd-floor staff can open each other’s shared folders but can’t reach any website. Other floors are fine. Most likely cause?</a:t>
            </a:r>
            <a:endParaRPr lang="en-US" sz="2600" dirty="0"/>
          </a:p>
        </p:txBody>
      </p:sp>
      <p:sp>
        <p:nvSpPr>
          <p:cNvPr id="4" name="Text 2"/>
          <p:cNvSpPr/>
          <p:nvPr/>
        </p:nvSpPr>
        <p:spPr>
          <a:xfrm>
            <a:off x="812800" y="2326580"/>
            <a:ext cx="5207000" cy="640060"/>
          </a:xfrm>
          <a:prstGeom prst="roundRect">
            <a:avLst>
              <a:gd name="adj" fmla="val 11905"/>
            </a:avLst>
          </a:prstGeom>
          <a:solidFill>
            <a:srgbClr val="22305A"/>
          </a:solidFill>
          <a:ln/>
        </p:spPr>
        <p:txBody>
          <a:bodyPr wrap="square" lIns="206282" tIns="155482" rIns="63788" bIns="130082" rtlCol="0" anchor="t">
            <a:normAutofit/>
          </a:bodyPr>
          <a:lstStyle/>
          <a:p>
            <a:pPr algn="l" indent="0" marL="0">
              <a:lnSpc>
                <a:spcPts val="2240"/>
              </a:lnSpc>
              <a:buNone/>
            </a:pPr>
            <a:r>
              <a:rPr lang="en-US" sz="1600" dirty="0">
                <a:solidFill>
                  <a:srgbClr val="F7F5EF"/>
                </a:solidFill>
                <a:latin typeface="Rubik" pitchFamily="34" charset="0"/>
                <a:ea typeface="Rubik" pitchFamily="34" charset="-122"/>
                <a:cs typeface="Rubik" pitchFamily="34" charset="-120"/>
              </a:rPr>
              <a:t>A) Every PC has a bad cable</a:t>
            </a:r>
            <a:endParaRPr lang="en-US" sz="1600" dirty="0"/>
          </a:p>
        </p:txBody>
      </p:sp>
      <p:sp>
        <p:nvSpPr>
          <p:cNvPr id="5" name="Text 3"/>
          <p:cNvSpPr/>
          <p:nvPr/>
        </p:nvSpPr>
        <p:spPr>
          <a:xfrm>
            <a:off x="6172200" y="2326580"/>
            <a:ext cx="5207000" cy="640060"/>
          </a:xfrm>
          <a:prstGeom prst="roundRect">
            <a:avLst>
              <a:gd name="adj" fmla="val 11905"/>
            </a:avLst>
          </a:prstGeom>
          <a:solidFill>
            <a:srgbClr val="22305A"/>
          </a:solidFill>
          <a:ln/>
        </p:spPr>
        <p:txBody>
          <a:bodyPr wrap="square" lIns="206282" tIns="155482" rIns="63788" bIns="130082" rtlCol="0" anchor="t">
            <a:normAutofit/>
          </a:bodyPr>
          <a:lstStyle/>
          <a:p>
            <a:pPr algn="l" indent="0" marL="0">
              <a:lnSpc>
                <a:spcPts val="2240"/>
              </a:lnSpc>
              <a:buNone/>
            </a:pPr>
            <a:r>
              <a:rPr lang="en-US" sz="1600" dirty="0">
                <a:solidFill>
                  <a:srgbClr val="F7F5EF"/>
                </a:solidFill>
                <a:latin typeface="Rubik" pitchFamily="34" charset="0"/>
                <a:ea typeface="Rubik" pitchFamily="34" charset="-122"/>
                <a:cs typeface="Rubik" pitchFamily="34" charset="-120"/>
              </a:rPr>
              <a:t>B) The floor’s default gateway is down</a:t>
            </a:r>
            <a:endParaRPr lang="en-US" sz="1600" dirty="0"/>
          </a:p>
        </p:txBody>
      </p:sp>
      <p:sp>
        <p:nvSpPr>
          <p:cNvPr id="6" name="Text 4"/>
          <p:cNvSpPr/>
          <p:nvPr/>
        </p:nvSpPr>
        <p:spPr>
          <a:xfrm>
            <a:off x="812800" y="3119041"/>
            <a:ext cx="5207000" cy="640060"/>
          </a:xfrm>
          <a:prstGeom prst="roundRect">
            <a:avLst>
              <a:gd name="adj" fmla="val 11905"/>
            </a:avLst>
          </a:prstGeom>
          <a:solidFill>
            <a:srgbClr val="22305A"/>
          </a:solidFill>
          <a:ln/>
        </p:spPr>
        <p:txBody>
          <a:bodyPr wrap="square" lIns="206282" tIns="155482" rIns="63788" bIns="130082" rtlCol="0" anchor="t">
            <a:normAutofit/>
          </a:bodyPr>
          <a:lstStyle/>
          <a:p>
            <a:pPr algn="l" indent="0" marL="0">
              <a:lnSpc>
                <a:spcPts val="2240"/>
              </a:lnSpc>
              <a:buNone/>
            </a:pPr>
            <a:r>
              <a:rPr lang="en-US" sz="1600" dirty="0">
                <a:solidFill>
                  <a:srgbClr val="F7F5EF"/>
                </a:solidFill>
                <a:latin typeface="Rubik" pitchFamily="34" charset="0"/>
                <a:ea typeface="Rubik" pitchFamily="34" charset="-122"/>
                <a:cs typeface="Rubik" pitchFamily="34" charset="-120"/>
              </a:rPr>
              <a:t>C) Public DNS servers are offline</a:t>
            </a:r>
            <a:endParaRPr lang="en-US" sz="1600" dirty="0"/>
          </a:p>
        </p:txBody>
      </p:sp>
      <p:sp>
        <p:nvSpPr>
          <p:cNvPr id="7" name="Text 5"/>
          <p:cNvSpPr/>
          <p:nvPr/>
        </p:nvSpPr>
        <p:spPr>
          <a:xfrm>
            <a:off x="6172200" y="3119041"/>
            <a:ext cx="5207000" cy="640060"/>
          </a:xfrm>
          <a:prstGeom prst="roundRect">
            <a:avLst>
              <a:gd name="adj" fmla="val 11905"/>
            </a:avLst>
          </a:prstGeom>
          <a:solidFill>
            <a:srgbClr val="22305A"/>
          </a:solidFill>
          <a:ln/>
        </p:spPr>
        <p:txBody>
          <a:bodyPr wrap="square" lIns="206282" tIns="155482" rIns="63788" bIns="130082" rtlCol="0" anchor="t">
            <a:normAutofit/>
          </a:bodyPr>
          <a:lstStyle/>
          <a:p>
            <a:pPr algn="l" indent="0" marL="0">
              <a:lnSpc>
                <a:spcPts val="2240"/>
              </a:lnSpc>
              <a:buNone/>
            </a:pPr>
            <a:r>
              <a:rPr lang="en-US" sz="1600" dirty="0">
                <a:solidFill>
                  <a:srgbClr val="F7F5EF"/>
                </a:solidFill>
                <a:latin typeface="Rubik" pitchFamily="34" charset="0"/>
                <a:ea typeface="Rubik" pitchFamily="34" charset="-122"/>
                <a:cs typeface="Rubik" pitchFamily="34" charset="-120"/>
              </a:rPr>
              <a:t>D) Website certificates expired</a:t>
            </a:r>
            <a:endParaRPr lang="en-US" sz="1600" dirty="0"/>
          </a:p>
        </p:txBody>
      </p:sp>
      <p:sp>
        <p:nvSpPr>
          <p:cNvPr id="8" name="Text 6"/>
          <p:cNvSpPr/>
          <p:nvPr/>
        </p:nvSpPr>
        <p:spPr>
          <a:xfrm>
            <a:off x="812800" y="5410200"/>
            <a:ext cx="10566400" cy="571500"/>
          </a:xfrm>
          <a:prstGeom prst="roundRect">
            <a:avLst>
              <a:gd name="adj" fmla="val 13333"/>
            </a:avLst>
          </a:prstGeom>
          <a:solidFill>
            <a:srgbClr val="F2A65A"/>
          </a:solidFill>
          <a:ln/>
        </p:spPr>
        <p:txBody>
          <a:bodyPr wrap="square" lIns="206282" tIns="130082" rIns="0" bIns="104682" rtlCol="0" anchor="t">
            <a:normAutofit/>
          </a:bodyPr>
          <a:lstStyle/>
          <a:p>
            <a:pPr algn="l" indent="0" marL="0">
              <a:lnSpc>
                <a:spcPts val="2100"/>
              </a:lnSpc>
              <a:buNone/>
            </a:pPr>
            <a:r>
              <a:rPr lang="en-US" sz="1500" b="1" dirty="0">
                <a:solidFill>
                  <a:srgbClr val="14213D"/>
                </a:solidFill>
                <a:latin typeface="Rubik" pitchFamily="34" charset="0"/>
                <a:ea typeface="Rubik" pitchFamily="34" charset="-122"/>
                <a:cs typeface="Rubik" pitchFamily="34" charset="-120"/>
              </a:rPr>
              <a:t>Answer: B.</a:t>
            </a:r>
            <a:r>
              <a:rPr lang="en-US" sz="1500" dirty="0">
                <a:solidFill>
                  <a:srgbClr val="14213D"/>
                </a:solidFill>
                <a:latin typeface="Rubik" pitchFamily="34" charset="0"/>
                <a:ea typeface="Rubik" pitchFamily="34" charset="-122"/>
                <a:cs typeface="Rubik" pitchFamily="34" charset="-120"/>
              </a:rPr>
              <a:t> Local traffic works, so cables are fine; nothing leaves the subnet, so the gateway is the exit that failed.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SQL PATTERNS</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Translate each business phrase into a clause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3593207"/>
        </p:xfrm>
        <a:graphic>
          <a:graphicData uri="http://schemas.openxmlformats.org/drawingml/2006/table">
            <a:tbl>
              <a:tblPr/>
              <a:tblGrid>
                <a:gridCol w="3799332"/>
                <a:gridCol w="6754368"/>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The question says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Write</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“more than 3” on a count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GROUP BY … HAVING COUNT(*) &gt; 3</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“including those with none”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 LEFT JOIN B</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“who has no match”</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LEFT JOIN … WHERE b.id IS NULL</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Employee + manager, same table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self join: e.ManagerID = m.EmpID</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Second-highest value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MAX(x) WHERE x &lt; (SELECT MAX(x))</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Rank within each group</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RANK() OVER (PARTITION BY g ORDER BY x DESC)</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Missing value test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IS NULL (never = NULL)</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NULL in arithmetic</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COALESCE(Discount, 0)</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Two date ranges overlap</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start1 &lt; end2 AND end1 &gt; start2</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Databases · “WHERE filters rows; HAVING filters groups.”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INDEXES</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Six rules cover every index question</a:t>
            </a:r>
            <a:endParaRPr lang="en-US" sz="3200" dirty="0"/>
          </a:p>
        </p:txBody>
      </p:sp>
      <p:sp>
        <p:nvSpPr>
          <p:cNvPr id="4" name="Shape 2"/>
          <p:cNvSpPr/>
          <p:nvPr/>
        </p:nvSpPr>
        <p:spPr>
          <a:xfrm>
            <a:off x="815975" y="1984325"/>
            <a:ext cx="3397250" cy="1178471"/>
          </a:xfrm>
          <a:prstGeom prst="roundRect">
            <a:avLst>
              <a:gd name="adj" fmla="val 8352"/>
            </a:avLst>
          </a:prstGeom>
          <a:solidFill>
            <a:srgbClr val="FFFFFF"/>
          </a:solidFill>
          <a:ln w="6350">
            <a:solidFill>
              <a:srgbClr val="E2DFD5"/>
            </a:solidFill>
            <a:prstDash val="solid"/>
          </a:ln>
        </p:spPr>
      </p:sp>
      <p:sp>
        <p:nvSpPr>
          <p:cNvPr id="5" name="Text 3"/>
          <p:cNvSpPr/>
          <p:nvPr/>
        </p:nvSpPr>
        <p:spPr>
          <a:xfrm>
            <a:off x="1022350" y="21907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Equality first, range last</a:t>
            </a:r>
            <a:endParaRPr lang="en-US" sz="1600" dirty="0"/>
          </a:p>
        </p:txBody>
      </p:sp>
      <p:sp>
        <p:nvSpPr>
          <p:cNvPr id="6" name="Text 4"/>
          <p:cNvSpPr/>
          <p:nvPr/>
        </p:nvSpPr>
        <p:spPr>
          <a:xfrm>
            <a:off x="1022350" y="2510730"/>
            <a:ext cx="307403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Rubik" pitchFamily="34" charset="0"/>
                <a:ea typeface="Rubik" pitchFamily="34" charset="-122"/>
                <a:cs typeface="Rubik" pitchFamily="34" charset="-120"/>
              </a:rPr>
              <a:t>Composite: (CustomerID, Status, OrderDate)</a:t>
            </a:r>
            <a:endParaRPr lang="en-US" sz="1300" dirty="0"/>
          </a:p>
        </p:txBody>
      </p:sp>
      <p:sp>
        <p:nvSpPr>
          <p:cNvPr id="7" name="Shape 5"/>
          <p:cNvSpPr/>
          <p:nvPr/>
        </p:nvSpPr>
        <p:spPr>
          <a:xfrm>
            <a:off x="4397375" y="1984325"/>
            <a:ext cx="3397250" cy="1178471"/>
          </a:xfrm>
          <a:prstGeom prst="roundRect">
            <a:avLst>
              <a:gd name="adj" fmla="val 8352"/>
            </a:avLst>
          </a:prstGeom>
          <a:solidFill>
            <a:srgbClr val="FFFFFF"/>
          </a:solidFill>
          <a:ln w="6350">
            <a:solidFill>
              <a:srgbClr val="E2DFD5"/>
            </a:solidFill>
            <a:prstDash val="solid"/>
          </a:ln>
        </p:spPr>
      </p:sp>
      <p:sp>
        <p:nvSpPr>
          <p:cNvPr id="8" name="Text 6"/>
          <p:cNvSpPr/>
          <p:nvPr/>
        </p:nvSpPr>
        <p:spPr>
          <a:xfrm>
            <a:off x="4603750" y="21907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Touch it, lose it</a:t>
            </a:r>
            <a:endParaRPr lang="en-US" sz="1600" dirty="0"/>
          </a:p>
        </p:txBody>
      </p:sp>
      <p:sp>
        <p:nvSpPr>
          <p:cNvPr id="9" name="Text 7"/>
          <p:cNvSpPr/>
          <p:nvPr/>
        </p:nvSpPr>
        <p:spPr>
          <a:xfrm>
            <a:off x="4603750" y="2510730"/>
            <a:ext cx="307403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Rubik" pitchFamily="34" charset="0"/>
                <a:ea typeface="Rubik" pitchFamily="34" charset="-122"/>
                <a:cs typeface="Rubik" pitchFamily="34" charset="-120"/>
              </a:rPr>
              <a:t>LOWER(Name) or LIKE '%x' skips the index</a:t>
            </a:r>
            <a:endParaRPr lang="en-US" sz="1300" dirty="0"/>
          </a:p>
        </p:txBody>
      </p:sp>
      <p:sp>
        <p:nvSpPr>
          <p:cNvPr id="10" name="Shape 8"/>
          <p:cNvSpPr/>
          <p:nvPr/>
        </p:nvSpPr>
        <p:spPr>
          <a:xfrm>
            <a:off x="7978775" y="1984325"/>
            <a:ext cx="3397250" cy="1178471"/>
          </a:xfrm>
          <a:prstGeom prst="roundRect">
            <a:avLst>
              <a:gd name="adj" fmla="val 8352"/>
            </a:avLst>
          </a:prstGeom>
          <a:solidFill>
            <a:srgbClr val="FFFFFF"/>
          </a:solidFill>
          <a:ln w="6350">
            <a:solidFill>
              <a:srgbClr val="E2DFD5"/>
            </a:solidFill>
            <a:prstDash val="solid"/>
          </a:ln>
        </p:spPr>
      </p:sp>
      <p:sp>
        <p:nvSpPr>
          <p:cNvPr id="11" name="Text 9"/>
          <p:cNvSpPr/>
          <p:nvPr/>
        </p:nvSpPr>
        <p:spPr>
          <a:xfrm>
            <a:off x="8185150" y="21907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Ranges → clustered</a:t>
            </a:r>
            <a:endParaRPr lang="en-US" sz="1600" dirty="0"/>
          </a:p>
        </p:txBody>
      </p:sp>
      <p:sp>
        <p:nvSpPr>
          <p:cNvPr id="12" name="Text 10"/>
          <p:cNvSpPr/>
          <p:nvPr/>
        </p:nvSpPr>
        <p:spPr>
          <a:xfrm>
            <a:off x="8185150" y="2510730"/>
            <a:ext cx="307403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Rubik" pitchFamily="34" charset="0"/>
                <a:ea typeface="Rubik" pitchFamily="34" charset="-122"/>
                <a:cs typeface="Rubik" pitchFamily="34" charset="-120"/>
              </a:rPr>
              <a:t>Rows stored in key order; hash index = exact match only</a:t>
            </a:r>
            <a:endParaRPr lang="en-US" sz="1300" dirty="0"/>
          </a:p>
        </p:txBody>
      </p:sp>
      <p:sp>
        <p:nvSpPr>
          <p:cNvPr id="13" name="Shape 11"/>
          <p:cNvSpPr/>
          <p:nvPr/>
        </p:nvSpPr>
        <p:spPr>
          <a:xfrm>
            <a:off x="815975" y="3346946"/>
            <a:ext cx="3397250" cy="955625"/>
          </a:xfrm>
          <a:prstGeom prst="roundRect">
            <a:avLst>
              <a:gd name="adj" fmla="val 10300"/>
            </a:avLst>
          </a:prstGeom>
          <a:solidFill>
            <a:srgbClr val="FFFFFF"/>
          </a:solidFill>
          <a:ln w="6350">
            <a:solidFill>
              <a:srgbClr val="E2DFD5"/>
            </a:solidFill>
            <a:prstDash val="solid"/>
          </a:ln>
        </p:spPr>
      </p:sp>
      <p:sp>
        <p:nvSpPr>
          <p:cNvPr id="14" name="Text 12"/>
          <p:cNvSpPr/>
          <p:nvPr/>
        </p:nvSpPr>
        <p:spPr>
          <a:xfrm>
            <a:off x="1022350" y="3553321"/>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Speed reads, tax writes</a:t>
            </a:r>
            <a:endParaRPr lang="en-US" sz="1600" dirty="0"/>
          </a:p>
        </p:txBody>
      </p:sp>
      <p:sp>
        <p:nvSpPr>
          <p:cNvPr id="15" name="Text 13"/>
          <p:cNvSpPr/>
          <p:nvPr/>
        </p:nvSpPr>
        <p:spPr>
          <a:xfrm>
            <a:off x="1022350" y="3873351"/>
            <a:ext cx="307403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Rubik" pitchFamily="34" charset="0"/>
                <a:ea typeface="Rubik" pitchFamily="34" charset="-122"/>
                <a:cs typeface="Rubik" pitchFamily="34" charset="-120"/>
              </a:rPr>
              <a:t>12 indexes = slow inserts</a:t>
            </a:r>
            <a:endParaRPr lang="en-US" sz="1300" dirty="0"/>
          </a:p>
        </p:txBody>
      </p:sp>
      <p:sp>
        <p:nvSpPr>
          <p:cNvPr id="16" name="Shape 14"/>
          <p:cNvSpPr/>
          <p:nvPr/>
        </p:nvSpPr>
        <p:spPr>
          <a:xfrm>
            <a:off x="4397375" y="3346946"/>
            <a:ext cx="3397250" cy="955625"/>
          </a:xfrm>
          <a:prstGeom prst="roundRect">
            <a:avLst>
              <a:gd name="adj" fmla="val 10300"/>
            </a:avLst>
          </a:prstGeom>
          <a:solidFill>
            <a:srgbClr val="FFFFFF"/>
          </a:solidFill>
          <a:ln w="6350">
            <a:solidFill>
              <a:srgbClr val="E2DFD5"/>
            </a:solidFill>
            <a:prstDash val="solid"/>
          </a:ln>
        </p:spPr>
      </p:sp>
      <p:sp>
        <p:nvSpPr>
          <p:cNvPr id="17" name="Text 15"/>
          <p:cNvSpPr/>
          <p:nvPr/>
        </p:nvSpPr>
        <p:spPr>
          <a:xfrm>
            <a:off x="4603750" y="3553321"/>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Low selectivity</a:t>
            </a:r>
            <a:endParaRPr lang="en-US" sz="1600" dirty="0"/>
          </a:p>
        </p:txBody>
      </p:sp>
      <p:sp>
        <p:nvSpPr>
          <p:cNvPr id="18" name="Text 16"/>
          <p:cNvSpPr/>
          <p:nvPr/>
        </p:nvSpPr>
        <p:spPr>
          <a:xfrm>
            <a:off x="4603750" y="3873351"/>
            <a:ext cx="307403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Rubik" pitchFamily="34" charset="0"/>
                <a:ea typeface="Rubik" pitchFamily="34" charset="-122"/>
                <a:cs typeface="Rubik" pitchFamily="34" charset="-120"/>
              </a:rPr>
              <a:t>Index on Gender barely helps</a:t>
            </a:r>
            <a:endParaRPr lang="en-US" sz="1300" dirty="0"/>
          </a:p>
        </p:txBody>
      </p:sp>
      <p:sp>
        <p:nvSpPr>
          <p:cNvPr id="19" name="Shape 17"/>
          <p:cNvSpPr/>
          <p:nvPr/>
        </p:nvSpPr>
        <p:spPr>
          <a:xfrm>
            <a:off x="7978775" y="3346946"/>
            <a:ext cx="3397250" cy="955625"/>
          </a:xfrm>
          <a:prstGeom prst="roundRect">
            <a:avLst>
              <a:gd name="adj" fmla="val 10300"/>
            </a:avLst>
          </a:prstGeom>
          <a:solidFill>
            <a:srgbClr val="FFFFFF"/>
          </a:solidFill>
          <a:ln w="6350">
            <a:solidFill>
              <a:srgbClr val="E2DFD5"/>
            </a:solidFill>
            <a:prstDash val="solid"/>
          </a:ln>
        </p:spPr>
      </p:sp>
      <p:sp>
        <p:nvSpPr>
          <p:cNvPr id="20" name="Text 18"/>
          <p:cNvSpPr/>
          <p:nvPr/>
        </p:nvSpPr>
        <p:spPr>
          <a:xfrm>
            <a:off x="8185150" y="3553321"/>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Seek, don’t skip</a:t>
            </a:r>
            <a:endParaRPr lang="en-US" sz="1600" dirty="0"/>
          </a:p>
        </p:txBody>
      </p:sp>
      <p:sp>
        <p:nvSpPr>
          <p:cNvPr id="21" name="Text 19"/>
          <p:cNvSpPr/>
          <p:nvPr/>
        </p:nvSpPr>
        <p:spPr>
          <a:xfrm>
            <a:off x="8185150" y="3873351"/>
            <a:ext cx="307403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Rubik" pitchFamily="34" charset="0"/>
                <a:ea typeface="Rubik" pitchFamily="34" charset="-122"/>
                <a:cs typeface="Rubik" pitchFamily="34" charset="-120"/>
              </a:rPr>
              <a:t>Deep OFFSET → WHERE id &gt; last_id</a:t>
            </a:r>
            <a:endParaRPr lang="en-US" sz="13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Databases · Also: SELECT only the columns you need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DESIGN, CONSTRAINTS AND ACID</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Match the symptom to the rule it breaks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5143500" cy="3233886"/>
        </p:xfrm>
        <a:graphic>
          <a:graphicData uri="http://schemas.openxmlformats.org/drawingml/2006/table">
            <a:tbl>
              <a:tblPr/>
              <a:tblGrid>
                <a:gridCol w="3188970"/>
                <a:gridCol w="1954530"/>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Design problem</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Answer</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Several values in one cell</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Breaks 1NF</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Depends on part of the key</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Breaks 2NF</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Non-key depends on non-key</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Breaks 3NF</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Many-to-many relationship</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Junction table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Optional but no duplicates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UNIQUE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Child row with no parent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FOREIGN KEY</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Delete parent, delete children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ON DELETE CASCADE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Rule every app must obey</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CHECK</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35700" y="1892250"/>
          <a:ext cx="5143500" cy="3233886"/>
        </p:xfrm>
        <a:graphic>
          <a:graphicData uri="http://schemas.openxmlformats.org/drawingml/2006/table">
            <a:tbl>
              <a:tblPr/>
              <a:tblGrid>
                <a:gridCol w="3188970"/>
                <a:gridCol w="1954530"/>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Transaction clue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Answer</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Half-done transfer after crash</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Atomicity</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Committed data survives power loss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Durability</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Two users book the last seat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Isolation: lock row</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Read data later rolled back</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Dirty read</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T1 waits for T2, T2 for T1</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Deadlock</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Remove all rows, keep table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TRUNCATE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CREATE, ALTER, DROP</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DDL</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INSERT, UPDATE, DELETE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DML</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bl>
          </a:graphicData>
        </a:graphic>
      </p:graphicFrame>
      <p:sp>
        <p:nvSpPr>
          <p:cNvPr id="6"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Databases · “Key → non-key → non-key = one hop too many (3NF).”</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Rubik" pitchFamily="34" charset="0"/>
                <a:ea typeface="Rubik" pitchFamily="34" charset="-122"/>
                <a:cs typeface="Rubik" pitchFamily="34" charset="-120"/>
              </a:rPr>
              <a:t>QUICK CHECK · SQL</a:t>
            </a:r>
            <a:endParaRPr lang="en-US" sz="1200" dirty="0"/>
          </a:p>
        </p:txBody>
      </p:sp>
      <p:sp>
        <p:nvSpPr>
          <p:cNvPr id="3" name="Text 1"/>
          <p:cNvSpPr/>
          <p:nvPr/>
        </p:nvSpPr>
        <p:spPr>
          <a:xfrm>
            <a:off x="812800" y="1254720"/>
            <a:ext cx="10566400" cy="675630"/>
          </a:xfrm>
          <a:prstGeom prst="roundRect">
            <a:avLst>
              <a:gd name="adj" fmla="val 11278"/>
            </a:avLst>
          </a:prstGeom>
          <a:solidFill>
            <a:srgbClr val="0E1830"/>
          </a:solidFill>
          <a:ln/>
        </p:spPr>
        <p:txBody>
          <a:bodyPr wrap="square" lIns="206282" tIns="155482" rIns="0" bIns="130082" rtlCol="0" anchor="t">
            <a:normAutofit/>
          </a:bodyPr>
          <a:lstStyle/>
          <a:p>
            <a:pPr algn="l" indent="0" marL="0">
              <a:lnSpc>
                <a:spcPts val="2520"/>
              </a:lnSpc>
              <a:buNone/>
            </a:pPr>
            <a:r>
              <a:rPr lang="en-US" sz="1800" dirty="0">
                <a:solidFill>
                  <a:srgbClr val="F7F5EF"/>
                </a:solidFill>
                <a:latin typeface="JetBrains Mono" pitchFamily="49" charset="0"/>
                <a:ea typeface="JetBrains Mono" pitchFamily="49" charset="-122"/>
                <a:cs typeface="JetBrains Mono" pitchFamily="49" charset="-120"/>
              </a:rPr>
              <a:t>SELECT COUNT(*), COUNT(Bonus) FROM Employees; → 100, 70</a:t>
            </a:r>
            <a:endParaRPr lang="en-US" sz="1800" dirty="0"/>
          </a:p>
        </p:txBody>
      </p:sp>
      <p:sp>
        <p:nvSpPr>
          <p:cNvPr id="4" name="Text 2"/>
          <p:cNvSpPr/>
          <p:nvPr>
            <p:ph type="title"/>
          </p:nvPr>
        </p:nvSpPr>
        <p:spPr>
          <a:xfrm>
            <a:off x="812800" y="2158950"/>
            <a:ext cx="10883392" cy="421630"/>
          </a:xfrm>
          <a:prstGeom prst="rect">
            <a:avLst/>
          </a:prstGeom>
          <a:noFill/>
          <a:ln/>
        </p:spPr>
        <p:txBody>
          <a:bodyPr wrap="square" lIns="0" tIns="0" rIns="0" bIns="0" rtlCol="0" anchor="t">
            <a:normAutofit/>
          </a:bodyPr>
          <a:lstStyle/>
          <a:p>
            <a:pPr algn="l" indent="0" marL="0">
              <a:lnSpc>
                <a:spcPts val="3120"/>
              </a:lnSpc>
              <a:buNone/>
            </a:pPr>
            <a:r>
              <a:rPr lang="en-US" sz="2600" b="1" i="0" dirty="0">
                <a:solidFill>
                  <a:srgbClr val="F7F5EF"/>
                </a:solidFill>
                <a:latin typeface="Rubik" pitchFamily="34" charset="0"/>
                <a:ea typeface="Rubik" pitchFamily="34" charset="-122"/>
                <a:cs typeface="Rubik" pitchFamily="34" charset="-120"/>
              </a:rPr>
              <a:t>Why are the two numbers different?</a:t>
            </a:r>
            <a:endParaRPr lang="en-US" sz="2600" dirty="0"/>
          </a:p>
        </p:txBody>
      </p:sp>
      <p:sp>
        <p:nvSpPr>
          <p:cNvPr id="5" name="Text 3"/>
          <p:cNvSpPr/>
          <p:nvPr/>
        </p:nvSpPr>
        <p:spPr>
          <a:xfrm>
            <a:off x="812800" y="2783780"/>
            <a:ext cx="5207000" cy="640060"/>
          </a:xfrm>
          <a:prstGeom prst="roundRect">
            <a:avLst>
              <a:gd name="adj" fmla="val 11905"/>
            </a:avLst>
          </a:prstGeom>
          <a:solidFill>
            <a:srgbClr val="22305A"/>
          </a:solidFill>
          <a:ln/>
        </p:spPr>
        <p:txBody>
          <a:bodyPr wrap="square" lIns="206282" tIns="155482" rIns="63788" bIns="130082" rtlCol="0" anchor="t">
            <a:normAutofit/>
          </a:bodyPr>
          <a:lstStyle/>
          <a:p>
            <a:pPr algn="l" indent="0" marL="0">
              <a:lnSpc>
                <a:spcPts val="2240"/>
              </a:lnSpc>
              <a:buNone/>
            </a:pPr>
            <a:r>
              <a:rPr lang="en-US" sz="1600" dirty="0">
                <a:solidFill>
                  <a:srgbClr val="F7F5EF"/>
                </a:solidFill>
                <a:latin typeface="Rubik" pitchFamily="34" charset="0"/>
                <a:ea typeface="Rubik" pitchFamily="34" charset="-122"/>
                <a:cs typeface="Rubik" pitchFamily="34" charset="-120"/>
              </a:rPr>
              <a:t>A) COUNT(Bonus) counts unique values</a:t>
            </a:r>
            <a:endParaRPr lang="en-US" sz="1600" dirty="0"/>
          </a:p>
        </p:txBody>
      </p:sp>
      <p:sp>
        <p:nvSpPr>
          <p:cNvPr id="6" name="Text 4"/>
          <p:cNvSpPr/>
          <p:nvPr/>
        </p:nvSpPr>
        <p:spPr>
          <a:xfrm>
            <a:off x="6172200" y="2783780"/>
            <a:ext cx="5207000" cy="640060"/>
          </a:xfrm>
          <a:prstGeom prst="roundRect">
            <a:avLst>
              <a:gd name="adj" fmla="val 11905"/>
            </a:avLst>
          </a:prstGeom>
          <a:solidFill>
            <a:srgbClr val="22305A"/>
          </a:solidFill>
          <a:ln/>
        </p:spPr>
        <p:txBody>
          <a:bodyPr wrap="square" lIns="206282" tIns="155482" rIns="63788" bIns="130082" rtlCol="0" anchor="t">
            <a:normAutofit/>
          </a:bodyPr>
          <a:lstStyle/>
          <a:p>
            <a:pPr algn="l" indent="0" marL="0">
              <a:lnSpc>
                <a:spcPts val="2240"/>
              </a:lnSpc>
              <a:buNone/>
            </a:pPr>
            <a:r>
              <a:rPr lang="en-US" sz="1600" dirty="0">
                <a:solidFill>
                  <a:srgbClr val="F7F5EF"/>
                </a:solidFill>
                <a:latin typeface="Rubik" pitchFamily="34" charset="0"/>
                <a:ea typeface="Rubik" pitchFamily="34" charset="-122"/>
                <a:cs typeface="Rubik" pitchFamily="34" charset="-120"/>
              </a:rPr>
              <a:t>B) 30 rows were deleted in between</a:t>
            </a:r>
            <a:endParaRPr lang="en-US" sz="1600" dirty="0"/>
          </a:p>
        </p:txBody>
      </p:sp>
      <p:sp>
        <p:nvSpPr>
          <p:cNvPr id="7" name="Text 5"/>
          <p:cNvSpPr/>
          <p:nvPr/>
        </p:nvSpPr>
        <p:spPr>
          <a:xfrm>
            <a:off x="812800" y="3576241"/>
            <a:ext cx="5207000" cy="640060"/>
          </a:xfrm>
          <a:prstGeom prst="roundRect">
            <a:avLst>
              <a:gd name="adj" fmla="val 11905"/>
            </a:avLst>
          </a:prstGeom>
          <a:solidFill>
            <a:srgbClr val="22305A"/>
          </a:solidFill>
          <a:ln/>
        </p:spPr>
        <p:txBody>
          <a:bodyPr wrap="square" lIns="206282" tIns="155482" rIns="63788" bIns="130082" rtlCol="0" anchor="t">
            <a:normAutofit/>
          </a:bodyPr>
          <a:lstStyle/>
          <a:p>
            <a:pPr algn="l" indent="0" marL="0">
              <a:lnSpc>
                <a:spcPts val="2240"/>
              </a:lnSpc>
              <a:buNone/>
            </a:pPr>
            <a:r>
              <a:rPr lang="en-US" sz="1600" dirty="0">
                <a:solidFill>
                  <a:srgbClr val="F7F5EF"/>
                </a:solidFill>
                <a:latin typeface="Rubik" pitchFamily="34" charset="0"/>
                <a:ea typeface="Rubik" pitchFamily="34" charset="-122"/>
                <a:cs typeface="Rubik" pitchFamily="34" charset="-120"/>
              </a:rPr>
              <a:t>C) COUNT(*) counts duplicates twice</a:t>
            </a:r>
            <a:endParaRPr lang="en-US" sz="1600" dirty="0"/>
          </a:p>
        </p:txBody>
      </p:sp>
      <p:sp>
        <p:nvSpPr>
          <p:cNvPr id="8" name="Text 6"/>
          <p:cNvSpPr/>
          <p:nvPr/>
        </p:nvSpPr>
        <p:spPr>
          <a:xfrm>
            <a:off x="6172200" y="3576241"/>
            <a:ext cx="5207000" cy="640060"/>
          </a:xfrm>
          <a:prstGeom prst="roundRect">
            <a:avLst>
              <a:gd name="adj" fmla="val 11905"/>
            </a:avLst>
          </a:prstGeom>
          <a:solidFill>
            <a:srgbClr val="22305A"/>
          </a:solidFill>
          <a:ln/>
        </p:spPr>
        <p:txBody>
          <a:bodyPr wrap="square" lIns="206282" tIns="155482" rIns="63788" bIns="130082" rtlCol="0" anchor="t">
            <a:normAutofit/>
          </a:bodyPr>
          <a:lstStyle/>
          <a:p>
            <a:pPr algn="l" indent="0" marL="0">
              <a:lnSpc>
                <a:spcPts val="2240"/>
              </a:lnSpc>
              <a:buNone/>
            </a:pPr>
            <a:r>
              <a:rPr lang="en-US" sz="1600" dirty="0">
                <a:solidFill>
                  <a:srgbClr val="F7F5EF"/>
                </a:solidFill>
                <a:latin typeface="Rubik" pitchFamily="34" charset="0"/>
                <a:ea typeface="Rubik" pitchFamily="34" charset="-122"/>
                <a:cs typeface="Rubik" pitchFamily="34" charset="-120"/>
              </a:rPr>
              <a:t>D) COUNT(column) skips NULL values</a:t>
            </a:r>
            <a:endParaRPr lang="en-US" sz="1600" dirty="0"/>
          </a:p>
        </p:txBody>
      </p:sp>
      <p:sp>
        <p:nvSpPr>
          <p:cNvPr id="9" name="Text 7"/>
          <p:cNvSpPr/>
          <p:nvPr/>
        </p:nvSpPr>
        <p:spPr>
          <a:xfrm>
            <a:off x="812800" y="5410200"/>
            <a:ext cx="10566400" cy="571500"/>
          </a:xfrm>
          <a:prstGeom prst="roundRect">
            <a:avLst>
              <a:gd name="adj" fmla="val 13333"/>
            </a:avLst>
          </a:prstGeom>
          <a:solidFill>
            <a:srgbClr val="F2A65A"/>
          </a:solidFill>
          <a:ln/>
        </p:spPr>
        <p:txBody>
          <a:bodyPr wrap="square" lIns="206282" tIns="130082" rIns="0" bIns="104682" rtlCol="0" anchor="t">
            <a:normAutofit/>
          </a:bodyPr>
          <a:lstStyle/>
          <a:p>
            <a:pPr algn="l" indent="0" marL="0">
              <a:lnSpc>
                <a:spcPts val="2100"/>
              </a:lnSpc>
              <a:buNone/>
            </a:pPr>
            <a:r>
              <a:rPr lang="en-US" sz="1500" b="1" dirty="0">
                <a:solidFill>
                  <a:srgbClr val="14213D"/>
                </a:solidFill>
                <a:latin typeface="Rubik" pitchFamily="34" charset="0"/>
                <a:ea typeface="Rubik" pitchFamily="34" charset="-122"/>
                <a:cs typeface="Rubik" pitchFamily="34" charset="-120"/>
              </a:rPr>
              <a:t>Answer: D.</a:t>
            </a:r>
            <a:r>
              <a:rPr lang="en-US" sz="1500" dirty="0">
                <a:solidFill>
                  <a:srgbClr val="14213D"/>
                </a:solidFill>
                <a:latin typeface="Rubik" pitchFamily="34" charset="0"/>
                <a:ea typeface="Rubik" pitchFamily="34" charset="-122"/>
                <a:cs typeface="Rubik" pitchFamily="34" charset="-120"/>
              </a:rPr>
              <a:t> 30 employees have no bonus. “COUNT(*) counts rows; COUNT(col) counts values.”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READING PSEUDOCODE</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The shape of the code names the technique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3593207"/>
        </p:xfrm>
        <a:graphic>
          <a:graphicData uri="http://schemas.openxmlformats.org/drawingml/2006/table">
            <a:tbl>
              <a:tblPr/>
              <a:tblGrid>
                <a:gridCol w="4221480"/>
                <a:gridCol w="3166110"/>
                <a:gridCol w="3166110"/>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You see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Technique</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Memory trick</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f() calls f(child)</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Recursion on a tree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Calls itself = recursion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memo = {} / dp = [...]</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Dynamic programming</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Build small, reuse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left++, right--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Two pointers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Squeeze both ends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slow += 1, fast += 2</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Cycle detection</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Tortoise and hare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add new, drop old</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Sliding window</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Slide, don’t recompute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low, high, mid</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Binary search</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Halve each time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append → recurse → pop</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Backtracking</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Choose, explore, undo</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queue.popleft()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BFS / level order</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Queue goes wide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cur = max(x, cur + x)</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Kadane max subarray</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Drop the baggage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Pseudocode · Spot the shape before tracing a single value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COMPLEXITY AND RECURRENCES</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Count the loops, then check the recursion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5143500" cy="3233886"/>
        </p:xfrm>
        <a:graphic>
          <a:graphicData uri="http://schemas.openxmlformats.org/drawingml/2006/table">
            <a:tbl>
              <a:tblPr/>
              <a:tblGrid>
                <a:gridCol w="3497580"/>
                <a:gridCol w="1645920"/>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Code pattern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Time</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One loop over 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Variable doubles or halves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O(log n)</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Nested loops n and m</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O(n × m)</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sorted() inside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O(n log n)</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Two recursive calls, no memo</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O(2ⁿ)</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Memoized recursion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states × work</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Recursion depth 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O(n) space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Append to dynamic array</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O(1) amortized</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bl>
          </a:graphicData>
        </a:graphic>
      </p:graphicFrame>
      <p:sp>
        <p:nvSpPr>
          <p:cNvPr id="5" name="Shape 2"/>
          <p:cNvSpPr/>
          <p:nvPr/>
        </p:nvSpPr>
        <p:spPr>
          <a:xfrm>
            <a:off x="6223000" y="1879550"/>
            <a:ext cx="5156200" cy="802630"/>
          </a:xfrm>
          <a:prstGeom prst="roundRect">
            <a:avLst>
              <a:gd name="adj" fmla="val 6329"/>
            </a:avLst>
          </a:prstGeom>
          <a:solidFill>
            <a:srgbClr val="FFFFFF"/>
          </a:solidFill>
          <a:ln/>
        </p:spPr>
      </p:sp>
      <p:sp>
        <p:nvSpPr>
          <p:cNvPr id="6" name="Shape 3"/>
          <p:cNvSpPr/>
          <p:nvPr/>
        </p:nvSpPr>
        <p:spPr>
          <a:xfrm>
            <a:off x="6223000" y="1879550"/>
            <a:ext cx="5156200" cy="802630"/>
          </a:xfrm>
          <a:custGeom>
            <a:avLst/>
            <a:gdLst/>
            <a:ahLst/>
            <a:cxnLst/>
            <a:rect l="l" t="t" r="r" b="b"/>
            <a:pathLst>
              <a:path w="5156200" h="802630">
                <a:moveTo>
                  <a:pt x="50800" y="802630"/>
                </a:moveTo>
                <a:lnTo>
                  <a:pt x="50800" y="802630"/>
                </a:lnTo>
                <a:arcTo hR="50800" wR="50800" stAng="5400000" swAng="5400000"/>
                <a:lnTo>
                  <a:pt x="0" y="50800"/>
                </a:lnTo>
                <a:arcTo hR="50800" wR="50800" stAng="10800000" swAng="5400000"/>
                <a:lnTo>
                  <a:pt x="50800" y="0"/>
                </a:lnTo>
                <a:lnTo>
                  <a:pt x="50800" y="802630"/>
                </a:lnTo>
                <a:close/>
              </a:path>
            </a:pathLst>
          </a:custGeom>
          <a:solidFill>
            <a:srgbClr val="B5541A"/>
          </a:solidFill>
          <a:ln/>
        </p:spPr>
      </p:sp>
      <p:sp>
        <p:nvSpPr>
          <p:cNvPr id="7" name="Text 4"/>
          <p:cNvSpPr/>
          <p:nvPr/>
        </p:nvSpPr>
        <p:spPr>
          <a:xfrm>
            <a:off x="6477000" y="2031950"/>
            <a:ext cx="48399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1-or-2 steps → Fibonacci</a:t>
            </a:r>
            <a:endParaRPr lang="en-US" sz="1500" dirty="0"/>
          </a:p>
        </p:txBody>
      </p:sp>
      <p:sp>
        <p:nvSpPr>
          <p:cNvPr id="8" name="Text 5"/>
          <p:cNvSpPr/>
          <p:nvPr/>
        </p:nvSpPr>
        <p:spPr>
          <a:xfrm>
            <a:off x="6477000" y="2298650"/>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1, 1, 2, 3, 5, 8, 13</a:t>
            </a:r>
            <a:endParaRPr lang="en-US" sz="1300" dirty="0"/>
          </a:p>
        </p:txBody>
      </p:sp>
      <p:sp>
        <p:nvSpPr>
          <p:cNvPr id="9" name="Shape 6"/>
          <p:cNvSpPr/>
          <p:nvPr/>
        </p:nvSpPr>
        <p:spPr>
          <a:xfrm>
            <a:off x="6223000" y="2809180"/>
            <a:ext cx="5156200" cy="802630"/>
          </a:xfrm>
          <a:prstGeom prst="roundRect">
            <a:avLst>
              <a:gd name="adj" fmla="val 6329"/>
            </a:avLst>
          </a:prstGeom>
          <a:solidFill>
            <a:srgbClr val="FFFFFF"/>
          </a:solidFill>
          <a:ln/>
        </p:spPr>
      </p:sp>
      <p:sp>
        <p:nvSpPr>
          <p:cNvPr id="10" name="Shape 7"/>
          <p:cNvSpPr/>
          <p:nvPr/>
        </p:nvSpPr>
        <p:spPr>
          <a:xfrm>
            <a:off x="6223000" y="2809180"/>
            <a:ext cx="5156200" cy="802630"/>
          </a:xfrm>
          <a:custGeom>
            <a:avLst/>
            <a:gdLst/>
            <a:ahLst/>
            <a:cxnLst/>
            <a:rect l="l" t="t" r="r" b="b"/>
            <a:pathLst>
              <a:path w="5156200" h="802630">
                <a:moveTo>
                  <a:pt x="50800" y="802630"/>
                </a:moveTo>
                <a:lnTo>
                  <a:pt x="50800" y="802630"/>
                </a:lnTo>
                <a:arcTo hR="50800" wR="50800" stAng="5400000" swAng="5400000"/>
                <a:lnTo>
                  <a:pt x="0" y="50800"/>
                </a:lnTo>
                <a:arcTo hR="50800" wR="50800" stAng="10800000" swAng="5400000"/>
                <a:lnTo>
                  <a:pt x="50800" y="0"/>
                </a:lnTo>
                <a:lnTo>
                  <a:pt x="50800" y="802630"/>
                </a:lnTo>
                <a:close/>
              </a:path>
            </a:pathLst>
          </a:custGeom>
          <a:solidFill>
            <a:srgbClr val="B5541A"/>
          </a:solidFill>
          <a:ln/>
        </p:spPr>
      </p:sp>
      <p:sp>
        <p:nvSpPr>
          <p:cNvPr id="11" name="Text 8"/>
          <p:cNvSpPr/>
          <p:nvPr/>
        </p:nvSpPr>
        <p:spPr>
          <a:xfrm>
            <a:off x="6477000" y="2961580"/>
            <a:ext cx="48399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Tower of Hanoi = 2ⁿ − 1</a:t>
            </a:r>
            <a:endParaRPr lang="en-US" sz="1500" dirty="0"/>
          </a:p>
        </p:txBody>
      </p:sp>
      <p:sp>
        <p:nvSpPr>
          <p:cNvPr id="12" name="Text 9"/>
          <p:cNvSpPr/>
          <p:nvPr/>
        </p:nvSpPr>
        <p:spPr>
          <a:xfrm>
            <a:off x="6477000" y="3228280"/>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n = 4 → 15 moves</a:t>
            </a:r>
            <a:endParaRPr lang="en-US" sz="1300" dirty="0"/>
          </a:p>
        </p:txBody>
      </p:sp>
      <p:sp>
        <p:nvSpPr>
          <p:cNvPr id="13" name="Shape 10"/>
          <p:cNvSpPr/>
          <p:nvPr/>
        </p:nvSpPr>
        <p:spPr>
          <a:xfrm>
            <a:off x="6223000" y="3738811"/>
            <a:ext cx="5156200" cy="802630"/>
          </a:xfrm>
          <a:prstGeom prst="roundRect">
            <a:avLst>
              <a:gd name="adj" fmla="val 6329"/>
            </a:avLst>
          </a:prstGeom>
          <a:solidFill>
            <a:srgbClr val="FFFFFF"/>
          </a:solidFill>
          <a:ln/>
        </p:spPr>
      </p:sp>
      <p:sp>
        <p:nvSpPr>
          <p:cNvPr id="14" name="Shape 11"/>
          <p:cNvSpPr/>
          <p:nvPr/>
        </p:nvSpPr>
        <p:spPr>
          <a:xfrm>
            <a:off x="6223000" y="3738811"/>
            <a:ext cx="5156200" cy="802630"/>
          </a:xfrm>
          <a:custGeom>
            <a:avLst/>
            <a:gdLst/>
            <a:ahLst/>
            <a:cxnLst/>
            <a:rect l="l" t="t" r="r" b="b"/>
            <a:pathLst>
              <a:path w="5156200" h="802630">
                <a:moveTo>
                  <a:pt x="50800" y="802630"/>
                </a:moveTo>
                <a:lnTo>
                  <a:pt x="50800" y="802630"/>
                </a:lnTo>
                <a:arcTo hR="50800" wR="50800" stAng="5400000" swAng="5400000"/>
                <a:lnTo>
                  <a:pt x="0" y="50800"/>
                </a:lnTo>
                <a:arcTo hR="50800" wR="50800" stAng="10800000" swAng="5400000"/>
                <a:lnTo>
                  <a:pt x="50800" y="0"/>
                </a:lnTo>
                <a:lnTo>
                  <a:pt x="50800" y="802630"/>
                </a:lnTo>
                <a:close/>
              </a:path>
            </a:pathLst>
          </a:custGeom>
          <a:solidFill>
            <a:srgbClr val="B5541A"/>
          </a:solidFill>
          <a:ln/>
        </p:spPr>
      </p:sp>
      <p:sp>
        <p:nvSpPr>
          <p:cNvPr id="15" name="Text 12"/>
          <p:cNvSpPr/>
          <p:nvPr/>
        </p:nvSpPr>
        <p:spPr>
          <a:xfrm>
            <a:off x="6477000" y="3891211"/>
            <a:ext cx="48399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Permutations = n!, subsets = 2ⁿ</a:t>
            </a:r>
            <a:endParaRPr lang="en-US" sz="1500" dirty="0"/>
          </a:p>
        </p:txBody>
      </p:sp>
      <p:sp>
        <p:nvSpPr>
          <p:cNvPr id="16" name="Text 13"/>
          <p:cNvSpPr/>
          <p:nvPr/>
        </p:nvSpPr>
        <p:spPr>
          <a:xfrm>
            <a:off x="6477000" y="4157911"/>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“abc” → 6 orders, 8 subsets</a:t>
            </a:r>
            <a:endParaRPr lang="en-US" sz="1300" dirty="0"/>
          </a:p>
        </p:txBody>
      </p:sp>
      <p:sp>
        <p:nvSpPr>
          <p:cNvPr id="17" name="Shape 14"/>
          <p:cNvSpPr/>
          <p:nvPr/>
        </p:nvSpPr>
        <p:spPr>
          <a:xfrm>
            <a:off x="6223000" y="4668441"/>
            <a:ext cx="5156200" cy="802630"/>
          </a:xfrm>
          <a:prstGeom prst="roundRect">
            <a:avLst>
              <a:gd name="adj" fmla="val 6329"/>
            </a:avLst>
          </a:prstGeom>
          <a:solidFill>
            <a:srgbClr val="FFFFFF"/>
          </a:solidFill>
          <a:ln/>
        </p:spPr>
      </p:sp>
      <p:sp>
        <p:nvSpPr>
          <p:cNvPr id="18" name="Shape 15"/>
          <p:cNvSpPr/>
          <p:nvPr/>
        </p:nvSpPr>
        <p:spPr>
          <a:xfrm>
            <a:off x="6223000" y="4668441"/>
            <a:ext cx="5156200" cy="802630"/>
          </a:xfrm>
          <a:custGeom>
            <a:avLst/>
            <a:gdLst/>
            <a:ahLst/>
            <a:cxnLst/>
            <a:rect l="l" t="t" r="r" b="b"/>
            <a:pathLst>
              <a:path w="5156200" h="802630">
                <a:moveTo>
                  <a:pt x="50800" y="802630"/>
                </a:moveTo>
                <a:lnTo>
                  <a:pt x="50800" y="802630"/>
                </a:lnTo>
                <a:arcTo hR="50800" wR="50800" stAng="5400000" swAng="5400000"/>
                <a:lnTo>
                  <a:pt x="0" y="50800"/>
                </a:lnTo>
                <a:arcTo hR="50800" wR="50800" stAng="10800000" swAng="5400000"/>
                <a:lnTo>
                  <a:pt x="50800" y="0"/>
                </a:lnTo>
                <a:lnTo>
                  <a:pt x="50800" y="802630"/>
                </a:lnTo>
                <a:close/>
              </a:path>
            </a:pathLst>
          </a:custGeom>
          <a:solidFill>
            <a:srgbClr val="B5541A"/>
          </a:solidFill>
          <a:ln/>
        </p:spPr>
      </p:sp>
      <p:sp>
        <p:nvSpPr>
          <p:cNvPr id="19" name="Text 16"/>
          <p:cNvSpPr/>
          <p:nvPr/>
        </p:nvSpPr>
        <p:spPr>
          <a:xfrm>
            <a:off x="6477000" y="4820841"/>
            <a:ext cx="48399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Rubik" pitchFamily="34" charset="0"/>
                <a:ea typeface="Rubik" pitchFamily="34" charset="-122"/>
                <a:cs typeface="Rubik" pitchFamily="34" charset="-120"/>
              </a:rPr>
              <a:t>Grid paths: above + left</a:t>
            </a:r>
            <a:endParaRPr lang="en-US" sz="1500" dirty="0"/>
          </a:p>
        </p:txBody>
      </p:sp>
      <p:sp>
        <p:nvSpPr>
          <p:cNvPr id="20" name="Text 17"/>
          <p:cNvSpPr/>
          <p:nvPr/>
        </p:nvSpPr>
        <p:spPr>
          <a:xfrm>
            <a:off x="6477000" y="5087541"/>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3 × 3 grid → 6 routes</a:t>
            </a:r>
            <a:endParaRPr lang="en-US" sz="1300" dirty="0"/>
          </a:p>
        </p:txBody>
      </p:sp>
      <p:sp>
        <p:nvSpPr>
          <p:cNvPr id="21"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Pseudocode · “Nested loops multiply, not add.”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BIT TRICKS</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OR sets, AND-NOT clears, XOR flips, AND checks</a:t>
            </a:r>
            <a:endParaRPr lang="en-US" sz="3200" dirty="0"/>
          </a:p>
        </p:txBody>
      </p:sp>
      <p:sp>
        <p:nvSpPr>
          <p:cNvPr id="4" name="Shape 2"/>
          <p:cNvSpPr/>
          <p:nvPr/>
        </p:nvSpPr>
        <p:spPr>
          <a:xfrm>
            <a:off x="815975" y="1984325"/>
            <a:ext cx="2520950" cy="918170"/>
          </a:xfrm>
          <a:prstGeom prst="roundRect">
            <a:avLst>
              <a:gd name="adj" fmla="val 10720"/>
            </a:avLst>
          </a:prstGeom>
          <a:solidFill>
            <a:srgbClr val="FFFFFF"/>
          </a:solidFill>
          <a:ln w="6350">
            <a:solidFill>
              <a:srgbClr val="E2DFD5"/>
            </a:solidFill>
            <a:prstDash val="solid"/>
          </a:ln>
        </p:spPr>
      </p:sp>
      <p:sp>
        <p:nvSpPr>
          <p:cNvPr id="5" name="Text 3"/>
          <p:cNvSpPr/>
          <p:nvPr/>
        </p:nvSpPr>
        <p:spPr>
          <a:xfrm>
            <a:off x="996950" y="2165300"/>
            <a:ext cx="22237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A"/>
                </a:solidFill>
                <a:latin typeface="JetBrains Mono" pitchFamily="49" charset="0"/>
                <a:ea typeface="JetBrains Mono" pitchFamily="49" charset="-122"/>
                <a:cs typeface="JetBrains Mono" pitchFamily="49" charset="-120"/>
              </a:rPr>
              <a:t>x | (1&lt;&lt;k)</a:t>
            </a:r>
            <a:endParaRPr lang="en-US" sz="1400" dirty="0"/>
          </a:p>
        </p:txBody>
      </p:sp>
      <p:sp>
        <p:nvSpPr>
          <p:cNvPr id="6" name="Text 4"/>
          <p:cNvSpPr/>
          <p:nvPr/>
        </p:nvSpPr>
        <p:spPr>
          <a:xfrm>
            <a:off x="996950" y="2490391"/>
            <a:ext cx="22237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Set bit k</a:t>
            </a:r>
            <a:endParaRPr lang="en-US" sz="1300" dirty="0"/>
          </a:p>
        </p:txBody>
      </p:sp>
      <p:sp>
        <p:nvSpPr>
          <p:cNvPr id="7" name="Shape 5"/>
          <p:cNvSpPr/>
          <p:nvPr/>
        </p:nvSpPr>
        <p:spPr>
          <a:xfrm>
            <a:off x="3495675" y="1984325"/>
            <a:ext cx="2520950" cy="918170"/>
          </a:xfrm>
          <a:prstGeom prst="roundRect">
            <a:avLst>
              <a:gd name="adj" fmla="val 10720"/>
            </a:avLst>
          </a:prstGeom>
          <a:solidFill>
            <a:srgbClr val="FFFFFF"/>
          </a:solidFill>
          <a:ln w="6350">
            <a:solidFill>
              <a:srgbClr val="E2DFD5"/>
            </a:solidFill>
            <a:prstDash val="solid"/>
          </a:ln>
        </p:spPr>
      </p:sp>
      <p:sp>
        <p:nvSpPr>
          <p:cNvPr id="8" name="Text 6"/>
          <p:cNvSpPr/>
          <p:nvPr/>
        </p:nvSpPr>
        <p:spPr>
          <a:xfrm>
            <a:off x="3676650" y="2165300"/>
            <a:ext cx="22237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A"/>
                </a:solidFill>
                <a:latin typeface="JetBrains Mono" pitchFamily="49" charset="0"/>
                <a:ea typeface="JetBrains Mono" pitchFamily="49" charset="-122"/>
                <a:cs typeface="JetBrains Mono" pitchFamily="49" charset="-120"/>
              </a:rPr>
              <a:t>x &amp; ~(1&lt;&lt;k)</a:t>
            </a:r>
            <a:endParaRPr lang="en-US" sz="1400" dirty="0"/>
          </a:p>
        </p:txBody>
      </p:sp>
      <p:sp>
        <p:nvSpPr>
          <p:cNvPr id="9" name="Text 7"/>
          <p:cNvSpPr/>
          <p:nvPr/>
        </p:nvSpPr>
        <p:spPr>
          <a:xfrm>
            <a:off x="3676650" y="2490391"/>
            <a:ext cx="22237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Clear bit k</a:t>
            </a:r>
            <a:endParaRPr lang="en-US" sz="1300" dirty="0"/>
          </a:p>
        </p:txBody>
      </p:sp>
      <p:sp>
        <p:nvSpPr>
          <p:cNvPr id="10" name="Shape 8"/>
          <p:cNvSpPr/>
          <p:nvPr/>
        </p:nvSpPr>
        <p:spPr>
          <a:xfrm>
            <a:off x="6175375" y="1984325"/>
            <a:ext cx="2520950" cy="918170"/>
          </a:xfrm>
          <a:prstGeom prst="roundRect">
            <a:avLst>
              <a:gd name="adj" fmla="val 10720"/>
            </a:avLst>
          </a:prstGeom>
          <a:solidFill>
            <a:srgbClr val="FFFFFF"/>
          </a:solidFill>
          <a:ln w="6350">
            <a:solidFill>
              <a:srgbClr val="E2DFD5"/>
            </a:solidFill>
            <a:prstDash val="solid"/>
          </a:ln>
        </p:spPr>
      </p:sp>
      <p:sp>
        <p:nvSpPr>
          <p:cNvPr id="11" name="Text 9"/>
          <p:cNvSpPr/>
          <p:nvPr/>
        </p:nvSpPr>
        <p:spPr>
          <a:xfrm>
            <a:off x="6356350" y="2165300"/>
            <a:ext cx="22237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A"/>
                </a:solidFill>
                <a:latin typeface="JetBrains Mono" pitchFamily="49" charset="0"/>
                <a:ea typeface="JetBrains Mono" pitchFamily="49" charset="-122"/>
                <a:cs typeface="JetBrains Mono" pitchFamily="49" charset="-120"/>
              </a:rPr>
              <a:t>x ^ (1&lt;&lt;k)</a:t>
            </a:r>
            <a:endParaRPr lang="en-US" sz="1400" dirty="0"/>
          </a:p>
        </p:txBody>
      </p:sp>
      <p:sp>
        <p:nvSpPr>
          <p:cNvPr id="12" name="Text 10"/>
          <p:cNvSpPr/>
          <p:nvPr/>
        </p:nvSpPr>
        <p:spPr>
          <a:xfrm>
            <a:off x="6356350" y="2490391"/>
            <a:ext cx="22237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Toggle bit k</a:t>
            </a:r>
            <a:endParaRPr lang="en-US" sz="1300" dirty="0"/>
          </a:p>
        </p:txBody>
      </p:sp>
      <p:sp>
        <p:nvSpPr>
          <p:cNvPr id="13" name="Shape 11"/>
          <p:cNvSpPr/>
          <p:nvPr/>
        </p:nvSpPr>
        <p:spPr>
          <a:xfrm>
            <a:off x="8855075" y="1984325"/>
            <a:ext cx="2520950" cy="918170"/>
          </a:xfrm>
          <a:prstGeom prst="roundRect">
            <a:avLst>
              <a:gd name="adj" fmla="val 10720"/>
            </a:avLst>
          </a:prstGeom>
          <a:solidFill>
            <a:srgbClr val="FFFFFF"/>
          </a:solidFill>
          <a:ln w="6350">
            <a:solidFill>
              <a:srgbClr val="E2DFD5"/>
            </a:solidFill>
            <a:prstDash val="solid"/>
          </a:ln>
        </p:spPr>
      </p:sp>
      <p:sp>
        <p:nvSpPr>
          <p:cNvPr id="14" name="Text 12"/>
          <p:cNvSpPr/>
          <p:nvPr/>
        </p:nvSpPr>
        <p:spPr>
          <a:xfrm>
            <a:off x="9036050" y="2165300"/>
            <a:ext cx="22237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A"/>
                </a:solidFill>
                <a:latin typeface="JetBrains Mono" pitchFamily="49" charset="0"/>
                <a:ea typeface="JetBrains Mono" pitchFamily="49" charset="-122"/>
                <a:cs typeface="JetBrains Mono" pitchFamily="49" charset="-120"/>
              </a:rPr>
              <a:t>x &amp; (1&lt;&lt;k)</a:t>
            </a:r>
            <a:endParaRPr lang="en-US" sz="1400" dirty="0"/>
          </a:p>
        </p:txBody>
      </p:sp>
      <p:sp>
        <p:nvSpPr>
          <p:cNvPr id="15" name="Text 13"/>
          <p:cNvSpPr/>
          <p:nvPr/>
        </p:nvSpPr>
        <p:spPr>
          <a:xfrm>
            <a:off x="9036050" y="2490391"/>
            <a:ext cx="22237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Check bit k (reads only)</a:t>
            </a:r>
            <a:endParaRPr lang="en-US" sz="1300" dirty="0"/>
          </a:p>
        </p:txBody>
      </p:sp>
      <p:sp>
        <p:nvSpPr>
          <p:cNvPr id="16" name="Shape 14"/>
          <p:cNvSpPr/>
          <p:nvPr/>
        </p:nvSpPr>
        <p:spPr>
          <a:xfrm>
            <a:off x="815975" y="3061246"/>
            <a:ext cx="2520950" cy="1149300"/>
          </a:xfrm>
          <a:prstGeom prst="roundRect">
            <a:avLst>
              <a:gd name="adj" fmla="val 8564"/>
            </a:avLst>
          </a:prstGeom>
          <a:solidFill>
            <a:srgbClr val="FFFFFF"/>
          </a:solidFill>
          <a:ln w="6350">
            <a:solidFill>
              <a:srgbClr val="E2DFD5"/>
            </a:solidFill>
            <a:prstDash val="solid"/>
          </a:ln>
        </p:spPr>
      </p:sp>
      <p:sp>
        <p:nvSpPr>
          <p:cNvPr id="17" name="Text 15"/>
          <p:cNvSpPr/>
          <p:nvPr/>
        </p:nvSpPr>
        <p:spPr>
          <a:xfrm>
            <a:off x="996950" y="3242221"/>
            <a:ext cx="22237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A"/>
                </a:solidFill>
                <a:latin typeface="JetBrains Mono" pitchFamily="49" charset="0"/>
                <a:ea typeface="JetBrains Mono" pitchFamily="49" charset="-122"/>
                <a:cs typeface="JetBrains Mono" pitchFamily="49" charset="-120"/>
              </a:rPr>
              <a:t>x &amp; (x-1) == 0</a:t>
            </a:r>
            <a:endParaRPr lang="en-US" sz="1400" dirty="0"/>
          </a:p>
        </p:txBody>
      </p:sp>
      <p:sp>
        <p:nvSpPr>
          <p:cNvPr id="18" name="Text 16"/>
          <p:cNvSpPr/>
          <p:nvPr/>
        </p:nvSpPr>
        <p:spPr>
          <a:xfrm>
            <a:off x="996950" y="3567311"/>
            <a:ext cx="22237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Power of two (x &gt; 0)</a:t>
            </a:r>
            <a:endParaRPr lang="en-US" sz="1300" dirty="0"/>
          </a:p>
        </p:txBody>
      </p:sp>
      <p:sp>
        <p:nvSpPr>
          <p:cNvPr id="19" name="Shape 17"/>
          <p:cNvSpPr/>
          <p:nvPr/>
        </p:nvSpPr>
        <p:spPr>
          <a:xfrm>
            <a:off x="3495675" y="3061246"/>
            <a:ext cx="2520950" cy="1149300"/>
          </a:xfrm>
          <a:prstGeom prst="roundRect">
            <a:avLst>
              <a:gd name="adj" fmla="val 8564"/>
            </a:avLst>
          </a:prstGeom>
          <a:solidFill>
            <a:srgbClr val="FFFFFF"/>
          </a:solidFill>
          <a:ln w="6350">
            <a:solidFill>
              <a:srgbClr val="E2DFD5"/>
            </a:solidFill>
            <a:prstDash val="solid"/>
          </a:ln>
        </p:spPr>
      </p:sp>
      <p:sp>
        <p:nvSpPr>
          <p:cNvPr id="20" name="Text 18"/>
          <p:cNvSpPr/>
          <p:nvPr/>
        </p:nvSpPr>
        <p:spPr>
          <a:xfrm>
            <a:off x="3676650" y="3242221"/>
            <a:ext cx="22237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A"/>
                </a:solidFill>
                <a:latin typeface="JetBrains Mono" pitchFamily="49" charset="0"/>
                <a:ea typeface="JetBrains Mono" pitchFamily="49" charset="-122"/>
                <a:cs typeface="JetBrains Mono" pitchFamily="49" charset="-120"/>
              </a:rPr>
              <a:t>n &amp;= n-1</a:t>
            </a:r>
            <a:endParaRPr lang="en-US" sz="1400" dirty="0"/>
          </a:p>
        </p:txBody>
      </p:sp>
      <p:sp>
        <p:nvSpPr>
          <p:cNvPr id="21" name="Text 19"/>
          <p:cNvSpPr/>
          <p:nvPr/>
        </p:nvSpPr>
        <p:spPr>
          <a:xfrm>
            <a:off x="3676650" y="3567311"/>
            <a:ext cx="222377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Clears lowest 1: count set bits</a:t>
            </a:r>
            <a:endParaRPr lang="en-US" sz="1300" dirty="0"/>
          </a:p>
        </p:txBody>
      </p:sp>
      <p:sp>
        <p:nvSpPr>
          <p:cNvPr id="22" name="Shape 20"/>
          <p:cNvSpPr/>
          <p:nvPr/>
        </p:nvSpPr>
        <p:spPr>
          <a:xfrm>
            <a:off x="6175375" y="3061246"/>
            <a:ext cx="2520950" cy="1149300"/>
          </a:xfrm>
          <a:prstGeom prst="roundRect">
            <a:avLst>
              <a:gd name="adj" fmla="val 8564"/>
            </a:avLst>
          </a:prstGeom>
          <a:solidFill>
            <a:srgbClr val="FFFFFF"/>
          </a:solidFill>
          <a:ln w="6350">
            <a:solidFill>
              <a:srgbClr val="E2DFD5"/>
            </a:solidFill>
            <a:prstDash val="solid"/>
          </a:ln>
        </p:spPr>
      </p:sp>
      <p:sp>
        <p:nvSpPr>
          <p:cNvPr id="23" name="Text 21"/>
          <p:cNvSpPr/>
          <p:nvPr/>
        </p:nvSpPr>
        <p:spPr>
          <a:xfrm>
            <a:off x="6356350" y="3242221"/>
            <a:ext cx="22237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A"/>
                </a:solidFill>
                <a:latin typeface="JetBrains Mono" pitchFamily="49" charset="0"/>
                <a:ea typeface="JetBrains Mono" pitchFamily="49" charset="-122"/>
                <a:cs typeface="JetBrains Mono" pitchFamily="49" charset="-120"/>
              </a:rPr>
              <a:t>XOR of all</a:t>
            </a:r>
            <a:endParaRPr lang="en-US" sz="1400" dirty="0"/>
          </a:p>
        </p:txBody>
      </p:sp>
      <p:sp>
        <p:nvSpPr>
          <p:cNvPr id="24" name="Text 22"/>
          <p:cNvSpPr/>
          <p:nvPr/>
        </p:nvSpPr>
        <p:spPr>
          <a:xfrm>
            <a:off x="6356350" y="3567311"/>
            <a:ext cx="222377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Pairs cancel, the single one stays</a:t>
            </a:r>
            <a:endParaRPr lang="en-US" sz="1300" dirty="0"/>
          </a:p>
        </p:txBody>
      </p:sp>
      <p:sp>
        <p:nvSpPr>
          <p:cNvPr id="25" name="Shape 23"/>
          <p:cNvSpPr/>
          <p:nvPr/>
        </p:nvSpPr>
        <p:spPr>
          <a:xfrm>
            <a:off x="8855075" y="3061246"/>
            <a:ext cx="2520950" cy="1149300"/>
          </a:xfrm>
          <a:prstGeom prst="roundRect">
            <a:avLst>
              <a:gd name="adj" fmla="val 8564"/>
            </a:avLst>
          </a:prstGeom>
          <a:solidFill>
            <a:srgbClr val="FFFFFF"/>
          </a:solidFill>
          <a:ln w="6350">
            <a:solidFill>
              <a:srgbClr val="E2DFD5"/>
            </a:solidFill>
            <a:prstDash val="solid"/>
          </a:ln>
        </p:spPr>
      </p:sp>
      <p:sp>
        <p:nvSpPr>
          <p:cNvPr id="26" name="Text 24"/>
          <p:cNvSpPr/>
          <p:nvPr/>
        </p:nvSpPr>
        <p:spPr>
          <a:xfrm>
            <a:off x="9036050" y="3242221"/>
            <a:ext cx="22237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A"/>
                </a:solidFill>
                <a:latin typeface="JetBrains Mono" pitchFamily="49" charset="0"/>
                <a:ea typeface="JetBrains Mono" pitchFamily="49" charset="-122"/>
                <a:cs typeface="JetBrains Mono" pitchFamily="49" charset="-120"/>
              </a:rPr>
              <a:t>x &gt;&gt; 1, x &lt;&lt; 1</a:t>
            </a:r>
            <a:endParaRPr lang="en-US" sz="1400" dirty="0"/>
          </a:p>
        </p:txBody>
      </p:sp>
      <p:sp>
        <p:nvSpPr>
          <p:cNvPr id="27" name="Text 25"/>
          <p:cNvSpPr/>
          <p:nvPr/>
        </p:nvSpPr>
        <p:spPr>
          <a:xfrm>
            <a:off x="9036050" y="3567311"/>
            <a:ext cx="22237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Halve, double (13 &gt;&gt; 1 = 6)</a:t>
            </a:r>
            <a:endParaRPr lang="en-US" sz="1300" dirty="0"/>
          </a:p>
        </p:txBody>
      </p:sp>
      <p:sp>
        <p:nvSpPr>
          <p:cNvPr id="28" name="Text 26"/>
          <p:cNvSpPr/>
          <p:nvPr/>
        </p:nvSpPr>
        <p:spPr>
          <a:xfrm>
            <a:off x="812800" y="446772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Rubik" pitchFamily="34" charset="0"/>
                <a:ea typeface="Rubik" pitchFamily="34" charset="-122"/>
                <a:cs typeface="Rubik" pitchFamily="34" charset="-120"/>
              </a:rPr>
              <a:t>Always convert to binary first: 13 = 1101, 10 = 1010, 8 = 1000.</a:t>
            </a:r>
            <a:endParaRPr lang="en-US" sz="14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Pseudocode · Bit k counts from 0 on the right: the “3rd bit” is k = 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Rubik" pitchFamily="34" charset="0"/>
                <a:ea typeface="Rubik" pitchFamily="34" charset="-122"/>
                <a:cs typeface="Rubik" pitchFamily="34" charset="-120"/>
              </a:rPr>
              <a:t>QUICK CHECK · TRACE IT</a:t>
            </a:r>
            <a:endParaRPr lang="en-US" sz="1200" dirty="0"/>
          </a:p>
        </p:txBody>
      </p:sp>
      <p:sp>
        <p:nvSpPr>
          <p:cNvPr id="3" name="Shape 1"/>
          <p:cNvSpPr/>
          <p:nvPr/>
        </p:nvSpPr>
        <p:spPr>
          <a:xfrm>
            <a:off x="812800" y="1290290"/>
            <a:ext cx="5384800" cy="2174180"/>
          </a:xfrm>
          <a:prstGeom prst="roundRect">
            <a:avLst>
              <a:gd name="adj" fmla="val 3505"/>
            </a:avLst>
          </a:prstGeom>
          <a:solidFill>
            <a:srgbClr val="0E1830"/>
          </a:solidFill>
          <a:ln/>
        </p:spPr>
      </p:sp>
      <p:sp>
        <p:nvSpPr>
          <p:cNvPr id="4" name="Text 2"/>
          <p:cNvSpPr/>
          <p:nvPr/>
        </p:nvSpPr>
        <p:spPr>
          <a:xfrm>
            <a:off x="1066800" y="1493490"/>
            <a:ext cx="5023104"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7F5EF"/>
                </a:solidFill>
                <a:latin typeface="JetBrains Mono" pitchFamily="49" charset="0"/>
                <a:ea typeface="JetBrains Mono" pitchFamily="49" charset="-122"/>
                <a:cs typeface="JetBrains Mono" pitchFamily="49" charset="-120"/>
              </a:rPr>
              <a:t>def count_bits(n):</a:t>
            </a:r>
            <a:endParaRPr lang="en-US" sz="1600" dirty="0"/>
          </a:p>
        </p:txBody>
      </p:sp>
      <p:sp>
        <p:nvSpPr>
          <p:cNvPr id="5" name="Text 3"/>
          <p:cNvSpPr/>
          <p:nvPr/>
        </p:nvSpPr>
        <p:spPr>
          <a:xfrm>
            <a:off x="1066800" y="1788120"/>
            <a:ext cx="5023104"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7F5EF"/>
                </a:solidFill>
                <a:latin typeface="JetBrains Mono" pitchFamily="49" charset="0"/>
                <a:ea typeface="JetBrains Mono" pitchFamily="49" charset="-122"/>
                <a:cs typeface="JetBrains Mono" pitchFamily="49" charset="-120"/>
              </a:rPr>
              <a:t>    count = 0</a:t>
            </a:r>
            <a:endParaRPr lang="en-US" sz="1600" dirty="0"/>
          </a:p>
        </p:txBody>
      </p:sp>
      <p:sp>
        <p:nvSpPr>
          <p:cNvPr id="6" name="Text 4"/>
          <p:cNvSpPr/>
          <p:nvPr/>
        </p:nvSpPr>
        <p:spPr>
          <a:xfrm>
            <a:off x="1066800" y="2082750"/>
            <a:ext cx="5023104"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7F5EF"/>
                </a:solidFill>
                <a:latin typeface="JetBrains Mono" pitchFamily="49" charset="0"/>
                <a:ea typeface="JetBrains Mono" pitchFamily="49" charset="-122"/>
                <a:cs typeface="JetBrains Mono" pitchFamily="49" charset="-120"/>
              </a:rPr>
              <a:t>    while n:</a:t>
            </a:r>
            <a:endParaRPr lang="en-US" sz="1600" dirty="0"/>
          </a:p>
        </p:txBody>
      </p:sp>
      <p:sp>
        <p:nvSpPr>
          <p:cNvPr id="7" name="Text 5"/>
          <p:cNvSpPr/>
          <p:nvPr/>
        </p:nvSpPr>
        <p:spPr>
          <a:xfrm>
            <a:off x="1066800" y="2377380"/>
            <a:ext cx="5023104"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7F5EF"/>
                </a:solidFill>
                <a:latin typeface="JetBrains Mono" pitchFamily="49" charset="0"/>
                <a:ea typeface="JetBrains Mono" pitchFamily="49" charset="-122"/>
                <a:cs typeface="JetBrains Mono" pitchFamily="49" charset="-120"/>
              </a:rPr>
              <a:t>        n &amp;= n - 1</a:t>
            </a:r>
            <a:endParaRPr lang="en-US" sz="1600" dirty="0"/>
          </a:p>
        </p:txBody>
      </p:sp>
      <p:sp>
        <p:nvSpPr>
          <p:cNvPr id="8" name="Text 6"/>
          <p:cNvSpPr/>
          <p:nvPr/>
        </p:nvSpPr>
        <p:spPr>
          <a:xfrm>
            <a:off x="1066800" y="2672011"/>
            <a:ext cx="5023104"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7F5EF"/>
                </a:solidFill>
                <a:latin typeface="JetBrains Mono" pitchFamily="49" charset="0"/>
                <a:ea typeface="JetBrains Mono" pitchFamily="49" charset="-122"/>
                <a:cs typeface="JetBrains Mono" pitchFamily="49" charset="-120"/>
              </a:rPr>
              <a:t>        count += 1</a:t>
            </a:r>
            <a:endParaRPr lang="en-US" sz="1600" dirty="0"/>
          </a:p>
        </p:txBody>
      </p:sp>
      <p:sp>
        <p:nvSpPr>
          <p:cNvPr id="9" name="Text 7"/>
          <p:cNvSpPr/>
          <p:nvPr/>
        </p:nvSpPr>
        <p:spPr>
          <a:xfrm>
            <a:off x="1066800" y="2966641"/>
            <a:ext cx="5023104"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7F5EF"/>
                </a:solidFill>
                <a:latin typeface="JetBrains Mono" pitchFamily="49" charset="0"/>
                <a:ea typeface="JetBrains Mono" pitchFamily="49" charset="-122"/>
                <a:cs typeface="JetBrains Mono" pitchFamily="49" charset="-120"/>
              </a:rPr>
              <a:t>    return count</a:t>
            </a:r>
            <a:endParaRPr lang="en-US" sz="1600" dirty="0"/>
          </a:p>
        </p:txBody>
      </p:sp>
      <p:sp>
        <p:nvSpPr>
          <p:cNvPr id="10" name="Text 8"/>
          <p:cNvSpPr/>
          <p:nvPr>
            <p:ph type="title"/>
          </p:nvPr>
        </p:nvSpPr>
        <p:spPr>
          <a:xfrm>
            <a:off x="6502400" y="1229320"/>
            <a:ext cx="5023104" cy="817860"/>
          </a:xfrm>
          <a:prstGeom prst="rect">
            <a:avLst/>
          </a:prstGeom>
          <a:noFill/>
          <a:ln/>
        </p:spPr>
        <p:txBody>
          <a:bodyPr wrap="square" lIns="0" tIns="0" rIns="0" bIns="0" rtlCol="0" anchor="t">
            <a:normAutofit/>
          </a:bodyPr>
          <a:lstStyle/>
          <a:p>
            <a:pPr algn="l" indent="0" marL="0">
              <a:lnSpc>
                <a:spcPts val="3120"/>
              </a:lnSpc>
              <a:buNone/>
            </a:pPr>
            <a:r>
              <a:rPr lang="en-US" sz="2600" b="1" i="0" dirty="0">
                <a:solidFill>
                  <a:srgbClr val="F7F5EF"/>
                </a:solidFill>
                <a:latin typeface="Rubik" pitchFamily="34" charset="0"/>
                <a:ea typeface="Rubik" pitchFamily="34" charset="-122"/>
                <a:cs typeface="Rubik" pitchFamily="34" charset="-120"/>
              </a:rPr>
              <a:t>What does count_bits(13) return?</a:t>
            </a:r>
            <a:endParaRPr lang="en-US" sz="2600" dirty="0"/>
          </a:p>
        </p:txBody>
      </p:sp>
      <p:sp>
        <p:nvSpPr>
          <p:cNvPr id="11" name="Text 9"/>
          <p:cNvSpPr/>
          <p:nvPr/>
        </p:nvSpPr>
        <p:spPr>
          <a:xfrm>
            <a:off x="6502400" y="2148780"/>
            <a:ext cx="2374900" cy="624830"/>
          </a:xfrm>
          <a:prstGeom prst="roundRect">
            <a:avLst>
              <a:gd name="adj" fmla="val 12195"/>
            </a:avLst>
          </a:prstGeom>
          <a:solidFill>
            <a:srgbClr val="22305A"/>
          </a:solidFill>
          <a:ln/>
        </p:spPr>
        <p:txBody>
          <a:bodyPr wrap="square" lIns="206282" tIns="130082" rIns="148751" bIns="104682" rtlCol="0" anchor="t">
            <a:normAutofit/>
          </a:bodyPr>
          <a:lstStyle/>
          <a:p>
            <a:pPr algn="l" indent="0" marL="0">
              <a:lnSpc>
                <a:spcPts val="2520"/>
              </a:lnSpc>
              <a:buNone/>
            </a:pPr>
            <a:r>
              <a:rPr lang="en-US" sz="1800" dirty="0">
                <a:solidFill>
                  <a:srgbClr val="F7F5EF"/>
                </a:solidFill>
                <a:latin typeface="Rubik" pitchFamily="34" charset="0"/>
                <a:ea typeface="Rubik" pitchFamily="34" charset="-122"/>
                <a:cs typeface="Rubik" pitchFamily="34" charset="-120"/>
              </a:rPr>
              <a:t>A) 2</a:t>
            </a:r>
            <a:endParaRPr lang="en-US" sz="1800" dirty="0"/>
          </a:p>
        </p:txBody>
      </p:sp>
      <p:sp>
        <p:nvSpPr>
          <p:cNvPr id="12" name="Text 10"/>
          <p:cNvSpPr/>
          <p:nvPr/>
        </p:nvSpPr>
        <p:spPr>
          <a:xfrm>
            <a:off x="9004300" y="2148780"/>
            <a:ext cx="2374900" cy="624830"/>
          </a:xfrm>
          <a:prstGeom prst="roundRect">
            <a:avLst>
              <a:gd name="adj" fmla="val 12195"/>
            </a:avLst>
          </a:prstGeom>
          <a:solidFill>
            <a:srgbClr val="22305A"/>
          </a:solidFill>
          <a:ln/>
        </p:spPr>
        <p:txBody>
          <a:bodyPr wrap="square" lIns="206282" tIns="130082" rIns="148751" bIns="104682" rtlCol="0" anchor="t">
            <a:normAutofit/>
          </a:bodyPr>
          <a:lstStyle/>
          <a:p>
            <a:pPr algn="l" indent="0" marL="0">
              <a:lnSpc>
                <a:spcPts val="2520"/>
              </a:lnSpc>
              <a:buNone/>
            </a:pPr>
            <a:r>
              <a:rPr lang="en-US" sz="1800" dirty="0">
                <a:solidFill>
                  <a:srgbClr val="F7F5EF"/>
                </a:solidFill>
                <a:latin typeface="Rubik" pitchFamily="34" charset="0"/>
                <a:ea typeface="Rubik" pitchFamily="34" charset="-122"/>
                <a:cs typeface="Rubik" pitchFamily="34" charset="-120"/>
              </a:rPr>
              <a:t>B) 3</a:t>
            </a:r>
            <a:endParaRPr lang="en-US" sz="1800" dirty="0"/>
          </a:p>
        </p:txBody>
      </p:sp>
      <p:sp>
        <p:nvSpPr>
          <p:cNvPr id="13" name="Text 11"/>
          <p:cNvSpPr/>
          <p:nvPr/>
        </p:nvSpPr>
        <p:spPr>
          <a:xfrm>
            <a:off x="6502400" y="2900611"/>
            <a:ext cx="2374900" cy="624830"/>
          </a:xfrm>
          <a:prstGeom prst="roundRect">
            <a:avLst>
              <a:gd name="adj" fmla="val 12195"/>
            </a:avLst>
          </a:prstGeom>
          <a:solidFill>
            <a:srgbClr val="22305A"/>
          </a:solidFill>
          <a:ln/>
        </p:spPr>
        <p:txBody>
          <a:bodyPr wrap="square" lIns="206282" tIns="130082" rIns="148751" bIns="104682" rtlCol="0" anchor="t">
            <a:normAutofit/>
          </a:bodyPr>
          <a:lstStyle/>
          <a:p>
            <a:pPr algn="l" indent="0" marL="0">
              <a:lnSpc>
                <a:spcPts val="2520"/>
              </a:lnSpc>
              <a:buNone/>
            </a:pPr>
            <a:r>
              <a:rPr lang="en-US" sz="1800" dirty="0">
                <a:solidFill>
                  <a:srgbClr val="F7F5EF"/>
                </a:solidFill>
                <a:latin typeface="Rubik" pitchFamily="34" charset="0"/>
                <a:ea typeface="Rubik" pitchFamily="34" charset="-122"/>
                <a:cs typeface="Rubik" pitchFamily="34" charset="-120"/>
              </a:rPr>
              <a:t>C) 4</a:t>
            </a:r>
            <a:endParaRPr lang="en-US" sz="1800" dirty="0"/>
          </a:p>
        </p:txBody>
      </p:sp>
      <p:sp>
        <p:nvSpPr>
          <p:cNvPr id="14" name="Text 12"/>
          <p:cNvSpPr/>
          <p:nvPr/>
        </p:nvSpPr>
        <p:spPr>
          <a:xfrm>
            <a:off x="9004300" y="2900611"/>
            <a:ext cx="2374900" cy="624830"/>
          </a:xfrm>
          <a:prstGeom prst="roundRect">
            <a:avLst>
              <a:gd name="adj" fmla="val 12195"/>
            </a:avLst>
          </a:prstGeom>
          <a:solidFill>
            <a:srgbClr val="22305A"/>
          </a:solidFill>
          <a:ln/>
        </p:spPr>
        <p:txBody>
          <a:bodyPr wrap="square" lIns="206282" tIns="130082" rIns="148751" bIns="104682" rtlCol="0" anchor="t">
            <a:normAutofit/>
          </a:bodyPr>
          <a:lstStyle/>
          <a:p>
            <a:pPr algn="l" indent="0" marL="0">
              <a:lnSpc>
                <a:spcPts val="2520"/>
              </a:lnSpc>
              <a:buNone/>
            </a:pPr>
            <a:r>
              <a:rPr lang="en-US" sz="1800" dirty="0">
                <a:solidFill>
                  <a:srgbClr val="F7F5EF"/>
                </a:solidFill>
                <a:latin typeface="Rubik" pitchFamily="34" charset="0"/>
                <a:ea typeface="Rubik" pitchFamily="34" charset="-122"/>
                <a:cs typeface="Rubik" pitchFamily="34" charset="-120"/>
              </a:rPr>
              <a:t>D) 13</a:t>
            </a:r>
            <a:endParaRPr lang="en-US" sz="1800" dirty="0"/>
          </a:p>
        </p:txBody>
      </p:sp>
      <p:sp>
        <p:nvSpPr>
          <p:cNvPr id="15" name="Text 13"/>
          <p:cNvSpPr/>
          <p:nvPr/>
        </p:nvSpPr>
        <p:spPr>
          <a:xfrm>
            <a:off x="812800" y="5410200"/>
            <a:ext cx="10566400" cy="571500"/>
          </a:xfrm>
          <a:prstGeom prst="roundRect">
            <a:avLst>
              <a:gd name="adj" fmla="val 13333"/>
            </a:avLst>
          </a:prstGeom>
          <a:solidFill>
            <a:srgbClr val="F2A65A"/>
          </a:solidFill>
          <a:ln/>
        </p:spPr>
        <p:txBody>
          <a:bodyPr wrap="square" lIns="206282" tIns="130082" rIns="0" bIns="104682" rtlCol="0" anchor="t">
            <a:normAutofit/>
          </a:bodyPr>
          <a:lstStyle/>
          <a:p>
            <a:pPr algn="l" indent="0" marL="0">
              <a:lnSpc>
                <a:spcPts val="2100"/>
              </a:lnSpc>
              <a:buNone/>
            </a:pPr>
            <a:r>
              <a:rPr lang="en-US" sz="1500" b="1" dirty="0">
                <a:solidFill>
                  <a:srgbClr val="14213D"/>
                </a:solidFill>
                <a:latin typeface="Rubik" pitchFamily="34" charset="0"/>
                <a:ea typeface="Rubik" pitchFamily="34" charset="-122"/>
                <a:cs typeface="Rubik" pitchFamily="34" charset="-120"/>
              </a:rPr>
              <a:t>Answer: B.</a:t>
            </a:r>
            <a:r>
              <a:rPr lang="en-US" sz="1500" dirty="0">
                <a:solidFill>
                  <a:srgbClr val="14213D"/>
                </a:solidFill>
                <a:latin typeface="Rubik" pitchFamily="34" charset="0"/>
                <a:ea typeface="Rubik" pitchFamily="34" charset="-122"/>
                <a:cs typeface="Rubik" pitchFamily="34" charset="-120"/>
              </a:rPr>
              <a:t> 1101 → 1100 → 1000 → 0000: three steps, so three set bits.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DEBUGGING &amp; DATA TYPES</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Scan for the trigger, then name the bug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3593207"/>
        </p:xfrm>
        <a:graphic>
          <a:graphicData uri="http://schemas.openxmlformats.org/drawingml/2006/table">
            <a:tbl>
              <a:tblPr/>
              <a:tblGrid>
                <a:gridCol w="4221480"/>
                <a:gridCol w="2955036"/>
                <a:gridCol w="3377184"/>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Trigger</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Bug</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Memory trick</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range(0, len(a)+1)</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Off-by-one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Length is a count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total / 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Divide by zero</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Check the denominator</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if (x = 5)</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Assignment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One = assigns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age&gt;=18 or age&lt;=60</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Always true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 range needs AND</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input() &gt; 18</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str vs int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Input is text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0.1 + 0.2 == 0.3</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Float precision</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Compare with tolerance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b = a; b.append()</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Aliasing</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Copies the reference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45 / 50 * 100 (ints)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Integer division</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Cast before dividing</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count += 1 in threads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Race condition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Unlocked = lost updates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Debugging · 28 bug patterns in the cheat sheet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Rubik" pitchFamily="34" charset="0"/>
                <a:ea typeface="Rubik" pitchFamily="34" charset="-122"/>
                <a:cs typeface="Rubik" pitchFamily="34" charset="-120"/>
              </a:rPr>
              <a:t>QUICK CHECK · DEBUGGING</a:t>
            </a:r>
            <a:endParaRPr lang="en-US" sz="1200" dirty="0"/>
          </a:p>
        </p:txBody>
      </p:sp>
      <p:sp>
        <p:nvSpPr>
          <p:cNvPr id="3" name="Shape 1"/>
          <p:cNvSpPr/>
          <p:nvPr/>
        </p:nvSpPr>
        <p:spPr>
          <a:xfrm>
            <a:off x="812800" y="1437580"/>
            <a:ext cx="5384800" cy="1879550"/>
          </a:xfrm>
          <a:prstGeom prst="roundRect">
            <a:avLst>
              <a:gd name="adj" fmla="val 4054"/>
            </a:avLst>
          </a:prstGeom>
          <a:solidFill>
            <a:srgbClr val="0E1830"/>
          </a:solidFill>
          <a:ln/>
        </p:spPr>
      </p:sp>
      <p:sp>
        <p:nvSpPr>
          <p:cNvPr id="4" name="Text 2"/>
          <p:cNvSpPr/>
          <p:nvPr/>
        </p:nvSpPr>
        <p:spPr>
          <a:xfrm>
            <a:off x="1066800" y="1640780"/>
            <a:ext cx="5023104"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7F5EF"/>
                </a:solidFill>
                <a:latin typeface="JetBrains Mono" pitchFamily="49" charset="0"/>
                <a:ea typeface="JetBrains Mono" pitchFamily="49" charset="-122"/>
                <a:cs typeface="JetBrains Mono" pitchFamily="49" charset="-120"/>
              </a:rPr>
              <a:t>nums = [2, 4, 6, 7]</a:t>
            </a:r>
            <a:endParaRPr lang="en-US" sz="1600" dirty="0"/>
          </a:p>
        </p:txBody>
      </p:sp>
      <p:sp>
        <p:nvSpPr>
          <p:cNvPr id="5" name="Text 3"/>
          <p:cNvSpPr/>
          <p:nvPr/>
        </p:nvSpPr>
        <p:spPr>
          <a:xfrm>
            <a:off x="1066800" y="1935411"/>
            <a:ext cx="5023104"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7F5EF"/>
                </a:solidFill>
                <a:latin typeface="JetBrains Mono" pitchFamily="49" charset="0"/>
                <a:ea typeface="JetBrains Mono" pitchFamily="49" charset="-122"/>
                <a:cs typeface="JetBrains Mono" pitchFamily="49" charset="-120"/>
              </a:rPr>
              <a:t>for x in nums:</a:t>
            </a:r>
            <a:endParaRPr lang="en-US" sz="1600" dirty="0"/>
          </a:p>
        </p:txBody>
      </p:sp>
      <p:sp>
        <p:nvSpPr>
          <p:cNvPr id="6" name="Text 4"/>
          <p:cNvSpPr/>
          <p:nvPr/>
        </p:nvSpPr>
        <p:spPr>
          <a:xfrm>
            <a:off x="1066800" y="2230041"/>
            <a:ext cx="5023104"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7F5EF"/>
                </a:solidFill>
                <a:latin typeface="JetBrains Mono" pitchFamily="49" charset="0"/>
                <a:ea typeface="JetBrains Mono" pitchFamily="49" charset="-122"/>
                <a:cs typeface="JetBrains Mono" pitchFamily="49" charset="-120"/>
              </a:rPr>
              <a:t>    if x % 2 == 0:</a:t>
            </a:r>
            <a:endParaRPr lang="en-US" sz="1600" dirty="0"/>
          </a:p>
        </p:txBody>
      </p:sp>
      <p:sp>
        <p:nvSpPr>
          <p:cNvPr id="7" name="Text 5"/>
          <p:cNvSpPr/>
          <p:nvPr/>
        </p:nvSpPr>
        <p:spPr>
          <a:xfrm>
            <a:off x="1066800" y="2524671"/>
            <a:ext cx="5023104"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7F5EF"/>
                </a:solidFill>
                <a:latin typeface="JetBrains Mono" pitchFamily="49" charset="0"/>
                <a:ea typeface="JetBrains Mono" pitchFamily="49" charset="-122"/>
                <a:cs typeface="JetBrains Mono" pitchFamily="49" charset="-120"/>
              </a:rPr>
              <a:t>        nums.remove(x)</a:t>
            </a:r>
            <a:endParaRPr lang="en-US" sz="1600" dirty="0"/>
          </a:p>
        </p:txBody>
      </p:sp>
      <p:sp>
        <p:nvSpPr>
          <p:cNvPr id="8" name="Text 6"/>
          <p:cNvSpPr/>
          <p:nvPr/>
        </p:nvSpPr>
        <p:spPr>
          <a:xfrm>
            <a:off x="1066800" y="2819301"/>
            <a:ext cx="5023104" cy="32003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7F5EF"/>
                </a:solidFill>
                <a:latin typeface="JetBrains Mono" pitchFamily="49" charset="0"/>
                <a:ea typeface="JetBrains Mono" pitchFamily="49" charset="-122"/>
                <a:cs typeface="JetBrains Mono" pitchFamily="49" charset="-120"/>
              </a:rPr>
              <a:t>print(nums)</a:t>
            </a:r>
            <a:endParaRPr lang="en-US" sz="1600" dirty="0"/>
          </a:p>
        </p:txBody>
      </p:sp>
      <p:sp>
        <p:nvSpPr>
          <p:cNvPr id="9" name="Text 7"/>
          <p:cNvSpPr/>
          <p:nvPr>
            <p:ph type="title"/>
          </p:nvPr>
        </p:nvSpPr>
        <p:spPr>
          <a:xfrm>
            <a:off x="6502400" y="1229320"/>
            <a:ext cx="5023104" cy="817860"/>
          </a:xfrm>
          <a:prstGeom prst="rect">
            <a:avLst/>
          </a:prstGeom>
          <a:noFill/>
          <a:ln/>
        </p:spPr>
        <p:txBody>
          <a:bodyPr wrap="square" lIns="0" tIns="0" rIns="0" bIns="0" rtlCol="0" anchor="t">
            <a:normAutofit/>
          </a:bodyPr>
          <a:lstStyle/>
          <a:p>
            <a:pPr algn="l" indent="0" marL="0">
              <a:lnSpc>
                <a:spcPts val="3120"/>
              </a:lnSpc>
              <a:buNone/>
            </a:pPr>
            <a:r>
              <a:rPr lang="en-US" sz="2600" b="1" i="0" dirty="0">
                <a:solidFill>
                  <a:srgbClr val="F7F5EF"/>
                </a:solidFill>
                <a:latin typeface="Rubik" pitchFamily="34" charset="0"/>
                <a:ea typeface="Rubik" pitchFamily="34" charset="-122"/>
                <a:cs typeface="Rubik" pitchFamily="34" charset="-120"/>
              </a:rPr>
              <a:t>The goal is to remove even numbers. What prints?</a:t>
            </a:r>
            <a:endParaRPr lang="en-US" sz="2600" dirty="0"/>
          </a:p>
        </p:txBody>
      </p:sp>
      <p:sp>
        <p:nvSpPr>
          <p:cNvPr id="10" name="Text 8"/>
          <p:cNvSpPr/>
          <p:nvPr/>
        </p:nvSpPr>
        <p:spPr>
          <a:xfrm>
            <a:off x="6502400" y="2148780"/>
            <a:ext cx="2374900" cy="624830"/>
          </a:xfrm>
          <a:prstGeom prst="roundRect">
            <a:avLst>
              <a:gd name="adj" fmla="val 12195"/>
            </a:avLst>
          </a:prstGeom>
          <a:solidFill>
            <a:srgbClr val="22305A"/>
          </a:solidFill>
          <a:ln/>
        </p:spPr>
        <p:txBody>
          <a:bodyPr wrap="square" lIns="206282" tIns="130082" rIns="148751" bIns="104682" rtlCol="0" anchor="t">
            <a:normAutofit/>
          </a:bodyPr>
          <a:lstStyle/>
          <a:p>
            <a:pPr algn="l" indent="0" marL="0">
              <a:lnSpc>
                <a:spcPts val="2520"/>
              </a:lnSpc>
              <a:buNone/>
            </a:pPr>
            <a:r>
              <a:rPr lang="en-US" sz="1800" dirty="0">
                <a:solidFill>
                  <a:srgbClr val="F7F5EF"/>
                </a:solidFill>
                <a:latin typeface="Rubik" pitchFamily="34" charset="0"/>
                <a:ea typeface="Rubik" pitchFamily="34" charset="-122"/>
                <a:cs typeface="Rubik" pitchFamily="34" charset="-120"/>
              </a:rPr>
              <a:t>A) [7]</a:t>
            </a:r>
            <a:endParaRPr lang="en-US" sz="1800" dirty="0"/>
          </a:p>
        </p:txBody>
      </p:sp>
      <p:sp>
        <p:nvSpPr>
          <p:cNvPr id="11" name="Text 9"/>
          <p:cNvSpPr/>
          <p:nvPr/>
        </p:nvSpPr>
        <p:spPr>
          <a:xfrm>
            <a:off x="9004300" y="2148780"/>
            <a:ext cx="2374900" cy="624830"/>
          </a:xfrm>
          <a:prstGeom prst="roundRect">
            <a:avLst>
              <a:gd name="adj" fmla="val 12195"/>
            </a:avLst>
          </a:prstGeom>
          <a:solidFill>
            <a:srgbClr val="22305A"/>
          </a:solidFill>
          <a:ln/>
        </p:spPr>
        <p:txBody>
          <a:bodyPr wrap="square" lIns="206282" tIns="130082" rIns="148751" bIns="104682" rtlCol="0" anchor="t">
            <a:normAutofit/>
          </a:bodyPr>
          <a:lstStyle/>
          <a:p>
            <a:pPr algn="l" indent="0" marL="0">
              <a:lnSpc>
                <a:spcPts val="2520"/>
              </a:lnSpc>
              <a:buNone/>
            </a:pPr>
            <a:r>
              <a:rPr lang="en-US" sz="1800" dirty="0">
                <a:solidFill>
                  <a:srgbClr val="F7F5EF"/>
                </a:solidFill>
                <a:latin typeface="Rubik" pitchFamily="34" charset="0"/>
                <a:ea typeface="Rubik" pitchFamily="34" charset="-122"/>
                <a:cs typeface="Rubik" pitchFamily="34" charset="-120"/>
              </a:rPr>
              <a:t>B) [2, 4, 6, 7]</a:t>
            </a:r>
            <a:endParaRPr lang="en-US" sz="1800" dirty="0"/>
          </a:p>
        </p:txBody>
      </p:sp>
      <p:sp>
        <p:nvSpPr>
          <p:cNvPr id="12" name="Text 10"/>
          <p:cNvSpPr/>
          <p:nvPr/>
        </p:nvSpPr>
        <p:spPr>
          <a:xfrm>
            <a:off x="6502400" y="2900611"/>
            <a:ext cx="2374900" cy="624830"/>
          </a:xfrm>
          <a:prstGeom prst="roundRect">
            <a:avLst>
              <a:gd name="adj" fmla="val 12195"/>
            </a:avLst>
          </a:prstGeom>
          <a:solidFill>
            <a:srgbClr val="22305A"/>
          </a:solidFill>
          <a:ln/>
        </p:spPr>
        <p:txBody>
          <a:bodyPr wrap="square" lIns="206282" tIns="130082" rIns="148751" bIns="104682" rtlCol="0" anchor="t">
            <a:normAutofit/>
          </a:bodyPr>
          <a:lstStyle/>
          <a:p>
            <a:pPr algn="l" indent="0" marL="0">
              <a:lnSpc>
                <a:spcPts val="2520"/>
              </a:lnSpc>
              <a:buNone/>
            </a:pPr>
            <a:r>
              <a:rPr lang="en-US" sz="1800" dirty="0">
                <a:solidFill>
                  <a:srgbClr val="F7F5EF"/>
                </a:solidFill>
                <a:latin typeface="Rubik" pitchFamily="34" charset="0"/>
                <a:ea typeface="Rubik" pitchFamily="34" charset="-122"/>
                <a:cs typeface="Rubik" pitchFamily="34" charset="-120"/>
              </a:rPr>
              <a:t>C) [4, 7]</a:t>
            </a:r>
            <a:endParaRPr lang="en-US" sz="1800" dirty="0"/>
          </a:p>
        </p:txBody>
      </p:sp>
      <p:sp>
        <p:nvSpPr>
          <p:cNvPr id="13" name="Text 11"/>
          <p:cNvSpPr/>
          <p:nvPr/>
        </p:nvSpPr>
        <p:spPr>
          <a:xfrm>
            <a:off x="9004300" y="2900611"/>
            <a:ext cx="2374900" cy="624830"/>
          </a:xfrm>
          <a:prstGeom prst="roundRect">
            <a:avLst>
              <a:gd name="adj" fmla="val 12195"/>
            </a:avLst>
          </a:prstGeom>
          <a:solidFill>
            <a:srgbClr val="22305A"/>
          </a:solidFill>
          <a:ln/>
        </p:spPr>
        <p:txBody>
          <a:bodyPr wrap="square" lIns="206282" tIns="130082" rIns="148751" bIns="104682" rtlCol="0" anchor="t">
            <a:normAutofit/>
          </a:bodyPr>
          <a:lstStyle/>
          <a:p>
            <a:pPr algn="l" indent="0" marL="0">
              <a:lnSpc>
                <a:spcPts val="2520"/>
              </a:lnSpc>
              <a:buNone/>
            </a:pPr>
            <a:r>
              <a:rPr lang="en-US" sz="1800" dirty="0">
                <a:solidFill>
                  <a:srgbClr val="F7F5EF"/>
                </a:solidFill>
                <a:latin typeface="Rubik" pitchFamily="34" charset="0"/>
                <a:ea typeface="Rubik" pitchFamily="34" charset="-122"/>
                <a:cs typeface="Rubik" pitchFamily="34" charset="-120"/>
              </a:rPr>
              <a:t>D) IndexError</a:t>
            </a:r>
            <a:endParaRPr lang="en-US" sz="1800" dirty="0"/>
          </a:p>
        </p:txBody>
      </p:sp>
      <p:sp>
        <p:nvSpPr>
          <p:cNvPr id="14" name="Text 12"/>
          <p:cNvSpPr/>
          <p:nvPr/>
        </p:nvSpPr>
        <p:spPr>
          <a:xfrm>
            <a:off x="812800" y="5410200"/>
            <a:ext cx="10566400" cy="838200"/>
          </a:xfrm>
          <a:prstGeom prst="roundRect">
            <a:avLst>
              <a:gd name="adj" fmla="val 9091"/>
            </a:avLst>
          </a:prstGeom>
          <a:solidFill>
            <a:srgbClr val="F2A65A"/>
          </a:solidFill>
          <a:ln/>
        </p:spPr>
        <p:txBody>
          <a:bodyPr wrap="square" lIns="206282" tIns="130082" rIns="0" bIns="104682" rtlCol="0" anchor="t">
            <a:normAutofit/>
          </a:bodyPr>
          <a:lstStyle/>
          <a:p>
            <a:pPr algn="l" indent="0" marL="0">
              <a:lnSpc>
                <a:spcPts val="2100"/>
              </a:lnSpc>
              <a:buNone/>
            </a:pPr>
            <a:r>
              <a:rPr lang="en-US" sz="1500" b="1" dirty="0">
                <a:solidFill>
                  <a:srgbClr val="14213D"/>
                </a:solidFill>
                <a:latin typeface="Rubik" pitchFamily="34" charset="0"/>
                <a:ea typeface="Rubik" pitchFamily="34" charset="-122"/>
                <a:cs typeface="Rubik" pitchFamily="34" charset="-120"/>
              </a:rPr>
              <a:t>Answer: C.</a:t>
            </a:r>
            <a:r>
              <a:rPr lang="en-US" sz="1500" dirty="0">
                <a:solidFill>
                  <a:srgbClr val="14213D"/>
                </a:solidFill>
                <a:latin typeface="Rubik" pitchFamily="34" charset="0"/>
                <a:ea typeface="Rubik" pitchFamily="34" charset="-122"/>
                <a:cs typeface="Rubik" pitchFamily="34" charset="-120"/>
              </a:rPr>
              <a:t> Removing 2 shifts 4 into index 0 while the loop moves on: 4 is skipped. Never shrink a list you’re walking.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DATA STRUCTURES</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The requirement word picks the structure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3593207"/>
        </p:xfrm>
        <a:graphic>
          <a:graphicData uri="http://schemas.openxmlformats.org/drawingml/2006/table">
            <a:tbl>
              <a:tblPr/>
              <a:tblGrid>
                <a:gridCol w="5276850"/>
                <a:gridCol w="2321814"/>
                <a:gridCol w="2955036"/>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The question says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Use</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Why</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“Does it exist?” among millions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Hash set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O(1) average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In the order submitted</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Queue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FIFO</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Undo, most recent first, brackets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Stack</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LIFO</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Most urgent first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Heap</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Priority queue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Prefix search, autocomplete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Trie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Shared prefixes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Fewest moves, equal step cost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BFS</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Level by level</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Prerequisites, task order</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Topological sort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Dependencies first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Almost sorted data</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Insertion sort</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Near O(n)</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Guaranteed O(n log n), ties keep order</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Merge sort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Stable, no worst case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Data structures · Binary search needs sorted data: “No order, no halving.”</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OBJECT-ORIENTED PROGRAMMING</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Read the clue, name the OOP concept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3593207"/>
        </p:xfrm>
        <a:graphic>
          <a:graphicData uri="http://schemas.openxmlformats.org/drawingml/2006/table">
            <a:tbl>
              <a:tblPr/>
              <a:tblGrid>
                <a:gridCol w="4854702"/>
                <a:gridCol w="2743962"/>
                <a:gridCol w="2955036"/>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Clue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Concept</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Memory trick</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Private field + validated methods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Encapsulation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Guard the doors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Subclass redefines, same signature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Overriding</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Resolved at runtime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Same name, different parameters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Overloading</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Compile time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Car holds an Engine field</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Composition</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Has-a, not is-a</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Two parents override one method</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Diamond problem</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One confused child</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Java class needs two types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Interfaces</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Implement many</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Counter shared by all objects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static</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One per class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Class + subclasses only</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protected</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Family access</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One class does three jobs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Breaks SRP</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One class, one job</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Software engineering · An abstract class can never be instantiated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HTTP AND REST</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Methods do things; URLs name things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5143500" cy="2155924"/>
        </p:xfrm>
        <a:graphic>
          <a:graphicData uri="http://schemas.openxmlformats.org/drawingml/2006/table">
            <a:tbl>
              <a:tblPr/>
              <a:tblGrid>
                <a:gridCol w="1440180"/>
                <a:gridCol w="3703320"/>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Method</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Use and property</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GET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Read; safe, never changes data</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POST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Create; not idempotent</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PUT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Replace whole; idempotent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PATCH</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Update a few fields</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DELETE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Remove; idempotent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35700" y="1892250"/>
          <a:ext cx="5143500" cy="2515245"/>
        </p:xfrm>
        <a:graphic>
          <a:graphicData uri="http://schemas.openxmlformats.org/drawingml/2006/table">
            <a:tbl>
              <a:tblPr/>
              <a:tblGrid>
                <a:gridCol w="1028700"/>
                <a:gridCol w="4114800"/>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Code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When</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201</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POST created a resource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301</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Moved permanently</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401</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Who are you? Not logged in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403</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Known user, not allowed</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415</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Missing Content-Type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429</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Too many requests</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bl>
          </a:graphicData>
        </a:graphic>
      </p:graphicFrame>
      <p:sp>
        <p:nvSpPr>
          <p:cNvPr id="6" name="Text 2"/>
          <p:cNvSpPr/>
          <p:nvPr/>
        </p:nvSpPr>
        <p:spPr>
          <a:xfrm>
            <a:off x="812800" y="4610695"/>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Rubik" pitchFamily="34" charset="0"/>
                <a:ea typeface="Rubik" pitchFamily="34" charset="-122"/>
                <a:cs typeface="Rubik" pitchFamily="34" charset="-120"/>
              </a:rPr>
              <a:t>REST:</a:t>
            </a:r>
            <a:r>
              <a:rPr lang="en-US" sz="1400" dirty="0">
                <a:solidFill>
                  <a:srgbClr val="4A5568"/>
                </a:solidFill>
                <a:latin typeface="Rubik" pitchFamily="34" charset="0"/>
                <a:ea typeface="Rubik" pitchFamily="34" charset="-122"/>
                <a:cs typeface="Rubik" pitchFamily="34" charset="-120"/>
              </a:rPr>
              <a:t> GET /users/42/orders, not /getOrdersForUser · stateless: each request carries its token · CORS is fixed on the server</a:t>
            </a:r>
            <a:endParaRPr lang="en-US" sz="1400" dirty="0"/>
          </a:p>
        </p:txBody>
      </p:sp>
      <p:sp>
        <p:nvSpPr>
          <p:cNvPr id="7"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Software engineering · “401: who are you? 403: not you.”</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GIT</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Pick the command from the goal</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3088084"/>
        </p:xfrm>
        <a:graphic>
          <a:graphicData uri="http://schemas.openxmlformats.org/drawingml/2006/table">
            <a:tbl>
              <a:tblPr/>
              <a:tblGrid>
                <a:gridCol w="5487924"/>
                <a:gridCol w="5065776"/>
              </a:tblGrid>
              <a:tr h="386011">
                <a:tc>
                  <a:txBody>
                    <a:bodyPr/>
                    <a:lstStyle/>
                    <a:p>
                      <a:pPr indent="0" marL="0">
                        <a:lnSpc>
                          <a:spcPts val="1960"/>
                        </a:lnSpc>
                        <a:buNone/>
                      </a:pPr>
                      <a:r>
                        <a:rPr lang="en-US" sz="1400" b="1" dirty="0">
                          <a:solidFill>
                            <a:srgbClr val="F7F5EF"/>
                          </a:solidFill>
                          <a:latin typeface="Rubik" pitchFamily="34" charset="0"/>
                          <a:ea typeface="Rubik" pitchFamily="34" charset="-122"/>
                          <a:cs typeface="Rubik" pitchFamily="34" charset="-120"/>
                        </a:rPr>
                        <a:t>Goal</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7F5EF"/>
                          </a:solidFill>
                          <a:latin typeface="Rubik" pitchFamily="34" charset="0"/>
                          <a:ea typeface="Rubik" pitchFamily="34" charset="-122"/>
                          <a:cs typeface="Rubik" pitchFamily="34" charset="-120"/>
                        </a:rPr>
                        <a:t>Command</a:t>
                      </a:r>
                      <a:endParaRPr lang="en-US" sz="1400" dirty="0">
                        <a:latin typeface="Rubik" charset="0"/>
                        <a:ea typeface="Rubik" charset="0"/>
                        <a:cs typeface="Rubik"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86011">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Linear history, no merge commit</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git rebase</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Undo local commit, keep the changes</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git reset --soft HEAD~1</a:t>
                      </a:r>
                      <a:endParaRPr lang="en-US" sz="1400" dirty="0">
                        <a:latin typeface="Rubik" charset="0"/>
                        <a:ea typeface="Rubik" charset="0"/>
                        <a:cs typeface="Rubik"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Undo a commit others already pulled</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git revert a1b2c3d</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Take one commit from another branch</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git cherry-pick a1b2c3d</a:t>
                      </a:r>
                      <a:endParaRPr lang="en-US" sz="1400" dirty="0">
                        <a:latin typeface="Rubik" charset="0"/>
                        <a:ea typeface="Rubik" charset="0"/>
                        <a:cs typeface="Rubik"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See remote changes without merging</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git fetch</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Stop tracking .env and node_modules</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.gitignore</a:t>
                      </a:r>
                      <a:endParaRPr lang="en-US" sz="1400" dirty="0">
                        <a:latin typeface="Rubik" charset="0"/>
                        <a:ea typeface="Rubik" charset="0"/>
                        <a:cs typeface="Rubik"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Merge conflict happens when</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Rubik" pitchFamily="34" charset="0"/>
                          <a:ea typeface="Rubik" pitchFamily="34" charset="-122"/>
                          <a:cs typeface="Rubik" pitchFamily="34" charset="-120"/>
                        </a:rPr>
                        <a:t>Both branches changed the same lines</a:t>
                      </a:r>
                      <a:endParaRPr lang="en-US" sz="1400" dirty="0">
                        <a:latin typeface="Rubik" charset="0"/>
                        <a:ea typeface="Rubik" charset="0"/>
                        <a:cs typeface="Rubik"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5183535"/>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Rubik" pitchFamily="34" charset="0"/>
                <a:ea typeface="Rubik" pitchFamily="34" charset="-122"/>
                <a:cs typeface="Rubik" pitchFamily="34" charset="-120"/>
              </a:rPr>
              <a:t>“Soft keeps your work, hard throws it away; revert is safe on shared history.” · pull = fetch + merge</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Software engineering · Version control</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CLOUD AND SECURITY</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Who manages what, and who can see what</a:t>
            </a:r>
            <a:endParaRPr lang="en-US" sz="3200" dirty="0"/>
          </a:p>
        </p:txBody>
      </p:sp>
      <p:sp>
        <p:nvSpPr>
          <p:cNvPr id="4" name="Shape 2"/>
          <p:cNvSpPr/>
          <p:nvPr/>
        </p:nvSpPr>
        <p:spPr>
          <a:xfrm>
            <a:off x="812800" y="1879550"/>
            <a:ext cx="2527300" cy="962620"/>
          </a:xfrm>
          <a:prstGeom prst="roundRect">
            <a:avLst>
              <a:gd name="adj" fmla="val 7916"/>
            </a:avLst>
          </a:prstGeom>
          <a:solidFill>
            <a:srgbClr val="FFFFFF"/>
          </a:solidFill>
          <a:ln/>
        </p:spPr>
      </p:sp>
      <p:sp>
        <p:nvSpPr>
          <p:cNvPr id="5" name="Shape 3"/>
          <p:cNvSpPr/>
          <p:nvPr/>
        </p:nvSpPr>
        <p:spPr>
          <a:xfrm>
            <a:off x="812800" y="1879550"/>
            <a:ext cx="2527300" cy="962620"/>
          </a:xfrm>
          <a:custGeom>
            <a:avLst/>
            <a:gdLst/>
            <a:ahLst/>
            <a:cxnLst/>
            <a:rect l="l" t="t" r="r" b="b"/>
            <a:pathLst>
              <a:path w="2527300" h="962620">
                <a:moveTo>
                  <a:pt x="0" y="76200"/>
                </a:moveTo>
                <a:lnTo>
                  <a:pt x="0" y="76200"/>
                </a:lnTo>
                <a:arcTo hR="76200" wR="76200" stAng="10800000" swAng="5400000"/>
                <a:lnTo>
                  <a:pt x="2451100" y="0"/>
                </a:lnTo>
                <a:arcTo hR="76200" wR="76200" stAng="16200000" swAng="5400000"/>
                <a:lnTo>
                  <a:pt x="2527300" y="76200"/>
                </a:lnTo>
                <a:arcTo hR="25400" wR="76200" stAng="0" swAng="-5400000"/>
                <a:lnTo>
                  <a:pt x="76200" y="50800"/>
                </a:lnTo>
                <a:arcTo hR="25400" wR="76200" stAng="16200000" swAng="-5400000"/>
                <a:close/>
              </a:path>
            </a:pathLst>
          </a:custGeom>
          <a:solidFill>
            <a:srgbClr val="2F5DA8"/>
          </a:solidFill>
          <a:ln/>
        </p:spPr>
      </p:sp>
      <p:sp>
        <p:nvSpPr>
          <p:cNvPr id="6" name="Text 4"/>
          <p:cNvSpPr/>
          <p:nvPr/>
        </p:nvSpPr>
        <p:spPr>
          <a:xfrm>
            <a:off x="990600" y="2108150"/>
            <a:ext cx="22368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IaaS</a:t>
            </a:r>
            <a:endParaRPr lang="en-US" sz="1800" dirty="0"/>
          </a:p>
        </p:txBody>
      </p:sp>
      <p:sp>
        <p:nvSpPr>
          <p:cNvPr id="7" name="Text 5"/>
          <p:cNvSpPr/>
          <p:nvPr/>
        </p:nvSpPr>
        <p:spPr>
          <a:xfrm>
            <a:off x="990600" y="2433241"/>
            <a:ext cx="223685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You get the machine</a:t>
            </a:r>
            <a:endParaRPr lang="en-US" sz="1300" dirty="0"/>
          </a:p>
        </p:txBody>
      </p:sp>
      <p:sp>
        <p:nvSpPr>
          <p:cNvPr id="8" name="Shape 6"/>
          <p:cNvSpPr/>
          <p:nvPr/>
        </p:nvSpPr>
        <p:spPr>
          <a:xfrm>
            <a:off x="3492500" y="1879550"/>
            <a:ext cx="2527300" cy="962620"/>
          </a:xfrm>
          <a:prstGeom prst="roundRect">
            <a:avLst>
              <a:gd name="adj" fmla="val 7916"/>
            </a:avLst>
          </a:prstGeom>
          <a:solidFill>
            <a:srgbClr val="FFFFFF"/>
          </a:solidFill>
          <a:ln/>
        </p:spPr>
      </p:sp>
      <p:sp>
        <p:nvSpPr>
          <p:cNvPr id="9" name="Shape 7"/>
          <p:cNvSpPr/>
          <p:nvPr/>
        </p:nvSpPr>
        <p:spPr>
          <a:xfrm>
            <a:off x="3492500" y="1879550"/>
            <a:ext cx="2527300" cy="962620"/>
          </a:xfrm>
          <a:custGeom>
            <a:avLst/>
            <a:gdLst/>
            <a:ahLst/>
            <a:cxnLst/>
            <a:rect l="l" t="t" r="r" b="b"/>
            <a:pathLst>
              <a:path w="2527300" h="962620">
                <a:moveTo>
                  <a:pt x="0" y="76200"/>
                </a:moveTo>
                <a:lnTo>
                  <a:pt x="0" y="76200"/>
                </a:lnTo>
                <a:arcTo hR="76200" wR="76200" stAng="10800000" swAng="5400000"/>
                <a:lnTo>
                  <a:pt x="2451100" y="0"/>
                </a:lnTo>
                <a:arcTo hR="76200" wR="76200" stAng="16200000" swAng="5400000"/>
                <a:lnTo>
                  <a:pt x="2527300" y="76200"/>
                </a:lnTo>
                <a:arcTo hR="25400" wR="76200" stAng="0" swAng="-5400000"/>
                <a:lnTo>
                  <a:pt x="76200" y="50800"/>
                </a:lnTo>
                <a:arcTo hR="25400" wR="76200" stAng="16200000" swAng="-5400000"/>
                <a:close/>
              </a:path>
            </a:pathLst>
          </a:custGeom>
          <a:solidFill>
            <a:srgbClr val="2F5DA8"/>
          </a:solidFill>
          <a:ln/>
        </p:spPr>
      </p:sp>
      <p:sp>
        <p:nvSpPr>
          <p:cNvPr id="10" name="Text 8"/>
          <p:cNvSpPr/>
          <p:nvPr/>
        </p:nvSpPr>
        <p:spPr>
          <a:xfrm>
            <a:off x="3670300" y="2108150"/>
            <a:ext cx="22368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PaaS</a:t>
            </a:r>
            <a:endParaRPr lang="en-US" sz="1800" dirty="0"/>
          </a:p>
        </p:txBody>
      </p:sp>
      <p:sp>
        <p:nvSpPr>
          <p:cNvPr id="11" name="Text 9"/>
          <p:cNvSpPr/>
          <p:nvPr/>
        </p:nvSpPr>
        <p:spPr>
          <a:xfrm>
            <a:off x="3670300" y="2433241"/>
            <a:ext cx="223685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You bring the code</a:t>
            </a:r>
            <a:endParaRPr lang="en-US" sz="1300" dirty="0"/>
          </a:p>
        </p:txBody>
      </p:sp>
      <p:sp>
        <p:nvSpPr>
          <p:cNvPr id="12" name="Shape 10"/>
          <p:cNvSpPr/>
          <p:nvPr/>
        </p:nvSpPr>
        <p:spPr>
          <a:xfrm>
            <a:off x="6172200" y="1879550"/>
            <a:ext cx="2527300" cy="962620"/>
          </a:xfrm>
          <a:prstGeom prst="roundRect">
            <a:avLst>
              <a:gd name="adj" fmla="val 7916"/>
            </a:avLst>
          </a:prstGeom>
          <a:solidFill>
            <a:srgbClr val="FFFFFF"/>
          </a:solidFill>
          <a:ln/>
        </p:spPr>
      </p:sp>
      <p:sp>
        <p:nvSpPr>
          <p:cNvPr id="13" name="Shape 11"/>
          <p:cNvSpPr/>
          <p:nvPr/>
        </p:nvSpPr>
        <p:spPr>
          <a:xfrm>
            <a:off x="6172200" y="1879550"/>
            <a:ext cx="2527300" cy="962620"/>
          </a:xfrm>
          <a:custGeom>
            <a:avLst/>
            <a:gdLst/>
            <a:ahLst/>
            <a:cxnLst/>
            <a:rect l="l" t="t" r="r" b="b"/>
            <a:pathLst>
              <a:path w="2527300" h="962620">
                <a:moveTo>
                  <a:pt x="0" y="76200"/>
                </a:moveTo>
                <a:lnTo>
                  <a:pt x="0" y="76200"/>
                </a:lnTo>
                <a:arcTo hR="76200" wR="76200" stAng="10800000" swAng="5400000"/>
                <a:lnTo>
                  <a:pt x="2451100" y="0"/>
                </a:lnTo>
                <a:arcTo hR="76200" wR="76200" stAng="16200000" swAng="5400000"/>
                <a:lnTo>
                  <a:pt x="2527300" y="76200"/>
                </a:lnTo>
                <a:arcTo hR="25400" wR="76200" stAng="0" swAng="-5400000"/>
                <a:lnTo>
                  <a:pt x="76200" y="50800"/>
                </a:lnTo>
                <a:arcTo hR="25400" wR="76200" stAng="16200000" swAng="-5400000"/>
                <a:close/>
              </a:path>
            </a:pathLst>
          </a:custGeom>
          <a:solidFill>
            <a:srgbClr val="2F5DA8"/>
          </a:solidFill>
          <a:ln/>
        </p:spPr>
      </p:sp>
      <p:sp>
        <p:nvSpPr>
          <p:cNvPr id="14" name="Text 12"/>
          <p:cNvSpPr/>
          <p:nvPr/>
        </p:nvSpPr>
        <p:spPr>
          <a:xfrm>
            <a:off x="6350000" y="2108150"/>
            <a:ext cx="22368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SaaS</a:t>
            </a:r>
            <a:endParaRPr lang="en-US" sz="1800" dirty="0"/>
          </a:p>
        </p:txBody>
      </p:sp>
      <p:sp>
        <p:nvSpPr>
          <p:cNvPr id="15" name="Text 13"/>
          <p:cNvSpPr/>
          <p:nvPr/>
        </p:nvSpPr>
        <p:spPr>
          <a:xfrm>
            <a:off x="6350000" y="2433241"/>
            <a:ext cx="223685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You just log in</a:t>
            </a:r>
            <a:endParaRPr lang="en-US" sz="1300" dirty="0"/>
          </a:p>
        </p:txBody>
      </p:sp>
      <p:sp>
        <p:nvSpPr>
          <p:cNvPr id="16" name="Shape 14"/>
          <p:cNvSpPr/>
          <p:nvPr/>
        </p:nvSpPr>
        <p:spPr>
          <a:xfrm>
            <a:off x="8851900" y="1879550"/>
            <a:ext cx="2527300" cy="962620"/>
          </a:xfrm>
          <a:prstGeom prst="roundRect">
            <a:avLst>
              <a:gd name="adj" fmla="val 7916"/>
            </a:avLst>
          </a:prstGeom>
          <a:solidFill>
            <a:srgbClr val="FFFFFF"/>
          </a:solidFill>
          <a:ln/>
        </p:spPr>
      </p:sp>
      <p:sp>
        <p:nvSpPr>
          <p:cNvPr id="17" name="Shape 15"/>
          <p:cNvSpPr/>
          <p:nvPr/>
        </p:nvSpPr>
        <p:spPr>
          <a:xfrm>
            <a:off x="8851900" y="1879550"/>
            <a:ext cx="2527300" cy="962620"/>
          </a:xfrm>
          <a:custGeom>
            <a:avLst/>
            <a:gdLst/>
            <a:ahLst/>
            <a:cxnLst/>
            <a:rect l="l" t="t" r="r" b="b"/>
            <a:pathLst>
              <a:path w="2527300" h="962620">
                <a:moveTo>
                  <a:pt x="0" y="76200"/>
                </a:moveTo>
                <a:lnTo>
                  <a:pt x="0" y="76200"/>
                </a:lnTo>
                <a:arcTo hR="76200" wR="76200" stAng="10800000" swAng="5400000"/>
                <a:lnTo>
                  <a:pt x="2451100" y="0"/>
                </a:lnTo>
                <a:arcTo hR="76200" wR="76200" stAng="16200000" swAng="5400000"/>
                <a:lnTo>
                  <a:pt x="2527300" y="76200"/>
                </a:lnTo>
                <a:arcTo hR="25400" wR="76200" stAng="0" swAng="-5400000"/>
                <a:lnTo>
                  <a:pt x="76200" y="50800"/>
                </a:lnTo>
                <a:arcTo hR="25400" wR="76200" stAng="16200000" swAng="-5400000"/>
                <a:close/>
              </a:path>
            </a:pathLst>
          </a:custGeom>
          <a:solidFill>
            <a:srgbClr val="2F5DA8"/>
          </a:solidFill>
          <a:ln/>
        </p:spPr>
      </p:sp>
      <p:sp>
        <p:nvSpPr>
          <p:cNvPr id="18" name="Text 16"/>
          <p:cNvSpPr/>
          <p:nvPr/>
        </p:nvSpPr>
        <p:spPr>
          <a:xfrm>
            <a:off x="9029700" y="2108150"/>
            <a:ext cx="22368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Hybrid</a:t>
            </a:r>
            <a:endParaRPr lang="en-US" sz="1800" dirty="0"/>
          </a:p>
        </p:txBody>
      </p:sp>
      <p:sp>
        <p:nvSpPr>
          <p:cNvPr id="19" name="Text 17"/>
          <p:cNvSpPr/>
          <p:nvPr/>
        </p:nvSpPr>
        <p:spPr>
          <a:xfrm>
            <a:off x="9029700" y="2433241"/>
            <a:ext cx="23495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Rubik" pitchFamily="34" charset="0"/>
                <a:ea typeface="Rubik" pitchFamily="34" charset="-122"/>
                <a:cs typeface="Rubik" pitchFamily="34" charset="-120"/>
              </a:rPr>
              <a:t>Some at home, some rented</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25500" y="3058071"/>
          <a:ext cx="10553700" cy="2515245"/>
        </p:xfrm>
        <a:graphic>
          <a:graphicData uri="http://schemas.openxmlformats.org/drawingml/2006/table">
            <a:tbl>
              <a:tblPr/>
              <a:tblGrid>
                <a:gridCol w="4643628"/>
                <a:gridCol w="5910072"/>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Clue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Answer</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 OR '1'='1 in a login box</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SQL injection: use parameterised queries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Script runs in other users’ browsers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XSS: escape output</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Storing passwords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Salted hash (bcrypt), never encrypt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API key vs token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Key = which app; token = which user, expires</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Read-only job can drop tables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Violates least privilege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Key pushed to public GitHub</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Revoke and rotate immediately</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bl>
          </a:graphicData>
        </a:graphic>
      </p:graphicFrame>
      <p:sp>
        <p:nvSpPr>
          <p:cNvPr id="21"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Modern engineering · JWT: signed ≠ secret · HTTPS = encrypted pipe to a verified server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A"/>
                </a:solidFill>
                <a:latin typeface="Rubik" pitchFamily="34" charset="0"/>
                <a:ea typeface="Rubik" pitchFamily="34" charset="-122"/>
                <a:cs typeface="Rubik" pitchFamily="34" charset="-120"/>
              </a:rPr>
              <a:t>DEVOPS, DOCKER AND AGILE</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Rubik" pitchFamily="34" charset="0"/>
                <a:ea typeface="Rubik" pitchFamily="34" charset="-122"/>
                <a:cs typeface="Rubik" pitchFamily="34" charset="-120"/>
              </a:rPr>
              <a:t>One clue, one term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5143500" cy="3233886"/>
        </p:xfrm>
        <a:graphic>
          <a:graphicData uri="http://schemas.openxmlformats.org/drawingml/2006/table">
            <a:tbl>
              <a:tblPr/>
              <a:tblGrid>
                <a:gridCol w="2983230"/>
                <a:gridCol w="2160270"/>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DevOps &amp; Docker clue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Term</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Every push builds and tests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CI</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Passing changes auto-release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CD</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Two environments, instant switch</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Blue-green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Small % of users first</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Canary</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Servers in Terraform files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IaC</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“Works on my machine”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Docker image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Data gone after recreate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Volume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App + DB + cache together</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Compose</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35700" y="1892250"/>
          <a:ext cx="5143500" cy="2155924"/>
        </p:xfrm>
        <a:graphic>
          <a:graphicData uri="http://schemas.openxmlformats.org/drawingml/2006/table">
            <a:tbl>
              <a:tblPr/>
              <a:tblGrid>
                <a:gridCol w="2983230"/>
                <a:gridCol w="2160270"/>
              </a:tblGrid>
              <a:tr h="359321">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Agile clue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5EF"/>
                          </a:solidFill>
                          <a:latin typeface="Rubik" pitchFamily="34" charset="0"/>
                          <a:ea typeface="Rubik" pitchFamily="34" charset="-122"/>
                          <a:cs typeface="Rubik" pitchFamily="34" charset="-120"/>
                        </a:rPr>
                        <a:t>Term</a:t>
                      </a:r>
                      <a:endParaRPr lang="en-US" sz="1300" dirty="0">
                        <a:latin typeface="Rubik" charset="0"/>
                        <a:ea typeface="Rubik" charset="0"/>
                        <a:cs typeface="Rubik"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What went well, what to change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Retrospective</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Demo to stakeholders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Sprint review</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Board with WIP limits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Kanban</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Orders the backlog</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Product Owner</a:t>
                      </a:r>
                      <a:endParaRPr lang="en-US" sz="1300" dirty="0">
                        <a:latin typeface="Rubik" charset="0"/>
                        <a:ea typeface="Rubik" charset="0"/>
                        <a:cs typeface="Rubik"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59321">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Coaches the process</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Rubik" pitchFamily="34" charset="0"/>
                          <a:ea typeface="Rubik" pitchFamily="34" charset="-122"/>
                          <a:cs typeface="Rubik" pitchFamily="34" charset="-120"/>
                        </a:rPr>
                        <a:t>Scrum Master</a:t>
                      </a:r>
                      <a:endParaRPr lang="en-US" sz="1300" dirty="0">
                        <a:latin typeface="Rubik" charset="0"/>
                        <a:ea typeface="Rubik" charset="0"/>
                        <a:cs typeface="Rubik"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6"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8"/>
                </a:solidFill>
                <a:latin typeface="Rubik" pitchFamily="34" charset="0"/>
                <a:ea typeface="Rubik" pitchFamily="34" charset="-122"/>
                <a:cs typeface="Rubik" pitchFamily="34" charset="-120"/>
              </a:rPr>
              <a:t>Technical OA · Modern engineering · “Image = recipe; container = the dish.” · “Review the product; retro the process.”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A65A"/>
        </a:solidFill>
      </p:bgPr>
    </p:bg>
    <p:spTree>
      <p:nvGrpSpPr>
        <p:cNvPr id="1" name=""/>
        <p:cNvGrpSpPr/>
        <p:nvPr/>
      </p:nvGrpSpPr>
      <p:grpSpPr>
        <a:xfrm>
          <a:off x="0" y="0"/>
          <a:ext cx="0" cy="0"/>
          <a:chOff x="0" y="0"/>
          <a:chExt cx="0" cy="0"/>
        </a:xfrm>
      </p:grpSpPr>
      <p:sp>
        <p:nvSpPr>
          <p:cNvPr id="2" name="Text 0"/>
          <p:cNvSpPr/>
          <p:nvPr/>
        </p:nvSpPr>
        <p:spPr>
          <a:xfrm>
            <a:off x="812800" y="2045345"/>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4213D"/>
                </a:solidFill>
                <a:latin typeface="Rubik" pitchFamily="34" charset="0"/>
                <a:ea typeface="Rubik" pitchFamily="34" charset="-122"/>
                <a:cs typeface="Rubik" pitchFamily="34" charset="-120"/>
              </a:rPr>
              <a:t>EXAM-DAY RULES</a:t>
            </a:r>
            <a:endParaRPr lang="en-US" sz="1400" dirty="0"/>
          </a:p>
        </p:txBody>
      </p:sp>
      <p:sp>
        <p:nvSpPr>
          <p:cNvPr id="3" name="Text 1"/>
          <p:cNvSpPr/>
          <p:nvPr>
            <p:ph type="title"/>
          </p:nvPr>
        </p:nvSpPr>
        <p:spPr>
          <a:xfrm>
            <a:off x="812800" y="2599035"/>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4213D"/>
                </a:solidFill>
                <a:latin typeface="Rubik" pitchFamily="34" charset="0"/>
                <a:ea typeface="Rubik" pitchFamily="34" charset="-122"/>
                <a:cs typeface="Rubik" pitchFamily="34" charset="-120"/>
              </a:rPr>
              <a:t>Name the concept before you read the options.</a:t>
            </a:r>
            <a:endParaRPr lang="en-US" sz="4400" dirty="0"/>
          </a:p>
        </p:txBody>
      </p:sp>
      <p:sp>
        <p:nvSpPr>
          <p:cNvPr id="4" name="Shape 2"/>
          <p:cNvSpPr/>
          <p:nvPr/>
        </p:nvSpPr>
        <p:spPr>
          <a:xfrm>
            <a:off x="812800" y="4142680"/>
            <a:ext cx="3352800" cy="0"/>
          </a:xfrm>
          <a:prstGeom prst="line">
            <a:avLst/>
          </a:prstGeom>
          <a:noFill/>
          <a:ln w="19050">
            <a:solidFill>
              <a:srgbClr val="14213D"/>
            </a:solidFill>
            <a:prstDash val="solid"/>
          </a:ln>
        </p:spPr>
      </p:sp>
      <p:sp>
        <p:nvSpPr>
          <p:cNvPr id="5" name="Text 3"/>
          <p:cNvSpPr/>
          <p:nvPr/>
        </p:nvSpPr>
        <p:spPr>
          <a:xfrm>
            <a:off x="812800" y="4279205"/>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Rubik" pitchFamily="34" charset="0"/>
                <a:ea typeface="Rubik" pitchFamily="34" charset="-122"/>
                <a:cs typeface="Rubik" pitchFamily="34" charset="-120"/>
              </a:rPr>
              <a:t>Stuck past 90 seconds? Mark it and move on.</a:t>
            </a:r>
            <a:endParaRPr lang="en-US" sz="1500" dirty="0"/>
          </a:p>
        </p:txBody>
      </p:sp>
      <p:sp>
        <p:nvSpPr>
          <p:cNvPr id="6" name="Shape 4"/>
          <p:cNvSpPr/>
          <p:nvPr/>
        </p:nvSpPr>
        <p:spPr>
          <a:xfrm>
            <a:off x="4419600" y="4142680"/>
            <a:ext cx="3352800" cy="0"/>
          </a:xfrm>
          <a:prstGeom prst="line">
            <a:avLst/>
          </a:prstGeom>
          <a:noFill/>
          <a:ln w="19050">
            <a:solidFill>
              <a:srgbClr val="14213D"/>
            </a:solidFill>
            <a:prstDash val="solid"/>
          </a:ln>
        </p:spPr>
      </p:sp>
      <p:sp>
        <p:nvSpPr>
          <p:cNvPr id="7" name="Text 5"/>
          <p:cNvSpPr/>
          <p:nvPr/>
        </p:nvSpPr>
        <p:spPr>
          <a:xfrm>
            <a:off x="4419600" y="4279205"/>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Rubik" pitchFamily="34" charset="0"/>
                <a:ea typeface="Rubik" pitchFamily="34" charset="-122"/>
                <a:cs typeface="Rubik" pitchFamily="34" charset="-120"/>
              </a:rPr>
              <a:t>Trace code on paper; never guess outputs.</a:t>
            </a:r>
            <a:endParaRPr lang="en-US" sz="1500" dirty="0"/>
          </a:p>
        </p:txBody>
      </p:sp>
      <p:sp>
        <p:nvSpPr>
          <p:cNvPr id="8" name="Shape 6"/>
          <p:cNvSpPr/>
          <p:nvPr/>
        </p:nvSpPr>
        <p:spPr>
          <a:xfrm>
            <a:off x="8026400" y="4142680"/>
            <a:ext cx="3352800" cy="0"/>
          </a:xfrm>
          <a:prstGeom prst="line">
            <a:avLst/>
          </a:prstGeom>
          <a:noFill/>
          <a:ln w="19050">
            <a:solidFill>
              <a:srgbClr val="14213D"/>
            </a:solidFill>
            <a:prstDash val="solid"/>
          </a:ln>
        </p:spPr>
      </p:sp>
      <p:sp>
        <p:nvSpPr>
          <p:cNvPr id="9" name="Text 7"/>
          <p:cNvSpPr/>
          <p:nvPr/>
        </p:nvSpPr>
        <p:spPr>
          <a:xfrm>
            <a:off x="8026400" y="4279205"/>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Rubik" pitchFamily="34" charset="0"/>
                <a:ea typeface="Rubik" pitchFamily="34" charset="-122"/>
                <a:cs typeface="Rubik" pitchFamily="34" charset="-120"/>
              </a:rPr>
              <a:t>Opposite options? One is usually right.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2A65A"/>
          </a:solidFill>
          <a:ln/>
        </p:spPr>
      </p:sp>
      <p:sp>
        <p:nvSpPr>
          <p:cNvPr id="3" name="Text 1"/>
          <p:cNvSpPr/>
          <p:nvPr/>
        </p:nvSpPr>
        <p:spPr>
          <a:xfrm>
            <a:off x="812800" y="159008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A65A"/>
                </a:solidFill>
                <a:latin typeface="Rubik" pitchFamily="34" charset="0"/>
                <a:ea typeface="Rubik" pitchFamily="34" charset="-122"/>
                <a:cs typeface="Rubik" pitchFamily="34" charset="-120"/>
              </a:rPr>
              <a:t>YOUR PRACTICE PLAN</a:t>
            </a:r>
            <a:endParaRPr lang="en-US" sz="1400" dirty="0"/>
          </a:p>
        </p:txBody>
      </p:sp>
      <p:sp>
        <p:nvSpPr>
          <p:cNvPr id="4" name="Text 2"/>
          <p:cNvSpPr/>
          <p:nvPr>
            <p:ph type="title"/>
          </p:nvPr>
        </p:nvSpPr>
        <p:spPr>
          <a:xfrm>
            <a:off x="812800" y="214377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7F5EF"/>
                </a:solidFill>
                <a:latin typeface="Rubik" pitchFamily="34" charset="0"/>
                <a:ea typeface="Rubik" pitchFamily="34" charset="-122"/>
                <a:cs typeface="Rubik" pitchFamily="34" charset="-120"/>
              </a:rPr>
              <a:t>One paper a day, then review every miss</a:t>
            </a:r>
            <a:endParaRPr lang="en-US" sz="4000" dirty="0"/>
          </a:p>
        </p:txBody>
      </p:sp>
      <p:sp>
        <p:nvSpPr>
          <p:cNvPr id="5" name="Shape 3"/>
          <p:cNvSpPr/>
          <p:nvPr/>
        </p:nvSpPr>
        <p:spPr>
          <a:xfrm>
            <a:off x="812800" y="3007370"/>
            <a:ext cx="3386634" cy="1671241"/>
          </a:xfrm>
          <a:prstGeom prst="roundRect">
            <a:avLst>
              <a:gd name="adj" fmla="val 6079"/>
            </a:avLst>
          </a:prstGeom>
          <a:solidFill>
            <a:srgbClr val="22305A"/>
          </a:solidFill>
          <a:ln/>
        </p:spPr>
      </p:sp>
      <p:sp>
        <p:nvSpPr>
          <p:cNvPr id="6" name="Text 4"/>
          <p:cNvSpPr/>
          <p:nvPr/>
        </p:nvSpPr>
        <p:spPr>
          <a:xfrm>
            <a:off x="1041400" y="3235970"/>
            <a:ext cx="3017317"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2A65A"/>
                </a:solidFill>
                <a:latin typeface="Rubik" pitchFamily="34" charset="0"/>
                <a:ea typeface="Rubik" pitchFamily="34" charset="-122"/>
                <a:cs typeface="Rubik" pitchFamily="34" charset="-120"/>
              </a:rPr>
              <a:t>5</a:t>
            </a:r>
            <a:endParaRPr lang="en-US" sz="3600" dirty="0"/>
          </a:p>
        </p:txBody>
      </p:sp>
      <p:sp>
        <p:nvSpPr>
          <p:cNvPr id="7" name="Text 5"/>
          <p:cNvSpPr/>
          <p:nvPr/>
        </p:nvSpPr>
        <p:spPr>
          <a:xfrm>
            <a:off x="1041400" y="3952230"/>
            <a:ext cx="301731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6"/>
                </a:solidFill>
                <a:latin typeface="Rubik" pitchFamily="34" charset="0"/>
                <a:ea typeface="Rubik" pitchFamily="34" charset="-122"/>
                <a:cs typeface="Rubik" pitchFamily="34" charset="-120"/>
              </a:rPr>
              <a:t>guess papers, 40 MCQs each, timed at 40 minutes</a:t>
            </a:r>
            <a:endParaRPr lang="en-US" sz="1400" dirty="0"/>
          </a:p>
        </p:txBody>
      </p:sp>
      <p:sp>
        <p:nvSpPr>
          <p:cNvPr id="8" name="Shape 6"/>
          <p:cNvSpPr/>
          <p:nvPr/>
        </p:nvSpPr>
        <p:spPr>
          <a:xfrm>
            <a:off x="4402634" y="3007370"/>
            <a:ext cx="3386683" cy="1671241"/>
          </a:xfrm>
          <a:prstGeom prst="roundRect">
            <a:avLst>
              <a:gd name="adj" fmla="val 6079"/>
            </a:avLst>
          </a:prstGeom>
          <a:solidFill>
            <a:srgbClr val="22305A"/>
          </a:solidFill>
          <a:ln/>
        </p:spPr>
      </p:sp>
      <p:sp>
        <p:nvSpPr>
          <p:cNvPr id="9" name="Text 7"/>
          <p:cNvSpPr/>
          <p:nvPr/>
        </p:nvSpPr>
        <p:spPr>
          <a:xfrm>
            <a:off x="4631234" y="3235970"/>
            <a:ext cx="3017368"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2A65A"/>
                </a:solidFill>
                <a:latin typeface="Rubik" pitchFamily="34" charset="0"/>
                <a:ea typeface="Rubik" pitchFamily="34" charset="-122"/>
                <a:cs typeface="Rubik" pitchFamily="34" charset="-120"/>
              </a:rPr>
              <a:t>1</a:t>
            </a:r>
            <a:endParaRPr lang="en-US" sz="3600" dirty="0"/>
          </a:p>
        </p:txBody>
      </p:sp>
      <p:sp>
        <p:nvSpPr>
          <p:cNvPr id="10" name="Text 8"/>
          <p:cNvSpPr/>
          <p:nvPr/>
        </p:nvSpPr>
        <p:spPr>
          <a:xfrm>
            <a:off x="4631234" y="3952230"/>
            <a:ext cx="30173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6"/>
                </a:solidFill>
                <a:latin typeface="Rubik" pitchFamily="34" charset="0"/>
                <a:ea typeface="Rubik" pitchFamily="34" charset="-122"/>
                <a:cs typeface="Rubik" pitchFamily="34" charset="-120"/>
              </a:rPr>
              <a:t>cheat sheet: reread the row behind every wrong answer</a:t>
            </a:r>
            <a:endParaRPr lang="en-US" sz="1400" dirty="0"/>
          </a:p>
        </p:txBody>
      </p:sp>
      <p:sp>
        <p:nvSpPr>
          <p:cNvPr id="11" name="Shape 9"/>
          <p:cNvSpPr/>
          <p:nvPr/>
        </p:nvSpPr>
        <p:spPr>
          <a:xfrm>
            <a:off x="7992517" y="3007370"/>
            <a:ext cx="3386683" cy="1671241"/>
          </a:xfrm>
          <a:prstGeom prst="roundRect">
            <a:avLst>
              <a:gd name="adj" fmla="val 6079"/>
            </a:avLst>
          </a:prstGeom>
          <a:solidFill>
            <a:srgbClr val="22305A"/>
          </a:solidFill>
          <a:ln/>
        </p:spPr>
      </p:sp>
      <p:sp>
        <p:nvSpPr>
          <p:cNvPr id="12" name="Text 10"/>
          <p:cNvSpPr/>
          <p:nvPr/>
        </p:nvSpPr>
        <p:spPr>
          <a:xfrm>
            <a:off x="8221117" y="3235970"/>
            <a:ext cx="3017368"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2A65A"/>
                </a:solidFill>
                <a:latin typeface="Rubik" pitchFamily="34" charset="0"/>
                <a:ea typeface="Rubik" pitchFamily="34" charset="-122"/>
                <a:cs typeface="Rubik" pitchFamily="34" charset="-120"/>
              </a:rPr>
              <a:t>60s</a:t>
            </a:r>
            <a:endParaRPr lang="en-US" sz="3600" dirty="0"/>
          </a:p>
        </p:txBody>
      </p:sp>
      <p:sp>
        <p:nvSpPr>
          <p:cNvPr id="13" name="Text 11"/>
          <p:cNvSpPr/>
          <p:nvPr/>
        </p:nvSpPr>
        <p:spPr>
          <a:xfrm>
            <a:off x="8221117" y="3952230"/>
            <a:ext cx="30173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6"/>
                </a:solidFill>
                <a:latin typeface="Rubik" pitchFamily="34" charset="0"/>
                <a:ea typeface="Rubik" pitchFamily="34" charset="-122"/>
                <a:cs typeface="Rubik" pitchFamily="34" charset="-120"/>
              </a:rPr>
              <a:t>target per question by the final paper</a:t>
            </a:r>
            <a:endParaRPr lang="en-US" sz="1400" dirty="0"/>
          </a:p>
        </p:txBody>
      </p:sp>
      <p:sp>
        <p:nvSpPr>
          <p:cNvPr id="14" name="Text 12"/>
          <p:cNvSpPr/>
          <p:nvPr/>
        </p:nvSpPr>
        <p:spPr>
          <a:xfrm>
            <a:off x="812800" y="498341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6"/>
                </a:solidFill>
                <a:latin typeface="Rubik" pitchFamily="34" charset="0"/>
                <a:ea typeface="Rubik" pitchFamily="34" charset="-122"/>
                <a:cs typeface="Rubik" pitchFamily="34" charset="-120"/>
              </a:rPr>
              <a:t>Questions?</a:t>
            </a:r>
            <a:endParaRPr lang="en-US" sz="1600" dirty="0"/>
          </a:p>
        </p:txBody>
      </p:sp>
    </p:spTree>
  </p:cSld>
  <p:clrMapOvr>
    <a:masterClrMapping/>
  </p:clrMapOvr>
</p:sld>
</file>

<file path=ppt/theme/theme1.xml><?xml version="1.0" encoding="utf-8"?>
<a:theme xmlns:a="http://schemas.openxmlformats.org/drawingml/2006/main" name="Cracking the Technical OA">
  <a:themeElements>
    <a:clrScheme name="Cracking the Technical OA">
      <a:dk1>
        <a:srgbClr val="14213D"/>
      </a:dk1>
      <a:lt1>
        <a:srgbClr val="F7F5EF"/>
      </a:lt1>
      <a:dk2>
        <a:srgbClr val="4D566A"/>
      </a:dk2>
      <a:lt2>
        <a:srgbClr val="E0E0DD"/>
      </a:lt2>
      <a:accent1>
        <a:srgbClr val="B5541A"/>
      </a:accent1>
      <a:accent2>
        <a:srgbClr val="22305A"/>
      </a:accent2>
      <a:accent3>
        <a:srgbClr val="F2A65A"/>
      </a:accent3>
      <a:accent4>
        <a:srgbClr val="4A5568"/>
      </a:accent4>
      <a:accent5>
        <a:srgbClr val="5A6378"/>
      </a:accent5>
      <a:accent6>
        <a:srgbClr val="C9D3E6"/>
      </a:accent6>
      <a:hlink>
        <a:srgbClr val="0563C1"/>
      </a:hlink>
      <a:folHlink>
        <a:srgbClr val="954F72"/>
      </a:folHlink>
    </a:clrScheme>
    <a:fontScheme name="Cracking the Technical OA">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Cracking the Technical OA</dc:title>
  <dc:subject/>
  <dc:creator/>
  <cp:lastModifiedBy/>
  <cp:revision>1</cp:revision>
  <dcterms:created xsi:type="dcterms:W3CDTF">2026-10-16T04:41:02Z</dcterms:created>
  <dcterms:modified xsi:type="dcterms:W3CDTF">2026-10-16T04:41:02Z</dcterms:modified>
</cp:coreProperties>
</file>