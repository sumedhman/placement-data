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343" r:id="rId94"/>
    <p:sldId id="259" r:id="rId5"/>
    <p:sldId id="344" r:id="rId95"/>
    <p:sldId id="260" r:id="rId6"/>
    <p:sldId id="345" r:id="rId96"/>
    <p:sldId id="261" r:id="rId7"/>
    <p:sldId id="346" r:id="rId97"/>
    <p:sldId id="262" r:id="rId8"/>
    <p:sldId id="347" r:id="rId98"/>
    <p:sldId id="263" r:id="rId9"/>
    <p:sldId id="348" r:id="rId99"/>
    <p:sldId id="264" r:id="rId10"/>
    <p:sldId id="349" r:id="rId100"/>
    <p:sldId id="265" r:id="rId11"/>
    <p:sldId id="350" r:id="rId101"/>
    <p:sldId id="266" r:id="rId12"/>
    <p:sldId id="351" r:id="rId102"/>
    <p:sldId id="267" r:id="rId13"/>
    <p:sldId id="352" r:id="rId103"/>
    <p:sldId id="268" r:id="rId14"/>
    <p:sldId id="353" r:id="rId104"/>
    <p:sldId id="269" r:id="rId15"/>
    <p:sldId id="354" r:id="rId105"/>
    <p:sldId id="270" r:id="rId16"/>
    <p:sldId id="355" r:id="rId106"/>
    <p:sldId id="271" r:id="rId17"/>
    <p:sldId id="356" r:id="rId107"/>
    <p:sldId id="272" r:id="rId18"/>
    <p:sldId id="357" r:id="rId108"/>
    <p:sldId id="273" r:id="rId19"/>
    <p:sldId id="358" r:id="rId109"/>
    <p:sldId id="274" r:id="rId20"/>
    <p:sldId id="275" r:id="rId21"/>
    <p:sldId id="359" r:id="rId110"/>
    <p:sldId id="276" r:id="rId22"/>
    <p:sldId id="360" r:id="rId111"/>
    <p:sldId id="277" r:id="rId23"/>
    <p:sldId id="361" r:id="rId112"/>
    <p:sldId id="278" r:id="rId24"/>
    <p:sldId id="362" r:id="rId113"/>
    <p:sldId id="279" r:id="rId25"/>
    <p:sldId id="363" r:id="rId114"/>
    <p:sldId id="280" r:id="rId26"/>
    <p:sldId id="364" r:id="rId115"/>
    <p:sldId id="281" r:id="rId27"/>
    <p:sldId id="365" r:id="rId116"/>
    <p:sldId id="282" r:id="rId28"/>
    <p:sldId id="283" r:id="rId29"/>
    <p:sldId id="366" r:id="rId117"/>
    <p:sldId id="284" r:id="rId30"/>
    <p:sldId id="367" r:id="rId118"/>
    <p:sldId id="285" r:id="rId31"/>
    <p:sldId id="368" r:id="rId119"/>
    <p:sldId id="286" r:id="rId32"/>
    <p:sldId id="369" r:id="rId120"/>
    <p:sldId id="287" r:id="rId33"/>
    <p:sldId id="370" r:id="rId121"/>
    <p:sldId id="288" r:id="rId34"/>
    <p:sldId id="371" r:id="rId122"/>
    <p:sldId id="289" r:id="rId35"/>
    <p:sldId id="372" r:id="rId123"/>
    <p:sldId id="290" r:id="rId36"/>
    <p:sldId id="291" r:id="rId37"/>
    <p:sldId id="373" r:id="rId124"/>
    <p:sldId id="292" r:id="rId38"/>
    <p:sldId id="374" r:id="rId125"/>
    <p:sldId id="293" r:id="rId39"/>
    <p:sldId id="375" r:id="rId126"/>
    <p:sldId id="294" r:id="rId40"/>
    <p:sldId id="376" r:id="rId127"/>
    <p:sldId id="295" r:id="rId41"/>
    <p:sldId id="377" r:id="rId128"/>
    <p:sldId id="296" r:id="rId42"/>
    <p:sldId id="378" r:id="rId129"/>
    <p:sldId id="297" r:id="rId43"/>
    <p:sldId id="298" r:id="rId44"/>
    <p:sldId id="379" r:id="rId130"/>
    <p:sldId id="299" r:id="rId45"/>
    <p:sldId id="380" r:id="rId131"/>
    <p:sldId id="300" r:id="rId46"/>
    <p:sldId id="381" r:id="rId132"/>
    <p:sldId id="301" r:id="rId47"/>
    <p:sldId id="382" r:id="rId133"/>
    <p:sldId id="302" r:id="rId48"/>
    <p:sldId id="383" r:id="rId134"/>
    <p:sldId id="303" r:id="rId49"/>
    <p:sldId id="384" r:id="rId135"/>
    <p:sldId id="304" r:id="rId50"/>
    <p:sldId id="385" r:id="rId136"/>
    <p:sldId id="305" r:id="rId51"/>
    <p:sldId id="386" r:id="rId137"/>
    <p:sldId id="306" r:id="rId52"/>
    <p:sldId id="387" r:id="rId138"/>
    <p:sldId id="307" r:id="rId53"/>
    <p:sldId id="308" r:id="rId54"/>
    <p:sldId id="309" r:id="rId55"/>
    <p:sldId id="388" r:id="rId139"/>
    <p:sldId id="310" r:id="rId56"/>
    <p:sldId id="311" r:id="rId57"/>
    <p:sldId id="389" r:id="rId140"/>
    <p:sldId id="312" r:id="rId58"/>
    <p:sldId id="313" r:id="rId59"/>
    <p:sldId id="390" r:id="rId141"/>
    <p:sldId id="314" r:id="rId60"/>
    <p:sldId id="315" r:id="rId61"/>
    <p:sldId id="391" r:id="rId142"/>
    <p:sldId id="316" r:id="rId62"/>
    <p:sldId id="317" r:id="rId63"/>
    <p:sldId id="392" r:id="rId143"/>
    <p:sldId id="318" r:id="rId64"/>
    <p:sldId id="319" r:id="rId65"/>
    <p:sldId id="393" r:id="rId144"/>
    <p:sldId id="320" r:id="rId66"/>
    <p:sldId id="321" r:id="rId67"/>
    <p:sldId id="394" r:id="rId145"/>
    <p:sldId id="322" r:id="rId68"/>
    <p:sldId id="323" r:id="rId69"/>
    <p:sldId id="395" r:id="rId146"/>
    <p:sldId id="324" r:id="rId70"/>
    <p:sldId id="325" r:id="rId71"/>
    <p:sldId id="396" r:id="rId147"/>
    <p:sldId id="326" r:id="rId72"/>
    <p:sldId id="327" r:id="rId73"/>
    <p:sldId id="397" r:id="rId148"/>
    <p:sldId id="328" r:id="rId74"/>
    <p:sldId id="329" r:id="rId75"/>
    <p:sldId id="398" r:id="rId149"/>
    <p:sldId id="330" r:id="rId76"/>
    <p:sldId id="331" r:id="rId77"/>
    <p:sldId id="399" r:id="rId150"/>
    <p:sldId id="332" r:id="rId78"/>
    <p:sldId id="333" r:id="rId79"/>
    <p:sldId id="400" r:id="rId151"/>
    <p:sldId id="334" r:id="rId80"/>
    <p:sldId id="335" r:id="rId81"/>
    <p:sldId id="401" r:id="rId152"/>
    <p:sldId id="336" r:id="rId82"/>
    <p:sldId id="337" r:id="rId83"/>
    <p:sldId id="402" r:id="rId153"/>
    <p:sldId id="338" r:id="rId84"/>
    <p:sldId id="403" r:id="rId154"/>
    <p:sldId id="339" r:id="rId85"/>
    <p:sldId id="404" r:id="rId155"/>
    <p:sldId id="340" r:id="rId86"/>
    <p:sldId id="405" r:id="rId156"/>
    <p:sldId id="341" r:id="rId87"/>
    <p:sldId id="406" r:id="rId15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  <Relationship Id="rId94" Type="http://schemas.openxmlformats.org/officeDocument/2006/relationships/slide" Target="slides/slide88.xml"/>
  <Relationship Id="rId95" Type="http://schemas.openxmlformats.org/officeDocument/2006/relationships/slide" Target="slides/slide89.xml"/>
  <Relationship Id="rId96" Type="http://schemas.openxmlformats.org/officeDocument/2006/relationships/slide" Target="slides/slide90.xml"/>
  <Relationship Id="rId97" Type="http://schemas.openxmlformats.org/officeDocument/2006/relationships/slide" Target="slides/slide91.xml"/>
  <Relationship Id="rId98" Type="http://schemas.openxmlformats.org/officeDocument/2006/relationships/slide" Target="slides/slide92.xml"/>
  <Relationship Id="rId99" Type="http://schemas.openxmlformats.org/officeDocument/2006/relationships/slide" Target="slides/slide93.xml"/>
  <Relationship Id="rId100" Type="http://schemas.openxmlformats.org/officeDocument/2006/relationships/slide" Target="slides/slide94.xml"/>
  <Relationship Id="rId101" Type="http://schemas.openxmlformats.org/officeDocument/2006/relationships/slide" Target="slides/slide95.xml"/>
  <Relationship Id="rId102" Type="http://schemas.openxmlformats.org/officeDocument/2006/relationships/slide" Target="slides/slide96.xml"/>
  <Relationship Id="rId103" Type="http://schemas.openxmlformats.org/officeDocument/2006/relationships/slide" Target="slides/slide97.xml"/>
  <Relationship Id="rId104" Type="http://schemas.openxmlformats.org/officeDocument/2006/relationships/slide" Target="slides/slide98.xml"/>
  <Relationship Id="rId105" Type="http://schemas.openxmlformats.org/officeDocument/2006/relationships/slide" Target="slides/slide99.xml"/>
  <Relationship Id="rId106" Type="http://schemas.openxmlformats.org/officeDocument/2006/relationships/slide" Target="slides/slide100.xml"/>
  <Relationship Id="rId107" Type="http://schemas.openxmlformats.org/officeDocument/2006/relationships/slide" Target="slides/slide101.xml"/>
  <Relationship Id="rId108" Type="http://schemas.openxmlformats.org/officeDocument/2006/relationships/slide" Target="slides/slide102.xml"/>
  <Relationship Id="rId109" Type="http://schemas.openxmlformats.org/officeDocument/2006/relationships/slide" Target="slides/slide103.xml"/>
  <Relationship Id="rId110" Type="http://schemas.openxmlformats.org/officeDocument/2006/relationships/slide" Target="slides/slide104.xml"/>
  <Relationship Id="rId111" Type="http://schemas.openxmlformats.org/officeDocument/2006/relationships/slide" Target="slides/slide105.xml"/>
  <Relationship Id="rId112" Type="http://schemas.openxmlformats.org/officeDocument/2006/relationships/slide" Target="slides/slide106.xml"/>
  <Relationship Id="rId113" Type="http://schemas.openxmlformats.org/officeDocument/2006/relationships/slide" Target="slides/slide107.xml"/>
  <Relationship Id="rId114" Type="http://schemas.openxmlformats.org/officeDocument/2006/relationships/slide" Target="slides/slide108.xml"/>
  <Relationship Id="rId115" Type="http://schemas.openxmlformats.org/officeDocument/2006/relationships/slide" Target="slides/slide109.xml"/>
  <Relationship Id="rId116" Type="http://schemas.openxmlformats.org/officeDocument/2006/relationships/slide" Target="slides/slide110.xml"/>
  <Relationship Id="rId117" Type="http://schemas.openxmlformats.org/officeDocument/2006/relationships/slide" Target="slides/slide111.xml"/>
  <Relationship Id="rId118" Type="http://schemas.openxmlformats.org/officeDocument/2006/relationships/slide" Target="slides/slide112.xml"/>
  <Relationship Id="rId119" Type="http://schemas.openxmlformats.org/officeDocument/2006/relationships/slide" Target="slides/slide113.xml"/>
  <Relationship Id="rId120" Type="http://schemas.openxmlformats.org/officeDocument/2006/relationships/slide" Target="slides/slide114.xml"/>
  <Relationship Id="rId121" Type="http://schemas.openxmlformats.org/officeDocument/2006/relationships/slide" Target="slides/slide115.xml"/>
  <Relationship Id="rId122" Type="http://schemas.openxmlformats.org/officeDocument/2006/relationships/slide" Target="slides/slide116.xml"/>
  <Relationship Id="rId123" Type="http://schemas.openxmlformats.org/officeDocument/2006/relationships/slide" Target="slides/slide117.xml"/>
  <Relationship Id="rId124" Type="http://schemas.openxmlformats.org/officeDocument/2006/relationships/slide" Target="slides/slide118.xml"/>
  <Relationship Id="rId125" Type="http://schemas.openxmlformats.org/officeDocument/2006/relationships/slide" Target="slides/slide119.xml"/>
  <Relationship Id="rId126" Type="http://schemas.openxmlformats.org/officeDocument/2006/relationships/slide" Target="slides/slide120.xml"/>
  <Relationship Id="rId127" Type="http://schemas.openxmlformats.org/officeDocument/2006/relationships/slide" Target="slides/slide121.xml"/>
  <Relationship Id="rId128" Type="http://schemas.openxmlformats.org/officeDocument/2006/relationships/slide" Target="slides/slide122.xml"/>
  <Relationship Id="rId129" Type="http://schemas.openxmlformats.org/officeDocument/2006/relationships/slide" Target="slides/slide123.xml"/>
  <Relationship Id="rId130" Type="http://schemas.openxmlformats.org/officeDocument/2006/relationships/slide" Target="slides/slide124.xml"/>
  <Relationship Id="rId131" Type="http://schemas.openxmlformats.org/officeDocument/2006/relationships/slide" Target="slides/slide125.xml"/>
  <Relationship Id="rId132" Type="http://schemas.openxmlformats.org/officeDocument/2006/relationships/slide" Target="slides/slide126.xml"/>
  <Relationship Id="rId133" Type="http://schemas.openxmlformats.org/officeDocument/2006/relationships/slide" Target="slides/slide127.xml"/>
  <Relationship Id="rId134" Type="http://schemas.openxmlformats.org/officeDocument/2006/relationships/slide" Target="slides/slide128.xml"/>
  <Relationship Id="rId135" Type="http://schemas.openxmlformats.org/officeDocument/2006/relationships/slide" Target="slides/slide129.xml"/>
  <Relationship Id="rId136" Type="http://schemas.openxmlformats.org/officeDocument/2006/relationships/slide" Target="slides/slide130.xml"/>
  <Relationship Id="rId137" Type="http://schemas.openxmlformats.org/officeDocument/2006/relationships/slide" Target="slides/slide131.xml"/>
  <Relationship Id="rId138" Type="http://schemas.openxmlformats.org/officeDocument/2006/relationships/slide" Target="slides/slide132.xml"/>
  <Relationship Id="rId139" Type="http://schemas.openxmlformats.org/officeDocument/2006/relationships/slide" Target="slides/slide133.xml"/>
  <Relationship Id="rId140" Type="http://schemas.openxmlformats.org/officeDocument/2006/relationships/slide" Target="slides/slide134.xml"/>
  <Relationship Id="rId141" Type="http://schemas.openxmlformats.org/officeDocument/2006/relationships/slide" Target="slides/slide135.xml"/>
  <Relationship Id="rId142" Type="http://schemas.openxmlformats.org/officeDocument/2006/relationships/slide" Target="slides/slide136.xml"/>
  <Relationship Id="rId143" Type="http://schemas.openxmlformats.org/officeDocument/2006/relationships/slide" Target="slides/slide137.xml"/>
  <Relationship Id="rId144" Type="http://schemas.openxmlformats.org/officeDocument/2006/relationships/slide" Target="slides/slide138.xml"/>
  <Relationship Id="rId145" Type="http://schemas.openxmlformats.org/officeDocument/2006/relationships/slide" Target="slides/slide139.xml"/>
  <Relationship Id="rId146" Type="http://schemas.openxmlformats.org/officeDocument/2006/relationships/slide" Target="slides/slide140.xml"/>
  <Relationship Id="rId147" Type="http://schemas.openxmlformats.org/officeDocument/2006/relationships/slide" Target="slides/slide141.xml"/>
  <Relationship Id="rId148" Type="http://schemas.openxmlformats.org/officeDocument/2006/relationships/slide" Target="slides/slide142.xml"/>
  <Relationship Id="rId149" Type="http://schemas.openxmlformats.org/officeDocument/2006/relationships/slide" Target="slides/slide143.xml"/>
  <Relationship Id="rId150" Type="http://schemas.openxmlformats.org/officeDocument/2006/relationships/slide" Target="slides/slide144.xml"/>
  <Relationship Id="rId151" Type="http://schemas.openxmlformats.org/officeDocument/2006/relationships/slide" Target="slides/slide145.xml"/>
  <Relationship Id="rId152" Type="http://schemas.openxmlformats.org/officeDocument/2006/relationships/slide" Target="slides/slide146.xml"/>
  <Relationship Id="rId153" Type="http://schemas.openxmlformats.org/officeDocument/2006/relationships/slide" Target="slides/slide147.xml"/>
  <Relationship Id="rId154" Type="http://schemas.openxmlformats.org/officeDocument/2006/relationships/slide" Target="slides/slide148.xml"/>
  <Relationship Id="rId155" Type="http://schemas.openxmlformats.org/officeDocument/2006/relationships/slide" Target="slides/slide149.xml"/>
  <Relationship Id="rId156" Type="http://schemas.openxmlformats.org/officeDocument/2006/relationships/slide" Target="slides/slide150.xml"/>
  <Relationship Id="rId157" Type="http://schemas.openxmlformats.org/officeDocument/2006/relationships/slide" Target="slides/slide15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232B4D"/>
          </a:solidFill>
          <a:ln/>
        </p:spPr>
      </p:sp>
      <p:sp>
        <p:nvSpPr>
          <p:cNvPr id="3" name="Shape 1"/>
          <p:cNvSpPr/>
          <p:nvPr/>
        </p:nvSpPr>
        <p:spPr>
          <a:xfrm>
            <a:off x="-1463040" y="4572000"/>
            <a:ext cx="3291840" cy="3291840"/>
          </a:xfrm>
          <a:prstGeom prst="ellipse">
            <a:avLst/>
          </a:prstGeom>
          <a:solidFill>
            <a:srgbClr val="232B4D"/>
          </a:solidFill>
          <a:ln/>
        </p:spPr>
      </p:sp>
      <p:sp>
        <p:nvSpPr>
          <p:cNvPr id="4" name="Shape 2"/>
          <p:cNvSpPr/>
          <p:nvPr/>
        </p:nvSpPr>
        <p:spPr>
          <a:xfrm>
            <a:off x="10607040" y="4297680"/>
            <a:ext cx="1554480" cy="1554480"/>
          </a:xfrm>
          <a:prstGeom prst="ellipse">
            <a:avLst/>
          </a:prstGeom>
          <a:solidFill>
            <a:srgbClr val="E8A33D"/>
          </a:solidFill>
          <a:ln/>
        </p:spPr>
      </p:sp>
      <p:sp>
        <p:nvSpPr>
          <p:cNvPr id="5" name="Text 3"/>
          <p:cNvSpPr/>
          <p:nvPr/>
        </p:nvSpPr>
        <p:spPr>
          <a:xfrm>
            <a:off x="822960" y="1965960"/>
            <a:ext cx="9144000" cy="457200"/>
          </a:xfrm>
          <a:prstGeom prst="rect">
            <a:avLst/>
          </a:prstGeom>
          <a:noFill/>
          <a:ln/>
        </p:spPr>
        <p:txBody>
          <a:bodyPr wrap="square" rtlCol="0" anchor="ctr"/>
          <a:lstStyle/>
          <a:p>
            <a:pPr indent="0" marL="0">
              <a:buNone/>
            </a:pPr>
            <a:r>
              <a:rPr lang="en-US" sz="1600" b="1" spc="200" kern="0" dirty="0">
                <a:solidFill>
                  <a:srgbClr val="E8A33D"/>
                </a:solidFill>
                <a:latin typeface="Calibri" pitchFamily="34" charset="0"/>
                <a:ea typeface="Calibri" pitchFamily="34" charset="-122"/>
                <a:cs typeface="Calibri" pitchFamily="34" charset="-120"/>
              </a:rPr>
              <a:t>JAVA &amp; FULL-STACK</a:t>
            </a:r>
            <a:endParaRPr lang="en-US" sz="1600" dirty="0"/>
          </a:p>
        </p:txBody>
      </p:sp>
      <p:sp>
        <p:nvSpPr>
          <p:cNvPr id="6" name="Text 4"/>
          <p:cNvSpPr/>
          <p:nvPr/>
        </p:nvSpPr>
        <p:spPr>
          <a:xfrm>
            <a:off x="777240" y="2377440"/>
            <a:ext cx="10058400" cy="1097280"/>
          </a:xfrm>
          <a:prstGeom prst="rect">
            <a:avLst/>
          </a:prstGeom>
          <a:noFill/>
          <a:ln/>
        </p:spPr>
        <p:txBody>
          <a:bodyPr wrap="square" rtlCol="0" anchor="ctr"/>
          <a:lstStyle/>
          <a:p>
            <a:pPr indent="0" marL="0">
              <a:buNone/>
            </a:pPr>
            <a:r>
              <a:rPr lang="en-US" sz="4400" b="1" dirty="0">
                <a:solidFill>
                  <a:srgbClr val="FFFFFF"/>
                </a:solidFill>
                <a:latin typeface="Century Schoolbook" pitchFamily="34" charset="0"/>
                <a:ea typeface="Century Schoolbook" pitchFamily="34" charset="-122"/>
                <a:cs typeface="Century Schoolbook" pitchFamily="34" charset="-120"/>
              </a:rPr>
              <a:t>Technical Interview Preparation</a:t>
            </a:r>
            <a:endParaRPr lang="en-US" sz="4400" dirty="0"/>
          </a:p>
        </p:txBody>
      </p:sp>
      <p:sp>
        <p:nvSpPr>
          <p:cNvPr id="7" name="Text 5"/>
          <p:cNvSpPr/>
          <p:nvPr/>
        </p:nvSpPr>
        <p:spPr>
          <a:xfrm>
            <a:off x="822960" y="3520440"/>
            <a:ext cx="8686800" cy="731520"/>
          </a:xfrm>
          <a:prstGeom prst="rect">
            <a:avLst/>
          </a:prstGeom>
          <a:noFill/>
          <a:ln/>
        </p:spPr>
        <p:txBody>
          <a:bodyPr wrap="square" rtlCol="0" anchor="ctr"/>
          <a:lstStyle/>
          <a:p>
            <a:pPr indent="0" marL="0">
              <a:buNone/>
            </a:pPr>
            <a:r>
              <a:rPr lang="en-US" sz="1600" i="1" dirty="0">
                <a:solidFill>
                  <a:srgbClr val="C3C8DC"/>
                </a:solidFill>
                <a:latin typeface="Calibri" pitchFamily="34" charset="0"/>
                <a:ea typeface="Calibri" pitchFamily="34" charset="-122"/>
                <a:cs typeface="Calibri" pitchFamily="34" charset="-120"/>
              </a:rPr>
              <a:t>Real questions from Cognizant interviews - explained simply, with code, analogies, and interview-ready answers.</a:t>
            </a:r>
            <a:endParaRPr lang="en-US" sz="1600" dirty="0"/>
          </a:p>
        </p:txBody>
      </p:sp>
      <p:sp>
        <p:nvSpPr>
          <p:cNvPr id="8" name="Shape 6"/>
          <p:cNvSpPr/>
          <p:nvPr/>
        </p:nvSpPr>
        <p:spPr>
          <a:xfrm>
            <a:off x="822960" y="4480560"/>
            <a:ext cx="1362456" cy="384048"/>
          </a:xfrm>
          <a:prstGeom prst="roundRect">
            <a:avLst>
              <a:gd name="adj" fmla="val 50000"/>
            </a:avLst>
          </a:prstGeom>
          <a:solidFill>
            <a:srgbClr val="232B4D"/>
          </a:solidFill>
          <a:ln w="12700">
            <a:solidFill>
              <a:srgbClr val="E8A33D"/>
            </a:solidFill>
            <a:prstDash val="solid"/>
          </a:ln>
        </p:spPr>
      </p:sp>
      <p:sp>
        <p:nvSpPr>
          <p:cNvPr id="9" name="Text 7"/>
          <p:cNvSpPr/>
          <p:nvPr/>
        </p:nvSpPr>
        <p:spPr>
          <a:xfrm>
            <a:off x="822960" y="4480560"/>
            <a:ext cx="1362456" cy="384048"/>
          </a:xfrm>
          <a:prstGeom prst="rect">
            <a:avLst/>
          </a:prstGeom>
          <a:noFill/>
          <a:ln/>
        </p:spPr>
        <p:txBody>
          <a:bodyPr wrap="square" rtlCol="0" anchor="ctr"/>
          <a:lstStyle/>
          <a:p>
            <a:pPr algn="ctr" indent="0" marL="0">
              <a:buNone/>
            </a:pPr>
            <a:r>
              <a:rPr lang="en-US" sz="1100" b="1" dirty="0">
                <a:solidFill>
                  <a:srgbClr val="3FBFAE"/>
                </a:solidFill>
                <a:latin typeface="Calibri" pitchFamily="34" charset="0"/>
                <a:ea typeface="Calibri" pitchFamily="34" charset="-122"/>
                <a:cs typeface="Calibri" pitchFamily="34" charset="-120"/>
              </a:rPr>
              <a:t>Core Java</a:t>
            </a:r>
            <a:endParaRPr lang="en-US" sz="1100" dirty="0"/>
          </a:p>
        </p:txBody>
      </p:sp>
      <p:sp>
        <p:nvSpPr>
          <p:cNvPr id="10" name="Shape 8"/>
          <p:cNvSpPr/>
          <p:nvPr/>
        </p:nvSpPr>
        <p:spPr>
          <a:xfrm>
            <a:off x="2331720" y="4480560"/>
            <a:ext cx="1563624" cy="384048"/>
          </a:xfrm>
          <a:prstGeom prst="roundRect">
            <a:avLst>
              <a:gd name="adj" fmla="val 50000"/>
            </a:avLst>
          </a:prstGeom>
          <a:solidFill>
            <a:srgbClr val="232B4D"/>
          </a:solidFill>
          <a:ln w="12700">
            <a:solidFill>
              <a:srgbClr val="E8A33D"/>
            </a:solidFill>
            <a:prstDash val="solid"/>
          </a:ln>
        </p:spPr>
      </p:sp>
      <p:sp>
        <p:nvSpPr>
          <p:cNvPr id="11" name="Text 9"/>
          <p:cNvSpPr/>
          <p:nvPr/>
        </p:nvSpPr>
        <p:spPr>
          <a:xfrm>
            <a:off x="2331720" y="4480560"/>
            <a:ext cx="1563624" cy="384048"/>
          </a:xfrm>
          <a:prstGeom prst="rect">
            <a:avLst/>
          </a:prstGeom>
          <a:noFill/>
          <a:ln/>
        </p:spPr>
        <p:txBody>
          <a:bodyPr wrap="square" rtlCol="0" anchor="ctr"/>
          <a:lstStyle/>
          <a:p>
            <a:pPr algn="ctr" indent="0" marL="0">
              <a:buNone/>
            </a:pPr>
            <a:r>
              <a:rPr lang="en-US" sz="1100" b="1" dirty="0">
                <a:solidFill>
                  <a:srgbClr val="3FBFAE"/>
                </a:solidFill>
                <a:latin typeface="Calibri" pitchFamily="34" charset="0"/>
                <a:ea typeface="Calibri" pitchFamily="34" charset="-122"/>
                <a:cs typeface="Calibri" pitchFamily="34" charset="-120"/>
              </a:rPr>
              <a:t>Collections</a:t>
            </a:r>
            <a:endParaRPr lang="en-US" sz="1100" dirty="0"/>
          </a:p>
        </p:txBody>
      </p:sp>
      <p:sp>
        <p:nvSpPr>
          <p:cNvPr id="12" name="Shape 10"/>
          <p:cNvSpPr/>
          <p:nvPr/>
        </p:nvSpPr>
        <p:spPr>
          <a:xfrm>
            <a:off x="4041648" y="4480560"/>
            <a:ext cx="1563624" cy="384048"/>
          </a:xfrm>
          <a:prstGeom prst="roundRect">
            <a:avLst>
              <a:gd name="adj" fmla="val 50000"/>
            </a:avLst>
          </a:prstGeom>
          <a:solidFill>
            <a:srgbClr val="232B4D"/>
          </a:solidFill>
          <a:ln w="12700">
            <a:solidFill>
              <a:srgbClr val="E8A33D"/>
            </a:solidFill>
            <a:prstDash val="solid"/>
          </a:ln>
        </p:spPr>
      </p:sp>
      <p:sp>
        <p:nvSpPr>
          <p:cNvPr id="13" name="Text 11"/>
          <p:cNvSpPr/>
          <p:nvPr/>
        </p:nvSpPr>
        <p:spPr>
          <a:xfrm>
            <a:off x="4041648" y="4480560"/>
            <a:ext cx="1563624" cy="384048"/>
          </a:xfrm>
          <a:prstGeom prst="rect">
            <a:avLst/>
          </a:prstGeom>
          <a:noFill/>
          <a:ln/>
        </p:spPr>
        <p:txBody>
          <a:bodyPr wrap="square" rtlCol="0" anchor="ctr"/>
          <a:lstStyle/>
          <a:p>
            <a:pPr algn="ctr" indent="0" marL="0">
              <a:buNone/>
            </a:pPr>
            <a:r>
              <a:rPr lang="en-US" sz="1100" b="1" dirty="0">
                <a:solidFill>
                  <a:srgbClr val="3FBFAE"/>
                </a:solidFill>
                <a:latin typeface="Calibri" pitchFamily="34" charset="0"/>
                <a:ea typeface="Calibri" pitchFamily="34" charset="-122"/>
                <a:cs typeface="Calibri" pitchFamily="34" charset="-120"/>
              </a:rPr>
              <a:t>Spring Boot</a:t>
            </a:r>
            <a:endParaRPr lang="en-US" sz="1100" dirty="0"/>
          </a:p>
        </p:txBody>
      </p:sp>
      <p:sp>
        <p:nvSpPr>
          <p:cNvPr id="14" name="Shape 12"/>
          <p:cNvSpPr/>
          <p:nvPr/>
        </p:nvSpPr>
        <p:spPr>
          <a:xfrm>
            <a:off x="5751576" y="4480560"/>
            <a:ext cx="960120" cy="384048"/>
          </a:xfrm>
          <a:prstGeom prst="roundRect">
            <a:avLst>
              <a:gd name="adj" fmla="val 50000"/>
            </a:avLst>
          </a:prstGeom>
          <a:solidFill>
            <a:srgbClr val="232B4D"/>
          </a:solidFill>
          <a:ln w="12700">
            <a:solidFill>
              <a:srgbClr val="E8A33D"/>
            </a:solidFill>
            <a:prstDash val="solid"/>
          </a:ln>
        </p:spPr>
      </p:sp>
      <p:sp>
        <p:nvSpPr>
          <p:cNvPr id="15" name="Text 13"/>
          <p:cNvSpPr/>
          <p:nvPr/>
        </p:nvSpPr>
        <p:spPr>
          <a:xfrm>
            <a:off x="5751576" y="4480560"/>
            <a:ext cx="960120" cy="384048"/>
          </a:xfrm>
          <a:prstGeom prst="rect">
            <a:avLst/>
          </a:prstGeom>
          <a:noFill/>
          <a:ln/>
        </p:spPr>
        <p:txBody>
          <a:bodyPr wrap="square" rtlCol="0" anchor="ctr"/>
          <a:lstStyle/>
          <a:p>
            <a:pPr algn="ctr" indent="0" marL="0">
              <a:buNone/>
            </a:pPr>
            <a:r>
              <a:rPr lang="en-US" sz="1100" b="1" dirty="0">
                <a:solidFill>
                  <a:srgbClr val="3FBFAE"/>
                </a:solidFill>
                <a:latin typeface="Calibri" pitchFamily="34" charset="0"/>
                <a:ea typeface="Calibri" pitchFamily="34" charset="-122"/>
                <a:cs typeface="Calibri" pitchFamily="34" charset="-120"/>
              </a:rPr>
              <a:t>React</a:t>
            </a:r>
            <a:endParaRPr lang="en-US" sz="1100" dirty="0"/>
          </a:p>
        </p:txBody>
      </p:sp>
      <p:sp>
        <p:nvSpPr>
          <p:cNvPr id="16" name="Shape 14"/>
          <p:cNvSpPr/>
          <p:nvPr/>
        </p:nvSpPr>
        <p:spPr>
          <a:xfrm>
            <a:off x="6858000" y="4480560"/>
            <a:ext cx="758952" cy="384048"/>
          </a:xfrm>
          <a:prstGeom prst="roundRect">
            <a:avLst>
              <a:gd name="adj" fmla="val 50000"/>
            </a:avLst>
          </a:prstGeom>
          <a:solidFill>
            <a:srgbClr val="232B4D"/>
          </a:solidFill>
          <a:ln w="12700">
            <a:solidFill>
              <a:srgbClr val="E8A33D"/>
            </a:solidFill>
            <a:prstDash val="solid"/>
          </a:ln>
        </p:spPr>
      </p:sp>
      <p:sp>
        <p:nvSpPr>
          <p:cNvPr id="17" name="Text 15"/>
          <p:cNvSpPr/>
          <p:nvPr/>
        </p:nvSpPr>
        <p:spPr>
          <a:xfrm>
            <a:off x="6858000" y="4480560"/>
            <a:ext cx="758952" cy="384048"/>
          </a:xfrm>
          <a:prstGeom prst="rect">
            <a:avLst/>
          </a:prstGeom>
          <a:noFill/>
          <a:ln/>
        </p:spPr>
        <p:txBody>
          <a:bodyPr wrap="square" rtlCol="0" anchor="ctr"/>
          <a:lstStyle/>
          <a:p>
            <a:pPr algn="ctr" indent="0" marL="0">
              <a:buNone/>
            </a:pPr>
            <a:r>
              <a:rPr lang="en-US" sz="1100" b="1" dirty="0">
                <a:solidFill>
                  <a:srgbClr val="3FBFAE"/>
                </a:solidFill>
                <a:latin typeface="Calibri" pitchFamily="34" charset="0"/>
                <a:ea typeface="Calibri" pitchFamily="34" charset="-122"/>
                <a:cs typeface="Calibri" pitchFamily="34" charset="-120"/>
              </a:rPr>
              <a:t>SQL</a:t>
            </a:r>
            <a:endParaRPr lang="en-US" sz="1100" dirty="0"/>
          </a:p>
        </p:txBody>
      </p:sp>
      <p:sp>
        <p:nvSpPr>
          <p:cNvPr id="18" name="Shape 16"/>
          <p:cNvSpPr/>
          <p:nvPr/>
        </p:nvSpPr>
        <p:spPr>
          <a:xfrm>
            <a:off x="7763256" y="4480560"/>
            <a:ext cx="758952" cy="384048"/>
          </a:xfrm>
          <a:prstGeom prst="roundRect">
            <a:avLst>
              <a:gd name="adj" fmla="val 50000"/>
            </a:avLst>
          </a:prstGeom>
          <a:solidFill>
            <a:srgbClr val="232B4D"/>
          </a:solidFill>
          <a:ln w="12700">
            <a:solidFill>
              <a:srgbClr val="E8A33D"/>
            </a:solidFill>
            <a:prstDash val="solid"/>
          </a:ln>
        </p:spPr>
      </p:sp>
      <p:sp>
        <p:nvSpPr>
          <p:cNvPr id="19" name="Text 17"/>
          <p:cNvSpPr/>
          <p:nvPr/>
        </p:nvSpPr>
        <p:spPr>
          <a:xfrm>
            <a:off x="7763256" y="4480560"/>
            <a:ext cx="758952" cy="384048"/>
          </a:xfrm>
          <a:prstGeom prst="rect">
            <a:avLst/>
          </a:prstGeom>
          <a:noFill/>
          <a:ln/>
        </p:spPr>
        <p:txBody>
          <a:bodyPr wrap="square" rtlCol="0" anchor="ctr"/>
          <a:lstStyle/>
          <a:p>
            <a:pPr algn="ctr" indent="0" marL="0">
              <a:buNone/>
            </a:pPr>
            <a:r>
              <a:rPr lang="en-US" sz="1100" b="1" dirty="0">
                <a:solidFill>
                  <a:srgbClr val="3FBFAE"/>
                </a:solidFill>
                <a:latin typeface="Calibri" pitchFamily="34" charset="0"/>
                <a:ea typeface="Calibri" pitchFamily="34" charset="-122"/>
                <a:cs typeface="Calibri" pitchFamily="34" charset="-120"/>
              </a:rPr>
              <a:t>DSA</a:t>
            </a:r>
            <a:endParaRPr lang="en-US" sz="1100" dirty="0"/>
          </a:p>
        </p:txBody>
      </p:sp>
      <p:sp>
        <p:nvSpPr>
          <p:cNvPr id="20" name="Shape 18"/>
          <p:cNvSpPr/>
          <p:nvPr/>
        </p:nvSpPr>
        <p:spPr>
          <a:xfrm>
            <a:off x="8668512" y="4480560"/>
            <a:ext cx="1463040" cy="384048"/>
          </a:xfrm>
          <a:prstGeom prst="roundRect">
            <a:avLst>
              <a:gd name="adj" fmla="val 50000"/>
            </a:avLst>
          </a:prstGeom>
          <a:solidFill>
            <a:srgbClr val="232B4D"/>
          </a:solidFill>
          <a:ln w="12700">
            <a:solidFill>
              <a:srgbClr val="E8A33D"/>
            </a:solidFill>
            <a:prstDash val="solid"/>
          </a:ln>
        </p:spPr>
      </p:sp>
      <p:sp>
        <p:nvSpPr>
          <p:cNvPr id="21" name="Text 19"/>
          <p:cNvSpPr/>
          <p:nvPr/>
        </p:nvSpPr>
        <p:spPr>
          <a:xfrm>
            <a:off x="8668512" y="4480560"/>
            <a:ext cx="1463040" cy="384048"/>
          </a:xfrm>
          <a:prstGeom prst="rect">
            <a:avLst/>
          </a:prstGeom>
          <a:noFill/>
          <a:ln/>
        </p:spPr>
        <p:txBody>
          <a:bodyPr wrap="square" rtlCol="0" anchor="ctr"/>
          <a:lstStyle/>
          <a:p>
            <a:pPr algn="ctr" indent="0" marL="0">
              <a:buNone/>
            </a:pPr>
            <a:r>
              <a:rPr lang="en-US" sz="1100" b="1" dirty="0">
                <a:solidFill>
                  <a:srgbClr val="3FBFAE"/>
                </a:solidFill>
                <a:latin typeface="Calibri" pitchFamily="34" charset="0"/>
                <a:ea typeface="Calibri" pitchFamily="34" charset="-122"/>
                <a:cs typeface="Calibri" pitchFamily="34" charset="-120"/>
              </a:rPr>
              <a:t>Cloud &amp; AI</a:t>
            </a:r>
            <a:endParaRPr lang="en-US" sz="1100" dirty="0"/>
          </a:p>
        </p:txBody>
      </p:sp>
      <p:sp>
        <p:nvSpPr>
          <p:cNvPr id="22" name="Text 20"/>
          <p:cNvSpPr/>
          <p:nvPr/>
        </p:nvSpPr>
        <p:spPr>
          <a:xfrm>
            <a:off x="822960" y="6263640"/>
            <a:ext cx="7315200" cy="320040"/>
          </a:xfrm>
          <a:prstGeom prst="rect">
            <a:avLst/>
          </a:prstGeom>
          <a:noFill/>
          <a:ln/>
        </p:spPr>
        <p:txBody>
          <a:bodyPr wrap="square" rtlCol="0" anchor="ctr"/>
          <a:lstStyle/>
          <a:p>
            <a:pPr indent="0" marL="0">
              <a:buNone/>
            </a:pPr>
            <a:r>
              <a:rPr lang="en-US" sz="1100" dirty="0">
                <a:solidFill>
                  <a:srgbClr val="8A90AC"/>
                </a:solidFill>
                <a:latin typeface="Calibri" pitchFamily="34" charset="0"/>
                <a:ea typeface="Calibri" pitchFamily="34" charset="-122"/>
                <a:cs typeface="Calibri" pitchFamily="34" charset="-120"/>
              </a:rPr>
              <a:t>For students preparing for technical interviews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indent="0" marL="0">
              <a:buNone/>
            </a:pPr>
            <a:r>
              <a:rPr lang="en-US" sz="6400" b="1" dirty="0">
                <a:solidFill>
                  <a:srgbClr val="232B4D"/>
                </a:solidFill>
                <a:latin typeface="Century Schoolbook" pitchFamily="34" charset="0"/>
                <a:ea typeface="Century Schoolbook" pitchFamily="34" charset="-122"/>
                <a:cs typeface="Century Schoolbook" pitchFamily="34" charset="-120"/>
              </a:rPr>
              <a:t>01</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Core Java &amp; OOP</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indent="0" marL="0">
              <a:buNone/>
            </a:pPr>
            <a:r>
              <a:rPr lang="en-US" sz="1400" i="1" dirty="0">
                <a:solidFill>
                  <a:srgbClr val="C3C8DC"/>
                </a:solidFill>
                <a:latin typeface="Calibri" pitchFamily="34" charset="0"/>
                <a:ea typeface="Calibri" pitchFamily="34" charset="-122"/>
                <a:cs typeface="Calibri" pitchFamily="34" charset="-120"/>
              </a:rPr>
              <a:t>16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the four pillars of OOP?</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Object-Oriented Programming is built on four ideas that make code reusable, secure, and easy to manage: Encapsulation, Inheritance, Polymorphism, and Abstraction.</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Encapsulation - hiding data using private fields and access methods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Inheritance - one class reusing the properties of another</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Polymorphism - one action behaving differently in different situations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Abstraction - showing only the needed details, hiding the complex logic</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a car: you only see the steering wheel and pedals (abstraction), the engine parts are protected under the hood (encapsulation), a sports car IS-A car (inheritance), and pressing the accelerator does different things in a hybrid vs a petrol car (polymorphism).</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OOP has four pillars - Encapsulation, Inheritance, Polymorphism, and Abstraction - which together make code modular, reusable, and secure.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Encapsulation?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Encapsulation means keeping a class's data private and allowing access only through public getter and setter methods.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about a car. You never touch the engine directly - you use the steering wheel, accelerator, and brake. Getters and setters work the same way for data.</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Encapsulation is hiding data using private variables and exposing it safely through getters and setters.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684020"/>
          </a:xfrm>
          <a:prstGeom prst="roundRect">
            <a:avLst>
              <a:gd name="adj" fmla="val 4344"/>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22682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Car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private String brand;</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void setBrand(String b) { brand = b;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String getBrand() { return brand;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3970020"/>
            <a:ext cx="164592" cy="274320"/>
          </a:xfrm>
          <a:prstGeom prst="roundRect">
            <a:avLst>
              <a:gd name="adj" fmla="val 22222"/>
            </a:avLst>
          </a:prstGeom>
          <a:solidFill>
            <a:srgbClr val="3FBFAE"/>
          </a:solidFill>
          <a:ln/>
        </p:spPr>
      </p:sp>
      <p:sp>
        <p:nvSpPr>
          <p:cNvPr id="24" name="Text 22"/>
          <p:cNvSpPr/>
          <p:nvPr/>
        </p:nvSpPr>
        <p:spPr>
          <a:xfrm>
            <a:off x="5925312" y="394258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299204"/>
            <a:ext cx="6035040" cy="210159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'brand' is declared private, so it can't be touched directly from outside the class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setBrand() lets us update the value safely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getBrand() lets us read the value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This gives full control over how the data is changed</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Inheritance? Does Java support multiple inheritance?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Inheritance lets one class (child) reuse the fields and methods of another class (parent) using the 'extends' keyword.</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child inherits traits from a parent but can also develop their own skills. Similarly, a subclass inherits methods from its parent but can add new ones.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Inheritance lets a class reuse another class's code using 'extends'; Java avoids multiple class inheritance to prevent ambiguity, but allows it through interfaces.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920240"/>
          </a:xfrm>
          <a:prstGeom prst="roundRect">
            <a:avLst>
              <a:gd name="adj" fmla="val 3810"/>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46304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Vehicle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void start() { System.out.println("Starting...");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Car extends Vehicle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void honk() { System.out.println("Beep!");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206240"/>
            <a:ext cx="164592" cy="274320"/>
          </a:xfrm>
          <a:prstGeom prst="roundRect">
            <a:avLst>
              <a:gd name="adj" fmla="val 22222"/>
            </a:avLst>
          </a:prstGeom>
          <a:solidFill>
            <a:srgbClr val="3FBFAE"/>
          </a:solidFill>
          <a:ln/>
        </p:spPr>
      </p:sp>
      <p:sp>
        <p:nvSpPr>
          <p:cNvPr id="24" name="Text 22"/>
          <p:cNvSpPr/>
          <p:nvPr/>
        </p:nvSpPr>
        <p:spPr>
          <a:xfrm>
            <a:off x="5925312" y="417880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535424"/>
            <a:ext cx="6035040" cy="186537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Vehicle is the parent class with a common method start()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Car extends Vehicle, so it automatically gets start()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Car can also add its own new methods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Java classes support single inheritance only - a class can extend just one class. Multiple inheritance of behaviour is achieved using interfaces instead</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Polymorphism? Compile-time vs Runtime.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Polymorphism means one method name can behave differently depending on the situation. Java has two types: compile-time (method overloading) and runtime (method overriding).</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the word 'run'. A person runs, a machine runs, a business runs - same word, different meaning depending on context. That's polymorphism.</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Polymorphism lets one action behave differently - overloading is resolved at compile time, overriding at runtime.</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Calculator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int add(int a, int b) { return a + b;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double add(double a, double b) { return a + b;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add(int, int) and add(double, double) are overloaded - decided at compile time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Overriding happens when a child class redefines a parent's method, and Java decides which version to run at runtime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Overloading = same class, different parameter lists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Overriding = parent-child classes, same method signature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Abstraction? Abstract class vs Interface.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Abstraction means showing only the essential features of an object and hiding the internal implementation details.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When you drive a car, you just use the steering and pedals - you don't need to know how the engine internally converts fuel into motion. That hidden complexity is abstraction.</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Abstraction hides implementation details and shows only what's necessary, achieved in Java through abstract classes and interfaces.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392680"/>
          </a:xfrm>
          <a:prstGeom prst="roundRect">
            <a:avLst>
              <a:gd name="adj" fmla="val 3057"/>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93548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abstract class Shape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abstract double area();</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a:p>
            <a:pPr indent="0" marL="0">
              <a:lnSpc>
                <a:spcPct val="120000"/>
              </a:lnSpc>
              <a:buNone/>
            </a:pP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Circle extends Shape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double radius = 5;</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double area() { return Math.PI * radius * radius;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678680"/>
            <a:ext cx="164592" cy="274320"/>
          </a:xfrm>
          <a:prstGeom prst="roundRect">
            <a:avLst>
              <a:gd name="adj" fmla="val 22222"/>
            </a:avLst>
          </a:prstGeom>
          <a:solidFill>
            <a:srgbClr val="3FBFAE"/>
          </a:solidFill>
          <a:ln/>
        </p:spPr>
      </p:sp>
      <p:sp>
        <p:nvSpPr>
          <p:cNvPr id="24" name="Text 22"/>
          <p:cNvSpPr/>
          <p:nvPr/>
        </p:nvSpPr>
        <p:spPr>
          <a:xfrm>
            <a:off x="5925312" y="465124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007864"/>
            <a:ext cx="6035040" cy="139293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An abstract class can have both abstract (no body) and concrete methods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An interface (before Java 8) could only have abstract methods; now it can have default methods too</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class can extend only one abstract class, but implement multiple interfaces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Use abstract class for closely related objects sharing code; use interface for unrelated classes sharing a capability</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Method Overloading and Overriding.</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Overloading means writing multiple methods with the same name but different parameters in the same class. Overriding means a subclass provides its own version of a method already defined in its parent class.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Overloading is like a shop offering the 'same service' in different sizes (small, medium, large coffee). Overriding is like a franchise outlet customizing the parent company's standard recipe for local taste.</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Overloading is same method name with different parameters in one class; overriding is redefining a parent's method in a child class.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68270"/>
          </a:xfrm>
          <a:prstGeom prst="roundRect">
            <a:avLst>
              <a:gd name="adj" fmla="val 2742"/>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2211070"/>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Overloading</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void print(int a)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void print(String a)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Overriding</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Parent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greet() { System.out.println("Hi");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Child extends Parent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@Override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greet() { System.out.println("Hello");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23" name="Shape 21"/>
          <p:cNvSpPr/>
          <p:nvPr/>
        </p:nvSpPr>
        <p:spPr>
          <a:xfrm>
            <a:off x="5669280" y="4954270"/>
            <a:ext cx="164592" cy="274320"/>
          </a:xfrm>
          <a:prstGeom prst="roundRect">
            <a:avLst>
              <a:gd name="adj" fmla="val 22222"/>
            </a:avLst>
          </a:prstGeom>
          <a:solidFill>
            <a:srgbClr val="3FBFAE"/>
          </a:solidFill>
          <a:ln/>
        </p:spPr>
      </p:sp>
      <p:sp>
        <p:nvSpPr>
          <p:cNvPr id="24" name="Text 22"/>
          <p:cNvSpPr/>
          <p:nvPr/>
        </p:nvSpPr>
        <p:spPr>
          <a:xfrm>
            <a:off x="5925312" y="492683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83454"/>
            <a:ext cx="6035040" cy="111734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Overloading - same class, same name, different parameter type/number, resolved at compile time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Overriding - parent-child classes, same method signature, resolved at runtime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Overloading increases readability; overriding enables runtime polymorphism</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@Override annotation is commonly used to mark overriding methods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the 'this' keyword used for?</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'this' refers to the current object of the class. It is mainly used to remove confusion between instance variables and parameters with the same name.</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Imagine two people named 'Sam' in a room - a teacher and a student. Saying 'this Sam' clarifies you mean yourself (the current object), not the other one.</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'this' refers to the current object and is mainly used to differentiate instance variables from parameters of the same name.</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920240"/>
          </a:xfrm>
          <a:prstGeom prst="roundRect">
            <a:avLst>
              <a:gd name="adj" fmla="val 3810"/>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46304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Student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String name;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Student(String name)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this.name = name;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206240"/>
            <a:ext cx="164592" cy="274320"/>
          </a:xfrm>
          <a:prstGeom prst="roundRect">
            <a:avLst>
              <a:gd name="adj" fmla="val 22222"/>
            </a:avLst>
          </a:prstGeom>
          <a:solidFill>
            <a:srgbClr val="3FBFAE"/>
          </a:solidFill>
          <a:ln/>
        </p:spPr>
      </p:sp>
      <p:sp>
        <p:nvSpPr>
          <p:cNvPr id="24" name="Text 22"/>
          <p:cNvSpPr/>
          <p:nvPr/>
        </p:nvSpPr>
        <p:spPr>
          <a:xfrm>
            <a:off x="5925312" y="417880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535424"/>
            <a:ext cx="6035040" cy="186537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'this.name' refers to the instance variable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'name' (without this) refers to the constructor parameter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Without 'this', the parameter would just be reassigned to itself, and the field would stay null</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'this' can also be used to call another constructor of the same class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the 'static' keyword in Java?</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'static' means a member (variable or method) belongs to the class itself, not to any individual object. It is shared across all instances.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a school's name - it's the same for every student in that school. It doesn't change from student to student, just like a static variable stays the same across every object.</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'static' means a member belongs to the class rather than any single object, and is shared by all instances.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Counter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static int count = 0;</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Counter() { count++;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static variable has one copy shared by all objects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static method can be called using the class name, without creating an object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static void main() is static because JVM calls it before any object exists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Static members are loaded into memory once, when the class is loaded</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final, finally, and finalize.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These three sound similar but do completely different jobs in Java.</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final - a keyword that makes a variable constant, a method non-overridable, or a class non-inheritable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finally - a block that always executes after try-catch, used for cleanup like closing files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finalize() - a method called by the Garbage Collector just before an object is destroyed (rarely used today)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Remember: final = restriction, finally = guaranteed execution, finalize = cleanup before deletion</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final is like a locked door (can't be changed), finally is like turning off the lights before leaving a room no matter what happened inside, and finalize is like a cleanup crew right before a building is demolished.</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final restricts change, finally always runs after try-catch for cleanup, and finalize is called by the garbage collector before object destruction.</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Why is Java called platform independent? What are JVM, JDK, JRE?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Java code is compiled into an intermediate form called bytecode, which can run on any machine that has a JVM installed - this is what makes Java 'write once, run anywhere'.</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JDK (Java Development Kit) - tools to write and compile Java code; includes JRE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JRE (Java Runtime Environment) - environment needed to run Java programs; includes JVM</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JVM (Java Virtual Machine) - converts bytecode into machine-specific instructions and executes it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Because the JVM (not the raw source code) is platform-specific, the same .class file runs on Windows, Linux, or Mac</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bytecode like a universal translator. A speech (Java code) is translated once into a universal format, and every country's local translator (JVM) can understand and speak it in their own tongue.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Java is platform independent because it compiles to bytecode, which any machine's JVM can execute - hence 'write once, run anywhere'.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does Exception Handling work in Java?</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Exception handling is a mechanism to manage runtime errors so the program doesn't crash unexpectedly. It uses try, catch, finally, throw, and throws.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wearing a seatbelt while driving. You still drive normally (try), but if there's a sudden jerk (exception), the seatbelt (catch) protects you from a bigger crash, and you always check your mirrors before starting (finally, i.e. cleanup).</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Exception handling uses try-catch-finally to gracefully handle runtime errors and keep the program from crashing.</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156460"/>
          </a:xfrm>
          <a:prstGeom prst="roundRect">
            <a:avLst>
              <a:gd name="adj" fmla="val 3392"/>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69926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try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int result = 10 / 0;</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catch (ArithmeticException e)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System.out.println("Cannot divide by zero");</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finally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System.out.println("Cleanup done");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442460"/>
            <a:ext cx="164592" cy="274320"/>
          </a:xfrm>
          <a:prstGeom prst="roundRect">
            <a:avLst>
              <a:gd name="adj" fmla="val 22222"/>
            </a:avLst>
          </a:prstGeom>
          <a:solidFill>
            <a:srgbClr val="3FBFAE"/>
          </a:solidFill>
          <a:ln/>
        </p:spPr>
      </p:sp>
      <p:sp>
        <p:nvSpPr>
          <p:cNvPr id="24" name="Text 22"/>
          <p:cNvSpPr/>
          <p:nvPr/>
        </p:nvSpPr>
        <p:spPr>
          <a:xfrm>
            <a:off x="5925312" y="441502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771644"/>
            <a:ext cx="6035040" cy="162915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Code that might fail is placed inside try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If an error occurs, control jumps to the matching catch block</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finally runs regardless of whether an exception occurred, often used for cleanup</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Custom exceptions can be created by extending the Exception class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Why is String immutable? String vs StringBuilder vs StringBuffer.</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 String object cannot be changed once created; any 'modification' actually creates a new object. This makes Strings safe to share, cache, and use as keys.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String - immutable; every change creates a brand-new object (memory-heavy for frequent edits)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StringBuilder - mutable and fast, but not thread-safe; best for single-threaded string building</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StringBuffer - mutable and thread-safe (synchronized), but slightly slower than StringBuilder</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Immutability also allows Strings to be safely shared and cached in the String pool</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String is like a printed photo - to 'edit' it you must print a brand-new copy. A StringBuilder is like an editable digital document you can keep changing without making new copies each time.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Strings are immutable for safety and caching; use StringBuilder for fast single-threaded edits and StringBuffer when thread safety is needed.</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NullPointerException? How do you handle it?</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 NullPointerException (NPE) is a runtime error thrown when your code tries to use a reference that is pointing to nothing (null) - like calling a method or accessing a field on it.</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trying to call someone using a contact entry that has no phone number saved - the action fails because there's simply nothing there to use.</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NullPointerException occurs when code tries to use a null reference; it's prevented with null checks, Objects.requireNonNull(), or Optional.</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920240"/>
          </a:xfrm>
          <a:prstGeom prst="roundRect">
            <a:avLst>
              <a:gd name="adj" fmla="val 3810"/>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46304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String name = null;</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System.out.println(name.length()); // throws NPE</a:t>
            </a:r>
            <a:endParaRPr lang="en-US" sz="1200" dirty="0"/>
          </a:p>
          <a:p>
            <a:pPr indent="0" marL="0">
              <a:lnSpc>
                <a:spcPct val="120000"/>
              </a:lnSpc>
              <a:buNone/>
            </a:pP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if (name != null)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System.out.println(name.length()); // safe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206240"/>
            <a:ext cx="164592" cy="274320"/>
          </a:xfrm>
          <a:prstGeom prst="roundRect">
            <a:avLst>
              <a:gd name="adj" fmla="val 22222"/>
            </a:avLst>
          </a:prstGeom>
          <a:solidFill>
            <a:srgbClr val="3FBFAE"/>
          </a:solidFill>
          <a:ln/>
        </p:spPr>
      </p:sp>
      <p:sp>
        <p:nvSpPr>
          <p:cNvPr id="24" name="Text 22"/>
          <p:cNvSpPr/>
          <p:nvPr/>
        </p:nvSpPr>
        <p:spPr>
          <a:xfrm>
            <a:off x="5925312" y="417880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535424"/>
            <a:ext cx="6035040" cy="186537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It happens when you call a method, access a field, or use array/index operations on a null reference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Common causes: forgetting to initialize an object, a method returning null unexpectedly, or an uninitialized field in a class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Prevention: check for null before use, use Objects.requireNonNull(), or use Optional&lt;T&gt; for values that may be absent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It can also be caught like any other exception using a try-catch block with NullPointerException</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the different types of Inheritance in Java?</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Inheritance describes how classes can be related to one another. Java supports several types of inheritance for classes and interfaces, though not all types apply directly to classes.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a family tree. Single inheritance is a parent-to-child link, multilevel is grandparent-parent-child, hierarchical is one parent with multiple children, and multiple inheritance is like a child having traits from two separate family lines at once - which Java only allows through interfaces, to avoid confusion about which line a trait came from.</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Java supports single, multilevel, and hierarchical inheritance directly through classes, while multiple and hybrid inheritance are achieved only through interfaces.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156460"/>
          </a:xfrm>
          <a:prstGeom prst="roundRect">
            <a:avLst>
              <a:gd name="adj" fmla="val 3392"/>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69926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interface Flyable { void fly();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interface Swimmable { void swim(); }</a:t>
            </a:r>
            <a:endParaRPr lang="en-US" sz="1200" dirty="0"/>
          </a:p>
          <a:p>
            <a:pPr indent="0" marL="0">
              <a:lnSpc>
                <a:spcPct val="120000"/>
              </a:lnSpc>
              <a:buNone/>
            </a:pP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Duck implements Flyable, Swimmable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public void fly() { System.out.println("Flying");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public void swim() { System.out.println("Swimming");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442460"/>
            <a:ext cx="164592" cy="274320"/>
          </a:xfrm>
          <a:prstGeom prst="roundRect">
            <a:avLst>
              <a:gd name="adj" fmla="val 22222"/>
            </a:avLst>
          </a:prstGeom>
          <a:solidFill>
            <a:srgbClr val="3FBFAE"/>
          </a:solidFill>
          <a:ln/>
        </p:spPr>
      </p:sp>
      <p:sp>
        <p:nvSpPr>
          <p:cNvPr id="24" name="Text 22"/>
          <p:cNvSpPr/>
          <p:nvPr/>
        </p:nvSpPr>
        <p:spPr>
          <a:xfrm>
            <a:off x="5925312" y="441502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771644"/>
            <a:ext cx="6035040" cy="162915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Single Inheritance - one class extends one parent class (A -&gt; B)</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Multilevel Inheritance - a chain of inheritance (A -&gt; B -&gt; C)</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Hierarchical Inheritance - multiple classes extend the same parent class (A -&gt; B, A -&gt; C)</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Multiple Inheritance - a class inherits from more than one source; Java doesn't allow this for classes, but allows it through interfaces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Hybrid Inheritance - a mix of two or more types, also achieved using interfaces in Java</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Which Java version have you used? What's new in recent versions?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Interviewers often ask this to check whether you're familiar with modern Java features, not just legacy syntax. Java releases a new version every 6 months, with certain versions marked as LTS (Long-Term Support).</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Java 8 (LTS) - introduced Lambda expressions, Streams API, and the Optional class - a major turning point for Java</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Java 11 (LTS) - added the var keyword for local variables and new String methods like isBlank() and strip()</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Java 17 (LTS) - introduced sealed classes, pattern matching for switch, and enhanced records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Java 21 (LTS) - added virtual threads for lightweight concurrency and further pattern matching improvements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In interviews, it's good to mention the LTS version you've worked with and one or two features you've actually used</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Java versions are like phone OS updates - Java 8 was the big redesign that changed how people used the language day to day, and each LTS release since then has added useful new tools without breaking what came before.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Most projects today use an LTS version like Java 8, 11, 17, or 21 - each adding features like lambdas, var, records, and virtual threads.</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Annotations in Java? Give some examples.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Annotations are special metadata tags added to code (classes, methods, fields) that give instructions to the compiler or frameworks, without changing the actual logic of the code.</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Annotations are like sticky notes attached to a document - they don't change the document's content, but they instruct whoever reads it (the compiler or framework) to treat that section in a special way.</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Annotations are metadata tags like @Override or @Deprecated that give instructions to the compiler or framework without changing the code's core logic.</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28900"/>
          </a:xfrm>
          <a:prstGeom prst="roundRect">
            <a:avLst>
              <a:gd name="adj" fmla="val 278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21717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Animal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@Override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public String toString()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"Animal object";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@Deprecated</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void oldMethod() {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914900"/>
            <a:ext cx="164592" cy="274320"/>
          </a:xfrm>
          <a:prstGeom prst="roundRect">
            <a:avLst>
              <a:gd name="adj" fmla="val 22222"/>
            </a:avLst>
          </a:prstGeom>
          <a:solidFill>
            <a:srgbClr val="3FBFAE"/>
          </a:solidFill>
          <a:ln/>
        </p:spPr>
      </p:sp>
      <p:sp>
        <p:nvSpPr>
          <p:cNvPr id="24" name="Text 22"/>
          <p:cNvSpPr/>
          <p:nvPr/>
        </p:nvSpPr>
        <p:spPr>
          <a:xfrm>
            <a:off x="5925312" y="48874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44084"/>
            <a:ext cx="6035040" cy="11567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@Override - tells the compiler this method is overriding a parent method; catches typos at compile time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@Deprecated - marks a method or class as outdated, warning developers not to use it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@SuppressWarnings - tells the compiler to ignore specific warnings for a piece of code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@FunctionalInterface - marks an interface as having exactly one abstract method, meant for lambdas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Frameworks like Spring Boot use custom annotations heavily, e.g. @Service, @Autowired, @RequestMapping, to reduce boilerplate configuration</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indent="0" marL="0">
              <a:buNone/>
            </a:pPr>
            <a:r>
              <a:rPr lang="en-US" sz="6400" b="1" dirty="0">
                <a:solidFill>
                  <a:srgbClr val="232B4D"/>
                </a:solidFill>
                <a:latin typeface="Century Schoolbook" pitchFamily="34" charset="0"/>
                <a:ea typeface="Century Schoolbook" pitchFamily="34" charset="-122"/>
                <a:cs typeface="Century Schoolbook" pitchFamily="34" charset="-120"/>
              </a:rPr>
              <a:t>02</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Collections &amp; Advanced Java</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indent="0" marL="0">
              <a:buNone/>
            </a:pPr>
            <a:r>
              <a:rPr lang="en-US" sz="1400" i="1" dirty="0">
                <a:solidFill>
                  <a:srgbClr val="C3C8DC"/>
                </a:solidFill>
                <a:latin typeface="Calibri" pitchFamily="34" charset="0"/>
                <a:ea typeface="Calibri" pitchFamily="34" charset="-122"/>
                <a:cs typeface="Calibri" pitchFamily="34" charset="-120"/>
              </a:rPr>
              <a:t>7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 and .equals()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 compares references (memory addresses) for objects, while .equals() compares the actual content/value of objects.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 is like asking 'are these the same physical house?' while .equals() asks 'do these two houses look identical inside?' Two different houses can look the same without being the same building.</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 compares object references (memory location), while .equals() compares the actual values/content.</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String a = new String("hi");</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String b = new String("hi");</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System.out.println(a == b);       // false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System.out.println(a.equals(b));  // true</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For primitives, == simply compares values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For objects, == checks if both variables point to the exact same object in memory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.equals() (when properly overridden, e.g. in String) compares the actual content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Two different String objects with the same text are == false, but .equals() true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ArrayList and LinkedList.</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Both implement the List interface, but they store and access data differently, which changes their performance for different operations.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ArrayList uses a dynamic array - fast random access (get by index) but slow insert/delete in the middle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LinkedList uses a doubly linked list - fast insert/delete anywhere but slower random access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Use ArrayList when you read data often; use LinkedList when you insert/delete often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Both allow duplicate elements and maintain insertion order</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ArrayList is like a row of numbered lockers - you can jump straight to locker #50, but inserting a new locker in the middle means shifting everyone. LinkedList is like a treasure hunt chain - easy to add a new clue anywhere, but you must follow the chain from the start to reach clue #50.</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ArrayList offers fast random access using an array, while LinkedList offers fast insertion/deletion using linked nodes.</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List, Set, and Map.</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These are the three core types of Java Collections, each suited to a different kind of data storage need.</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List - ordered collection, allows duplicates (e.g. ArrayList, LinkedList)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Set - unordered collection, does NOT allow duplicates (e.g. HashSet, TreeSet)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Map - stores data as key-value pairs, keys must be unique (e.g. HashMap, TreeMap)</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Choose List for ordered data, Set for uniqueness, Map for fast lookup by key</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List is like a shopping list where items can repeat. A Set is like a guest list where no name can appear twice. A Map is like a phonebook - each name (key) links to one phone number (value).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List keeps ordered, duplicate-allowed data; Set enforces uniqueness; Map stores unique key-value pairs.</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a Functional Interface and a Lambda Expression?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 functional interface is an interface with exactly one abstract method. Lambda expressions provide a short, clean way to implement such interfaces without writing a full class.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leaving a short sticky note instead of writing a full letter - a lambda expresses the same instruction in the fewest possible words.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functional interface has one abstract method, and a lambda expression is a concise way to implement it inline.</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975360"/>
          </a:xfrm>
          <a:prstGeom prst="roundRect">
            <a:avLst>
              <a:gd name="adj" fmla="val 7500"/>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51816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Runnable task = () -&gt; System.out.println("Running!");</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task.run();</a:t>
            </a:r>
            <a:endParaRPr lang="en-US" sz="1200" dirty="0"/>
          </a:p>
        </p:txBody>
      </p:sp>
      <p:sp>
        <p:nvSpPr>
          <p:cNvPr id="23" name="Shape 21"/>
          <p:cNvSpPr/>
          <p:nvPr/>
        </p:nvSpPr>
        <p:spPr>
          <a:xfrm>
            <a:off x="5669280" y="3261360"/>
            <a:ext cx="164592" cy="274320"/>
          </a:xfrm>
          <a:prstGeom prst="roundRect">
            <a:avLst>
              <a:gd name="adj" fmla="val 22222"/>
            </a:avLst>
          </a:prstGeom>
          <a:solidFill>
            <a:srgbClr val="3FBFAE"/>
          </a:solidFill>
          <a:ln/>
        </p:spPr>
      </p:sp>
      <p:sp>
        <p:nvSpPr>
          <p:cNvPr id="24" name="Text 22"/>
          <p:cNvSpPr/>
          <p:nvPr/>
        </p:nvSpPr>
        <p:spPr>
          <a:xfrm>
            <a:off x="5925312" y="323392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3590544"/>
            <a:ext cx="6035040" cy="281025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Runnable is a functional interface - it has one abstract method, run()</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The lambda () -&gt; System.out.println(...) is a compact implementation of that method</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Common built-in functional interfaces: Runnable, Comparator, Function, Predicate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Lambdas make code shorter and are widely used with Java Streams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Multithreading? Explain the Thread Lifecycle.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Multithreading allows multiple parts of a program to run concurrently, making better use of CPU time. A thread goes through several stages during its life.</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New - thread object created but not started</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Runnable - ready to run, waiting for CPU turn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Running - actively executing</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Blocked/Waiting - paused, waiting for a resource or signal</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Terminated - execution finished</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a kitchen with multiple chefs (threads) working on different dishes at the same time, instead of one chef cooking everything one after another.</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Multithreading runs multiple tasks concurrently; a thread moves through New, Runnable, Running, Waiting, and Terminated states.</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Garbage Collection in Java?</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Garbage Collection is the automatic process by which Java reclaims memory used by objects that are no longer reachable/needed by the program.</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Developers don't need to manually free memory like in C/C++</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The JVM's Garbage Collector periodically scans for unreachable objects and removes them</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This helps prevent memory leaks, but doesn't guarantee an exact time of collection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System.gc() can request garbage collection, but the JVM decides when it actually runs</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an automatic cleaning service in an apartment building that quietly removes trash nobody needs anymore, so residents don't have to worry about taking it out themselves.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Garbage Collection is Java's automatic process of freeing memory occupied by objects that are no longer in use.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Can you give an overview of the Java Collection Framework?</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The Collection Framework is a set of ready-made classes and interfaces for storing and manipulating groups of objects efficiently, instead of writing your own data structures from scratch.</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Collection interface is the root for List, Set, and Queue - all of which store a group of individual elements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List (ArrayList, LinkedList) keeps ordered data and allows duplicates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Set (HashSet, TreeSet) stores unique elements only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Queue (LinkedList, PriorityQueue) follows FIFO or priority-based ordering</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Map (HashMap, TreeMap) is a separate hierarchy - it stores key-value pairs and is technically not part of the Collection interface, though it's grouped under the same framework</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the Collection Framework like a toolbox with pre-built containers for every situation - some for ordered items, some for guaranteed-unique items, some for line-ups, and some for labeled pairs - so you never have to build a container from scratch.</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The Collection Framework provides ready-made data structures - List, Set, Queue, and Map - each suited to a different way of organizing and accessing grouped data.</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indent="0" marL="0">
              <a:buNone/>
            </a:pPr>
            <a:r>
              <a:rPr lang="en-US" sz="6400" b="1" dirty="0">
                <a:solidFill>
                  <a:srgbClr val="232B4D"/>
                </a:solidFill>
                <a:latin typeface="Century Schoolbook" pitchFamily="34" charset="0"/>
                <a:ea typeface="Century Schoolbook" pitchFamily="34" charset="-122"/>
                <a:cs typeface="Century Schoolbook" pitchFamily="34" charset="-120"/>
              </a:rPr>
              <a:t>03</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Spring Boot &amp; REST APIs</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indent="0" marL="0">
              <a:buNone/>
            </a:pPr>
            <a:r>
              <a:rPr lang="en-US" sz="1400" i="1" dirty="0">
                <a:solidFill>
                  <a:srgbClr val="C3C8DC"/>
                </a:solidFill>
                <a:latin typeface="Calibri" pitchFamily="34" charset="0"/>
                <a:ea typeface="Calibri" pitchFamily="34" charset="-122"/>
                <a:cs typeface="Calibri" pitchFamily="34" charset="-120"/>
              </a:rPr>
              <a:t>7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Spring Boot? How is it different from Spring MVC?</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Spring Boot is a framework built on top of Spring that simplifies application setup with auto-configuration, an embedded server, and minimal manual configuration.</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 MVC needs manual configuration of servers, dependencies, and XML files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 Boot auto-configures most of this and ships with an embedded server (like Tomcat)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 Boot follows 'convention over configuration' for faster development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 Boot is ideal for building microservices quickly</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Traditional Spring MVC is like building a house brick by brick, deciding every wire and pipe yourself. Spring Boot is like moving into a fully furnished, pre-wired smart home - you just customize what you need.</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Spring Boot simplifies Spring MVC development with auto-configuration and an embedded server, letting developers focus on business logic.</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@Controller and @RestController.</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Both are Spring annotations used to mark a class as handling web requests, but they return different kinds of responses.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@Controller is like a waiter handing you a full plated dish (an HTML page). @RestController is like a waiter directly handing you the raw ingredients (JSON data) for you to use as needed.</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@Controller returns view pages, while @RestController directly returns data (JSON) - it combines @Controller and @ResponseBody.</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156460"/>
          </a:xfrm>
          <a:prstGeom prst="roundRect">
            <a:avLst>
              <a:gd name="adj" fmla="val 3392"/>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69926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@RestController</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public class UserController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@GetMapping("/users")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public List&lt;User&gt; getUsers()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userService.getAllUsers();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442460"/>
            <a:ext cx="164592" cy="274320"/>
          </a:xfrm>
          <a:prstGeom prst="roundRect">
            <a:avLst>
              <a:gd name="adj" fmla="val 22222"/>
            </a:avLst>
          </a:prstGeom>
          <a:solidFill>
            <a:srgbClr val="3FBFAE"/>
          </a:solidFill>
          <a:ln/>
        </p:spPr>
      </p:sp>
      <p:sp>
        <p:nvSpPr>
          <p:cNvPr id="24" name="Text 22"/>
          <p:cNvSpPr/>
          <p:nvPr/>
        </p:nvSpPr>
        <p:spPr>
          <a:xfrm>
            <a:off x="5925312" y="441502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771644"/>
            <a:ext cx="6035040" cy="162915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@Controller is used for traditional web apps that return HTML views (like JSP/Thymeleaf pages)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@RestController is used for REST APIs and returns data directly (usually JSON), not a view</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@RestController = @Controller + @ResponseBody applied to every method automatically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Most modern backend APIs use @RestController</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some common Spring Boot annotations?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Spring Boot uses annotations extensively to reduce boilerplate configuration code and clearly define the role of each class.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@SpringBootApplication - marks the main entry point of the application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@RestController / @Controller - marks a class as a web request handler</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@Service - marks a class containing business logic</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@Repository - marks a class that interacts with the database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@Autowired - injects a required dependency automatically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@RequestMapping / @GetMapping / @PostMapping - map URLs to methods</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These annotations act like labels on office doors - '@Service' tells you that's where the actual work happens, '@Repository' is the records room, and '@Controller' is the reception desk that greets requests.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Spring Boot annotations like @RestController, @Service, @Repository, and @Autowired reduce boilerplate and define each class's role clearly.</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REST API vs Microservices vs SOAP - how do they relate?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REST is a lightweight architectural style for building APIs using standard HTTP methods; Microservices is an architecture style of building an app as small independent services (often exposing REST APIs); SOAP is an older, stricter protocol using XML.</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REST uses simple HTTP methods (GET, POST, PUT, DELETE) and usually returns JSON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SOAP uses strict XML-based messaging with built-in security/transaction standards, more heavyweight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Microservices architecture breaks one large application into small independent services that talk to each other, often via REST APIs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REST is generally faster and easier to use; SOAP is used where strict standards/security are required</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REST is like ordering food via a simple menu card (quick, flexible). SOAP is like filling out a detailed government form with strict rules. Microservices is like a food court with separate stalls (services), each responsible for one dish, instead of one giant kitchen doing everything.</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REST is a lightweight API style using HTTP, SOAP is a stricter XML-based protocol, and Microservices is an architecture of small independent services usually communicating via REST.</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GET, POST, PUT, and PATCH.</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These are HTTP methods that define what kind of operation a client wants to perform on a resource in a REST API.</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GET - retrieve data, no changes made, safe to repeat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POST - create a new resource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PUT - update/replace an entire resource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PATCH - partially update only specific fields of a resource</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a library card system: GET is browsing the catalog, POST is registering a brand-new book, PUT is replacing the entire book record, and PATCH is just correcting one field, like the book's price.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GET reads data, POST creates a new resource, PUT replaces a resource entirely, and PATCH updates it partially.</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Which Node.js version have you used? What is npm?</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Node.js is a JavaScript runtime that lets you run JavaScript outside the browser, commonly used to build backend servers and tools. npm (Node Package Manager) is the tool used to install and manage the libraries your Node project depends on.</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Node.js is like giving JavaScript a passport to work outside the browser. npm is like an app store for your project - it fetches and manages every external tool (package) your code depends on.</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Node.js is a JavaScript runtime for building backend applications, and npm is its package manager used to install and manage project dependencies.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28900"/>
          </a:xfrm>
          <a:prstGeom prst="roundRect">
            <a:avLst>
              <a:gd name="adj" fmla="val 278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App.jsx</a:t>
            </a:r>
            <a:endParaRPr lang="en-US" sz="1000" dirty="0"/>
          </a:p>
        </p:txBody>
      </p:sp>
      <p:sp>
        <p:nvSpPr>
          <p:cNvPr id="22" name="Text 20"/>
          <p:cNvSpPr/>
          <p:nvPr/>
        </p:nvSpPr>
        <p:spPr>
          <a:xfrm>
            <a:off x="5897880" y="2487168"/>
            <a:ext cx="5577840" cy="21717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package.json (snippet)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"dependencies":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"express": "^4.18.0"</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"scripts":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"start": "node server.js"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914900"/>
            <a:ext cx="164592" cy="274320"/>
          </a:xfrm>
          <a:prstGeom prst="roundRect">
            <a:avLst>
              <a:gd name="adj" fmla="val 22222"/>
            </a:avLst>
          </a:prstGeom>
          <a:solidFill>
            <a:srgbClr val="3FBFAE"/>
          </a:solidFill>
          <a:ln/>
        </p:spPr>
      </p:sp>
      <p:sp>
        <p:nvSpPr>
          <p:cNvPr id="24" name="Text 22"/>
          <p:cNvSpPr/>
          <p:nvPr/>
        </p:nvSpPr>
        <p:spPr>
          <a:xfrm>
            <a:off x="5925312" y="48874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44084"/>
            <a:ext cx="6035040" cy="11567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Node.js executes JavaScript using the V8 engine, allowing full-stack development in one language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npm comes bundled with Node.js and manages project dependencies through a package.json file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npm install adds a library, npm start / npm run &lt;script&gt; runs project scripts defined in package.json</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It's common in interviews to be asked which LTS version of Node you've worked with, e.g. Node 18 or Node 20</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a CRUD operation? How is it implemented in a typical application?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CRUD stands for Create, Read, Update, and Delete - the four basic operations used to manage data in almost any application, whether it's a database, an API, or a simple in-memory list.</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CRUD is like managing a physical filing cabinet - Create is adding a new file, Read is pulling one out to look at, Update is editing and refiling it, and Delete is shredding it and removing it from the cabinet.</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CRUD (Create, Read, Update, Delete) are the four fundamental data operations, typically mapped to POST, GET, PUT/PATCH, and DELETE in a REST API.</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28900"/>
          </a:xfrm>
          <a:prstGeom prst="roundRect">
            <a:avLst>
              <a:gd name="adj" fmla="val 278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2171700"/>
          </a:xfrm>
          <a:prstGeom prst="rect">
            <a:avLst/>
          </a:prstGeom>
          <a:noFill/>
          <a:ln/>
        </p:spPr>
        <p:txBody>
          <a:bodyPr wrap="square" lIns="0" tIns="0" rIns="0" bIns="0" rtlCol="0" anchor="t"/>
          <a:lstStyle/>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@RestController</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@RequestMapping("/users")</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class UserController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@PostMapping</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User create(@RequestBody User u) { ...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@GetMapping</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List&lt;User&gt; readAll() { ...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@PutMapping("/{id}")</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User update(@PathVariable int id) { ...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@DeleteMapping("/{id}")</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void delete(@PathVariable int id) { ...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p:txBody>
      </p:sp>
      <p:sp>
        <p:nvSpPr>
          <p:cNvPr id="23" name="Shape 21"/>
          <p:cNvSpPr/>
          <p:nvPr/>
        </p:nvSpPr>
        <p:spPr>
          <a:xfrm>
            <a:off x="5669280" y="4914900"/>
            <a:ext cx="164592" cy="274320"/>
          </a:xfrm>
          <a:prstGeom prst="roundRect">
            <a:avLst>
              <a:gd name="adj" fmla="val 22222"/>
            </a:avLst>
          </a:prstGeom>
          <a:solidFill>
            <a:srgbClr val="3FBFAE"/>
          </a:solidFill>
          <a:ln/>
        </p:spPr>
      </p:sp>
      <p:sp>
        <p:nvSpPr>
          <p:cNvPr id="24" name="Text 22"/>
          <p:cNvSpPr/>
          <p:nvPr/>
        </p:nvSpPr>
        <p:spPr>
          <a:xfrm>
            <a:off x="5925312" y="48874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44084"/>
            <a:ext cx="6035040" cy="11567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Create - adding new data (SQL: INSERT, REST: POST)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Read - retrieving existing data (SQL: SELECT, REST: GET)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Update - modifying existing data (SQL: UPDATE, REST: PUT/PATCH)</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Delete - removing data (SQL: DELETE, REST: DELETE)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In a Spring Boot app, these map directly onto a @RestController's @PostMapping, @GetMapping, @PutMapping, and @DeleteMapping methods, usually backed by a @Repository talking to the database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indent="0" marL="0">
              <a:buNone/>
            </a:pPr>
            <a:r>
              <a:rPr lang="en-US" sz="6400" b="1" dirty="0">
                <a:solidFill>
                  <a:srgbClr val="232B4D"/>
                </a:solidFill>
                <a:latin typeface="Century Schoolbook" pitchFamily="34" charset="0"/>
                <a:ea typeface="Century Schoolbook" pitchFamily="34" charset="-122"/>
                <a:cs typeface="Century Schoolbook" pitchFamily="34" charset="-120"/>
              </a:rPr>
              <a:t>04</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React &amp; Frontend</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indent="0" marL="0">
              <a:buNone/>
            </a:pPr>
            <a:r>
              <a:rPr lang="en-US" sz="1400" i="1" dirty="0">
                <a:solidFill>
                  <a:srgbClr val="C3C8DC"/>
                </a:solidFill>
                <a:latin typeface="Calibri" pitchFamily="34" charset="0"/>
                <a:ea typeface="Calibri" pitchFamily="34" charset="-122"/>
                <a:cs typeface="Calibri" pitchFamily="34" charset="-120"/>
              </a:rPr>
              <a:t>6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React? Explain Virtual DOM vs Real DOM.</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React is a JavaScript library for building fast, interactive user interfaces using reusable components. It uses a Virtual DOM to update the screen efficiently.</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The Real DOM is the actual browser structure; updating it directly is slow</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React keeps a lightweight copy called the Virtual DOM in memory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When data changes, React compares (diffs) the old and new Virtual DOM</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Only the specific changed parts are updated in the Real DOM, making updates fast</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Editing the Real DOM directly is like repainting an entire wall every time one word changes. The Virtual DOM is like proofreading on a draft copy first, then only touching up the exact word that changed on the final wall.</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React is a JS library that uses a Virtual DOM to efficiently update only the changed parts of the actual webpage.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Props and State.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Both hold data in a React component, but they are used and controlled differently.</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Props (properties) are passed from a parent component to a child - read-only, cannot be changed by the child</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State is data managed within the component itself, and can change over time (e.g. via useState)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Changing state re-renders the component; props change only when the parent re-renders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Props flow one-way (parent to child); state is local and private to a component</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Props are like instructions given by a manager to an employee - the employee follows them but can't rewrite them. State is like the employee's own personal notepad, which they can update anytime.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Props are read-only data passed from parent to child, while State is data a component manages and can change internally.</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React Hooks? Explain useState and useEffect.</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Hooks are special functions that let functional components use state and other React features without writing a class.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useState is like a whiteboard you can erase and rewrite anytime the component needs new info displayed. useEffect is like a reminder that automatically triggers an action whenever something specific changes.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Hooks let functional components manage state (useState) and side effects (useEffect) without needing class components.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68270"/>
          </a:xfrm>
          <a:prstGeom prst="roundRect">
            <a:avLst>
              <a:gd name="adj" fmla="val 2742"/>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App.jsx</a:t>
            </a:r>
            <a:endParaRPr lang="en-US" sz="1000" dirty="0"/>
          </a:p>
        </p:txBody>
      </p:sp>
      <p:sp>
        <p:nvSpPr>
          <p:cNvPr id="22" name="Text 20"/>
          <p:cNvSpPr/>
          <p:nvPr/>
        </p:nvSpPr>
        <p:spPr>
          <a:xfrm>
            <a:off x="5897880" y="2487168"/>
            <a:ext cx="5577840" cy="2211070"/>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function Counter()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const [count, setCount] = useState(0);</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useEffect(() =&gt;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console.log("Changed:", count);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 [count]);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&lt;button onClick={() =&gt; setCount(count + 1)}&gt;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{count}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&lt;/button&gt;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23" name="Shape 21"/>
          <p:cNvSpPr/>
          <p:nvPr/>
        </p:nvSpPr>
        <p:spPr>
          <a:xfrm>
            <a:off x="5669280" y="4954270"/>
            <a:ext cx="164592" cy="274320"/>
          </a:xfrm>
          <a:prstGeom prst="roundRect">
            <a:avLst>
              <a:gd name="adj" fmla="val 22222"/>
            </a:avLst>
          </a:prstGeom>
          <a:solidFill>
            <a:srgbClr val="3FBFAE"/>
          </a:solidFill>
          <a:ln/>
        </p:spPr>
      </p:sp>
      <p:sp>
        <p:nvSpPr>
          <p:cNvPr id="24" name="Text 22"/>
          <p:cNvSpPr/>
          <p:nvPr/>
        </p:nvSpPr>
        <p:spPr>
          <a:xfrm>
            <a:off x="5925312" y="492683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83454"/>
            <a:ext cx="6035040" cy="111734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useState(initialValue) returns a state variable and a function to update it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Calling the update function causes the component to re-render with the new value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useEffect(callback, [dependencies]) runs side effects like API calls, after render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The dependency array controls when useEffect re-runs (empty array = run once)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let, var, and const.</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All three declare variables in JavaScript, but they differ in scope, re-assignment rules, and hoisting behaviour.</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var is like an old rulebook that lets anyone edit any page from anywhere. let is like a whiteboard limited to one room that can be rewritten. const is like a signed, sealed contract that can never be changed once signed.</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var is function-scoped and outdated, let is block-scoped and reassignable, and const is block-scoped and constant.</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211580"/>
          </a:xfrm>
          <a:prstGeom prst="roundRect">
            <a:avLst>
              <a:gd name="adj" fmla="val 6038"/>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App.jsx</a:t>
            </a:r>
            <a:endParaRPr lang="en-US" sz="1000" dirty="0"/>
          </a:p>
        </p:txBody>
      </p:sp>
      <p:sp>
        <p:nvSpPr>
          <p:cNvPr id="22" name="Text 20"/>
          <p:cNvSpPr/>
          <p:nvPr/>
        </p:nvSpPr>
        <p:spPr>
          <a:xfrm>
            <a:off x="5897880" y="2487168"/>
            <a:ext cx="5577840" cy="75438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var x = 1;   // function scoped, avoid</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let y = 2;   // block scoped, can change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const z = 3; // block scoped, cannot change</a:t>
            </a:r>
            <a:endParaRPr lang="en-US" sz="1200" dirty="0"/>
          </a:p>
        </p:txBody>
      </p:sp>
      <p:sp>
        <p:nvSpPr>
          <p:cNvPr id="23" name="Shape 21"/>
          <p:cNvSpPr/>
          <p:nvPr/>
        </p:nvSpPr>
        <p:spPr>
          <a:xfrm>
            <a:off x="5669280" y="3497580"/>
            <a:ext cx="164592" cy="274320"/>
          </a:xfrm>
          <a:prstGeom prst="roundRect">
            <a:avLst>
              <a:gd name="adj" fmla="val 22222"/>
            </a:avLst>
          </a:prstGeom>
          <a:solidFill>
            <a:srgbClr val="3FBFAE"/>
          </a:solidFill>
          <a:ln/>
        </p:spPr>
      </p:sp>
      <p:sp>
        <p:nvSpPr>
          <p:cNvPr id="24" name="Text 22"/>
          <p:cNvSpPr/>
          <p:nvPr/>
        </p:nvSpPr>
        <p:spPr>
          <a:xfrm>
            <a:off x="5925312" y="347014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3826764"/>
            <a:ext cx="6035040" cy="257403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var - function-scoped, can be redeclared and updated, hoisted (old style, avoid using)</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let - block-scoped, can be updated but not redeclared in the same scope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const - block-scoped, cannot be updated or redeclared - value stays fixed after assignment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Modern JavaScript/React code prefers let and const over var</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Why is React called a Single Page Application (SPA)?</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React apps load a single HTML page and then dynamically update the content in the browser using JavaScript, instead of reloading the whole page for every action.</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Only one HTML file is initially loaded from the server</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React Router handles navigation between 'pages' without a full browser refresh</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Only the necessary components/data are fetched and re-rendered</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This makes navigation feel instant and app-like</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flipping through pages of a digital magazine app - the app itself never reloads, only the visible page content changes, unlike a website where every click reloads the whole browser tab.</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React builds Single Page Applications by dynamically updating content on one HTML page instead of reloading the entire page for every navigation.</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the HTML/CSS basics commonly asked about in interviews?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Interviewers often check basic front-end fundamentals - how HTML structures a page and how CSS selects and styles elements - since these underpin any React or web development work.</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Semantic HTML is like labeling boxes correctly when moving house - a box labeled 'Kitchen' (a semantic tag) tells you exactly what's inside, while a box just labeled 'Box 4' (a generic &lt;div&gt;) tells you nothing without opening it.</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HTML structures a webpage using semantic tags, while CSS selectors (class, ID, element) target and style those elements consistently.</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392680"/>
          </a:xfrm>
          <a:prstGeom prst="roundRect">
            <a:avLst>
              <a:gd name="adj" fmla="val 3057"/>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93548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&lt;header&gt;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&lt;nav&gt;&lt;a href="/"&gt;Home&lt;/a&gt;&lt;/nav&gt;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&lt;/header&gt;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&lt;main&gt;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&lt;section class="intro"&gt;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&lt;h1&gt;Welcome&lt;/h1&gt;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&lt;/section&gt;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&lt;/main&gt;</a:t>
            </a:r>
            <a:endParaRPr lang="en-US" sz="1200" dirty="0"/>
          </a:p>
        </p:txBody>
      </p:sp>
      <p:sp>
        <p:nvSpPr>
          <p:cNvPr id="23" name="Shape 21"/>
          <p:cNvSpPr/>
          <p:nvPr/>
        </p:nvSpPr>
        <p:spPr>
          <a:xfrm>
            <a:off x="5669280" y="4678680"/>
            <a:ext cx="164592" cy="274320"/>
          </a:xfrm>
          <a:prstGeom prst="roundRect">
            <a:avLst>
              <a:gd name="adj" fmla="val 22222"/>
            </a:avLst>
          </a:prstGeom>
          <a:solidFill>
            <a:srgbClr val="3FBFAE"/>
          </a:solidFill>
          <a:ln/>
        </p:spPr>
      </p:sp>
      <p:sp>
        <p:nvSpPr>
          <p:cNvPr id="24" name="Text 22"/>
          <p:cNvSpPr/>
          <p:nvPr/>
        </p:nvSpPr>
        <p:spPr>
          <a:xfrm>
            <a:off x="5925312" y="465124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007864"/>
            <a:ext cx="6035040" cy="139293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Semantic HTML tags like &lt;header&gt;, &lt;nav&gt;, &lt;main&gt;, &lt;section&gt;, and &lt;footer&gt; describe the meaning of content, not just its appearance - this helps accessibility and SEO</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Forms use &lt;form&gt;, &lt;input&gt;, &lt;label&gt;, and &lt;button&gt; to collect user data</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CSS selectors target elements to style: .class targets by class, #id targets by unique ID, and element targets a tag directly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The CSS Box Model (margin, border, padding, content) explains how spacing is calculated around every element</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indent="0" marL="0">
              <a:buNone/>
            </a:pPr>
            <a:r>
              <a:rPr lang="en-US" sz="6400" b="1" dirty="0">
                <a:solidFill>
                  <a:srgbClr val="232B4D"/>
                </a:solidFill>
                <a:latin typeface="Century Schoolbook" pitchFamily="34" charset="0"/>
                <a:ea typeface="Century Schoolbook" pitchFamily="34" charset="-122"/>
                <a:cs typeface="Century Schoolbook" pitchFamily="34" charset="-120"/>
              </a:rPr>
              <a:t>05</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SQL &amp; Databases</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indent="0" marL="0">
              <a:buNone/>
            </a:pPr>
            <a:r>
              <a:rPr lang="en-US" sz="1400" i="1" dirty="0">
                <a:solidFill>
                  <a:srgbClr val="C3C8DC"/>
                </a:solidFill>
                <a:latin typeface="Calibri" pitchFamily="34" charset="0"/>
                <a:ea typeface="Calibri" pitchFamily="34" charset="-122"/>
                <a:cs typeface="Calibri" pitchFamily="34" charset="-120"/>
              </a:rPr>
              <a:t>9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Explain SQL Joins - Inner, Left, Right, and Full.</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 JOIN combines rows from two or more tables based on a related column. Different join types decide which unmatched rows are kept.</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Imagine two guest lists (Company A and Company B) for a joint event. INNER JOIN invites only people on both lists. LEFT JOIN invites everyone from list A, adding B's info only where they match. FULL JOIN invites everyone from both lists.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SQL Joins combine data from multiple tables - INNER returns only matches, LEFT/RIGHT keep all rows from one side, and FULL keeps all rows from both.</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query.sql</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SELECT e.name, d.department_name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FROM employees 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INNER JOIN departments d</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ON e.dept_id = d.id;</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INNER JOIN - returns only rows that match in both tables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LEFT JOIN - returns all rows from the left table, plus matches from the right (NULL if no match)</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RIGHT JOIN - returns all rows from the right table, plus matches from the left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FULL JOIN - returns all rows from both tables, matched where possible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Primary Key vs Foreign Key vs Unique Key.</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These are database constraints that maintain data integrity and define relationships between tables.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Primary Key - uniquely identifies each row in a table; cannot be NULL; one per table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Foreign Key - a column that references the Primary Key of another table, linking the two</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Unique Key - ensures all values in a column are distinct, but unlike Primary Key, it can allow one NULL</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 table can have multiple Unique Keys but only one Primary Key</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Primary Key is like a student's unique roll number - no two students share it. A Foreign Key is like writing that roll number in the library's borrow register to link a book to a specific student.</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Primary Key uniquely identifies a row, Foreign Key links to another table's Primary Key, and Unique Key just ensures no duplicate values in a column.</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find the Nth highest salary in SQL?</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There are multiple ways to find the Nth highest value, commonly using a subquery with LIMIT/OFFSET, or the DENSE_RANK() window function to properly handle duplicate salaries.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it like a leaderboard. If two players tie for 1st place, DENSE_RANK() correctly says the next distinct player is 2nd, not 3rd - unlike simply counting rows.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The Nth highest salary can be found using LIMIT/OFFSET on distinct sorted salaries, or more reliably with the DENSE_RANK() window function.</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392680"/>
          </a:xfrm>
          <a:prstGeom prst="roundRect">
            <a:avLst>
              <a:gd name="adj" fmla="val 3057"/>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query.sql</a:t>
            </a:r>
            <a:endParaRPr lang="en-US" sz="1000" dirty="0"/>
          </a:p>
        </p:txBody>
      </p:sp>
      <p:sp>
        <p:nvSpPr>
          <p:cNvPr id="22" name="Text 20"/>
          <p:cNvSpPr/>
          <p:nvPr/>
        </p:nvSpPr>
        <p:spPr>
          <a:xfrm>
            <a:off x="5897880" y="2487168"/>
            <a:ext cx="5577840" cy="193548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SELECT salary FROM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SELECT salary,</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DENSE_RANK() OVER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ORDER BY salary DESC</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 AS rnk</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FROM employees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WHERE rnk = 2;  -- change 2 to N</a:t>
            </a:r>
            <a:endParaRPr lang="en-US" sz="1200" dirty="0"/>
          </a:p>
        </p:txBody>
      </p:sp>
      <p:sp>
        <p:nvSpPr>
          <p:cNvPr id="23" name="Shape 21"/>
          <p:cNvSpPr/>
          <p:nvPr/>
        </p:nvSpPr>
        <p:spPr>
          <a:xfrm>
            <a:off x="5669280" y="4678680"/>
            <a:ext cx="164592" cy="274320"/>
          </a:xfrm>
          <a:prstGeom prst="roundRect">
            <a:avLst>
              <a:gd name="adj" fmla="val 22222"/>
            </a:avLst>
          </a:prstGeom>
          <a:solidFill>
            <a:srgbClr val="3FBFAE"/>
          </a:solidFill>
          <a:ln/>
        </p:spPr>
      </p:sp>
      <p:sp>
        <p:nvSpPr>
          <p:cNvPr id="24" name="Text 22"/>
          <p:cNvSpPr/>
          <p:nvPr/>
        </p:nvSpPr>
        <p:spPr>
          <a:xfrm>
            <a:off x="5925312" y="465124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007864"/>
            <a:ext cx="6035040" cy="139293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The subquery approach finds distinct salaries, sorts descending, and skips the top (N-1)</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DENSE_RANK() assigns the same rank to duplicate salaries, avoiding skipped ranks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For example, finding the 2nd highest salary means skipping rank 1 and picking rank 2</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This is one of the most frequently asked SQL interview questions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GROUP BY and ORDER BY.</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Both clauses organize query results, but they serve completely different purposes.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GROUP BY is like sorting students into different classrooms by grade level. ORDER BY is like lining up students within one classroom from tallest to shortest.</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GROUP BY aggregates rows into summarized groups, while ORDER BY simply sorts the final result set.</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query.sql</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SELECT department, AVG(salary) AS avg_salary</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FROM employees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GROUP BY department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ORDER BY avg_salary DESC;</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GROUP BY - groups rows sharing a common value, usually combined with aggregate functions (SUM, COUNT, AVG)</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ORDER BY - simply sorts the final result set in ascending or descending order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GROUP BY changes how many rows are returned (one row per group)</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ORDER BY does not change row count, only their order</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Subquery and Correlated Subquery.</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Both are queries nested inside another query, but a correlated subquery depends on the outer query for its values, while a normal subquery runs independently.</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regular subquery is like preparing one shopping list before going to the store. A correlated subquery is like checking your fridge separately before buying each individual item - it depends on each specific case.</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subquery runs once independently, while a correlated subquery re-evaluates for every row processed by the outer query.</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920240"/>
          </a:xfrm>
          <a:prstGeom prst="roundRect">
            <a:avLst>
              <a:gd name="adj" fmla="val 3810"/>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query.sql</a:t>
            </a:r>
            <a:endParaRPr lang="en-US" sz="1000" dirty="0"/>
          </a:p>
        </p:txBody>
      </p:sp>
      <p:sp>
        <p:nvSpPr>
          <p:cNvPr id="22" name="Text 20"/>
          <p:cNvSpPr/>
          <p:nvPr/>
        </p:nvSpPr>
        <p:spPr>
          <a:xfrm>
            <a:off x="5897880" y="2487168"/>
            <a:ext cx="5577840" cy="146304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Employees earning above dept average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SELECT e.name FROM employees 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WHERE e.salary &gt;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SELECT AVG(salary) FROM employees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WHERE department = e.department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206240"/>
            <a:ext cx="164592" cy="274320"/>
          </a:xfrm>
          <a:prstGeom prst="roundRect">
            <a:avLst>
              <a:gd name="adj" fmla="val 22222"/>
            </a:avLst>
          </a:prstGeom>
          <a:solidFill>
            <a:srgbClr val="3FBFAE"/>
          </a:solidFill>
          <a:ln/>
        </p:spPr>
      </p:sp>
      <p:sp>
        <p:nvSpPr>
          <p:cNvPr id="24" name="Text 22"/>
          <p:cNvSpPr/>
          <p:nvPr/>
        </p:nvSpPr>
        <p:spPr>
          <a:xfrm>
            <a:off x="5925312" y="417880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535424"/>
            <a:ext cx="6035040" cy="186537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regular subquery executes once and its result is used by the outer query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correlated subquery references a column from the outer query, so it re-runs for every row of the outer query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Correlated subqueries are often slower since they execute repeatedly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Both are commonly used for filtering data based on conditions from another table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Database Normalization? (1NF, 2NF, 3NF)</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Normalization is the process of organizing database tables to reduce data redundancy and improve data integrity, done in progressive stages called Normal Forms.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1NF - each column holds atomic (indivisible) values, no repeating groups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2NF - meets 1NF, and every non-key column depends on the whole primary key (removes partial dependency)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3NF - meets 2NF, and no non-key column depends on another non-key column (removes transitive dependency)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Normalization reduces duplicate data but may require more joins to retrieve it</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organizing a messy filing cabinet into clearly labeled folders so information isn't duplicated across multiple files, and updating one fact doesn't mean hunting down five copies.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Normalization organizes tables through stages (1NF, 2NF, 3NF) to reduce redundancy and keep data consistent.</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SQL vs MongoDB vs PostgreSQL - what's the difference?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These represent different types of database systems, each suited to different kinds of data and use cases.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SQL (relational databases in general, e.g. MySQL) - stores data in structured tables with fixed schemas and relationships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PostgreSQL - a powerful, open-source relational (SQL) database known for advanced features and standards compliance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MongoDB - a NoSQL, document-based database that stores flexible, JSON-like data without a fixed schema</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Choose SQL/PostgreSQL for structured, relational data; choose MongoDB for flexible, fast-changing, unstructured data</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relational database (SQL/PostgreSQL) is like a strict spreadsheet with fixed columns for every row. MongoDB is like a folder of sticky notes, where each note can have different information written on it.</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SQL databases store structured, related data in tables; PostgreSQL is a robust SQL database; MongoDB is a flexible NoSQL, document-based database.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connect to and perform basic operations in MongoDB?</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MongoDB is a NoSQL database that stores data as flexible, JSON-like documents inside collections, instead of rows and tables. Connecting to it and performing CRUD operations feels different from traditional SQL.</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MongoDB collection is like a drawer full of loosely organized folders (documents) - each folder can hold slightly different kinds of paperwork, unlike a strict spreadsheet where every row must have the exact same columns.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MongoDB is connected to via a connection string and driver, and supports CRUD through methods like insertOne(), find(), updateOne(), and deleteOne() on flexible JSON-like documents.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28900"/>
          </a:xfrm>
          <a:prstGeom prst="roundRect">
            <a:avLst>
              <a:gd name="adj" fmla="val 278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App.jsx</a:t>
            </a:r>
            <a:endParaRPr lang="en-US" sz="1000" dirty="0"/>
          </a:p>
        </p:txBody>
      </p:sp>
      <p:sp>
        <p:nvSpPr>
          <p:cNvPr id="22" name="Text 20"/>
          <p:cNvSpPr/>
          <p:nvPr/>
        </p:nvSpPr>
        <p:spPr>
          <a:xfrm>
            <a:off x="5897880" y="2487168"/>
            <a:ext cx="5577840" cy="21717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Node.js with MongoDB driver</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const client = new MongoClient(uri);</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const db = client.db("company");</a:t>
            </a:r>
            <a:endParaRPr lang="en-US" sz="1200" dirty="0"/>
          </a:p>
          <a:p>
            <a:pPr indent="0" marL="0">
              <a:lnSpc>
                <a:spcPct val="120000"/>
              </a:lnSpc>
              <a:buNone/>
            </a:pP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await db.collection("employees").insertOne({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name: "Asha", department: "IT"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const emp = await db.collection("employees")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.findOne({ name: "Asha" });</a:t>
            </a:r>
            <a:endParaRPr lang="en-US" sz="1200" dirty="0"/>
          </a:p>
        </p:txBody>
      </p:sp>
      <p:sp>
        <p:nvSpPr>
          <p:cNvPr id="23" name="Shape 21"/>
          <p:cNvSpPr/>
          <p:nvPr/>
        </p:nvSpPr>
        <p:spPr>
          <a:xfrm>
            <a:off x="5669280" y="4914900"/>
            <a:ext cx="164592" cy="274320"/>
          </a:xfrm>
          <a:prstGeom prst="roundRect">
            <a:avLst>
              <a:gd name="adj" fmla="val 22222"/>
            </a:avLst>
          </a:prstGeom>
          <a:solidFill>
            <a:srgbClr val="3FBFAE"/>
          </a:solidFill>
          <a:ln/>
        </p:spPr>
      </p:sp>
      <p:sp>
        <p:nvSpPr>
          <p:cNvPr id="24" name="Text 22"/>
          <p:cNvSpPr/>
          <p:nvPr/>
        </p:nvSpPr>
        <p:spPr>
          <a:xfrm>
            <a:off x="5925312" y="48874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44084"/>
            <a:ext cx="6035040" cy="11567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connection is made using a connection string, e.g. mongodb://localhost:27017/mydb, often through a driver or an ODM like Mongoose (Node.js) or Spring Data MongoDB (Java)</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insertOne() / insertMany() - create new documents in a collection</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find() / findOne() - read documents, optionally with a filter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updateOne() and deleteOne() - update or remove documents matching a filter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Unlike SQL, MongoDB documents in the same collection don't need to share an identical structure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group employees by department and get the count in each?</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This is a classic aggregation query that groups rows sharing the same department value, then counts how many employees fall into each group - a very common real-world reporting question.</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sorting a pile of exam papers into subject-wise stacks, then simply counting how many papers ended up in each stack.</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Grouping employees by department with a count uses SQL's GROUP BY with COUNT(*), or Collectors.groupingBy() with counting() in Java Streams.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query.sql</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SELECT department, COUNT(*) AS emp_count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FROM employees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GROUP BY department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ORDER BY emp_count DESC;</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GROUP BY department groups all employee rows that share the same department value together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COUNT(*) then counts how many rows exist within each of those groups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The SELECT list can only contain the grouped column(s) and aggregate functions - not arbitrary other columns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In Java, the same result can be produced using Streams: employees.stream().collect(Collectors.groupingBy(Employee::getDepartment, Collectors.counting()))</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indent="0" marL="0">
              <a:buNone/>
            </a:pPr>
            <a:r>
              <a:rPr lang="en-US" sz="6400" b="1" dirty="0">
                <a:solidFill>
                  <a:srgbClr val="232B4D"/>
                </a:solidFill>
                <a:latin typeface="Century Schoolbook" pitchFamily="34" charset="0"/>
                <a:ea typeface="Century Schoolbook" pitchFamily="34" charset="-122"/>
                <a:cs typeface="Century Schoolbook" pitchFamily="34" charset="-120"/>
              </a:rPr>
              <a:t>06</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DSA Coding Practice</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indent="0" marL="0">
              <a:buNone/>
            </a:pPr>
            <a:r>
              <a:rPr lang="en-US" sz="1400" i="1" dirty="0">
                <a:solidFill>
                  <a:srgbClr val="C3C8DC"/>
                </a:solidFill>
                <a:latin typeface="Calibri" pitchFamily="34" charset="0"/>
                <a:ea typeface="Calibri" pitchFamily="34" charset="-122"/>
                <a:cs typeface="Calibri" pitchFamily="34" charset="-120"/>
              </a:rPr>
              <a:t>28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check if a String or Number is a Palindrome?</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 palindrome reads the same forwards and backwards. For a String, we compare it with its reverse. For a Number, we reverse its digits and compare with the original.</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String is a palindrome if it equals its own reverse (e.g. 'madam')</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Number is a palindrome if reversing its digits gives back the same number (e.g. 121)</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Common interview twist: check only the alphanumeric characters, ignoring case and spaces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This tests string manipulation and loop/pointer logic - a very common warm-up question</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Palindrome Check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boolean isPalindrome(String s)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int left = 0, right = s.length() - 1;</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while (left &lt; right)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if (s.charAt(left) != s.charAt(right))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return false;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left++;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right--;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return true;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palindrome check compares a string with its reverse (or uses two pointers moving inward) to confirm it reads the same both ways.</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Two pointers start from both ends of the string and move toward the centre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characters at both pointers ever differ, it's not a palindrome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the pointers cross without a mismatch, the string is a palindrome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Time complexity is O(n), and it needs no extra memory beyond two index variables</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checking if a word is spelled the same from both ends - reading 'MADAM' from the left and the right at the same time and matching each letter.</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reverse a String without using a built-in function?</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Reversing a string means rearranging its characters in the opposite order, without relying on a library method like reverse().</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Convert the string to a character array so individual characters can be swapped</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Use two pointers - one at the start, one at the end</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Swap the characters and move both pointers toward the middle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Interviewers ask this to test understanding of arrays, loops, and in-place logic</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Reverse a String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628900"/>
          </a:xfrm>
          <a:prstGeom prst="roundRect">
            <a:avLst>
              <a:gd name="adj" fmla="val 2783"/>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21717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String reverseString(String 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char[] c = s.toCharArray();</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int l = 0, r = c.length - 1;</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while (l &lt; r)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char t = c[l]; c[l] = c[r]; c[r] = 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l++; r--;</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new String(c);</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933188"/>
            <a:ext cx="5486400" cy="868680"/>
          </a:xfrm>
          <a:prstGeom prst="roundRect">
            <a:avLst>
              <a:gd name="adj" fmla="val 8421"/>
            </a:avLst>
          </a:prstGeom>
          <a:solidFill>
            <a:srgbClr val="1B2340"/>
          </a:solidFill>
          <a:ln/>
        </p:spPr>
      </p:sp>
      <p:sp>
        <p:nvSpPr>
          <p:cNvPr id="14" name="Text 12"/>
          <p:cNvSpPr/>
          <p:nvPr/>
        </p:nvSpPr>
        <p:spPr>
          <a:xfrm>
            <a:off x="731520" y="502462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28066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string can be reversed in-place using two pointers that swap characters from both ends until they meet in the middle.</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string is converted into a char array for in-place swapping</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Two pointers move toward each other, swapping characters at each step</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loop runs only until the pointers meet in the middle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approach is O(n) time and uses no extra array, just swaps</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two people standing at opposite ends of a line of people and swapping positions with each other, walking toward the middle until they meet.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find the Largest or Nth Largest element in an Array?</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This means finding either the single maximum value, or the value that would rank Nth if the array were sorted in descending order (handling duplicates carefully).</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For the largest element, scan the array once and keep track of the maximum seen so far</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For the Nth largest, sort the array in descending order and pick index (N-1)</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For distinct Nth largest values (ignoring duplicates), use a Set or track multiple 'best-so-far' variables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Interviewers often follow up by asking for an O(n) approach without full sorting</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Largest / Nth Largest Element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1920240"/>
          </a:xfrm>
          <a:prstGeom prst="roundRect">
            <a:avLst>
              <a:gd name="adj" fmla="val 3810"/>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46304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int findNthLargest(int[] arr, int n)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Integer[] boxed = Arrays.stream(arr)</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.boxed().toArray(Integer[]::new);</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Arrays.sort(boxed, Collections.reverseOrder());</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boxed[n - 1];</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224528"/>
            <a:ext cx="5486400" cy="868680"/>
          </a:xfrm>
          <a:prstGeom prst="roundRect">
            <a:avLst>
              <a:gd name="adj" fmla="val 8421"/>
            </a:avLst>
          </a:prstGeom>
          <a:solidFill>
            <a:srgbClr val="1B2340"/>
          </a:solidFill>
          <a:ln/>
        </p:spPr>
      </p:sp>
      <p:sp>
        <p:nvSpPr>
          <p:cNvPr id="14" name="Text 12"/>
          <p:cNvSpPr/>
          <p:nvPr/>
        </p:nvSpPr>
        <p:spPr>
          <a:xfrm>
            <a:off x="731520" y="431596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57200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The largest element is found with a single scan (O(n)); the Nth largest is typically found by sorting descending and indexing, or with duplicate removal for distinct ranks.</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max keeps track of the biggest value found while scanning once, giving O(n) time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For the Nth largest, sorting descending and picking index N-1 is the simplest approach (O(n log n))</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To handle duplicate values as one rank, first remove duplicates using a Set before sorting</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 single scan avoids the overhead of sorting when you only need the single largest value</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Finding the largest is like scanning a row of people and remembering the tallest one seen so far. Finding the Nth largest is like lining everyone up from tallest to shortest and counting down to position 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remove duplicate elements from an Array or List?</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This means keeping only the first occurrence of each value and discarding any repeats, often while preserving the original order.</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HashSet automatically ignores duplicate values when elements are added to it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To preserve insertion order while removing duplicates, use a LinkedHashSet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For a sorted array, duplicates can be removed in-place using two pointers, in O(n) time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This question tests knowledge of Set data structures and in-place array manipulation</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Remove Duplicates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1920240"/>
          </a:xfrm>
          <a:prstGeom prst="roundRect">
            <a:avLst>
              <a:gd name="adj" fmla="val 3810"/>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46304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int[] removeDuplicates(int[] arr)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LinkedHashSet&lt;Integer&gt; set = new LinkedHashSet&lt;&gt;();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num : arr) set.add(num);</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set.stream()</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.mapToInt(Integer::intValue).toArray();</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224528"/>
            <a:ext cx="5486400" cy="868680"/>
          </a:xfrm>
          <a:prstGeom prst="roundRect">
            <a:avLst>
              <a:gd name="adj" fmla="val 8421"/>
            </a:avLst>
          </a:prstGeom>
          <a:solidFill>
            <a:srgbClr val="1B2340"/>
          </a:solidFill>
          <a:ln/>
        </p:spPr>
      </p:sp>
      <p:sp>
        <p:nvSpPr>
          <p:cNvPr id="14" name="Text 12"/>
          <p:cNvSpPr/>
          <p:nvPr/>
        </p:nvSpPr>
        <p:spPr>
          <a:xfrm>
            <a:off x="731520" y="431596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57200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Duplicates can be removed by adding elements into a LinkedHashSet, which automatically discards repeats while keeping order.</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 LinkedHashSet is used because it removes duplicates automatically while keeping insertion order</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Each element from the array is added to the set one by one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Since a Set cannot hold duplicate values, repeats are simply ignored</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set is then converted back into an array or list if needed</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a bouncer at a club checking a guest list - anyone already checked in doesn't get double-counted, no matter how many times they try to enter again.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does Bubble Sort work?</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Bubble Sort is a simple sorting algorithm that repeatedly compares adjacent elements and swaps them if they are in the wrong order, until the whole array is sorted.</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Compare each pair of adjacent elements in the array</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Swap them if the left element is greater than the right one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After each full pass, the largest remaining element 'bubbles up' to its correct position at the end</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Repeat the passes until no swaps are needed - the array is then fully sorted</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Bubble Sort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void bubbleSort(int[] arr)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for (int i = 0; i &lt; arr.length - 1; i++)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for (int j = 0; j &lt; arr.length - 1 - i; j++)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if (arr[j] &gt; arr[j + 1])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int t = arr[j];</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arr[j] = arr[j+1];</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arr[j+1] = 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Bubble Sort repeatedly swaps adjacent out-of-order elements across multiple passes until the array is fully sorted, in O(n^2) time.</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outer loop controls how many passes are made through the array</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inner loop compares each adjacent pair and swaps them if out of order</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After pass i, the i largest elements are already in their correct final positions</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Bubble Sort has O(n^2) time complexity - simple to write, but not efficient for large datasets</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bubbles rising in water - the largest 'bubble' (biggest number) rises to the top (end of the array) first with each pass, until everything settles in order.</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check if a Number is Prime?</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 prime number is a number greater than 1 that has no divisors other than 1 and itself. To check primality, we test whether any smaller number divides it evenly.</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Numbers less than or equal to 1 are never prime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Check for divisors starting from 2 up to the square root of the number - no need to check further</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If any number divides evenly (remainder 0), the number is not prime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Checking only up to the square root makes this approach efficient, O(sqrt(n))</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Prime Number Check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156460"/>
          </a:xfrm>
          <a:prstGeom prst="roundRect">
            <a:avLst>
              <a:gd name="adj" fmla="val 3392"/>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69926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boolean isPrime(int n)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if (n &lt;= 1) return false;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i = 2; i * i &lt;= n; i++)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if (n % i == 0) return false;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true;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460748"/>
            <a:ext cx="5486400" cy="868680"/>
          </a:xfrm>
          <a:prstGeom prst="roundRect">
            <a:avLst>
              <a:gd name="adj" fmla="val 8421"/>
            </a:avLst>
          </a:prstGeom>
          <a:solidFill>
            <a:srgbClr val="1B2340"/>
          </a:solidFill>
          <a:ln/>
        </p:spPr>
      </p:sp>
      <p:sp>
        <p:nvSpPr>
          <p:cNvPr id="14" name="Text 12"/>
          <p:cNvSpPr/>
          <p:nvPr/>
        </p:nvSpPr>
        <p:spPr>
          <a:xfrm>
            <a:off x="731520" y="455218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80822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number is prime if no integer from 2 up to its square root divides it evenly - checking only up to the square root keeps this efficient.</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loop only checks divisors up to Math.sqrt(n), since a larger factor would always pair with a smaller one already checked</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n is divisible by any i in that range, it immediately returns false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the loop completes without finding a divisor, the number is prime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is far more efficient than checking all the way up to n</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Checking up to the square root is like checking if two people can evenly split a group photo into rows and columns - you never need to try a row size bigger than the square root of the total people.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generate the Fibonacci series?</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The Fibonacci series is a sequence where each number is the sum of the two numbers before it, starting with 0 and 1 (0, 1, 1, 2, 3, 5, 8...).</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Start with the first two numbers, 0 and 1</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Each next number is the sum of the previous two numbers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This can be done iteratively (loop, fast) or recursively (elegant, but slower without optimization)</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Interviewers often ask for both approaches, and to discuss time complexity</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Fibonacci Series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156460"/>
          </a:xfrm>
          <a:prstGeom prst="roundRect">
            <a:avLst>
              <a:gd name="adj" fmla="val 3392"/>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69926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void printFibonacci(int n)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int a = 0, b = 1;</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i = 0; i &lt; n; i++)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System.out.print(a + "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int next = a + b; a = b; b = next;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460748"/>
            <a:ext cx="5486400" cy="868680"/>
          </a:xfrm>
          <a:prstGeom prst="roundRect">
            <a:avLst>
              <a:gd name="adj" fmla="val 8421"/>
            </a:avLst>
          </a:prstGeom>
          <a:solidFill>
            <a:srgbClr val="1B2340"/>
          </a:solidFill>
          <a:ln/>
        </p:spPr>
      </p:sp>
      <p:sp>
        <p:nvSpPr>
          <p:cNvPr id="14" name="Text 12"/>
          <p:cNvSpPr/>
          <p:nvPr/>
        </p:nvSpPr>
        <p:spPr>
          <a:xfrm>
            <a:off x="731520" y="455218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80822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The Fibonacci series is generated by repeatedly adding the last two numbers; an iterative loop does this in O(n) time.</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 and b hold the two most recent Fibonacci numbers, starting at 0 and 1</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In each loop, the next number is calculated as a + b</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 and b then shift forward by one position for the next iteration</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iterative approach runs in O(n) time and O(1) space - much faster than plain recursion</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a relay race baton pass - each new runner's position is simply the sum of the positions of the two runners just before them.</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count the frequency of elements in an Array or String?</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Frequency counting means finding how many times each element (or character) appears, typically using a HashMap to store element-to-count pairs.</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Create a HashMap where the key is the element and the value is its count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Loop through the array/string once, updating the count for each element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getOrDefault() is a handy way to increment a count without checking if the key already exists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This runs in O(n) time, much faster than comparing every pair of elements</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Frequency Count using HashMap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1920240"/>
          </a:xfrm>
          <a:prstGeom prst="roundRect">
            <a:avLst>
              <a:gd name="adj" fmla="val 3810"/>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46304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Map&lt;Character, Integer&gt; countFrequency(String 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Map&lt;Character, Integer&gt; freq = new HashMap&lt;&gt;();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for (char c : s.toCharArray())</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freq.put(c, freq.getOrDefault(c, 0) + 1);</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freq;</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224528"/>
            <a:ext cx="5486400" cy="868680"/>
          </a:xfrm>
          <a:prstGeom prst="roundRect">
            <a:avLst>
              <a:gd name="adj" fmla="val 8421"/>
            </a:avLst>
          </a:prstGeom>
          <a:solidFill>
            <a:srgbClr val="1B2340"/>
          </a:solidFill>
          <a:ln/>
        </p:spPr>
      </p:sp>
      <p:sp>
        <p:nvSpPr>
          <p:cNvPr id="14" name="Text 12"/>
          <p:cNvSpPr/>
          <p:nvPr/>
        </p:nvSpPr>
        <p:spPr>
          <a:xfrm>
            <a:off x="731520" y="431596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57200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Frequency counting uses a HashMap to store each element's count, updated in a single O(n) pass through the data.</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HashMap&lt;Character, Integer&gt; stores each character as a key and its count as the value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getOrDefault(c, 0) + 1 either starts a new count at 1, or increments the existing count</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processes the whole string in a single pass - O(n) time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same pattern works for counting frequency of numbers in an array, or words in a sentence</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a tally chart at a survey booth - every time a particular answer comes in, you just add one more tally mark next to it, instead of recounting everything from scratch.</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check if two Strings are Anagrams?</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Two strings are anagrams if they contain exactly the same characters with the same frequency, just arranged differently (e.g. 'listen' and 'silent').</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quick check: if the two strings have different lengths, they can't be anagrams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One approach: sort both strings and check if the sorted versions are equal</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faster approach: count character frequencies of both strings using a HashMap/array and compare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The frequency-count approach runs in O(n) time versus O(n log n) for sorting</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Anagram Check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1920240"/>
          </a:xfrm>
          <a:prstGeom prst="roundRect">
            <a:avLst>
              <a:gd name="adj" fmla="val 3810"/>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46304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boolean isAnagram(String s1, String s2)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if (s1.length() != s2.length()) return false;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char[] a = s1.toCharArray(), b = s2.toCharArray();</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Arrays.sort(a); Arrays.sort(b);</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Arrays.equals(a, b);</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224528"/>
            <a:ext cx="5486400" cy="868680"/>
          </a:xfrm>
          <a:prstGeom prst="roundRect">
            <a:avLst>
              <a:gd name="adj" fmla="val 8421"/>
            </a:avLst>
          </a:prstGeom>
          <a:solidFill>
            <a:srgbClr val="1B2340"/>
          </a:solidFill>
          <a:ln/>
        </p:spPr>
      </p:sp>
      <p:sp>
        <p:nvSpPr>
          <p:cNvPr id="14" name="Text 12"/>
          <p:cNvSpPr/>
          <p:nvPr/>
        </p:nvSpPr>
        <p:spPr>
          <a:xfrm>
            <a:off x="731520" y="431596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57200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Two strings are anagrams if their sorted character arrays are identical - a simple and reliable check.</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Both strings are converted to char arrays and sorted alphabetically</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the sorted versions are exactly equal, the original strings must be anagrams</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is simple to write and understand, though a frequency-map approach is slightly faster</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Always compare lengths first as a quick early exit before sorting</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checking if two bags of Scrabble tiles contain exactly the same letters, just picked out in a different order - if you sort both bags' tiles alphabetically, they should match exactly.</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find and print all Palindrome Substrings in a String?</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This means checking every possible substring of a given string and printing only the ones that read the same forwards and backwards.</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Generate every possible substring using two nested loops - one for the start index, one for the end index</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For each substring, check whether it's a palindrome (compare with its reverse, or use two pointers)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If it is a palindrome, add it to the result list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brute-force approach runs in O(n^3); this is a common follow-up to the basic palindrome check question</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Palindrome Substrings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65120"/>
          </a:xfrm>
          <a:prstGeom prst="roundRect">
            <a:avLst>
              <a:gd name="adj" fmla="val 2553"/>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240792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List&lt;String&gt; findPalindromes(String 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List&lt;String&gt; result = new ArrayList&lt;&gt;();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i = 0; i &lt; s.length(); i++)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j = i + 1; j &lt;= s.length(); j++)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String sub = s.substring(i, j);</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if (isPalindrome(sub)) result.add(sub);</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result;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5169408"/>
            <a:ext cx="5486400" cy="868680"/>
          </a:xfrm>
          <a:prstGeom prst="roundRect">
            <a:avLst>
              <a:gd name="adj" fmla="val 8421"/>
            </a:avLst>
          </a:prstGeom>
          <a:solidFill>
            <a:srgbClr val="1B2340"/>
          </a:solidFill>
          <a:ln/>
        </p:spPr>
      </p:sp>
      <p:sp>
        <p:nvSpPr>
          <p:cNvPr id="14" name="Text 12"/>
          <p:cNvSpPr/>
          <p:nvPr/>
        </p:nvSpPr>
        <p:spPr>
          <a:xfrm>
            <a:off x="731520" y="526084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1688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All palindrome substrings can be found by generating every substring and checking each one with a simple palindrome check, reusing earlier logic.</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outer two loops generate every possible substring between index i and j</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isPalindrome() (from the earlier palindrome check) is reused to test each substring</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Every substring that passes the check is added to the result list</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is a great example of reusing a simpler solved problem (palindrome check) inside a bigger one</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going through every possible chunk of a sentence, checking each one to see if it reads the same backward as forward - similar to scanning a word search puzzle for symmetric patterns.</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print duplicate elements in an Array or List?</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This means identifying which elements appear more than once, and printing each duplicate value - different from removing duplicates, since here we specifically want to see the repeated ones.</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Use a HashSet to keep track of elements already seen while scanning the array</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If an element is already in the seen set when encountered again, it's a duplicate - print or collect it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second HashSet can store duplicates found so far, to avoid printing the same duplicate multiple times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This runs in O(n) time using HashSet lookups, much faster than comparing every pair of elements</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Print Duplicate Elements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392680"/>
          </a:xfrm>
          <a:prstGeom prst="roundRect">
            <a:avLst>
              <a:gd name="adj" fmla="val 3057"/>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93548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Set&lt;Integer&gt; printDuplicates(int[] arr)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Set&lt;Integer&gt; seen = new HashSet&lt;&gt;();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Set&lt;Integer&gt; duplicates = new HashSet&lt;&gt;();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num : arr)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if (!seen.add(num)) duplicates.add(num);</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duplicates;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696968"/>
            <a:ext cx="5486400" cy="868680"/>
          </a:xfrm>
          <a:prstGeom prst="roundRect">
            <a:avLst>
              <a:gd name="adj" fmla="val 8421"/>
            </a:avLst>
          </a:prstGeom>
          <a:solidFill>
            <a:srgbClr val="1B2340"/>
          </a:solidFill>
          <a:ln/>
        </p:spPr>
      </p:sp>
      <p:sp>
        <p:nvSpPr>
          <p:cNvPr id="14" name="Text 12"/>
          <p:cNvSpPr/>
          <p:nvPr/>
        </p:nvSpPr>
        <p:spPr>
          <a:xfrm>
            <a:off x="731520" y="478840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04444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Duplicate elements are found in a single O(n) pass by tracking seen values in a HashSet and flagging any value seen more than once.</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'seen' tracks every element encountered so far while looping through the array once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add() to 'seen' returns false, that value was already present - meaning it's a duplicate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'duplicates' is also a Set, so each duplicate value is only printed/stored once even if it repeats more than twice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single-pass approach is O(n) time, much better than a nested-loop comparison (O(n^2))</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a teacher checking attendance and noting anyone whose name gets called twice - instead of comparing every student to every other student, she just keeps a running tally as she reads down the list.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find odd and even numbers in an ArrayList?</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This means going through a list of numbers and separating or identifying which ones are odd and which are even, based on divisibility by 2.</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Loop through each number in the ArrayList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Use the modulus operator (% 2) to check the remainder when divided by 2</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If the remainder is 0, the number is even; otherwise, it's odd</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Numbers can be collected into two separate lists, or simply printed/labeled as they're checked</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Odd/Even Numbers in ArrayList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65120"/>
          </a:xfrm>
          <a:prstGeom prst="roundRect">
            <a:avLst>
              <a:gd name="adj" fmla="val 2553"/>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240792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void splitOddEven(ArrayList&lt;Integer&gt; nums)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List&lt;Integer&gt; even = new ArrayList&lt;&gt;();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List&lt;Integer&gt; odd = new ArrayList&lt;&gt;();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num : nums)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if (num % 2 == 0) even.add(num);</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else odd.add(num);</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System.out.println("Even: " + even);</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System.out.println("Odd: " + odd);</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5169408"/>
            <a:ext cx="5486400" cy="868680"/>
          </a:xfrm>
          <a:prstGeom prst="roundRect">
            <a:avLst>
              <a:gd name="adj" fmla="val 8421"/>
            </a:avLst>
          </a:prstGeom>
          <a:solidFill>
            <a:srgbClr val="1B2340"/>
          </a:solidFill>
          <a:ln/>
        </p:spPr>
      </p:sp>
      <p:sp>
        <p:nvSpPr>
          <p:cNvPr id="14" name="Text 12"/>
          <p:cNvSpPr/>
          <p:nvPr/>
        </p:nvSpPr>
        <p:spPr>
          <a:xfrm>
            <a:off x="731520" y="526084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1688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Odd and even numbers are separated by checking each number's remainder when divided by 2, using the % operator.</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num % 2 == 0 checks if a number divides evenly by 2, which is the definition of an even number</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Each number is added to either the 'even' list or the 'odd' list based on that check</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works the same way for an ArrayList&lt;Integer&gt; as it does for a plain int array</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is often a warm-up question used to check comfort with loops and basic conditionals</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sorting a basket of numbered balls into two trays - one for numbers divisible evenly by two, and one for the leftovers - by checking each ball one at a time.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sort a list of Employee objects (e.g. by salary or name)?</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Sorting custom objects like Employee isn't as simple as sorting numbers - Java needs to be told exactly which field to compare and in what order, using a Comparator.</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Define what 'order' means using a Comparator - for example, comparing by salary or by name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Use Collections.sort(list, comparator) or list.sort(comparator) to sort an ArrayList of objects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Java's Comparator.comparing() makes this concise using method references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You can chain .reversed() or .thenComparing() for descending order or multi-field sorting</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Sort Employee Data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156460"/>
          </a:xfrm>
          <a:prstGeom prst="roundRect">
            <a:avLst>
              <a:gd name="adj" fmla="val 3392"/>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69926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List&lt;Employee&gt; employees = getEmployees();</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employees.sort(Comparator.comparing(Employee::getSalary));</a:t>
            </a:r>
            <a:endParaRPr lang="en-US" sz="1200" dirty="0"/>
          </a:p>
          <a:p>
            <a:pPr indent="0" marL="0">
              <a:lnSpc>
                <a:spcPct val="120000"/>
              </a:lnSpc>
              <a:buNone/>
            </a:pP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Descending order by name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employees.sort(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Comparator.comparing(Employee::getName).reversed()</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460748"/>
            <a:ext cx="5486400" cy="868680"/>
          </a:xfrm>
          <a:prstGeom prst="roundRect">
            <a:avLst>
              <a:gd name="adj" fmla="val 8421"/>
            </a:avLst>
          </a:prstGeom>
          <a:solidFill>
            <a:srgbClr val="1B2340"/>
          </a:solidFill>
          <a:ln/>
        </p:spPr>
      </p:sp>
      <p:sp>
        <p:nvSpPr>
          <p:cNvPr id="14" name="Text 12"/>
          <p:cNvSpPr/>
          <p:nvPr/>
        </p:nvSpPr>
        <p:spPr>
          <a:xfrm>
            <a:off x="731520" y="455218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80822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Custom objects like Employee are sorted using a Comparator that specifies which field to compare, passed into list.sort() or Collections.sort().</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Comparator.comparing(Employee::getSalary) tells Java to compare Employee objects using their salary field</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list.sort(...) rearranges the ArrayList in place based on that comparator</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Employee::getSalary is a method reference - shorthand for e -&gt; e.getSalary()</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Adding .reversed() would sort from highest salary to lowest instead of ascending</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telling a librarian exactly which detail to sort books by - title, author, or publish year - instead of expecting her to guess; the Comparator is those specific sorting instructions.</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count or print the vowels in a String?</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This means scanning through a string and identifying which characters are vowels (a, e, i, o, u - both uppercase and lowercase), either counting them or printing them out.</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Loop through each character of the string</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Check if the character (converted to lowercase for consistency) matches one of a, e, i, o, u</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Keep a running count, or add each matching character to a result list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String containing all vowels, like "aeiou", makes the check a simple .contains() lookup per character</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algn="ctr" indent="0" marL="0">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algn="ctr" indent="0" marL="0">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Count Vowels in a String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628900"/>
          </a:xfrm>
          <a:prstGeom prst="roundRect">
            <a:avLst>
              <a:gd name="adj" fmla="val 2783"/>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21717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int countVowels(String s)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int count = 0;</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for (char c : s.toLowerCase().toCharArray())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if ("aeiou".indexOf(c) != -1)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count++;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count;</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933188"/>
            <a:ext cx="5486400" cy="868680"/>
          </a:xfrm>
          <a:prstGeom prst="roundRect">
            <a:avLst>
              <a:gd name="adj" fmla="val 8421"/>
            </a:avLst>
          </a:prstGeom>
          <a:solidFill>
            <a:srgbClr val="1B2340"/>
          </a:solidFill>
          <a:ln/>
        </p:spPr>
      </p:sp>
      <p:sp>
        <p:nvSpPr>
          <p:cNvPr id="14" name="Text 12"/>
          <p:cNvSpPr/>
          <p:nvPr/>
        </p:nvSpPr>
        <p:spPr>
          <a:xfrm>
            <a:off x="731520" y="5024628"/>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280660"/>
            <a:ext cx="5029200" cy="41148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Vowels are counted by looping through the string and checking each character (case-insensitively) against 'aeiou'.</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Character.toLowerCase(c) normalizes the character so both 'A' and 'a' are treated the same way</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"aeiou".indexOf(...) checks if the character exists in the vowel string; -1 means it's not a vowel</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count increments only when a genuine vowel is found</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same loop structure can easily be adapted to print each vowel instead of just counting them</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sorting through a bag of mixed letter tiles and pulling out only the five special ones (A, E, I, O, U) - counting one at a time as you set each one aside.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indent="0" marL="0">
              <a:buNone/>
            </a:pPr>
            <a:r>
              <a:rPr lang="en-US" sz="6400" b="1" dirty="0">
                <a:solidFill>
                  <a:srgbClr val="232B4D"/>
                </a:solidFill>
                <a:latin typeface="Century Schoolbook" pitchFamily="34" charset="0"/>
                <a:ea typeface="Century Schoolbook" pitchFamily="34" charset="-122"/>
                <a:cs typeface="Century Schoolbook" pitchFamily="34" charset="-120"/>
              </a:rPr>
              <a:t>07</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Git, Cloud &amp; AI Basics</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indent="0" marL="0">
              <a:buNone/>
            </a:pPr>
            <a:r>
              <a:rPr lang="en-US" sz="1400" i="1" dirty="0">
                <a:solidFill>
                  <a:srgbClr val="C3C8DC"/>
                </a:solidFill>
                <a:latin typeface="Calibri" pitchFamily="34" charset="0"/>
                <a:ea typeface="Calibri" pitchFamily="34" charset="-122"/>
                <a:cs typeface="Calibri" pitchFamily="34" charset="-120"/>
              </a:rPr>
              <a:t>5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502920" y="384048"/>
            <a:ext cx="4882896" cy="310896"/>
          </a:xfrm>
          <a:prstGeom prst="roundRect">
            <a:avLst>
              <a:gd name="adj" fmla="val 23529"/>
            </a:avLst>
          </a:prstGeom>
          <a:solidFill>
            <a:srgbClr val="E8A33D"/>
          </a:solidFill>
          <a:ln/>
        </p:spPr>
      </p:sp>
      <p:sp>
        <p:nvSpPr>
          <p:cNvPr id="3" name="Text 1"/>
          <p:cNvSpPr/>
          <p:nvPr/>
        </p:nvSpPr>
        <p:spPr>
          <a:xfrm>
            <a:off x="502920" y="384048"/>
            <a:ext cx="488289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Git and GitHub.</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Git and GitHub are related but different tools that work together in modern software development.</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Git - a distributed version control system installed locally, used to track code changes over time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GitHub - a cloud platform that hosts Git repositories online and adds collaboration features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Git works even without internet access; GitHub requires it to push/pull/share code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GitHub adds features like pull requests, issue tracking, and team collaboration on top of Git</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Git is like a personal diary that tracks every change you make. GitHub is like publishing that diary online in a shared library where others can read it, comment on it, and suggest edits.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Git is the version control tool that tracks code changes locally, while GitHub is an online platform that hosts Git repositories for collaboration.</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502920" y="384048"/>
            <a:ext cx="4882896" cy="310896"/>
          </a:xfrm>
          <a:prstGeom prst="roundRect">
            <a:avLst>
              <a:gd name="adj" fmla="val 23529"/>
            </a:avLst>
          </a:prstGeom>
          <a:solidFill>
            <a:srgbClr val="E8A33D"/>
          </a:solidFill>
          <a:ln/>
        </p:spPr>
      </p:sp>
      <p:sp>
        <p:nvSpPr>
          <p:cNvPr id="3" name="Text 1"/>
          <p:cNvSpPr/>
          <p:nvPr/>
        </p:nvSpPr>
        <p:spPr>
          <a:xfrm>
            <a:off x="502920" y="384048"/>
            <a:ext cx="488289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a VPC? Explain public and private subnets.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 VPC (Virtual Private Cloud) is an isolated, private section of a cloud provider's network where you can launch your own resources securely.</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 VPC is divided into smaller sections called subnets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 public subnet has a route to the internet (via an Internet Gateway) - used for web servers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 private subnet has no direct internet route - used for databases and internal services that need protection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Traffic between subnets and the internet is controlled by gateways, route tables, and security groups</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a VPC like a gated housing society. Public subnets are like houses facing the main road (accessible from outside), while private subnets are like inner houses only reachable through the society's internal roads, kept safer from outside traffic.</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VPC is an isolated private network in the cloud; public subnets connect to the internet while private subnets stay protected and internal.</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502920" y="384048"/>
            <a:ext cx="4882896" cy="310896"/>
          </a:xfrm>
          <a:prstGeom prst="roundRect">
            <a:avLst>
              <a:gd name="adj" fmla="val 23529"/>
            </a:avLst>
          </a:prstGeom>
          <a:solidFill>
            <a:srgbClr val="E8A33D"/>
          </a:solidFill>
          <a:ln/>
        </p:spPr>
      </p:sp>
      <p:sp>
        <p:nvSpPr>
          <p:cNvPr id="3" name="Text 1"/>
          <p:cNvSpPr/>
          <p:nvPr/>
        </p:nvSpPr>
        <p:spPr>
          <a:xfrm>
            <a:off x="502920" y="384048"/>
            <a:ext cx="488289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Generative AI, LLMs, and Prompt Engineering?</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Generative AI refers to AI systems that can create new content (text, images, code). LLMs (Large Language Models) are a type of Generative AI trained on huge amounts of text to understand and generate human-like language.</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Generative AI - broad category of AI that generates new content, not just analyzes existing data</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LLM (Large Language Model) - a model like GPT or Claude, trained on massive text data to understand and produce language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Prompt Engineering - the skill of writing clear, well-structured instructions to get the best output from an LLM</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Common uses in projects: chatbots, code assistance, content generation, and summarization</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An LLM is like an extremely well-read assistant. Prompt engineering is like learning how to ask that assistant clear, specific questions so you get useful, accurate answers instead of vague ones.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Generative AI creates new content, LLMs are language-based generative AI models, and Prompt Engineering is the skill of crafting effective instructions for them.</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502920" y="384048"/>
            <a:ext cx="4882896" cy="310896"/>
          </a:xfrm>
          <a:prstGeom prst="roundRect">
            <a:avLst>
              <a:gd name="adj" fmla="val 23529"/>
            </a:avLst>
          </a:prstGeom>
          <a:solidFill>
            <a:srgbClr val="E8A33D"/>
          </a:solidFill>
          <a:ln/>
        </p:spPr>
      </p:sp>
      <p:sp>
        <p:nvSpPr>
          <p:cNvPr id="3" name="Text 1"/>
          <p:cNvSpPr/>
          <p:nvPr/>
        </p:nvSpPr>
        <p:spPr>
          <a:xfrm>
            <a:off x="502920" y="384048"/>
            <a:ext cx="488289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Design Patterns? Explain Singleton and Factory.</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Design patterns are proven, reusable solutions to common software design problems. Singleton and Factory are two of the most commonly asked patterns in interviews.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Singleton is like a single president of a country - there can only be one at a time. Factory is like a car factory that produces different car models based on the order it receives, without the customer needing to know the internal manufacturing steps.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Singleton guarantees only one instance of a class exists, while Factory centralizes and hides the logic of creating objects.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28900"/>
          </a:xfrm>
          <a:prstGeom prst="roundRect">
            <a:avLst>
              <a:gd name="adj" fmla="val 278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2171700"/>
          </a:xfrm>
          <a:prstGeom prst="rect">
            <a:avLst/>
          </a:prstGeom>
          <a:noFill/>
          <a:ln/>
        </p:spPr>
        <p:txBody>
          <a:bodyPr wrap="square" lIns="0" tIns="0" rIns="0" bIns="0" rtlCol="0" anchor="t"/>
          <a:lstStyle/>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Singleton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private static Singleton instance;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private Singleton()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public static Singleton getInstance()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if (instance == null)</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instance = new Singleton();</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instance;</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914900"/>
            <a:ext cx="164592" cy="274320"/>
          </a:xfrm>
          <a:prstGeom prst="roundRect">
            <a:avLst>
              <a:gd name="adj" fmla="val 22222"/>
            </a:avLst>
          </a:prstGeom>
          <a:solidFill>
            <a:srgbClr val="3FBFAE"/>
          </a:solidFill>
          <a:ln/>
        </p:spPr>
      </p:sp>
      <p:sp>
        <p:nvSpPr>
          <p:cNvPr id="24" name="Text 22"/>
          <p:cNvSpPr/>
          <p:nvPr/>
        </p:nvSpPr>
        <p:spPr>
          <a:xfrm>
            <a:off x="5925312" y="4887468"/>
            <a:ext cx="577900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44084"/>
            <a:ext cx="6035040" cy="11567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Singleton Pattern - ensures a class has only ONE instance throughout the application, with a global access point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Factory Pattern - provides a way to create objects without specifying the exact class to instantiate, based on input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Singleton is useful for shared resources like a database connection or config manager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Factory is useful when object creation logic is complex or depends on conditions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502920" y="384048"/>
            <a:ext cx="4882896" cy="310896"/>
          </a:xfrm>
          <a:prstGeom prst="roundRect">
            <a:avLst>
              <a:gd name="adj" fmla="val 23529"/>
            </a:avLst>
          </a:prstGeom>
          <a:solidFill>
            <a:srgbClr val="E8A33D"/>
          </a:solidFill>
          <a:ln/>
        </p:spPr>
      </p:sp>
      <p:sp>
        <p:nvSpPr>
          <p:cNvPr id="3" name="Text 1"/>
          <p:cNvSpPr/>
          <p:nvPr/>
        </p:nvSpPr>
        <p:spPr>
          <a:xfrm>
            <a:off x="502920" y="384048"/>
            <a:ext cx="4882896"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AI Agents?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indent="0" marL="0">
              <a:lnSpc>
                <a:spcPct val="115000"/>
              </a:lnSpc>
              <a:buNone/>
            </a:pPr>
            <a:r>
              <a:rPr lang="en-US" sz="1450" dirty="0">
                <a:solidFill>
                  <a:srgbClr val="1B2340"/>
                </a:solidFill>
                <a:latin typeface="Calibri" pitchFamily="34" charset="0"/>
                <a:ea typeface="Calibri" pitchFamily="34" charset="-122"/>
                <a:cs typeface="Calibri" pitchFamily="34" charset="-120"/>
              </a:rPr>
              <a:t>An AI Agent is a system built around an LLM that can autonomously plan, decide, and take actions - like calling tools or APIs - to achieve a goal, rather than just responding with a single block of text.</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 plain LLM chat just answers a question directly based on what it knows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An AI Agent can break a task into steps, call external tools (search, code execution, databases), observe the results, and decide what to do next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This loop of 'think, act, observe' can repeat multiple times until the task is complete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Common examples: a coding agent that writes and tests code, or a research agent that searches the web and compiles a report</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simple LLM chat is like asking a knowledgeable friend a question over the phone. An AI Agent is like hiring an assistant who can actually go run the errands themselves - checking things, making calls, and coming back only once the task is done.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An AI Agent uses an LLM to autonomously plan, use tools, and take multi-step actions toward a goal, rather than just answering a single question.</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1645920" y="-1645920"/>
            <a:ext cx="4206240" cy="4206240"/>
          </a:xfrm>
          <a:prstGeom prst="ellipse">
            <a:avLst/>
          </a:prstGeom>
          <a:solidFill>
            <a:srgbClr val="232B4D"/>
          </a:solidFill>
          <a:ln/>
        </p:spPr>
      </p:sp>
      <p:sp>
        <p:nvSpPr>
          <p:cNvPr id="3" name="Shape 1"/>
          <p:cNvSpPr/>
          <p:nvPr/>
        </p:nvSpPr>
        <p:spPr>
          <a:xfrm>
            <a:off x="9875520" y="4206240"/>
            <a:ext cx="4206240" cy="4206240"/>
          </a:xfrm>
          <a:prstGeom prst="ellipse">
            <a:avLst/>
          </a:prstGeom>
          <a:solidFill>
            <a:srgbClr val="E8A33D"/>
          </a:solidFill>
          <a:ln/>
        </p:spPr>
      </p:sp>
      <p:sp>
        <p:nvSpPr>
          <p:cNvPr id="4" name="Text 2"/>
          <p:cNvSpPr/>
          <p:nvPr/>
        </p:nvSpPr>
        <p:spPr>
          <a:xfrm>
            <a:off x="822960" y="2468880"/>
            <a:ext cx="10058400" cy="1005840"/>
          </a:xfrm>
          <a:prstGeom prst="rect">
            <a:avLst/>
          </a:prstGeom>
          <a:noFill/>
          <a:ln/>
        </p:spPr>
        <p:txBody>
          <a:bodyPr wrap="square" rtlCol="0" anchor="ctr"/>
          <a:lstStyle/>
          <a:p>
            <a:pPr indent="0" marL="0">
              <a:buNone/>
            </a:pPr>
            <a:r>
              <a:rPr lang="en-US" sz="4200" b="1" dirty="0">
                <a:solidFill>
                  <a:srgbClr val="FFFFFF"/>
                </a:solidFill>
                <a:latin typeface="Century Schoolbook" pitchFamily="34" charset="0"/>
                <a:ea typeface="Century Schoolbook" pitchFamily="34" charset="-122"/>
                <a:cs typeface="Century Schoolbook" pitchFamily="34" charset="-120"/>
              </a:rPr>
              <a:t>You've Got This! 🚀</a:t>
            </a:r>
            <a:endParaRPr lang="en-US" sz="4200" dirty="0"/>
          </a:p>
        </p:txBody>
      </p:sp>
      <p:sp>
        <p:nvSpPr>
          <p:cNvPr id="5" name="Text 3"/>
          <p:cNvSpPr/>
          <p:nvPr/>
        </p:nvSpPr>
        <p:spPr>
          <a:xfrm>
            <a:off x="822960" y="3429000"/>
            <a:ext cx="9144000" cy="1005840"/>
          </a:xfrm>
          <a:prstGeom prst="rect">
            <a:avLst/>
          </a:prstGeom>
          <a:noFill/>
          <a:ln/>
        </p:spPr>
        <p:txBody>
          <a:bodyPr wrap="square" rtlCol="0" anchor="ctr"/>
          <a:lstStyle/>
          <a:p>
            <a:pPr indent="0" marL="0">
              <a:lnSpc>
                <a:spcPct val="130000"/>
              </a:lnSpc>
              <a:buNone/>
            </a:pPr>
            <a:r>
              <a:rPr lang="en-US" sz="1600" dirty="0">
                <a:solidFill>
                  <a:srgbClr val="C3C8DC"/>
                </a:solidFill>
                <a:latin typeface="Calibri" pitchFamily="34" charset="0"/>
                <a:ea typeface="Calibri" pitchFamily="34" charset="-122"/>
                <a:cs typeface="Calibri" pitchFamily="34" charset="-120"/>
              </a:rPr>
              <a:t>Revise these concepts, practice the code examples out loud, and walk into your interview</a:t>
            </a:r>
            <a:endParaRPr lang="en-US" sz="1600" dirty="0"/>
          </a:p>
          <a:p>
            <a:pPr indent="0" marL="0">
              <a:lnSpc>
                <a:spcPct val="130000"/>
              </a:lnSpc>
              <a:buNone/>
            </a:pPr>
            <a:r>
              <a:rPr lang="en-US" sz="1600" dirty="0">
                <a:solidFill>
                  <a:srgbClr val="C3C8DC"/>
                </a:solidFill>
                <a:latin typeface="Calibri" pitchFamily="34" charset="0"/>
                <a:ea typeface="Calibri" pitchFamily="34" charset="-122"/>
                <a:cs typeface="Calibri" pitchFamily="34" charset="-120"/>
              </a:rPr>
              <a:t>with confidence. Understanding beats memorizing - every time.</a:t>
            </a:r>
            <a:endParaRPr lang="en-US" sz="1600" dirty="0"/>
          </a:p>
        </p:txBody>
      </p:sp>
      <p:sp>
        <p:nvSpPr>
          <p:cNvPr id="6" name="Text 4"/>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Four Pillars of OOP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Pillars.java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Animal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protected String name;      // Encapsulation</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Animal(String n){ name = n;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sound(){ System.out.println("...");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Dog extends Animal {    // Inheritance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Dog(String n){ super(n);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@Override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sound(){                // Polymorphism</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System.out.println(name+": Woof");</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Model each pillar in one small hierarchy: private fields, extends, @Override, and an abstract base type.</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Animal hides its state behind a protected field and a constructor - Encapsulation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Dog reuses Animal's field and constructor via extends and super() - Inheritance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Overriding sound() lets the same call behave differently per subclass - Polymorphism</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Interviewers often ask you to code this exact mini-hierarchy live, so practice typing it fast</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a phone's OS: apps only see icons (abstraction), each app manages its own memory (encapsulation), new phone models reuse the same OS core (inheritance), and the same 'tap' gesture opens different apps (polymorphism).</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Encapsulation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Account.java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class Account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private double balance;</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Account(double b){ balance = b;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void deposit(double amt){</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if (amt &gt; 0) balance += amt;</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boolean withdraw(double amt){</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if (amt &gt; 0 &amp;&amp; amt &lt;= balance){</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balance -= amt; return true;</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return false;</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double getBalance(){ return balance;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a:t>
            </a:r>
            <a:endParaRPr lang="en-US" sz="85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Encapsulation is enforced by validating every mutation inside the class, not just by marking fields private.</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balance is private, so it can only change through deposit() or withdraw()</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Both methods validate the amount before touching the field - invalid state is impossible from outside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getBalance() exposes a read-only view without letting callers overwrite it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'why not just make balance public?' - because you'd lose validation and invariants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An ATM never lets you reach into the vault - you can only deposit or withdraw through a controlled slot that checks the amount first.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Inheritance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Vehicle.java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Vehicle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start(){ System.out.println("Starting");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interface Flyable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fly();</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Car extends Vehicle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honk(){ System.out.println("Beep");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FlyingCar extends Vehicle implements Flyable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public void fly(){ System.out.println("Flying");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Java allows single class inheritance but multiple interface inheritance, avoiding the diamond problem.</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Car extends only Vehicle - Java classes cannot extend two classes at once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FlyingCar shows the real workaround: extend one class, implement multiple interfaces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Default methods in interfaces can still cause ambiguity, which Java forces you to resolve explicitly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Common follow-up: 'why did Java drop multiple class inheritance?' - to avoid the diamond problem C++ has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employee has one manager (single class inheritance) but can hold multiple certifications like 'first-aid' or 'forklift license' (multiple interfaces) at the same time.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Polymorphism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Shape.java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Shape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double area(){ return 0;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Circle extends Shape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double r;</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Circle(double r){ this.r = r;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@Override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double area(){ return Math.PI * r * r;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Runtime polymorphism in action</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Shape s = new Circle(3);</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System.out.println(s.area()); // uses Circle's area</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The reference type is Shape but the JVM dispatches to Circle's overridden method at runtime - that's dynamic binding.</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 is declared as Shape, but at runtime the JVM looks at the actual object type (Circle)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This lookup happens via the virtual method table - it's why overriding is 'runtime' polymorphism</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Overloading (same method name, different params) is resolved at compile time instead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Interviewers often ask you to trace which version of a method runs - practice reading such snippets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universal remote button labeled 'power' does something different depending on which device you point it at - the button (method call) is the same, the behavior (implementation) varies by device (object).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Abstraction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Payment.java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abstract class Payment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abstract void pay(double amt);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receipt(){ System.out.println("Paid");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interface Refundable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refund(double amt);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CardPayment extends Payment implements Refundable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pay(double amt){ System.out.println("Card: "+amt);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public void refund(double amt){ System.out.println("Refund: "+amt);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Use an abstract class for shared code plus a contract, and an interface when unrelated classes need the same capability.</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Payment defines both a concrete method (receipt) and an abstract one (pay) - partial abstraction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Refundable is a pure contract any unrelated class could implement, even non-Payment ones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CardPayment must implement both pay() and refund() or the code won't compile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Rule of thumb interviewers like: 'is-a with shared state' -&gt; abstract class, 'can-do' -&gt; interface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An abstract class is like a restaurant menu template with some prefilled dishes (shared code) and blanks for the chef's specials (abstract methods); an interface is just a certification like 'Halal-certified' that any kitchen can earn.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Overloading vs Overriding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Calculator.java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class Calculator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int add(int a, int b){ return a + b;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double add(double a, double b){ return a+b; }  // overload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class SciCalculator extends Calculator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@Override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int add(int a, int b){                 // override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System.out.println("Logging call");</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return super.add(a, b);</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Overloading changes the parameter list within one class; overriding keeps the same signature but changes behavior in a subclass.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add(int,int) and add(double,double) are overloads - resolved at compile time by argument types</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SciCalculator's add(int,int) overrides the parent - resolved at runtime based on the object</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super.add(a,b) lets the override still reuse the parent's original logic</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Trick interview question: 'can you overload by return type alone?' - no, parameters must differ</a:t>
            </a:r>
            <a:endParaRPr lang="en-US" sz="11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Overloading is like a shop having several entrances for cars, bikes, and pedestrians (same building, different doors); overriding is a franchise location changing its recipe while keeping the same menu item name.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'this' Keyword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Point.java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class Point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int x, y;</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Point(int x, int y){</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this.x = x;   // resolves field vs param clash</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this.y = y;</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Point(){</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this(0, 0);   // constructor chaining</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Point shift(int dx){</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this.x += dx;</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return this;  // enables method chaining</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a:t>
            </a:r>
            <a:endParaRPr lang="en-US" sz="85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'this' refers to the current object - it disambiguates fields from parameters, chains constructors, and enables fluent APIs.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this.x = x resolves the naming clash between the field and constructor parameter</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this(0, 0) calls another constructor in the same class - must be the first line if used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Returning this from shift() lets callers chain calls like point.shift(1).shift(2)</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trap: this() and super() can never both appear in the same constructor</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'this' is like saying 'my own' when two people in a room share the same first name - it points unambiguously back to you, the current object.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'static' Keyword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Counter.java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Counter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static int count = 0;      // shared across all objects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int id;</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Counter(){</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count++;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id = count;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static int getCount(){ return count;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Counter a = new Counter();</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Counter b = new Counter();</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System.out.println(Counter.getCount()); // 2</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static fields and methods belong to the class itself, so every instance shares the exact same copy in memory.</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count is one shared variable - every new Counter increments the same field</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getCount() is callable without an object: Counter.getCount()</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Static methods can't use 'this' or access instance (non-static) fields directly</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Common interview pitfall: static methods cannot be overridden, only hidden, since they bind at compile time</a:t>
            </a:r>
            <a:endParaRPr lang="en-US" sz="11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static field is like a shared office printer counter - every employee's print job increments the one shared counter, not a personal copy.</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final vs finally vs finalize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Resource.java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final class Config {              // final class: can't extend</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final String name;              // final field: set once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Config(String n){ name = n;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void readFile(){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try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 risky I/O</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 catch (Exception 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System.out.println("error");</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 finally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System.out.println("closing resource"); // always runs</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final locks values or classes, finally guarantees cleanup code runs, and finalize() was the old (now deprecated) GC hook.</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final on Config prevents subclassing; final on name means it can be assigned only once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finally always executes - whether the try block succeeds, fails, or even returns early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finalize() ran before an object was garbage-collected but is deprecated since Java 9 - use try-with-resources instead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mention try-with-resources as the modern replacement for finalize()-based cleanup</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100" i="1" dirty="0">
                <a:solidFill>
                  <a:srgbClr val="1B2340"/>
                </a:solidFill>
                <a:latin typeface="Calibri" pitchFamily="34" charset="0"/>
                <a:ea typeface="Calibri" pitchFamily="34" charset="-122"/>
                <a:cs typeface="Calibri" pitchFamily="34" charset="-120"/>
              </a:rPr>
              <a:t>final is a sealed contract that can't be renegotiated, finally is the closing checklist you always run before leaving a room regardless of what happened inside, and finalize() was an old janitor who might clean up eventually - unreliable, so nobody depends on him anymore.</a:t>
            </a:r>
            <a:endParaRPr lang="en-US" sz="110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JVM, JDK, JRE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notes.txt</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JDK  = JRE + development tools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(javac, debugger, javadoc)</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JRE  = JVM + core libraries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(needed to RUN Java apps)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JVM  = executes bytecode (.class files)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platform specific implementation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same bytecode runs on any OS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Flow: .java --javac--&gt; .class --JVM--&gt; runs</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JDK builds Java code, JRE runs it, and the JVM is the engine inside JRE that executes platform-independent bytecode.</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javac compiles .java source into .class bytecode - this step needs the JDK</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JVM interprets or JIT-compiles that bytecode into native machine instructions per OS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Because bytecode is standardized, the same .class file runs unmodified on Windows, Linux, or Mac</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shorthand: JDK is for developers, JRE is for end users, JVM is the actual execution engine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Bytecode is like a universal recipe card; each country's kitchen (JVM implementation for that OS) can read the same card and cook the dish using local equipment, so the recipe itself never needs to change.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Exception Handling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BankOps.java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class InsufficientFundsException extends Exception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InsufficientFundsException(String msg){ super(msg);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class Bank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void withdraw(double bal, double amt)</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throws InsufficientFundsException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if (amt &gt; bal)</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throw new InsufficientFundsException("Low balance");</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System.out.println("Withdrawn: "+amt);</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try { bank.withdraw(100, 500);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catch (InsufficientFundsException e){</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System.out.println(e.getMessage());</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a:t>
            </a:r>
            <a:endParaRPr lang="en-US" sz="8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Custom checked exceptions force callers to handle domain-specific failures explicitly, instead of silently ignoring them.</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Extending Exception (not RuntimeException) makes it a checked exception the compiler enforces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throws in the method signature documents which exceptions callers must handle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throw actually raises the exception object when the business rule is violated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checked vs unchecked - checked must be declared/caught, unchecked (RuntimeException) need not be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checked exception is like a form that legally requires a signature before you can proceed - you can't skip acknowledging the risk, unlike an unchecked exception which is more like an optional warning label.</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String Immutability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StringDemo.java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String a = "hello";</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String b = a.concat(" world");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System.out.println(a);  // still "hello"</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System.out.println(b);  // "hello world"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StringBuilder sb = new StringBuilder("hello");</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sb.append(" world");    // modifies same object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System.out.println(sb); // "hello world"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 is unchanged because concat() returns a NEW String</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Strings are immutable so every 'modification' actually creates a new object - use StringBuilder in loops to avoid that overhead.</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concat() never touches the original 'a' - it returns a brand new String object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StringBuilder mutates its internal buffer in place, which is far cheaper inside loops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StringBuffer is StringBuilder's synchronized (thread-safe) twin - slightly slower, safe across threads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reason for immutability: security (safe as HashMap keys), caching in the string pool, and thread-safety</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String is like a printed document - editing it means printing a whole new page; a StringBuilder is a whiteboard you can erase and rewrite in place.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NullPointerException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SafeAccess.java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Map&lt;String, User&gt; users = new HashMap&lt;&gt;();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User u = users.get("missing");   // returns null</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Unsafe - throws NullPointerException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System.out.println(u.getName());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Safe with Optional</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Optional&lt;User&gt; ou = Optional.ofNullable(u);</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ou.map(User::getName).orElse("Unknown"));</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NullPointerException happens when you call a method on a null reference; guard with null checks, Optional, or Objects.requireNonNull.</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users.get() silently returns null when the key doesn't exist - a very common NPE source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Optional.ofNullable() wraps a possibly-null value so you're forced to handle the empty case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orElse() supplies a fallback instead of crashing when the value is absent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mention: Java 14+ shows 'helpful NullPointerExceptions' that name the exact null variable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Calling a method on null is like trying to phone someone whose number was never saved - Optional is like checking your contacts app first and showing 'no contact found' instead of the app crashing.</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Types of Inheritance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Inheritance.java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class A { void greet(){ System.out.println("A"); }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class B extends A { }              // single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class C extends B { }              // multilevel (A-&gt;B-&gt;C)</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class D extends A {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class E extends A { }              // hierarchical (A-&gt;D, A-&gt;E)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interface X { void x();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interface Y { void y();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class Z implements X, Y { ... }    // multiple (via interfaces)</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Java supports single, multilevel, and hierarchical class inheritance directly, and multiple inheritance only through interfaces.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Multilevel: C indirectly inherits everything A has, through B</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Hierarchical: both D and E extend the same parent A independently</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True multiple inheritance of classes is disallowed to avoid the diamond problem</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Interview diagram tip: be ready to sketch these four types on a whiteboard quickly</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Multilevel inheritance is like a family recipe passed grandmother to mother to daughter; hierarchical is two siblings both inheriting the same recipe from one mother independently.</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Java Version Features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ModernJava.java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Java 17 example: records + switch expressions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record Point(int x, int y)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Point p = new Point(3, 4);</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String desc = switch (p.x())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case 0 -&gt; "origin-x";</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default -&gt; "x=" + p.x();</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System.out.println(desc);</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var also works: var list = List.of(1,2,3);</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Mention concrete features by version - records, sealed classes, and pattern-matching switch (17+), text blocks (15+), var (10+).</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record auto-generates constructor, getters, equals/hashCode, and toString for immutable data carriers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Switch expressions with -&gt; avoid fall-through bugs and can return a value directly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var (Java 10+) infers the type locally without making Java dynamically typed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Interviewers like specifics - naming 'records in 16' beats a vague 'Java has gotten better'</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record is like a pre-printed form (name, age fields already defined) versus a blank sheet of paper (a full class) you'd otherwise have to design yourself every time.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Annotations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UserService.java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@Service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public class UserService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@Autowired</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private UserRepository repo;</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@Override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public String toString(){ return "UserService";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@Deprecated</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public void oldMethod(){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Annotations are metadata that frameworks or the compiler read at compile-time or runtime to change behavior without extra code.</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@Service tells Spring to manage this class as a bean in its container</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@Autowired asks Spring to inject a matching dependency automatically</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@Override is a compiler check - it fails the build if the method doesn't actually override anything</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Interview tip: distinguish compiler-only annotations (@Override) from runtime-read ones (@Autowired) used via reflection</a:t>
            </a:r>
            <a:endParaRPr lang="en-US" sz="11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Annotations are like sticky notes on a form telling a clerk (the framework) what to do with that section, without changing the form's actual content.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 vs .equals()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EqualsDemo.java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String a = new String("cat");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String b = new String("cat");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System.out.println(a == b);       // false - different objects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System.out.println(a.equals(b));  // true  - same content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String x = "cat";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String y = "cat";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System.out.println(x == y);       // true - same string pool ref</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 compares references (or primitive values), while .equals() compares logical content as defined by the class.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new String(...) always creates a fresh object on the heap, so a == b is false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Literal strings x and y are pulled from the shared string pool, so they can share a reference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Custom classes must override equals() (and hashCode()) or == and .equals() behave identically by default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trap: forgetting to override hashCode() alongside equals() breaks HashMap/HashSet lookups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 asks 'are these the exact same physical house?' while .equals() asks 'do these two houses look identical inside?' - two different houses can look the same without being the same building.</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ArrayList vs LinkedList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ListBenchmark.java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List&lt;Integer&gt; arr = new ArrayList&lt;&gt;();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List&lt;Integer&gt; linked = new LinkedList&lt;&gt;();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for (int i = 0; i &lt; 100000; i++)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arr.add(0, i);     // slow: shifts all elements, O(n)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linked.add(0, i);  // fast: just relinks pointers, O(1)</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arr.get(50000);      // fast: O(1) direct index</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linked.get(50000);   // slow: O(n) pointer traversal</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Pick ArrayList when you read by index often; pick LinkedList when you insert/remove frequently at the ends.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ArrayList is backed by a resizable array - random access is O(1), but inserting at the front shifts everything</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LinkedList is backed by doubly-linked nodes - insertion/removal at known positions is O(1), but access by index is O(n)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ArrayList generally wins in practice due to CPU cache locality, even for many insert-heavy workloads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one-liner to remember: 'array = fast reads, linked = fast edits at the ends'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100" i="1" dirty="0">
                <a:solidFill>
                  <a:srgbClr val="1B2340"/>
                </a:solidFill>
                <a:latin typeface="Calibri" pitchFamily="34" charset="0"/>
                <a:ea typeface="Calibri" pitchFamily="34" charset="-122"/>
                <a:cs typeface="Calibri" pitchFamily="34" charset="-120"/>
              </a:rPr>
              <a:t>ArrayList is a numbered row of lockers - you can jump straight to locker 50, but inserting a new one in the middle means shuffling every locker after it. LinkedList is a treasure hunt chain of notes - inserting a note anywhere is instant, but finding note 50 means following the whole chain.</a:t>
            </a:r>
            <a:endParaRPr lang="en-US" sz="110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List vs Set vs Map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CollectionsDemo.java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List&lt;String&gt; list = new ArrayList&lt;&gt;();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list.add("a"); list.add("a"); // [a, a] - duplicates OK</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Set&lt;String&gt; set = new HashSet&lt;&gt;();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set.add("a"); set.add("a");   // {a} - duplicate ignored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Map&lt;String,Integer&gt; map = new HashMap&lt;&gt;();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map.put("a", 1);</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map.put("a", 2);              // {a=2} - value overwritten</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List keeps ordered duplicates, Set enforces uniqueness, and Map stores unique keys mapped to values.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List preserves insertion order and index access, allowing repeated elements</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Set relies on equals()/hashCode() to silently drop duplicates on add()</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Map's put() with an existing key overwrites the value rather than adding a new entry</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Interview follow-up: name implementations - ArrayList/LinkedList, HashSet/TreeSet/LinkedHashSet, HashMap/TreeMap/LinkedHashMap</a:t>
            </a:r>
            <a:endParaRPr lang="en-US" sz="11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List is a numbered guest list where the same name can appear twice; a Set is a guest list where the bouncer turns away repeat names; a Map is a coat-check counter - one ticket (key) always points to exactly one coat (value).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Functional Interface &amp; Lambda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LambdaDemo.java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@FunctionalInterface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interface Validator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boolean isValid(String 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Validator notEmpty = s -&gt; s != null &amp;&amp; !s.isEmpty();</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Validator startsWithA = s -&gt; s.startsWith("A");</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System.out.println(notEmpty.isValid(""));       // false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System.out.println(startsWithA.isValid("Amit")); // true</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 functional interface has exactly one abstract method, which lets a lambda expression act as its implementation.</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@FunctionalInterface is an optional but recommended check - the compiler errors if you add a second abstract method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lambda s -&gt; ... implements isValid() without writing an anonymous class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Built-in ones like Predicate&lt;T&gt;, Function&lt;T,R&gt;, and Consumer&lt;T&gt; cover most common cases already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streams heavily use functional interfaces, e.g. list.stream().filter(s -&gt; s.length() &gt; 3)</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functional interface is a job posting with exactly one task listed; a lambda is a freelancer who signs up and just does that one task, without the paperwork of a full-time employment contract (an anonymous class).</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Multithreading &amp; Thread Lifecycle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ThreadDemo.java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Worker extends Thread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public void run(){</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System.out.println("Running: "+getName());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Worker t = new Worker();     // NEW</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t.start();                   // RUNNABLE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t.join();                    // wait until TERMINATED</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Alternative: implement Runnable (preferred - allows extending</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another class since Java has no multiple inheritance)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new Thread(() -&gt; System.out.println("lambda thread")).start();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 thread moves through NEW, RUNNABLE, RUNNING, (BLOCKED/WAITING), and TERMINATED - and start() must be called, never run() directly.</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Calling run() directly just executes it like a normal method on the current thread - no new thread is created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start() registers the thread with the JVM scheduler, moving it to RUNNABLE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join() blocks the calling thread until the target thread finishes - useful for waiting on results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preference: implement Runnable over extending Thread, since Java classes can only extend one class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Extending Thread is like being born into one specific job with no other career possible; implementing Runnable is like having a skill you can bring to any employer (any Thread) - much more flexible.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Garbage Collection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GCDemo.java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class Node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Node next;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Node a = new Node();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Node b = new Node();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a.next = b;</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 = null;   // 'a' object now unreachable from any GC root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-&gt; eligible for garbage collection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System.gc(); // hint only - JVM decides if/when it actually runs</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An object becomes eligible for GC once no live reference chain from a GC root reaches it - System.gc() only suggests, never forces, collection.</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GC roots include local variables on the stack, active static fields, and running threads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young generation (Eden + Survivor) is collected frequently and fast; the old generation less often but more expensively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Modern collectors like G1 or ZGC aim for short, predictable pause times on large heaps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explain that Java has automatic memory management, unlike C++'s manual delete - this is a common comparison question</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Garbage collection is like a library periodically removing books nobody has checked out and that no shelf label (reference) points to anymore - it doesn't wait for you to ask, it just sweeps unreachable ones on its own schedule.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Java Collection Framework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FrameworkDemo.java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Collection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List   -&gt; ArrayList, LinkedList, Vector</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Set    -&gt; HashSet, LinkedHashSet, TreeSet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Queue  -&gt; PriorityQueue, ArrayDeque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Map (separate hierarchy, not a Collection)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HashMap, LinkedHashMap, TreeMap</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List&lt;Integer&gt; nums = new ArrayList&lt;&gt;(List.of(5,1,3));</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Collections.sort(nums);  // [1, 3, 5]</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Calibri" pitchFamily="34" charset="0"/>
                <a:ea typeface="Calibri" pitchFamily="34" charset="-122"/>
                <a:cs typeface="Calibri" pitchFamily="34" charset="-120"/>
              </a:rPr>
              <a:t>The framework splits into Collection (List/Set/Queue) and the separate Map hierarchy, unified by common interfaces and utility classes like Collections.</a:t>
            </a:r>
            <a:endParaRPr lang="en-US" sz="100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Map is deliberately not a Collection subtype, since it stores key-value pairs, not single elements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TreeSet/TreeMap keep elements sorted automatically using a Red-Black tree internally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Collections utility class provides static helpers: sort(), reverse(), unmodifiableList(), etc.</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whiteboard tip: draw this exact tree - interviewers often just want to see you know the hierarchy</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it as a filing cabinet system: List drawers keep folders in order and allow duplicates, Set drawers reject duplicate folders, Queue drawers only let you take from the front, and Map is a completely separate lookup index card system keyed by label.</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Spring Boot vs Spring MVC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Application.java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@SpringBootApplication   // auto-config + component scan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public class Application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public static void main(String[] args)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SpringApplication.run(Application.class, args);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No web.xml, no manual DispatcherServlet setup,</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no external Tomcat needed - embedded server + auto config</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Spring Boot is Spring MVC pre-configured with sensible defaults, an embedded server, and starter dependencies - no XML plumbing.</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@SpringBootApplication bundles @Configuration, @EnableAutoConfiguration, and @ComponentScan into one annotation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Spring MVC alone still requires manually configuring a DispatcherServlet and often a web.xml</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Boot ships an embedded Tomcat/Jetty, so 'java -jar app.jar' runs a full web server directly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line: 'Spring Boot doesn't replace Spring MVC - it's Spring MVC with convention over configuration'</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Spring MVC is a car sold as separate parts you assemble yourself; Spring Boot is the same car pre-assembled at the factory with sensible default settings, ready to drive off the lot.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@Controller vs @RestController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Controllers.java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@Controller</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public class PageController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@GetMapping("/home")</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public String home(){</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return "home";  // resolves to home.html view</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@RestController        // = @Controller + @ResponseBody</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public class ApiController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@GetMapping("/api/users")</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public List&lt;User&gt; getUsers(){</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return userService.findAll(); // serialized directly to JSON</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a:t>
            </a:r>
            <a:endParaRPr lang="en-US" sz="85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@Controller returns view names to render HTML, while @RestController writes the return value straight into the HTTP response body as JSON.</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PageController's home() return value is resolved by a view resolver into an HTML template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@RestController implicitly applies @ResponseBody to every method, skipping view resolution entirely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Mixing them in one class is possible but confusing - keep page-serving and API controllers separate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shortcut: @RestController = @Controller + @ResponseBody, memorize that equation</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@Controller is a waiter handing you a printed menu (HTML page) to read; @RestController is a waiter handing you the raw ingredients (JSON data) so your own app can plate it however it wants.</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Common Spring Boot Annotations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ProductService.java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@Entity</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class Product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@Id @GeneratedValue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private Long id;</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private String name;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@Repository</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interface ProductRepo extends JpaRepository&lt;Product, Long&gt;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@Service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class ProductService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@Autowired ProductRepo repo;</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public List&lt;Product&gt; all(){ return repo.findAll();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Layer annotations tell Spring what role each bean plays: @Entity for data, @Repository for persistence, @Service for logic, @Controller for HTTP.</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@Entity maps the class to a database table; @Id/@GeneratedValue mark the auto-incrementing primary key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@Repository extending JpaRepository gives you CRUD methods (findAll, save, deleteById) with zero implementation code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@Service marks the business-logic layer, keeping it separate from data access and web layers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know the layered flow - Controller receives requests, Service holds logic, Repository talks to the DB</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Think of a restaurant: @Controller is the waiter taking orders, @Service is the chef deciding how to cook, @Repository is the delivery person fetching ingredients from the warehouse (database), and @Entity is the ingredient itself.</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REST vs Microservices vs SOAP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notes.txt</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REST API (architectural style)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GET /orders/42          -&gt; JSON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Stateless, resource-based URLs, HTTP verbs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SOAP (protocol)</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POST /service  + XML envelope + strict WSDL contract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Heavier, but built-in security/transaction standards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Microservices (architecture pattern)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OrderService --REST/gRPC--&gt; InventoryService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Independently deployable services, often REST as transport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900" dirty="0">
                <a:solidFill>
                  <a:srgbClr val="FFFFFF"/>
                </a:solidFill>
                <a:latin typeface="Calibri" pitchFamily="34" charset="0"/>
                <a:ea typeface="Calibri" pitchFamily="34" charset="-122"/>
                <a:cs typeface="Calibri" pitchFamily="34" charset="-120"/>
              </a:rPr>
              <a:t>REST and SOAP are communication styles/protocols; microservices is an architecture pattern that often uses REST as the transport between independently deployed services.</a:t>
            </a:r>
            <a:endParaRPr lang="en-US" sz="90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REST is lightweight, uses standard HTTP verbs, and typically exchanges JSON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SOAP is protocol-strict with XML envelopes and a formal WSDL contract - common in banking/enterprise legacy systems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Microservices describes how you split an application into independent services; it's orthogonal to REST vs SOAP</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trap: don't say 'microservices vs REST' as if they compete - one is architecture, the other is a communication style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REST is texting - quick, informal, flexible format. SOAP is registered mail - strict envelope format with proof of contract. Microservices describes the office structure (many small independent departments) rather than how they mail things to each other.</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GET, POST, PUT, PATCH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UserController.java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@GetMapping("/users/{id}")</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User get(@PathVariable Long id){ return service.find(id);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@PostMapping("/users")</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User create(@RequestBody User u){ return service.save(u);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@PutMapping("/users/{id}")</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User replace(@PathVariable Long id, @RequestBody User u){</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return service.replaceAll(id, u);  // full overwrite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@PatchMapping("/users/{id}")</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User update(@PathVariable Long id, @RequestBody Map&lt;String,Object&gt; f){</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return service.updateFields(id, f); // partial update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GET reads, POST creates, PUT replaces the whole resource, and PATCH updates only the fields you send.</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GET and PUT are idempotent - calling them repeatedly with the same input leaves the same end state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POST is not idempotent - calling it twice typically creates two resources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PUT expects the full resource; omitted fields are often reset to null/default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trap question: 'is PATCH idempotent?' - not guaranteed, depends on the operation (e.g. 'increment' is not)</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GET is reading a book, POST is buying a new copy, PUT is replacing the entire book with a new edition, and PATCH is just correcting a typo on one page without touching the rest.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Node.js &amp; npm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package.json</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"name": "my-app",</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"version": "1.0.0",</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"scripts":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"start": "node server.js"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"dependencies":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"express": "^4.18.0"</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terminal: npm install   -&gt; reads deps, fills node_modules/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terminal: npm start     -&gt; runs the 'start' script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Node.js runs JavaScript outside the browser on the V8 engine, and npm manages the packages and scripts a Node project depends on.</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package.json is the project's manifest - name, scripts, and exact dependency versions</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npm install reads dependencies and downloads them into node_modules/</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npm start (or any custom script key) is a shortcut so the whole team runs commands the same way</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Interview tip: know the difference between dependencies (needed in production) and devDependencies (only for local dev/testing)</a:t>
            </a:r>
            <a:endParaRPr lang="en-US" sz="11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package.json is a recipe card listing exact ingredient brands and amounts (dependency versions); npm install is going shopping to fill your pantry (node_modules) to match that exact list.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CRUD Implementation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ProductController.java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@RestController</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@RequestMapping("/products")</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class ProductController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@Autowired ProductRepo repo;</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@PostMapping                     // Create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Product create(@RequestBody Product p){ return repo.save(p);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@PutMapping("/{id}")             // Update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Product update(@PathVariable Long id, @RequestBody Product p){</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p.setId(id); return repo.save(p);</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@DeleteMapping("/{id}")          // Delete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void delete(@PathVariable Long id){ repo.deleteById(id);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 CRUD API maps Create/Read/Update/Delete directly onto POST/GET/PUT/DELETE, backed by a repository that talks to the database.</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repo.save() handles both insert and update depending on whether the entity's id already exists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Setting p.setId(id) before save() in update() ensures Spring updates the existing row instead of inserting a new one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deleteById() removes the row directly - production code should also handle the not-found case cleanly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be ready to sketch this exact controller-repository pattern for any entity, not just Product</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CRUD API is a librarian's front desk: add a new book (Create), look one up (Read), replace a worn-out copy (Update), and pull an old one from circulation (Delete) - all through the same counter (endpoint pattern).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Virtual DOM vs Real DOM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Counter.jsx</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function Counter()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const [count, setCount] = useState(0);</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return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&lt;div&gt;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&lt;p&gt;Count: {count}&lt;/p&gt;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&lt;button onClick={() =&gt; setCount(count + 1)}&gt;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Add</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&lt;/button&gt;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&lt;/div&gt;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Clicking Add only patches the &lt;p&gt; text node,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not the whole &lt;div&gt; tree, thanks to the virtual DOM diff</a:t>
            </a:r>
            <a:endParaRPr lang="en-US" sz="9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React keeps a lightweight in-memory copy of the DOM, diffs it after each state change, and patches only the real DOM nodes that actually changed.</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setCount triggers React to re-render the component function and build a new virtual DOM tree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React diffs the new virtual tree against the previous one (reconciliation)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Only the actual differences (here, the count text) are applied to the real DOM - not a full re-paint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line: this makes updates fast because real DOM writes are expensive, virtual DOM diffs are cheap</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Editing a Google Doc live with someone shows only the exact changed words highlighted, not a full page reprint - the virtual DOM diff works the same way, syncing only what actually changed.</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Props vs State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Profile.jsx</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function Profile({ name }) {          // name is a PROP</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const [visits, setVisits] = useState(0); // visits is STATE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useEffect(() =&gt;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setVisits(v =&gt; v + 1);</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&lt;p&gt;{name} viewed {visits} times&lt;/p&gt;;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&lt;Profile name="Asha" /&gt;   // parent passes the prop down</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Props are read-only data passed from a parent component, while state is data a component owns and can change itself.</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name comes from the parent and Profile can never reassign it directly - props are immutable from inside</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visits is local state - only Profile can update it, using setVisits</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Changing state re-renders the component; changing a prop's value happens only when the parent re-renders it</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Interview one-liner: 'props flow down, state lives inside' - a very common phrasing to use</a:t>
            </a:r>
            <a:endParaRPr lang="en-US" sz="11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Props are like instructions handed to you by your manager - you can read them but not rewrite the memo yourself. State is your own personal notebook - you control what's written in it.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useState &amp; useEffect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UserCard.jsx</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function UserCard({ id })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const [user, setUser] = useState(null);</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const [loading, setLoading] = useState(true);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useEffect(() =&gt;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setLoading(true);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fetch(`/api/users/${id}`)</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.then(res =&gt; res.json())</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.then(data =&gt; { setUser(data); setLoading(false);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 [id]);   // re-runs only when 'id' changes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if (loading) return &lt;p&gt;Loading...&lt;/p&gt;;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&lt;p&gt;{user.name}&lt;/p&gt;;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Calibri" pitchFamily="34" charset="0"/>
                <a:ea typeface="Calibri" pitchFamily="34" charset="-122"/>
                <a:cs typeface="Calibri" pitchFamily="34" charset="-120"/>
              </a:rPr>
              <a:t>useState holds a component's local data, and useEffect runs side effects (like fetching) after render, re-running only when its dependency array changes.</a:t>
            </a:r>
            <a:endParaRPr lang="en-US" sz="100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[id] dependency array means the effect skips re-running unless id itself changes between renders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An empty array [] means 'run once, after the first render only' - common for one-time setup like initial fetches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Omitting the array entirely makes the effect run after every single render - usually a bug, not a choice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trap: forgetting a cleanup function in useEffect can cause memory leaks with subscriptions or timers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useState is a sticky note you can update anytime; useEffect is an alarm that goes off only when specific ingredients (dependencies) on your recipe card change, not every time you glance at the kitchen.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let, var, const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scope.js</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function demo()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if (true)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var a = 1;    // function-scoped</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let b = 2;    // block-scoped</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const c = 3;  // block-scoped, cannot be reassigned</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console.log(a); // 1 - visible outside the block</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 console.log(b); // ReferenceError - not visible here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const arr = [1, 2];</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arr.push(3); // OK - const blocks reassignment, not mutation</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var is function-scoped and hoisted, let and const are block-scoped, and const only prevents reassignment - not mutation of objects/arrays.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var leaks outside its enclosing block, which caused many classic JavaScript bugs in loops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let and const respect the nearest {} block, matching how most other languages scope variables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const arr.push(3) works because you're mutating the array's contents, not reassigning the arr variable itself</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mention 'temporal dead zone' - let/const exist but are inaccessible before their declaration line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var is like a rumor that spreads outside the room it started in; let and const are conversations that stay strictly inside the room (block) where they happened.</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Single Page Application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App.jsx</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import { BrowserRouter, Routes, Route } from 'react-router-dom';</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function App()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return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&lt;BrowserRouter&gt;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&lt;Routes&gt;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&lt;Route path="/" element={&lt;Home /&gt;} /&gt;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&lt;Route path="/profile" element={&lt;Profile /&gt;} /&gt;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&lt;/Routes&gt;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&lt;/BrowserRouter&gt;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Navigating to /profile swaps components client-side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no full page reload, no new HTML from the server</a:t>
            </a:r>
            <a:endParaRPr lang="en-US" sz="9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An SPA loads one HTML shell once, then a client-side router swaps components in and out as the user navigates - no full page reloads.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react-router-dom intercepts link clicks and updates the URL/component without hitting the server for a new page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Only data (via fetch/API calls) is exchanged after the initial load, not full HTML documents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This gives a faster, app-like feel but requires extra care for SEO and initial load performance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contrast with traditional multi-page apps where every navigation triggers a full server round-trip</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traditional website is like changing TV channels - each one is a totally separate broadcast. An SPA is like a smart TV app that just updates the content on screen without switching the whole device off and on.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HTML/CSS Basics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card.html</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&lt;div class="card"&gt;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&lt;h2&gt;Profile&lt;/h2&gt;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&lt;p&gt;Frontend basics matter in interviews too.&lt;/p&gt;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&lt;/div&gt;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&lt;style&gt;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.card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display: flex;</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flex-direction: column;</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padding: 16px;</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box-sizing: border-box;  /* padding included in width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&lt;/style&gt;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Know the box model (content, padding, border, margin), flexbox basics, and semantic tags - these come up in almost every frontend screen.</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box-sizing: border-box makes padding/border count inside the declared width, avoiding layout surprises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display: flex with flex-direction controls whether children stack in a row or column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Semantic tags like &lt;header&gt;, &lt;nav&gt;, &lt;main&gt; improve accessibility and SEO over generic &lt;div&gt; soup</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favorite: 'explain the CSS box model' - be ready to name all four layers in order: content, padding, border, margin</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The CSS box model is like a picture frame: the photo is the content, the matting around it is padding, the frame itself is the border, and the wall-space you leave around the frame is the margin.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SQL Joins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joins.sql</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SELECT e.name, d.dept_name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FROM employees 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INNER JOIN departments d ON e.dept_id = d.id;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only employees WITH a matching department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SELECT e.name, d.dept_name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FROM employees 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LEFT JOIN departments d ON e.dept_id = d.id;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all employees, department is NULL if unmatched</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950" dirty="0">
                <a:solidFill>
                  <a:srgbClr val="FFFFFF"/>
                </a:solidFill>
                <a:latin typeface="Calibri" pitchFamily="34" charset="0"/>
                <a:ea typeface="Calibri" pitchFamily="34" charset="-122"/>
                <a:cs typeface="Calibri" pitchFamily="34" charset="-120"/>
              </a:rPr>
              <a:t>INNER JOIN returns only matching rows on both sides, LEFT/RIGHT JOIN keeps all rows from one side with NULLs for no match, and FULL JOIN keeps all rows from both.</a:t>
            </a:r>
            <a:endParaRPr lang="en-US" sz="9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INNER JOIN is the strictest - a row disappears entirely if there's no match on either side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LEFT JOIN guarantees every row from employees appears, filling department columns with NULL when unmatched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FULL JOIN combines LEFT and RIGHT - all rows from both tables, matched where possible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draw two overlapping circles (Venn diagram) - it's the fastest way to explain joins on a whiteboard</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INNER JOIN is a guest list matched against an RSVP list - only names on both lists get through. LEFT JOIN keeps every guest even if they never RSVP'd, just marking their RSVP status as blank.</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Primary vs Foreign vs Unique Key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schema.sql</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CREATE TABLE departments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id INT PRIMARY KEY,</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code VARCHAR(10) UNIQUE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CREATE TABLE employees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id INT PRIMARY KEY,</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email VARCHAR(100) UNIQUE,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dept_id INT,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FOREIGN KEY (dept_id) REFERENCES departments(id)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900" dirty="0">
                <a:solidFill>
                  <a:srgbClr val="FFFFFF"/>
                </a:solidFill>
                <a:latin typeface="Calibri" pitchFamily="34" charset="0"/>
                <a:ea typeface="Calibri" pitchFamily="34" charset="-122"/>
                <a:cs typeface="Calibri" pitchFamily="34" charset="-120"/>
              </a:rPr>
              <a:t>Primary key uniquely identifies a row and can't be null, unique key also enforces distinct values but allows one null, and foreign key links to another table's primary key.</a:t>
            </a:r>
            <a:endParaRPr lang="en-US" sz="90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 table can have only one primary key but multiple unique keys (like email, phone, etc.)</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Foreign key (dept_id) enforces referential integrity - you can't insert an employee with a non-existent dept_id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Deleting a department referenced by employees will fail or cascade, depending on the FK's ON DELETE rule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primary key = identity + not-null + unique; unique key = unique only, null allowed (usually once)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100" i="1" dirty="0">
                <a:solidFill>
                  <a:srgbClr val="1B2340"/>
                </a:solidFill>
                <a:latin typeface="Calibri" pitchFamily="34" charset="0"/>
                <a:ea typeface="Calibri" pitchFamily="34" charset="-122"/>
                <a:cs typeface="Calibri" pitchFamily="34" charset="-120"/>
              </a:rPr>
              <a:t>A primary key is like a person's unique passport number - exactly one per person, mandatory. A unique key is like an email address - must be distinct, but it's optional. A foreign key is like listing your employer's registration number on your own ID - it must exist in the employer's registry.</a:t>
            </a:r>
            <a:endParaRPr lang="en-US" sz="110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Nth Highest Salary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nth_salary.sql</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Using DENSE_RANK (handles ties correctly)</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SELECT salary FROM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SELECT salary,</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DENSE_RANK() OVER (ORDER BY salary DESC) AS rnk</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FROM employees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ranked</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WHERE rnk = 3;   -- change 3 for Nth</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Simpler alternative without window functions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SELECT DISTINCT salary FROM employees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ORDER BY salary DESC</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LIMIT 1 OFFSET 2;  -- OFFSET = N-1, for 3rd highest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Use DENSE_RANK() with a window to correctly handle duplicate salaries, or DISTINCT + LIMIT/OFFSET for a simpler MySQL/Postgres-only approach.</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DENSE_RANK() gives tied salaries the same rank, so '3rd highest' means 3rd distinct value, not 3rd row</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RANK() would skip numbers after a tie (1,2,2,4) while DENSE_RANK() doesn't (1,2,2,3) - know this distinction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OFFSET version is simpler but less portable and slower on very large tables without an index</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classic: this is one of the most frequently asked SQL questions - practice both approaches until they're second nature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DENSE_RANK is like a race podium where two runners can tie for silver, and the next place is still 'bronze', not skipped - unlike RANK which would leave a gap in the numbering after a tie.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GROUP BY vs ORDER BY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group_order.sql</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SELECT dept_id, COUNT(*) AS emp_count, AVG(salary) AS avg_sal</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FROM employees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GROUP BY dept_id          -- collapses rows into groups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HAVING COUNT(*) &gt; 5       -- filters groups, not raw rows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ORDER BY avg_sal DESC;    -- sorts the final result set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GROUP BY collapses rows into aggregated groups, while ORDER BY simply sorts the final rows without changing how many there are.</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GROUP BY dept_id merges all employees per department into one summary row using COUNT/AVG/SUM</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HAVING filters after grouping (on aggregates); WHERE would filter before grouping (on raw rows)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ORDER BY runs last in logical query order, sorting whatever rows survived grouping and filtering</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trap: you cannot use WHERE to filter on an aggregate like COUNT(*) - that's exactly what HAVING is for</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GROUP BY is sorting mail into department pigeonholes and stapling a summary note per pigeonhole; ORDER BY is simply arranging the final stack of notes on your desk from highest to lowest, without touching what's inside.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Subquery vs Correlated Subquery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subqueries.sql</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Plain subquery: runs once, independently</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SELECT name FROM employees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WHERE salary &gt; (SELECT AVG(salary) FROM employees);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Correlated subquery: re-runs per outer row</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SELECT name, dept_id FROM employees 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WHERE salary &gt;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SELECT AVG(salary) FROM employees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WHERE dept_id = e.dept_id   -- references outer row</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900" dirty="0">
                <a:solidFill>
                  <a:srgbClr val="FFFFFF"/>
                </a:solidFill>
                <a:latin typeface="Calibri" pitchFamily="34" charset="0"/>
                <a:ea typeface="Calibri" pitchFamily="34" charset="-122"/>
                <a:cs typeface="Calibri" pitchFamily="34" charset="-120"/>
              </a:rPr>
              <a:t>A plain subquery executes once and returns a fixed value/set, while a correlated subquery re-executes for every row of the outer query because it references outer columns.</a:t>
            </a:r>
            <a:endParaRPr lang="en-US" sz="90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first query computes ONE overall average salary, used to filter all employees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correlated version computes a DIFFERENT average per department, since dept_id = e.dept_id ties it to the outer row</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Correlated subqueries are powerful but can be slow on large tables since they run repeatedly - often rewritable as a JOIN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if a subquery references a column from the outer query, that's the signal it's correlated</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100" i="1" dirty="0">
                <a:solidFill>
                  <a:srgbClr val="1B2340"/>
                </a:solidFill>
                <a:latin typeface="Calibri" pitchFamily="34" charset="0"/>
                <a:ea typeface="Calibri" pitchFamily="34" charset="-122"/>
                <a:cs typeface="Calibri" pitchFamily="34" charset="-120"/>
              </a:rPr>
              <a:t>A plain subquery is like calculating the company-wide average salary once and comparing everyone to that single number. A correlated subquery is like recalculating a fresh average for each employee's own department before comparing them against just their peers.</a:t>
            </a:r>
            <a:endParaRPr lang="en-US" sz="110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Database Normalization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normalize.sql</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Unnormalized: repeats department name per employee row</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employees(id, name, dept_id, dept_name, dept_location)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-- 3NF: split into two tables, no transitive dependency</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CREATE TABLE departments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id INT PRIMARY KEY, name VARCHAR(50), location VARCHAR(50)</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CREATE TABLE employees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id INT PRIMARY KEY, name VARCHAR(50),</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dept_id INT REFERENCES departments(id)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1NF removes repeating groups, 2NF removes partial dependency on part of a composite key, and 3NF removes transitive dependency on non-key columns.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1NF: every column holds atomic (single) values - no comma-separated lists in one cell</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2NF: every non-key column depends on the WHOLE primary key, not just part of a composite key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3NF: no non-key column depends on another non-key column - dept_location shouldn't live in employees since it depends on dept_id, not id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shortcut: 'the key, the whole key, and nothing but the key' - a classic mnemonic for 1NF through 3NF</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Normalization is like splitting a messy shared spreadsheet into separate linked sheets - one for employees, one for departments - so updating a department's location means editing it in exactly one place, not hunting through every employee row.</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SQL vs MongoDB vs PostgreSQL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notes.txt</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SQL (general term)</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Relational, table-based, ACID transactions, fixed schema</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PostgreSQL (a specific SQL database)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Advanced relational features: JSONB, window functions,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full-text search, strong standards compliance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MongoDB (NoSQL, document-based)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name: 'Amit', skills: ['Java','SQL']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Flexible schema, horizontal scaling, denormalized data</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Calibri" pitchFamily="34" charset="0"/>
                <a:ea typeface="Calibri" pitchFamily="34" charset="-122"/>
                <a:cs typeface="Calibri" pitchFamily="34" charset="-120"/>
              </a:rPr>
              <a:t>SQL is the query language/paradigm for relational databases like PostgreSQL, while MongoDB is a NoSQL document store with a flexible, schema-less structure.</a:t>
            </a:r>
            <a:endParaRPr lang="en-US" sz="100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PostgreSQL enforces a fixed schema upfront - every row in a table must match its column definitions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MongoDB documents in the same collection can each have different fields, which suits fast-changing data models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Relational databases excel at complex joins and strict consistency; MongoDB excels at horizontal scale and flexible nested data</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don't say 'MongoDB is better' - the right answer is 'it depends on the data shape and consistency needs'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PostgreSQL is a strict filing cabinet where every folder must follow the same labeled template. MongoDB is more like a set of flexible binders where each page can have its own layout, ideal when your data doesn't fit one rigid shape.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MongoDB Basic Operations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mongo_ops.js</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Connect: mongosh "mongodb://localhost:27017"</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use company;</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db.employees.insertOne({ name: "Riya", salary: 55000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db.employees.find({ salary: { $gt: 50000 }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db.employees.updateOne(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name: "Riya"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$set: { salary: 60000 }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db.employees.deleteOne({ name: "Riya" });</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MongoDB's core CRUD verbs are insertOne/insertMany, find with query operators like $gt, updateOne/updateMany with $set, and deleteOne/deleteMany.</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Collections (employees) are MongoDB's equivalent of SQL tables, holding flexible JSON-like documents</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$gt, $lt, $in are query operators - similar in spirit to SQL's &gt;, &lt;, IN</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updateOne requires $set explicitly, or it would replace the ENTIRE document instead of just one field</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Interview tip: mention that MongoDB queries read almost like JSON, which is part of its appeal for JS-based full-stack teams</a:t>
            </a:r>
            <a:endParaRPr lang="en-US" sz="11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MongoDB collection is like a folder of individual index cards (documents) that don't all have to list the same fields, unlike a spreadsheet (SQL table) where every row must have exactly the same columns.</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Group Employees by Department + Count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dept_count.sql</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SELECT d.dept_name, COUNT(e.id) AS employee_count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FROM departments 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LEFT JOIN employees e ON e.dept_id = d.id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GROUP BY d.dept_name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ORDER BY employee_count DESC;</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LEFT JOIN ensures departments with ZERO employees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still appear in the result, with count = 0</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LEFT JOIN departments to employees before grouping so departments with no staff still show up with a count of zero, instead of disappearing entirely.</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An INNER JOIN here would silently drop empty departments from the results - a common interview gotcha</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COUNT(e.id) counts only non-null employee ids per group, correctly giving 0 for unmatched departments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GROUP BY d.dept_name must match every non-aggregated column selected, or the query is invalid in strict SQL modes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this exact 'count with zero included' pattern is a favorite because it tests JOIN choice, not just GROUP BY syntax</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taking attendance by classroom - even an empty classroom should show up on the report with a headcount of zero, not be left off the list entirely.</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Palindrome Check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Palindrome2.java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Handles spaces, punctuation, and case - real interview twist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boolean isPalindrome(String s)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String clean = s.toLowerCase()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.replaceAll("[^a-z0-9]",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int l = 0, r = clean.length() - 1;</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while (l &lt; r)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if (clean.charAt(l++) != clean.charAt(r--))</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false;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true;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isPalindrome("A man, a plan, a canal: Panama") -&gt; true</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Real interview versions add cleanup - strip non-alphanumerics and lowercase everything before applying the two-pointer check.</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replaceAll("[^a-z0-9]", "") strips spaces and punctuation so 'A man, a plan...' still checks correctly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toLowerCase() first makes the comparison case-insensitive without extra branching in the loop</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core two-pointer logic is unchanged - only the input is pre-processed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ask 'should it ignore case/punctuation?' before coding - shows you clarify requirements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proofreading a sentence for symmetry by first removing all the commas and capital letters, so you're comparing only the meaningful characters, not the formatting.</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Reverse a String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Reverse2.java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Recursive approach - common interview follow-up</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String reverse(String s)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if (s.isEmpty()) return 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reverse(s.substring(1)) + s.charAt(0);</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In-place with char array (avoids extra String objects)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char[] arr = s.toCharArray();</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int l = 0, r = arr.length - 1;</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while (l &lt; r)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char tmp = arr[l]; arr[l++] = arr[r]; arr[r--] = tmp;</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Beyond the loop version, be ready to show a recursive reversal and an in-place char-array swap - interviewers often ask for a second approach.</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recursive version peels off the first character and appends it after reversing the rest - elegant but O(n) extra stack frames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char-array swap avoids creating new String objects on each step, which matters given String immutability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Recursive solutions risk StackOverflowError on very long strings - mention this trade-off proactively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naming multiple approaches (loop, recursion, in-place) signals stronger problem-solving range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The recursive version is like unstacking a pile of plates one at a time and restacking them in reverse order as you go back down - elegant, but you need enough 'hands' (stack space) to hold the pile.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Largest / Nth Largest Element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NthLargest2.java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O(n log k) using a min-heap of size k - better than full sort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int findNthLargest(int[] nums, int n)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PriorityQueue&lt;Integer&gt; heap = new PriorityQueue&lt;&gt;();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for (int num : nums)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heap.offer(num);</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if (heap.size() &gt; n) heap.poll();  // drop the smallest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return heap.peek();  // Nth largest sits at the top</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 min-heap capped at size N is more efficient than sorting the whole array when you only need the Nth largest, especially for large arrays.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Sorting the full array is O(n log n); this heap approach is O(n log k), faster when k (N) is much smaller than 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heap only ever holds N elements - once it exceeds N, the smallest is discarded, keeping the top 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After processing all elements, the heap's root (smallest of the top N) is exactly the Nth largest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proactively mention this complexity improvement - it shows you think beyond the brute-force sort</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keeping only the top 3 scores on a small leaderboard - every time a new score comes in, you only bump off the lowest one if the board is full, instead of re-sorting every score ever submitted.</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Remove Duplicates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RemoveDup2.java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Preserve original order while removing duplicates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List&lt;Integer&gt; removeDuplicates(List&lt;Integer&gt; list)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Set&lt;Integer&gt; seen = new LinkedHashSet&lt;&gt;(list);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new ArrayList&lt;&gt;(seen);</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In-place on a sorted array, O(1) extra space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int removeDupSorted(int[] arr)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int idx = 0;</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for (int i = 1; i &lt; arr.length; i++)</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if (arr[i] != arr[idx]) arr[++idx] = arr[i];</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idx + 1;  // new logical length</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Use LinkedHashSet when order matters and extra space is fine; use the two-pointer in-place technique on a sorted array when memory is constrained.</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LinkedHashSet keeps insertion order while a plain HashSet would silently reorder elements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sorted in-place version needs no extra collection - it overwrites the array as it scans forward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in-place approach only works correctly because the array is sorted, so duplicates are guaranteed adjacent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'what if the array isn't sorted?' - then in-place O(1) space isn't possible without sorting first</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100" i="1" dirty="0">
                <a:solidFill>
                  <a:srgbClr val="1B2340"/>
                </a:solidFill>
                <a:latin typeface="Calibri" pitchFamily="34" charset="0"/>
                <a:ea typeface="Calibri" pitchFamily="34" charset="-122"/>
                <a:cs typeface="Calibri" pitchFamily="34" charset="-120"/>
              </a:rPr>
              <a:t>LinkedHashSet is like a guest list where you cross out repeat names but keep everyone else in their original arrival order; the sorted in-place trick is like a line of people already grouped by name, where you just skip over repeats as you walk down the line once.</a:t>
            </a:r>
            <a:endParaRPr lang="en-US" sz="110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Bubble Sort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BubbleSort2.java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Optimized: stop early if no swaps happened</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void bubbleSort(int[] arr)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int n = arr.length;</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for (int i = 0; i &lt; n - 1; i++)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boolean swapped = false;</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for (int j = 0; j &lt; n - i - 1; j++)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if (arr[j] &gt; arr[j + 1])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int t = arr[j]; arr[j] = arr[j+1]; arr[j+1] = t;</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swapped = true;</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if (!swapped) break;  // already sorted - stop early</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  }</a:t>
            </a:r>
            <a:endParaRPr lang="en-US" sz="850" dirty="0"/>
          </a:p>
          <a:p>
            <a:pPr indent="0" marL="0">
              <a:lnSpc>
                <a:spcPct val="120000"/>
              </a:lnSpc>
              <a:buNone/>
            </a:pPr>
            <a:r>
              <a:rPr lang="en-US" sz="850" dirty="0">
                <a:solidFill>
                  <a:srgbClr val="D4D4E0"/>
                </a:solidFill>
                <a:latin typeface="Courier New" pitchFamily="34" charset="0"/>
                <a:ea typeface="Courier New" pitchFamily="34" charset="-122"/>
                <a:cs typeface="Courier New" pitchFamily="34" charset="-120"/>
              </a:rPr>
              <a:t>}</a:t>
            </a:r>
            <a:endParaRPr lang="en-US" sz="85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Adding a 'swapped' flag lets bubble sort exit early once the array is already sorted, improving best-case time from O(n^2) to O(n).</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Without the flag, bubble sort always runs all n-1 passes even on an already-sorted array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With the flag, a single pass with zero swaps proves the array is sorted, so the outer loop breaks immediately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Worst case (reverse-sorted input) is still O(n^2) - the optimization only helps best/average cases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mention that bubble sort is rarely used in production - it's asked mainly to test loop and swap logic</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a teacher checking a line of students by height and stopping the whole re-check process the moment a full pass finds nobody out of order - no point checking again if nothing moved.</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Prime Number Check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Prime2.java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O(sqrt(n)) - only check up to the square root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boolean isPrime(int n)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if (n &lt; 2) return false;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if (n == 2) return true;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if (n % 2 == 0) return false;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for (int i = 3; (long) i * i &lt;= n; i += 2)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if (n % i == 0) return false;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return true;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Checking divisors only up to sqrt(n), and skipping even numbers after 2, turns a naive O(n) check into a much faster O(sqrt(n)) one.</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If n has a factor larger than sqrt(n), it must also have a matching factor smaller than sqrt(n) - so checking beyond sqrt(n) is redundant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Handling 2 separately then stepping i by 2 skips all even divisors, roughly halving the work</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(long) i * i avoids integer overflow for large n where i*i could exceed Integer.MAX_VALUE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'find all primes up to N' - mention the Sieve of Eratosthenes as the better tool for that variant</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Checking divisors up to sqrt(n) is like only checking rectangle side-lengths up to the square root of the area - beyond that point, you'd just be finding the same factor pairs in reverse order.</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Fibonacci Series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Fibonacci2.java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Naive recursion: O(2^n) - exponential, avoid in interviews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int fib(int n){ return n&lt;=1 ? n : fib(n-1)+fib(n-2);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Memoized (top-down): O(n) time, O(n) space</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int fib(int n, Map&lt;Integer,Integer&gt; memo)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if (n &lt;= 1) return n;</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if (memo.containsKey(n)) return memo.get(n);</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int result = fib(n-1, memo) + fib(n-2, memo);</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memo.put(n, result);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result;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Naive recursion recomputes the same subproblems exponentially; memoizing each result turns it into a linear O(n) solution.</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Naive fib(n-1)+fib(n-2) without caching recomputes fib(2) and smaller values millions of times for larger 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memo map caches each fib(n) the first time it's computed, so repeated calls become O(1) lookups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An iterative version with two variables (no recursion, no map) achieves O(n) time and O(1) space - even better</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always mention the naive version's cost first, THEN show the optimization - it demonstrates you understand why it matters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Naive recursion is like re-solving the same math homework problem from scratch every time it reappears; memoization is writing the answer in the margin the first time, so next time you just glance at your own notes instead of redoing the work.</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Frequency Count using HashMap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Frequency2.java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Map&lt;Character, Integer&gt; freq = new HashMap&lt;&gt;();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String s = "programming";</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for (char c : s.toCharArray())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freq.merge(c, 1, Integer::sum);</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Find the most frequent character</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char maxChar = ' '; int maxCount = 0;</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for (var entry : freq.entrySet())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if (entry.getValue() &gt; maxCount)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maxCount = entry.getValue();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maxChar = entry.getKey();</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merge(key, 1, Integer::sum) replaces the classic 'check-then-increment' pattern with a single, cleaner call that handles both new and existing keys.</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merge() adds the key with value 1 if absent, or applies Integer::sum to combine 1 with the existing count if present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This avoids the verbose 'if (map.containsKey(c)) ... else ...' pattern seen in older code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second loop shows a common follow-up: finding the max-frequency character, not just counting all of them</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'what if you need to preserve insertion order of first appearance?' - swap in a LinkedHashMap</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merge() is like a tally sheet where marking an item either starts a new row at 1 or adds one tick to an existing row - one motion instead of first checking which case applies.</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Anagram Check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Anagram2.java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O(n) using a count array instead of sorting O(n log n)</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boolean isAnagram(String a, String b)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if (a.length() != b.length()) return false;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int[] counts = new int[26];</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for (int i = 0; i &lt; a.length(); i++)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counts[a.charAt(i) - 'a']++;</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counts[b.charAt(i) - 'a']--;</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for (int c : counts) if (c != 0) return false;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return true;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A 26-slot count array checks anagrams in O(n), which beats the common sort-and-compare approach that costs O(n log n).</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Incrementing for string a and decrementing for string b in the same array means a true anagram nets every slot back to zero</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early length check is a cheap O(1) short-circuit before doing any real work</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This assumes lowercase a-z only - mention you'd widen the array (or use a HashMap) for full Unicode support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proactively state the complexity improvement over sorting - it's a favorite follow-up question</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two people each dropping colored beads into the same 26 labeled jars - one adding, one removing - if every jar ends up exactly empty, both strings used precisely the same letters.</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Palindrome Substrings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PalinSub2.java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Expand-around-center - O(n^2) time, O(1) extra space</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void printPalindromes(String s)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for (int center = 0; center &lt; s.length(); center++)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expand(s, center, center);       // odd length</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expand(s, center, center + 1);   // even length</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void expand(String s, int l, int r)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while (l &gt;= 0 &amp;&amp; r &lt; s.length() &amp;&amp; s.charAt(l) == s.charAt(r))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System.out.println(s.substring(l, r + 1));</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l--; r++;</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  }</a:t>
            </a:r>
            <a:endParaRPr lang="en-US" sz="900" dirty="0"/>
          </a:p>
          <a:p>
            <a:pPr indent="0" marL="0">
              <a:lnSpc>
                <a:spcPct val="120000"/>
              </a:lnSpc>
              <a:buNone/>
            </a:pPr>
            <a:r>
              <a:rPr lang="en-US" sz="900" dirty="0">
                <a:solidFill>
                  <a:srgbClr val="D4D4E0"/>
                </a:solidFill>
                <a:latin typeface="Courier New" pitchFamily="34" charset="0"/>
                <a:ea typeface="Courier New" pitchFamily="34" charset="-122"/>
                <a:cs typeface="Courier New" pitchFamily="34" charset="-120"/>
              </a:rPr>
              <a:t>}</a:t>
            </a:r>
            <a:endParaRPr lang="en-US" sz="9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Calibri" pitchFamily="34" charset="0"/>
                <a:ea typeface="Calibri" pitchFamily="34" charset="-122"/>
                <a:cs typeface="Calibri" pitchFamily="34" charset="-120"/>
              </a:rPr>
              <a:t>Expand-around-center checks both odd- and even-length palindromes from every position, achieving O(n^2) time without the extra memory a DP table would need.</a:t>
            </a:r>
            <a:endParaRPr lang="en-US" sz="100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Each index is tried as both an odd-length center (single char) and an even-length center (gap between two chars)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expand() grows outward only while characters keep matching, printing every valid palindrome as it goes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This avoids the O(n^2) space of a full DP table, using only O(1) extra space beyond the input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'find the LONGEST palindromic substring' - track the widest match found instead of printing every one</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ripples spreading out from a dropped stone (the center) in both directions at once - as long as both edges mirror each other, the ripple (palindrome) keeps growing.</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Print Duplicate Elements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PrintDup2.java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void printDuplicates(int[] arr)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Map&lt;Integer, Integer&gt; count = new HashMap&lt;&gt;();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for (int n : arr) count.merge(n, 1, Integer::sum);</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for (var entry : count.entrySet())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if (entry.getValue() &gt; 1)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System.out.println(</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entry.getKey() + " appears " + entry.getValue() + " times");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Calibri" pitchFamily="34" charset="0"/>
                <a:ea typeface="Calibri" pitchFamily="34" charset="-122"/>
                <a:cs typeface="Calibri" pitchFamily="34" charset="-120"/>
              </a:rPr>
              <a:t>Counting occurrences in a HashMap first, then filtering entries with count greater than 1, reports both which elements repeat and exactly how many times.</a:t>
            </a:r>
            <a:endParaRPr lang="en-US" sz="100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A single pass builds the full frequency map in O(n) time</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The second pass over entrySet() only prints values whose count exceeds 1 - true duplicates</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This is more informative than a Set-based 'seen before' check, since it also reports the exact count</a:t>
            </a:r>
            <a:endParaRPr lang="en-US" sz="1150" dirty="0"/>
          </a:p>
          <a:p>
            <a:pPr marL="177800" indent="-1778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Interview follow-up: 'print duplicates in original order of first appearance' - switch to a LinkedHashMap</a:t>
            </a:r>
            <a:endParaRPr lang="en-US" sz="11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a warehouse inventory count - you tally every item first, then only report back the ones you found more than one of, along with exactly how many extras turned up.</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Odd/Even in ArrayList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OddEven2.java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List&lt;Integer&gt; nums = List.of(4, 7, 2, 9, 10, 3);</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List&lt;Integer&gt; evens = nums.stream()</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.filter(n -&gt; n % 2 == 0)</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.collect(Collectors.toList());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List&lt;Integer&gt; odds = nums.stream()</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.filter(n -&gt; n % 2 != 0)</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.collect(Collectors.toList());</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System.out.println("Evens: " + evens);</a:t>
            </a:r>
            <a:endParaRPr lang="en-US" sz="1000" dirty="0"/>
          </a:p>
          <a:p>
            <a:pPr indent="0" marL="0">
              <a:lnSpc>
                <a:spcPct val="120000"/>
              </a:lnSpc>
              <a:buNone/>
            </a:pPr>
            <a:r>
              <a:rPr lang="en-US" sz="1000" dirty="0">
                <a:solidFill>
                  <a:srgbClr val="D4D4E0"/>
                </a:solidFill>
                <a:latin typeface="Courier New" pitchFamily="34" charset="0"/>
                <a:ea typeface="Courier New" pitchFamily="34" charset="-122"/>
                <a:cs typeface="Courier New" pitchFamily="34" charset="-120"/>
              </a:rPr>
              <a:t>System.out.println("Odds: " + odds);</a:t>
            </a:r>
            <a:endParaRPr lang="en-US" sz="10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The Streams API's filter() + collect() replaces manual for-loops with an if-check, expressing the same logic more declaratively.</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filter(n -&gt; n % 2 == 0) keeps only elements matching the predicate, discarding the rest lazily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collect(Collectors.toList()) materializes the filtered stream back into a concrete List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This reads closer to 'what' you want (evens) rather than 'how' to loop and check - a common modern-Java interview signal</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'do it without streams' - be ready to write the plain for-loop with an if/else version too</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Using streams here is like sorting mail by simply describing 'give me only the even-numbered envelopes,' instead of manually flipping through the whole stack checking each one yourself.</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Sort Employee Data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SortEmployees2.java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List&lt;Employee&gt; list = getEmployees();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Sort by salary desc, then by name asc as a tiebreaker</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list.sort(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Comparator.comparing(Employee::getSalary).reversed()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.thenComparing(Employee::getName)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list.forEach(e -&gt;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System.out.println(e.getName() + ": " + e.getSalary()));</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950" dirty="0">
                <a:solidFill>
                  <a:srgbClr val="FFFFFF"/>
                </a:solidFill>
                <a:latin typeface="Calibri" pitchFamily="34" charset="0"/>
                <a:ea typeface="Calibri" pitchFamily="34" charset="-122"/>
                <a:cs typeface="Calibri" pitchFamily="34" charset="-120"/>
              </a:rPr>
              <a:t>Comparator chaining with thenComparing() lets you sort by a primary field and break ties with a secondary field, cleanly and without custom Comparator classes.</a:t>
            </a:r>
            <a:endParaRPr lang="en-US" sz="9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Comparator.comparing(Employee::getSalary).reversed() sorts by salary from highest to lowest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thenComparing(Employee::getName) only kicks in when two employees have the exact same salary</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This avoids writing a verbose anonymous Comparator with manual if/else tie-breaking logic</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mention this same pattern works for any POJO - just swap the method references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It's like sorting a leaderboard by score first, and only when two players are perfectly tied, breaking that tie alphabetically by name - one clear rule, then a backup rule.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Count Vowels in a String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Vowels2.java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long countVowels(String s)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String vowels = "aeiouAEIOU";</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return s.chars()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.filter(c -&gt; vowels.indexOf(c) != -1)</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.count();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System.out.println(countVowels("Hello World")); // 3</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s.chars() streams each character as an int code point, letting filter() + count() replace a manual loop with a counter variable.</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s.chars() returns an IntStream of character codes rather than a char array, which is what enables the stream chain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vowels.indexOf(c) != -1 checks membership without needing a Set - fine for a tiny fixed alphabet like vowels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count() terminates the stream and returns how many characters passed the filter, as a long</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'do the same without streams' - loop through toCharArray() and increment a counter on each vowel match</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Streaming characters through filter().count() is like running a bag of mixed letters through a vowel-shaped sieve and just counting how many fall through, instead of picking through the bag by hand one letter at a time.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Git vs GitHub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git-workflow.sh</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git init                        # start local repo</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git add .                       # stage changes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git commit -m "Add feature"     # save snapshot locally</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git branch feature-x</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git checkout feature-x</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git push origin feature-x       # send branch to GitHub</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On GitHub: open a Pull Request to merge feature-x into main</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900" dirty="0">
                <a:solidFill>
                  <a:srgbClr val="FFFFFF"/>
                </a:solidFill>
                <a:latin typeface="Calibri" pitchFamily="34" charset="0"/>
                <a:ea typeface="Calibri" pitchFamily="34" charset="-122"/>
                <a:cs typeface="Calibri" pitchFamily="34" charset="-120"/>
              </a:rPr>
              <a:t>Git is the version-control tool that tracks changes locally, while GitHub is a cloud platform that hosts Git repositories and adds collaboration features like Pull Requests.</a:t>
            </a:r>
            <a:endParaRPr lang="en-US" sz="90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Every git command above (init, add, commit, branch) works entirely offline - no GitHub needed</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git push is the moment local history syncs to a remote server, which is commonly (but not only) GitHub</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Pull Requests, code review comments, and issue tracking are GitHub features, not core Git commands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name GitLab and Bitbucket as GitHub alternatives to show you know Git isn't tied to one platform</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Git is like keeping a personal diary with dated entries you can flip back through anytime, even with no internet. GitHub is a shared cloud drive where you and teammates can upload your diaries, compare entries, and suggest edits to each other.</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VPC &amp; Subnets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vpc-notes.txt</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VPC: 10.0.0.0/16</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Public Subnet: 10.0.1.0/24</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has a route to an Internet Gateway</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hosts: load balancer, bastion host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Private Subnet: 10.0.2.0/24</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no direct internet route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hosts: application servers, database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outbound internet via a NAT Gateway only</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850" dirty="0">
                <a:solidFill>
                  <a:srgbClr val="FFFFFF"/>
                </a:solidFill>
                <a:latin typeface="Calibri" pitchFamily="34" charset="0"/>
                <a:ea typeface="Calibri" pitchFamily="34" charset="-122"/>
                <a:cs typeface="Calibri" pitchFamily="34" charset="-120"/>
              </a:rPr>
              <a:t>A VPC is your isolated network in the cloud; public subnets route through an Internet Gateway for direct access, while private subnets stay hidden and reach the internet only via NAT.</a:t>
            </a:r>
            <a:endParaRPr lang="en-US" sz="8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Internet Gateway is what makes a subnet 'public' by giving it a route to the internet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Private subnets typically hold databases and internal services that should never be directly reachable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 NAT Gateway lets private-subnet resources make outbound calls (e.g. downloading updates) without accepting inbound connections</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know the classic pattern - load balancer in public subnet, app servers and database in private subnets</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100" i="1" dirty="0">
                <a:solidFill>
                  <a:srgbClr val="1B2340"/>
                </a:solidFill>
                <a:latin typeface="Calibri" pitchFamily="34" charset="0"/>
                <a:ea typeface="Calibri" pitchFamily="34" charset="-122"/>
                <a:cs typeface="Calibri" pitchFamily="34" charset="-120"/>
              </a:rPr>
              <a:t>A VPC is like a gated office building. The public subnet is the reception area anyone from the street can walk into; the private subnet is the internal offices reachable only through reception, with a back door (NAT) for staff to step out without letting strangers in.</a:t>
            </a:r>
            <a:endParaRPr lang="en-US" sz="110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GenAI, LLMs &amp; Prompt Engineering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prompt-example.txt</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Weak prompt: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"Write about our product"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Better prompt: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"Write a 3-sentence product description for a budgeting app</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aimed at college students, in a friendly, casual tone.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Highlight the free-tier feature."</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Specific role + audience + format + constraint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 far more consistent LLM output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alibri" pitchFamily="34" charset="0"/>
                <a:ea typeface="Calibri" pitchFamily="34" charset="-122"/>
                <a:cs typeface="Calibri" pitchFamily="34" charset="-120"/>
              </a:rPr>
              <a:t>Prompt engineering is about giving an LLM clear role, audience, format, and constraints - vague prompts produce vague, inconsistent output.</a:t>
            </a:r>
            <a:endParaRPr lang="en-US" sz="10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An LLM predicts the next most likely tokens based on patterns learned from huge amounts of text during training</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Specifying audience and tone narrows the space of 'reasonable' outputs, making results far more predictable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Giving an explicit format (e.g. '3 sentences', 'bullet list') reduces the need for manual post-editing</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tip: mention that this exact deck itself is a real-world example of using AI tools thoughtfully in your workflow</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250" i="1" dirty="0">
                <a:solidFill>
                  <a:srgbClr val="1B2340"/>
                </a:solidFill>
                <a:latin typeface="Calibri" pitchFamily="34" charset="0"/>
                <a:ea typeface="Calibri" pitchFamily="34" charset="-122"/>
                <a:cs typeface="Calibri" pitchFamily="34" charset="-120"/>
              </a:rPr>
              <a:t>A vague prompt is like asking a new intern to 'make something good' with zero context; a well-engineered prompt is a clear brief with audience, tone, and format spelled out - the intern (LLM) does far better work with real direction.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Singleton &amp; Factory Patterns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Patterns.java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class Singleton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private static Singleton instance;</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private Singleton()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public static synchronized Singleton getInstance()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if (instance == null) instance = new Singleton();</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return instance;</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interface Shape { void draw();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class ShapeFactory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static Shape create(String type)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if (type.equals("circle")) return new Circle();</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throw new IllegalArgumentException(type);</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  }</a:t>
            </a:r>
            <a:endParaRPr lang="en-US" sz="800" dirty="0"/>
          </a:p>
          <a:p>
            <a:pPr indent="0" marL="0">
              <a:lnSpc>
                <a:spcPct val="120000"/>
              </a:lnSpc>
              <a:buNone/>
            </a:pPr>
            <a:r>
              <a:rPr lang="en-US" sz="800" dirty="0">
                <a:solidFill>
                  <a:srgbClr val="D4D4E0"/>
                </a:solidFill>
                <a:latin typeface="Courier New" pitchFamily="34" charset="0"/>
                <a:ea typeface="Courier New" pitchFamily="34" charset="-122"/>
                <a:cs typeface="Courier New" pitchFamily="34" charset="-120"/>
              </a:rPr>
              <a:t>}</a:t>
            </a:r>
            <a:endParaRPr lang="en-US" sz="8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950" dirty="0">
                <a:solidFill>
                  <a:srgbClr val="FFFFFF"/>
                </a:solidFill>
                <a:latin typeface="Calibri" pitchFamily="34" charset="0"/>
                <a:ea typeface="Calibri" pitchFamily="34" charset="-122"/>
                <a:cs typeface="Calibri" pitchFamily="34" charset="-120"/>
              </a:rPr>
              <a:t>Singleton guarantees exactly one instance exists application-wide, while Factory centralizes object-creation logic so callers don't need to know concrete classes.</a:t>
            </a:r>
            <a:endParaRPr lang="en-US" sz="9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The private constructor prevents anyone from calling 'new Singleton()' directly - getInstance() is the only entry point</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synchronized on getInstance() prevents two threads from both creating an instance in a race condition</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ShapeFactory.create() hides which concrete class gets instantiated, so callers only depend on the Shape interface</a:t>
            </a:r>
            <a:endParaRPr lang="en-US" sz="1050" dirty="0"/>
          </a:p>
          <a:p>
            <a:pPr marL="177800" indent="-177800">
              <a:spcAft>
                <a:spcPts val="800"/>
              </a:spcAft>
              <a:buSzPct val="100000"/>
              <a:buChar char="•"/>
            </a:pPr>
            <a:r>
              <a:rPr lang="en-US" sz="1050" dirty="0">
                <a:solidFill>
                  <a:srgbClr val="1B2340"/>
                </a:solidFill>
                <a:latin typeface="Calibri" pitchFamily="34" charset="0"/>
                <a:ea typeface="Calibri" pitchFamily="34" charset="-122"/>
                <a:cs typeface="Calibri" pitchFamily="34" charset="-120"/>
              </a:rPr>
              <a:t>Interview follow-up: mention enum-based Singleton as a modern, serialization-safe alternative to this classic form</a:t>
            </a:r>
            <a:endParaRPr lang="en-US" sz="10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100" i="1" dirty="0">
                <a:solidFill>
                  <a:srgbClr val="1B2340"/>
                </a:solidFill>
                <a:latin typeface="Calibri" pitchFamily="34" charset="0"/>
                <a:ea typeface="Calibri" pitchFamily="34" charset="-122"/>
                <a:cs typeface="Calibri" pitchFamily="34" charset="-120"/>
              </a:rPr>
              <a:t>Singleton is like a country having exactly one sitting president at a time - the constructor being private is like blocking anyone from just declaring themselves president. Factory is like a car dealership - you ask for 'an SUV' and the dealership decides which exact model to hand you, without you needing to know the factory floor details.</a:t>
            </a:r>
            <a:endParaRPr lang="en-US" sz="110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indent="0" marL="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AI Agents - Detailed Solution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algn="r" indent="0" marL="0">
              <a:buNone/>
            </a:pPr>
            <a:r>
              <a:rPr lang="en-US" sz="1000" dirty="0">
                <a:solidFill>
                  <a:srgbClr val="8A90AC"/>
                </a:solidFill>
                <a:latin typeface="Courier New" pitchFamily="34" charset="0"/>
                <a:ea typeface="Courier New" pitchFamily="34" charset="-122"/>
                <a:cs typeface="Courier New" pitchFamily="34" charset="-120"/>
              </a:rPr>
              <a:t>agent-loop.txt</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Agent loop (simplified):</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1. Perceive:  read user goal + current context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2. Plan:      break goal into smaller steps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3. Act:       call a tool (search, code, API)</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4. Observe:   read the tool's result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5. Repeat until the goal is satisfied or a limit is hit</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Unlike a single LLM call, an agent can use TOOLS</a:t>
            </a:r>
            <a:endParaRPr lang="en-US" sz="1100" dirty="0"/>
          </a:p>
          <a:p>
            <a:pPr indent="0" marL="0">
              <a:lnSpc>
                <a:spcPct val="120000"/>
              </a:lnSpc>
              <a:buNone/>
            </a:pPr>
            <a:r>
              <a:rPr lang="en-US" sz="1100" dirty="0">
                <a:solidFill>
                  <a:srgbClr val="D4D4E0"/>
                </a:solidFill>
                <a:latin typeface="Courier New" pitchFamily="34" charset="0"/>
                <a:ea typeface="Courier New" pitchFamily="34" charset="-122"/>
                <a:cs typeface="Courier New" pitchFamily="34" charset="-120"/>
              </a:rPr>
              <a:t># and ITERATE across multiple steps autonomously</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indent="0" marL="0">
              <a:buNone/>
            </a:pPr>
            <a:r>
              <a:rPr lang="en-US" sz="1050" b="1" spc="80" kern="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indent="0" marL="0">
              <a:lnSpc>
                <a:spcPct val="105000"/>
              </a:lnSpc>
              <a:buNone/>
            </a:pPr>
            <a:r>
              <a:rPr lang="en-US" sz="850" dirty="0">
                <a:solidFill>
                  <a:srgbClr val="FFFFFF"/>
                </a:solidFill>
                <a:latin typeface="Calibri" pitchFamily="34" charset="0"/>
                <a:ea typeface="Calibri" pitchFamily="34" charset="-122"/>
                <a:cs typeface="Calibri" pitchFamily="34" charset="-120"/>
              </a:rPr>
              <a:t>An AI agent wraps an LLM in a perceive-plan-act-observe loop, letting it call external tools and iterate across multiple steps toward a goal, rather than answering in a single shot.</a:t>
            </a:r>
            <a:endParaRPr lang="en-US" sz="8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indent="0" marL="0">
              <a:buNone/>
            </a:pPr>
            <a:r>
              <a:rPr lang="en-US" sz="1300" b="1" spc="50" kern="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950" dirty="0">
                <a:solidFill>
                  <a:srgbClr val="1B2340"/>
                </a:solidFill>
                <a:latin typeface="Calibri" pitchFamily="34" charset="0"/>
                <a:ea typeface="Calibri" pitchFamily="34" charset="-122"/>
                <a:cs typeface="Calibri" pitchFamily="34" charset="-120"/>
              </a:rPr>
              <a:t>A plain LLM call is one-shot: prompt in, text out, with no ability to check its own work</a:t>
            </a:r>
            <a:endParaRPr lang="en-US" sz="950" dirty="0"/>
          </a:p>
          <a:p>
            <a:pPr marL="177800" indent="-177800">
              <a:spcAft>
                <a:spcPts val="800"/>
              </a:spcAft>
              <a:buSzPct val="100000"/>
              <a:buChar char="•"/>
            </a:pPr>
            <a:r>
              <a:rPr lang="en-US" sz="950" dirty="0">
                <a:solidFill>
                  <a:srgbClr val="1B2340"/>
                </a:solidFill>
                <a:latin typeface="Calibri" pitchFamily="34" charset="0"/>
                <a:ea typeface="Calibri" pitchFamily="34" charset="-122"/>
                <a:cs typeface="Calibri" pitchFamily="34" charset="-120"/>
              </a:rPr>
              <a:t>An agent can call tools (search the web, run code, query a database) and feed results back into its own reasoning</a:t>
            </a:r>
            <a:endParaRPr lang="en-US" sz="950" dirty="0"/>
          </a:p>
          <a:p>
            <a:pPr marL="177800" indent="-177800">
              <a:spcAft>
                <a:spcPts val="800"/>
              </a:spcAft>
              <a:buSzPct val="100000"/>
              <a:buChar char="•"/>
            </a:pPr>
            <a:r>
              <a:rPr lang="en-US" sz="950" dirty="0">
                <a:solidFill>
                  <a:srgbClr val="1B2340"/>
                </a:solidFill>
                <a:latin typeface="Calibri" pitchFamily="34" charset="0"/>
                <a:ea typeface="Calibri" pitchFamily="34" charset="-122"/>
                <a:cs typeface="Calibri" pitchFamily="34" charset="-120"/>
              </a:rPr>
              <a:t>The loop repeats until the goal is met or a safety limit (max steps, timeout) is reached, preventing runaway loops</a:t>
            </a:r>
            <a:endParaRPr lang="en-US" sz="950" dirty="0"/>
          </a:p>
          <a:p>
            <a:pPr marL="177800" indent="-177800">
              <a:spcAft>
                <a:spcPts val="800"/>
              </a:spcAft>
              <a:buSzPct val="100000"/>
              <a:buChar char="•"/>
            </a:pPr>
            <a:r>
              <a:rPr lang="en-US" sz="950" dirty="0">
                <a:solidFill>
                  <a:srgbClr val="1B2340"/>
                </a:solidFill>
                <a:latin typeface="Calibri" pitchFamily="34" charset="0"/>
                <a:ea typeface="Calibri" pitchFamily="34" charset="-122"/>
                <a:cs typeface="Calibri" pitchFamily="34" charset="-120"/>
              </a:rPr>
              <a:t>Interview tip: give a concrete example, like an agent that searches flight prices, compares options, then books the cheapest one - multi-step, tool-using, goal-driven</a:t>
            </a:r>
            <a:endParaRPr lang="en-US" sz="9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indent="0" marL="0">
              <a:buNone/>
            </a:pPr>
            <a:r>
              <a:rPr lang="en-US" sz="1100" b="1" spc="50" kern="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indent="0" marL="0">
              <a:lnSpc>
                <a:spcPct val="110000"/>
              </a:lnSpc>
              <a:buNone/>
            </a:pPr>
            <a:r>
              <a:rPr lang="en-US" sz="1100" i="1" dirty="0">
                <a:solidFill>
                  <a:srgbClr val="1B2340"/>
                </a:solidFill>
                <a:latin typeface="Calibri" pitchFamily="34" charset="0"/>
                <a:ea typeface="Calibri" pitchFamily="34" charset="-122"/>
                <a:cs typeface="Calibri" pitchFamily="34" charset="-120"/>
              </a:rPr>
              <a:t>A single LLM call is like asking someone a question over the phone and hanging up right after they answer. An AI agent is more like hiring an assistant who can look things up, take actions, check the outcome, and keep working the problem until the task is actually done.</a:t>
            </a:r>
            <a:endParaRPr lang="en-US" sz="1100" dirty="0"/>
          </a:p>
        </p:txBody>
      </p:sp>
      <p:sp>
        <p:nvSpPr>
          <p:cNvPr id="22" name="Text 20"/>
          <p:cNvSpPr/>
          <p:nvPr/>
        </p:nvSpPr>
        <p:spPr>
          <a:xfrm>
            <a:off x="457200" y="6583680"/>
            <a:ext cx="5486400" cy="228600"/>
          </a:xfrm>
          <a:prstGeom prst="rect">
            <a:avLst/>
          </a:prstGeom>
          <a:noFill/>
          <a:ln/>
        </p:spPr>
        <p:txBody>
          <a:bodyPr wrap="square" rtlCol="0" anchor="ctr"/>
          <a:lstStyle/>
          <a:p>
            <a:pPr algn="l" indent="0" marL="0">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2026-08-13T11:48:06Z</dcterms:created>
  <dcterms:modified xsi:type="dcterms:W3CDTF">2026-08-13T11:48:06Z</dcterms:modified>
</cp:coreProperties>
</file>