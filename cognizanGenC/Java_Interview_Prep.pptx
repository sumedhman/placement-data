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6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82" d="100"/>
          <a:sy n="82" d="100"/>
        </p:scale>
        <p:origin x="691" y="7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notesMaster" Target="notesMasters/notesMaster1.xml"/><Relationship Id="rId7" Type="http://schemas.openxmlformats.org/officeDocument/2006/relationships/slide" Target="slides/slide6.xml"/><Relationship Id="rId71"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65970836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MASTER">
    <p:bg>
      <p:bgPr>
        <a:solidFill>
          <a:srgbClr val="FFFFFF"/>
        </a:solidFill>
        <a:effectLst/>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2340"/>
        </a:solidFill>
        <a:effectLst/>
      </p:bgPr>
    </p:bg>
    <p:spTree>
      <p:nvGrpSpPr>
        <p:cNvPr id="1" name=""/>
        <p:cNvGrpSpPr/>
        <p:nvPr/>
      </p:nvGrpSpPr>
      <p:grpSpPr>
        <a:xfrm>
          <a:off x="0" y="0"/>
          <a:ext cx="0" cy="0"/>
          <a:chOff x="0" y="0"/>
          <a:chExt cx="0" cy="0"/>
        </a:xfrm>
      </p:grpSpPr>
      <p:sp>
        <p:nvSpPr>
          <p:cNvPr id="2" name="Shape 0"/>
          <p:cNvSpPr/>
          <p:nvPr/>
        </p:nvSpPr>
        <p:spPr>
          <a:xfrm>
            <a:off x="9966960" y="-1188720"/>
            <a:ext cx="3840480" cy="3840480"/>
          </a:xfrm>
          <a:prstGeom prst="ellipse">
            <a:avLst/>
          </a:prstGeom>
          <a:solidFill>
            <a:srgbClr val="232B4D"/>
          </a:solidFill>
          <a:ln/>
        </p:spPr>
      </p:sp>
      <p:sp>
        <p:nvSpPr>
          <p:cNvPr id="3" name="Shape 1"/>
          <p:cNvSpPr/>
          <p:nvPr/>
        </p:nvSpPr>
        <p:spPr>
          <a:xfrm>
            <a:off x="-1463040" y="4572000"/>
            <a:ext cx="3291840" cy="3291840"/>
          </a:xfrm>
          <a:prstGeom prst="ellipse">
            <a:avLst/>
          </a:prstGeom>
          <a:solidFill>
            <a:srgbClr val="232B4D"/>
          </a:solidFill>
          <a:ln/>
        </p:spPr>
      </p:sp>
      <p:sp>
        <p:nvSpPr>
          <p:cNvPr id="4" name="Shape 2"/>
          <p:cNvSpPr/>
          <p:nvPr/>
        </p:nvSpPr>
        <p:spPr>
          <a:xfrm>
            <a:off x="10607040" y="4297680"/>
            <a:ext cx="1554480" cy="1554480"/>
          </a:xfrm>
          <a:prstGeom prst="ellipse">
            <a:avLst/>
          </a:prstGeom>
          <a:solidFill>
            <a:srgbClr val="E8A33D"/>
          </a:solidFill>
          <a:ln/>
        </p:spPr>
      </p:sp>
      <p:sp>
        <p:nvSpPr>
          <p:cNvPr id="5" name="Text 3"/>
          <p:cNvSpPr/>
          <p:nvPr/>
        </p:nvSpPr>
        <p:spPr>
          <a:xfrm>
            <a:off x="822960" y="1965960"/>
            <a:ext cx="9144000" cy="457200"/>
          </a:xfrm>
          <a:prstGeom prst="rect">
            <a:avLst/>
          </a:prstGeom>
          <a:noFill/>
          <a:ln/>
        </p:spPr>
        <p:txBody>
          <a:bodyPr wrap="square" rtlCol="0" anchor="ctr"/>
          <a:lstStyle/>
          <a:p>
            <a:pPr marL="0" indent="0">
              <a:buNone/>
            </a:pPr>
            <a:r>
              <a:rPr lang="en-US" sz="1600" b="1" kern="0" spc="200" dirty="0">
                <a:solidFill>
                  <a:srgbClr val="E8A33D"/>
                </a:solidFill>
                <a:latin typeface="Calibri" pitchFamily="34" charset="0"/>
                <a:ea typeface="Calibri" pitchFamily="34" charset="-122"/>
                <a:cs typeface="Calibri" pitchFamily="34" charset="-120"/>
              </a:rPr>
              <a:t>JAVA &amp; FULL-STACK</a:t>
            </a:r>
            <a:endParaRPr lang="en-US" sz="1600" dirty="0"/>
          </a:p>
        </p:txBody>
      </p:sp>
      <p:sp>
        <p:nvSpPr>
          <p:cNvPr id="6" name="Text 4"/>
          <p:cNvSpPr/>
          <p:nvPr/>
        </p:nvSpPr>
        <p:spPr>
          <a:xfrm>
            <a:off x="777240" y="2377440"/>
            <a:ext cx="10058400" cy="1097280"/>
          </a:xfrm>
          <a:prstGeom prst="rect">
            <a:avLst/>
          </a:prstGeom>
          <a:noFill/>
          <a:ln/>
        </p:spPr>
        <p:txBody>
          <a:bodyPr wrap="square" rtlCol="0" anchor="ctr"/>
          <a:lstStyle/>
          <a:p>
            <a:pPr marL="0" indent="0">
              <a:buNone/>
            </a:pPr>
            <a:r>
              <a:rPr lang="en-US" sz="4400" b="1" dirty="0">
                <a:solidFill>
                  <a:srgbClr val="FFFFFF"/>
                </a:solidFill>
                <a:latin typeface="Century Schoolbook" pitchFamily="34" charset="0"/>
                <a:ea typeface="Century Schoolbook" pitchFamily="34" charset="-122"/>
                <a:cs typeface="Century Schoolbook" pitchFamily="34" charset="-120"/>
              </a:rPr>
              <a:t>Technical Interview Preparation</a:t>
            </a:r>
            <a:endParaRPr lang="en-US" sz="4400" dirty="0"/>
          </a:p>
        </p:txBody>
      </p:sp>
      <p:sp>
        <p:nvSpPr>
          <p:cNvPr id="7" name="Text 5"/>
          <p:cNvSpPr/>
          <p:nvPr/>
        </p:nvSpPr>
        <p:spPr>
          <a:xfrm>
            <a:off x="822960" y="3520440"/>
            <a:ext cx="8686800" cy="731520"/>
          </a:xfrm>
          <a:prstGeom prst="rect">
            <a:avLst/>
          </a:prstGeom>
          <a:noFill/>
          <a:ln/>
        </p:spPr>
        <p:txBody>
          <a:bodyPr wrap="square" rtlCol="0" anchor="ctr"/>
          <a:lstStyle/>
          <a:p>
            <a:pPr marL="0" indent="0">
              <a:buNone/>
            </a:pPr>
            <a:r>
              <a:rPr lang="en-US" sz="1600" i="1" dirty="0">
                <a:solidFill>
                  <a:srgbClr val="C3C8DC"/>
                </a:solidFill>
                <a:latin typeface="Calibri" pitchFamily="34" charset="0"/>
                <a:ea typeface="Calibri" pitchFamily="34" charset="-122"/>
                <a:cs typeface="Calibri" pitchFamily="34" charset="-120"/>
              </a:rPr>
              <a:t>Real questions from Cognizant interviews - explained simply, with code, analogies, and interview-ready answers.</a:t>
            </a:r>
            <a:endParaRPr lang="en-US" sz="1600" dirty="0"/>
          </a:p>
        </p:txBody>
      </p:sp>
      <p:sp>
        <p:nvSpPr>
          <p:cNvPr id="8" name="Shape 6"/>
          <p:cNvSpPr/>
          <p:nvPr/>
        </p:nvSpPr>
        <p:spPr>
          <a:xfrm>
            <a:off x="822960" y="4480560"/>
            <a:ext cx="1362456" cy="384048"/>
          </a:xfrm>
          <a:prstGeom prst="roundRect">
            <a:avLst>
              <a:gd name="adj" fmla="val 50000"/>
            </a:avLst>
          </a:prstGeom>
          <a:solidFill>
            <a:srgbClr val="232B4D"/>
          </a:solidFill>
          <a:ln w="12700">
            <a:solidFill>
              <a:srgbClr val="E8A33D"/>
            </a:solidFill>
            <a:prstDash val="solid"/>
          </a:ln>
        </p:spPr>
      </p:sp>
      <p:sp>
        <p:nvSpPr>
          <p:cNvPr id="9" name="Text 7"/>
          <p:cNvSpPr/>
          <p:nvPr/>
        </p:nvSpPr>
        <p:spPr>
          <a:xfrm>
            <a:off x="822960" y="4480560"/>
            <a:ext cx="1362456" cy="384048"/>
          </a:xfrm>
          <a:prstGeom prst="rect">
            <a:avLst/>
          </a:prstGeom>
          <a:noFill/>
          <a:ln/>
        </p:spPr>
        <p:txBody>
          <a:bodyPr wrap="square" rtlCol="0" anchor="ctr"/>
          <a:lstStyle/>
          <a:p>
            <a:pPr marL="0" indent="0" algn="ctr">
              <a:buNone/>
            </a:pPr>
            <a:r>
              <a:rPr lang="en-US" sz="1100" b="1" dirty="0">
                <a:solidFill>
                  <a:srgbClr val="3FBFAE"/>
                </a:solidFill>
                <a:latin typeface="Calibri" pitchFamily="34" charset="0"/>
                <a:ea typeface="Calibri" pitchFamily="34" charset="-122"/>
                <a:cs typeface="Calibri" pitchFamily="34" charset="-120"/>
              </a:rPr>
              <a:t>Core Java</a:t>
            </a:r>
            <a:endParaRPr lang="en-US" sz="1100" dirty="0"/>
          </a:p>
        </p:txBody>
      </p:sp>
      <p:sp>
        <p:nvSpPr>
          <p:cNvPr id="10" name="Shape 8"/>
          <p:cNvSpPr/>
          <p:nvPr/>
        </p:nvSpPr>
        <p:spPr>
          <a:xfrm>
            <a:off x="2331720" y="4480560"/>
            <a:ext cx="1563624" cy="384048"/>
          </a:xfrm>
          <a:prstGeom prst="roundRect">
            <a:avLst>
              <a:gd name="adj" fmla="val 50000"/>
            </a:avLst>
          </a:prstGeom>
          <a:solidFill>
            <a:srgbClr val="232B4D"/>
          </a:solidFill>
          <a:ln w="12700">
            <a:solidFill>
              <a:srgbClr val="E8A33D"/>
            </a:solidFill>
            <a:prstDash val="solid"/>
          </a:ln>
        </p:spPr>
      </p:sp>
      <p:sp>
        <p:nvSpPr>
          <p:cNvPr id="11" name="Text 9"/>
          <p:cNvSpPr/>
          <p:nvPr/>
        </p:nvSpPr>
        <p:spPr>
          <a:xfrm>
            <a:off x="2331720" y="4480560"/>
            <a:ext cx="1563624" cy="384048"/>
          </a:xfrm>
          <a:prstGeom prst="rect">
            <a:avLst/>
          </a:prstGeom>
          <a:noFill/>
          <a:ln/>
        </p:spPr>
        <p:txBody>
          <a:bodyPr wrap="square" rtlCol="0" anchor="ctr"/>
          <a:lstStyle/>
          <a:p>
            <a:pPr marL="0" indent="0" algn="ctr">
              <a:buNone/>
            </a:pPr>
            <a:r>
              <a:rPr lang="en-US" sz="1100" b="1" dirty="0">
                <a:solidFill>
                  <a:srgbClr val="3FBFAE"/>
                </a:solidFill>
                <a:latin typeface="Calibri" pitchFamily="34" charset="0"/>
                <a:ea typeface="Calibri" pitchFamily="34" charset="-122"/>
                <a:cs typeface="Calibri" pitchFamily="34" charset="-120"/>
              </a:rPr>
              <a:t>Collections</a:t>
            </a:r>
            <a:endParaRPr lang="en-US" sz="1100" dirty="0"/>
          </a:p>
        </p:txBody>
      </p:sp>
      <p:sp>
        <p:nvSpPr>
          <p:cNvPr id="12" name="Shape 10"/>
          <p:cNvSpPr/>
          <p:nvPr/>
        </p:nvSpPr>
        <p:spPr>
          <a:xfrm>
            <a:off x="4041648" y="4480560"/>
            <a:ext cx="1563624" cy="384048"/>
          </a:xfrm>
          <a:prstGeom prst="roundRect">
            <a:avLst>
              <a:gd name="adj" fmla="val 50000"/>
            </a:avLst>
          </a:prstGeom>
          <a:solidFill>
            <a:srgbClr val="232B4D"/>
          </a:solidFill>
          <a:ln w="12700">
            <a:solidFill>
              <a:srgbClr val="E8A33D"/>
            </a:solidFill>
            <a:prstDash val="solid"/>
          </a:ln>
        </p:spPr>
      </p:sp>
      <p:sp>
        <p:nvSpPr>
          <p:cNvPr id="13" name="Text 11"/>
          <p:cNvSpPr/>
          <p:nvPr/>
        </p:nvSpPr>
        <p:spPr>
          <a:xfrm>
            <a:off x="4041648" y="4480560"/>
            <a:ext cx="1563624" cy="384048"/>
          </a:xfrm>
          <a:prstGeom prst="rect">
            <a:avLst/>
          </a:prstGeom>
          <a:noFill/>
          <a:ln/>
        </p:spPr>
        <p:txBody>
          <a:bodyPr wrap="square" rtlCol="0" anchor="ctr"/>
          <a:lstStyle/>
          <a:p>
            <a:pPr marL="0" indent="0" algn="ctr">
              <a:buNone/>
            </a:pPr>
            <a:r>
              <a:rPr lang="en-US" sz="1100" b="1" dirty="0">
                <a:solidFill>
                  <a:srgbClr val="3FBFAE"/>
                </a:solidFill>
                <a:latin typeface="Calibri" pitchFamily="34" charset="0"/>
                <a:ea typeface="Calibri" pitchFamily="34" charset="-122"/>
                <a:cs typeface="Calibri" pitchFamily="34" charset="-120"/>
              </a:rPr>
              <a:t>Spring Boot</a:t>
            </a:r>
            <a:endParaRPr lang="en-US" sz="1100" dirty="0"/>
          </a:p>
        </p:txBody>
      </p:sp>
      <p:sp>
        <p:nvSpPr>
          <p:cNvPr id="14" name="Shape 12"/>
          <p:cNvSpPr/>
          <p:nvPr/>
        </p:nvSpPr>
        <p:spPr>
          <a:xfrm>
            <a:off x="5751576" y="4480560"/>
            <a:ext cx="960120" cy="384048"/>
          </a:xfrm>
          <a:prstGeom prst="roundRect">
            <a:avLst>
              <a:gd name="adj" fmla="val 50000"/>
            </a:avLst>
          </a:prstGeom>
          <a:solidFill>
            <a:srgbClr val="232B4D"/>
          </a:solidFill>
          <a:ln w="12700">
            <a:solidFill>
              <a:srgbClr val="E8A33D"/>
            </a:solidFill>
            <a:prstDash val="solid"/>
          </a:ln>
        </p:spPr>
      </p:sp>
      <p:sp>
        <p:nvSpPr>
          <p:cNvPr id="15" name="Text 13"/>
          <p:cNvSpPr/>
          <p:nvPr/>
        </p:nvSpPr>
        <p:spPr>
          <a:xfrm>
            <a:off x="5751576" y="4480560"/>
            <a:ext cx="960120" cy="384048"/>
          </a:xfrm>
          <a:prstGeom prst="rect">
            <a:avLst/>
          </a:prstGeom>
          <a:noFill/>
          <a:ln/>
        </p:spPr>
        <p:txBody>
          <a:bodyPr wrap="square" rtlCol="0" anchor="ctr"/>
          <a:lstStyle/>
          <a:p>
            <a:pPr marL="0" indent="0" algn="ctr">
              <a:buNone/>
            </a:pPr>
            <a:r>
              <a:rPr lang="en-US" sz="1100" b="1" dirty="0">
                <a:solidFill>
                  <a:srgbClr val="3FBFAE"/>
                </a:solidFill>
                <a:latin typeface="Calibri" pitchFamily="34" charset="0"/>
                <a:ea typeface="Calibri" pitchFamily="34" charset="-122"/>
                <a:cs typeface="Calibri" pitchFamily="34" charset="-120"/>
              </a:rPr>
              <a:t>React</a:t>
            </a:r>
            <a:endParaRPr lang="en-US" sz="1100" dirty="0"/>
          </a:p>
        </p:txBody>
      </p:sp>
      <p:sp>
        <p:nvSpPr>
          <p:cNvPr id="16" name="Shape 14"/>
          <p:cNvSpPr/>
          <p:nvPr/>
        </p:nvSpPr>
        <p:spPr>
          <a:xfrm>
            <a:off x="6858000" y="4480560"/>
            <a:ext cx="758952" cy="384048"/>
          </a:xfrm>
          <a:prstGeom prst="roundRect">
            <a:avLst>
              <a:gd name="adj" fmla="val 50000"/>
            </a:avLst>
          </a:prstGeom>
          <a:solidFill>
            <a:srgbClr val="232B4D"/>
          </a:solidFill>
          <a:ln w="12700">
            <a:solidFill>
              <a:srgbClr val="E8A33D"/>
            </a:solidFill>
            <a:prstDash val="solid"/>
          </a:ln>
        </p:spPr>
      </p:sp>
      <p:sp>
        <p:nvSpPr>
          <p:cNvPr id="17" name="Text 15"/>
          <p:cNvSpPr/>
          <p:nvPr/>
        </p:nvSpPr>
        <p:spPr>
          <a:xfrm>
            <a:off x="6858000" y="4480560"/>
            <a:ext cx="758952" cy="384048"/>
          </a:xfrm>
          <a:prstGeom prst="rect">
            <a:avLst/>
          </a:prstGeom>
          <a:noFill/>
          <a:ln/>
        </p:spPr>
        <p:txBody>
          <a:bodyPr wrap="square" rtlCol="0" anchor="ctr"/>
          <a:lstStyle/>
          <a:p>
            <a:pPr marL="0" indent="0" algn="ctr">
              <a:buNone/>
            </a:pPr>
            <a:r>
              <a:rPr lang="en-US" sz="1100" b="1" dirty="0">
                <a:solidFill>
                  <a:srgbClr val="3FBFAE"/>
                </a:solidFill>
                <a:latin typeface="Calibri" pitchFamily="34" charset="0"/>
                <a:ea typeface="Calibri" pitchFamily="34" charset="-122"/>
                <a:cs typeface="Calibri" pitchFamily="34" charset="-120"/>
              </a:rPr>
              <a:t>SQL</a:t>
            </a:r>
            <a:endParaRPr lang="en-US" sz="1100" dirty="0"/>
          </a:p>
        </p:txBody>
      </p:sp>
      <p:sp>
        <p:nvSpPr>
          <p:cNvPr id="18" name="Shape 16"/>
          <p:cNvSpPr/>
          <p:nvPr/>
        </p:nvSpPr>
        <p:spPr>
          <a:xfrm>
            <a:off x="7763256" y="4480560"/>
            <a:ext cx="758952" cy="384048"/>
          </a:xfrm>
          <a:prstGeom prst="roundRect">
            <a:avLst>
              <a:gd name="adj" fmla="val 50000"/>
            </a:avLst>
          </a:prstGeom>
          <a:solidFill>
            <a:srgbClr val="232B4D"/>
          </a:solidFill>
          <a:ln w="12700">
            <a:solidFill>
              <a:srgbClr val="E8A33D"/>
            </a:solidFill>
            <a:prstDash val="solid"/>
          </a:ln>
        </p:spPr>
      </p:sp>
      <p:sp>
        <p:nvSpPr>
          <p:cNvPr id="19" name="Text 17"/>
          <p:cNvSpPr/>
          <p:nvPr/>
        </p:nvSpPr>
        <p:spPr>
          <a:xfrm>
            <a:off x="7763256" y="4480560"/>
            <a:ext cx="758952" cy="384048"/>
          </a:xfrm>
          <a:prstGeom prst="rect">
            <a:avLst/>
          </a:prstGeom>
          <a:noFill/>
          <a:ln/>
        </p:spPr>
        <p:txBody>
          <a:bodyPr wrap="square" rtlCol="0" anchor="ctr"/>
          <a:lstStyle/>
          <a:p>
            <a:pPr marL="0" indent="0" algn="ctr">
              <a:buNone/>
            </a:pPr>
            <a:r>
              <a:rPr lang="en-US" sz="1100" b="1" dirty="0">
                <a:solidFill>
                  <a:srgbClr val="3FBFAE"/>
                </a:solidFill>
                <a:latin typeface="Calibri" pitchFamily="34" charset="0"/>
                <a:ea typeface="Calibri" pitchFamily="34" charset="-122"/>
                <a:cs typeface="Calibri" pitchFamily="34" charset="-120"/>
              </a:rPr>
              <a:t>DSA</a:t>
            </a:r>
            <a:endParaRPr lang="en-US" sz="1100" dirty="0"/>
          </a:p>
        </p:txBody>
      </p:sp>
      <p:sp>
        <p:nvSpPr>
          <p:cNvPr id="20" name="Shape 18"/>
          <p:cNvSpPr/>
          <p:nvPr/>
        </p:nvSpPr>
        <p:spPr>
          <a:xfrm>
            <a:off x="8668512" y="4480560"/>
            <a:ext cx="1463040" cy="384048"/>
          </a:xfrm>
          <a:prstGeom prst="roundRect">
            <a:avLst>
              <a:gd name="adj" fmla="val 50000"/>
            </a:avLst>
          </a:prstGeom>
          <a:solidFill>
            <a:srgbClr val="232B4D"/>
          </a:solidFill>
          <a:ln w="12700">
            <a:solidFill>
              <a:srgbClr val="E8A33D"/>
            </a:solidFill>
            <a:prstDash val="solid"/>
          </a:ln>
        </p:spPr>
      </p:sp>
      <p:sp>
        <p:nvSpPr>
          <p:cNvPr id="21" name="Text 19"/>
          <p:cNvSpPr/>
          <p:nvPr/>
        </p:nvSpPr>
        <p:spPr>
          <a:xfrm>
            <a:off x="8668512" y="4480560"/>
            <a:ext cx="1463040" cy="384048"/>
          </a:xfrm>
          <a:prstGeom prst="rect">
            <a:avLst/>
          </a:prstGeom>
          <a:noFill/>
          <a:ln/>
        </p:spPr>
        <p:txBody>
          <a:bodyPr wrap="square" rtlCol="0" anchor="ctr"/>
          <a:lstStyle/>
          <a:p>
            <a:pPr marL="0" indent="0" algn="ctr">
              <a:buNone/>
            </a:pPr>
            <a:r>
              <a:rPr lang="en-US" sz="1100" b="1" dirty="0">
                <a:solidFill>
                  <a:srgbClr val="3FBFAE"/>
                </a:solidFill>
                <a:latin typeface="Calibri" pitchFamily="34" charset="0"/>
                <a:ea typeface="Calibri" pitchFamily="34" charset="-122"/>
                <a:cs typeface="Calibri" pitchFamily="34" charset="-120"/>
              </a:rPr>
              <a:t>Cloud &amp; AI</a:t>
            </a:r>
            <a:endParaRPr lang="en-US" sz="1100" dirty="0"/>
          </a:p>
        </p:txBody>
      </p:sp>
      <p:sp>
        <p:nvSpPr>
          <p:cNvPr id="22" name="Text 20"/>
          <p:cNvSpPr/>
          <p:nvPr/>
        </p:nvSpPr>
        <p:spPr>
          <a:xfrm>
            <a:off x="822960" y="6263640"/>
            <a:ext cx="7315200" cy="320040"/>
          </a:xfrm>
          <a:prstGeom prst="rect">
            <a:avLst/>
          </a:prstGeom>
          <a:noFill/>
          <a:ln/>
        </p:spPr>
        <p:txBody>
          <a:bodyPr wrap="square" rtlCol="0" anchor="ctr"/>
          <a:lstStyle/>
          <a:p>
            <a:pPr marL="0" indent="0">
              <a:buNone/>
            </a:pPr>
            <a:r>
              <a:rPr lang="en-US" sz="1100" dirty="0">
                <a:solidFill>
                  <a:srgbClr val="8A90AC"/>
                </a:solidFill>
                <a:latin typeface="Calibri" pitchFamily="34" charset="0"/>
                <a:ea typeface="Calibri" pitchFamily="34" charset="-122"/>
                <a:cs typeface="Calibri" pitchFamily="34" charset="-120"/>
              </a:rPr>
              <a:t>For students preparing for technical interviews</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B2340"/>
        </a:solidFill>
        <a:effectLst/>
      </p:bgPr>
    </p:bg>
    <p:spTree>
      <p:nvGrpSpPr>
        <p:cNvPr id="1" name=""/>
        <p:cNvGrpSpPr/>
        <p:nvPr/>
      </p:nvGrpSpPr>
      <p:grpSpPr>
        <a:xfrm>
          <a:off x="0" y="0"/>
          <a:ext cx="0" cy="0"/>
          <a:chOff x="0" y="0"/>
          <a:chExt cx="0" cy="0"/>
        </a:xfrm>
      </p:grpSpPr>
      <p:sp>
        <p:nvSpPr>
          <p:cNvPr id="2" name="Shape 0"/>
          <p:cNvSpPr/>
          <p:nvPr/>
        </p:nvSpPr>
        <p:spPr>
          <a:xfrm>
            <a:off x="9692640" y="-1463040"/>
            <a:ext cx="4206240" cy="4206240"/>
          </a:xfrm>
          <a:prstGeom prst="ellipse">
            <a:avLst/>
          </a:prstGeom>
          <a:solidFill>
            <a:srgbClr val="232B4D"/>
          </a:solidFill>
          <a:ln/>
        </p:spPr>
      </p:sp>
      <p:sp>
        <p:nvSpPr>
          <p:cNvPr id="3" name="Text 1"/>
          <p:cNvSpPr/>
          <p:nvPr/>
        </p:nvSpPr>
        <p:spPr>
          <a:xfrm>
            <a:off x="822960" y="1920240"/>
            <a:ext cx="2743200" cy="1463040"/>
          </a:xfrm>
          <a:prstGeom prst="rect">
            <a:avLst/>
          </a:prstGeom>
          <a:noFill/>
          <a:ln/>
        </p:spPr>
        <p:txBody>
          <a:bodyPr wrap="square" rtlCol="0" anchor="ctr"/>
          <a:lstStyle/>
          <a:p>
            <a:pPr marL="0" indent="0">
              <a:buNone/>
            </a:pPr>
            <a:r>
              <a:rPr lang="en-US" sz="6400" b="1" dirty="0">
                <a:solidFill>
                  <a:srgbClr val="232B4D"/>
                </a:solidFill>
                <a:latin typeface="Century Schoolbook" pitchFamily="34" charset="0"/>
                <a:ea typeface="Century Schoolbook" pitchFamily="34" charset="-122"/>
                <a:cs typeface="Century Schoolbook" pitchFamily="34" charset="-120"/>
              </a:rPr>
              <a:t>01</a:t>
            </a:r>
            <a:endParaRPr lang="en-US" sz="6400" dirty="0"/>
          </a:p>
        </p:txBody>
      </p:sp>
      <p:sp>
        <p:nvSpPr>
          <p:cNvPr id="4" name="Shape 2"/>
          <p:cNvSpPr/>
          <p:nvPr/>
        </p:nvSpPr>
        <p:spPr>
          <a:xfrm>
            <a:off x="868680" y="3383280"/>
            <a:ext cx="1005840" cy="82296"/>
          </a:xfrm>
          <a:prstGeom prst="rect">
            <a:avLst/>
          </a:prstGeom>
          <a:solidFill>
            <a:srgbClr val="E8A33D"/>
          </a:solidFill>
          <a:ln/>
        </p:spPr>
      </p:sp>
      <p:sp>
        <p:nvSpPr>
          <p:cNvPr id="5" name="Text 3"/>
          <p:cNvSpPr/>
          <p:nvPr/>
        </p:nvSpPr>
        <p:spPr>
          <a:xfrm>
            <a:off x="822960" y="3520440"/>
            <a:ext cx="9601200" cy="1005840"/>
          </a:xfrm>
          <a:prstGeom prst="rect">
            <a:avLst/>
          </a:prstGeom>
          <a:noFill/>
          <a:ln/>
        </p:spPr>
        <p:txBody>
          <a:bodyPr wrap="square" rtlCol="0" anchor="ctr"/>
          <a:lstStyle/>
          <a:p>
            <a:pPr marL="0" indent="0">
              <a:buNone/>
            </a:pPr>
            <a:r>
              <a:rPr lang="en-US" sz="3800" b="1" dirty="0">
                <a:solidFill>
                  <a:srgbClr val="FFFFFF"/>
                </a:solidFill>
                <a:latin typeface="Century Schoolbook" pitchFamily="34" charset="0"/>
                <a:ea typeface="Century Schoolbook" pitchFamily="34" charset="-122"/>
                <a:cs typeface="Century Schoolbook" pitchFamily="34" charset="-120"/>
              </a:rPr>
              <a:t>Core Java &amp; OOP</a:t>
            </a:r>
            <a:endParaRPr lang="en-US" sz="3800" dirty="0"/>
          </a:p>
        </p:txBody>
      </p:sp>
      <p:sp>
        <p:nvSpPr>
          <p:cNvPr id="6" name="Text 4"/>
          <p:cNvSpPr/>
          <p:nvPr/>
        </p:nvSpPr>
        <p:spPr>
          <a:xfrm>
            <a:off x="822960" y="4434840"/>
            <a:ext cx="8229600" cy="457200"/>
          </a:xfrm>
          <a:prstGeom prst="rect">
            <a:avLst/>
          </a:prstGeom>
          <a:noFill/>
          <a:ln/>
        </p:spPr>
        <p:txBody>
          <a:bodyPr wrap="square" rtlCol="0" anchor="ctr"/>
          <a:lstStyle/>
          <a:p>
            <a:pPr marL="0" indent="0">
              <a:buNone/>
            </a:pPr>
            <a:r>
              <a:rPr lang="en-US" sz="1400" i="1" dirty="0">
                <a:solidFill>
                  <a:srgbClr val="C3C8DC"/>
                </a:solidFill>
                <a:latin typeface="Calibri" pitchFamily="34" charset="0"/>
                <a:ea typeface="Calibri" pitchFamily="34" charset="-122"/>
                <a:cs typeface="Calibri" pitchFamily="34" charset="-120"/>
              </a:rPr>
              <a:t>12 slides covering commonly asked interview questions</a:t>
            </a:r>
            <a:endParaRPr lang="en-US" sz="1400" dirty="0"/>
          </a:p>
        </p:txBody>
      </p:sp>
      <p:sp>
        <p:nvSpPr>
          <p:cNvPr id="7" name="Text 5"/>
          <p:cNvSpPr/>
          <p:nvPr/>
        </p:nvSpPr>
        <p:spPr>
          <a:xfrm>
            <a:off x="457200" y="6583680"/>
            <a:ext cx="5486400" cy="228600"/>
          </a:xfrm>
          <a:prstGeom prst="rect">
            <a:avLst/>
          </a:prstGeom>
          <a:noFill/>
          <a:ln/>
        </p:spPr>
        <p:txBody>
          <a:bodyPr wrap="square" rtlCol="0" anchor="ctr"/>
          <a:lstStyle/>
          <a:p>
            <a:pPr marL="0" indent="0" algn="l">
              <a:buNone/>
            </a:pPr>
            <a:r>
              <a:rPr lang="en-US" sz="850" dirty="0">
                <a:solidFill>
                  <a:srgbClr val="5B6178"/>
                </a:solidFill>
                <a:latin typeface="Calibri" pitchFamily="34" charset="0"/>
                <a:ea typeface="Calibri" pitchFamily="34" charset="-122"/>
                <a:cs typeface="Calibri" pitchFamily="34" charset="-120"/>
              </a:rPr>
              <a:t>Java &amp; Full-Stack Interview Prep</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502920" y="384048"/>
            <a:ext cx="3474720" cy="310896"/>
          </a:xfrm>
          <a:prstGeom prst="roundRect">
            <a:avLst>
              <a:gd name="adj" fmla="val 23529"/>
            </a:avLst>
          </a:prstGeom>
          <a:solidFill>
            <a:srgbClr val="E8A33D"/>
          </a:solidFill>
          <a:ln/>
        </p:spPr>
      </p:sp>
      <p:sp>
        <p:nvSpPr>
          <p:cNvPr id="3" name="Text 1"/>
          <p:cNvSpPr/>
          <p:nvPr/>
        </p:nvSpPr>
        <p:spPr>
          <a:xfrm>
            <a:off x="502920" y="384048"/>
            <a:ext cx="3474720" cy="310896"/>
          </a:xfrm>
          <a:prstGeom prst="rect">
            <a:avLst/>
          </a:prstGeom>
          <a:noFill/>
          <a:ln/>
        </p:spPr>
        <p:txBody>
          <a:bodyPr wrap="square" rtlCol="0" anchor="ctr"/>
          <a:lstStyle/>
          <a:p>
            <a:pPr marL="0" indent="0" algn="ctr">
              <a:buNone/>
            </a:pPr>
            <a:r>
              <a:rPr lang="en-US" sz="1100" b="1" kern="0" spc="100" dirty="0">
                <a:solidFill>
                  <a:srgbClr val="1B2340"/>
                </a:solidFill>
                <a:latin typeface="Calibri" pitchFamily="34" charset="0"/>
                <a:ea typeface="Calibri" pitchFamily="34" charset="-122"/>
                <a:cs typeface="Calibri" pitchFamily="34" charset="-120"/>
              </a:rPr>
              <a:t>CORE JAVA &amp; OOP</a:t>
            </a:r>
            <a:endParaRPr lang="en-US" sz="1100" dirty="0"/>
          </a:p>
        </p:txBody>
      </p:sp>
      <p:sp>
        <p:nvSpPr>
          <p:cNvPr id="4" name="Text 2"/>
          <p:cNvSpPr/>
          <p:nvPr/>
        </p:nvSpPr>
        <p:spPr>
          <a:xfrm>
            <a:off x="502920" y="786384"/>
            <a:ext cx="11155680" cy="868680"/>
          </a:xfrm>
          <a:prstGeom prst="rect">
            <a:avLst/>
          </a:prstGeom>
          <a:noFill/>
          <a:ln/>
        </p:spPr>
        <p:txBody>
          <a:bodyPr wrap="square" rtlCol="0" anchor="t"/>
          <a:lstStyle/>
          <a:p>
            <a:pPr marL="0" indent="0">
              <a:lnSpc>
                <a:spcPct val="102000"/>
              </a:lnSpc>
              <a:buNone/>
            </a:pPr>
            <a:r>
              <a:rPr lang="en-US" sz="2500" b="1" dirty="0">
                <a:solidFill>
                  <a:srgbClr val="1B2340"/>
                </a:solidFill>
                <a:latin typeface="Century Schoolbook" pitchFamily="34" charset="0"/>
                <a:ea typeface="Century Schoolbook" pitchFamily="34" charset="-122"/>
                <a:cs typeface="Century Schoolbook" pitchFamily="34" charset="-120"/>
              </a:rPr>
              <a:t>What are the four pillars of OOP?</a:t>
            </a:r>
            <a:endParaRPr lang="en-US" sz="2500" dirty="0"/>
          </a:p>
        </p:txBody>
      </p:sp>
      <p:sp>
        <p:nvSpPr>
          <p:cNvPr id="5" name="Shape 3"/>
          <p:cNvSpPr/>
          <p:nvPr/>
        </p:nvSpPr>
        <p:spPr>
          <a:xfrm>
            <a:off x="502920" y="1810512"/>
            <a:ext cx="164592" cy="274320"/>
          </a:xfrm>
          <a:prstGeom prst="roundRect">
            <a:avLst>
              <a:gd name="adj" fmla="val 22222"/>
            </a:avLst>
          </a:prstGeom>
          <a:solidFill>
            <a:srgbClr val="E8A33D"/>
          </a:solidFill>
          <a:ln/>
        </p:spPr>
      </p:sp>
      <p:sp>
        <p:nvSpPr>
          <p:cNvPr id="6" name="Text 4"/>
          <p:cNvSpPr/>
          <p:nvPr/>
        </p:nvSpPr>
        <p:spPr>
          <a:xfrm>
            <a:off x="758952" y="1783080"/>
            <a:ext cx="4315968" cy="329184"/>
          </a:xfrm>
          <a:prstGeom prst="rect">
            <a:avLst/>
          </a:prstGeom>
          <a:noFill/>
          <a:ln/>
        </p:spPr>
        <p:txBody>
          <a:bodyPr wrap="square" rtlCol="0" anchor="ctr"/>
          <a:lstStyle/>
          <a:p>
            <a:pPr marL="0" indent="0">
              <a:buNone/>
            </a:pPr>
            <a:r>
              <a:rPr lang="en-US" sz="1300" b="1" kern="0" spc="50" dirty="0">
                <a:solidFill>
                  <a:srgbClr val="1B2340"/>
                </a:solidFill>
                <a:latin typeface="Calibri" pitchFamily="34" charset="0"/>
                <a:ea typeface="Calibri" pitchFamily="34" charset="-122"/>
                <a:cs typeface="Calibri" pitchFamily="34" charset="-120"/>
              </a:rPr>
              <a:t>DEFINITION / CONCEPT</a:t>
            </a:r>
            <a:endParaRPr lang="en-US" sz="1300" dirty="0"/>
          </a:p>
        </p:txBody>
      </p:sp>
      <p:sp>
        <p:nvSpPr>
          <p:cNvPr id="7" name="Shape 5"/>
          <p:cNvSpPr/>
          <p:nvPr/>
        </p:nvSpPr>
        <p:spPr>
          <a:xfrm>
            <a:off x="502920" y="2121408"/>
            <a:ext cx="11201400" cy="914400"/>
          </a:xfrm>
          <a:prstGeom prst="roundRect">
            <a:avLst>
              <a:gd name="adj" fmla="val 8000"/>
            </a:avLst>
          </a:prstGeom>
          <a:solidFill>
            <a:srgbClr val="F7F7FA"/>
          </a:solidFill>
          <a:ln w="12700">
            <a:solidFill>
              <a:srgbClr val="E4E6EF"/>
            </a:solidFill>
            <a:prstDash val="solid"/>
          </a:ln>
        </p:spPr>
      </p:sp>
      <p:sp>
        <p:nvSpPr>
          <p:cNvPr id="8" name="Text 6"/>
          <p:cNvSpPr/>
          <p:nvPr/>
        </p:nvSpPr>
        <p:spPr>
          <a:xfrm>
            <a:off x="758952" y="2304288"/>
            <a:ext cx="10689336" cy="548640"/>
          </a:xfrm>
          <a:prstGeom prst="rect">
            <a:avLst/>
          </a:prstGeom>
          <a:noFill/>
          <a:ln/>
        </p:spPr>
        <p:txBody>
          <a:bodyPr wrap="square" lIns="0" tIns="0" rIns="0" bIns="0" rtlCol="0" anchor="t"/>
          <a:lstStyle/>
          <a:p>
            <a:pPr marL="0" indent="0">
              <a:lnSpc>
                <a:spcPct val="115000"/>
              </a:lnSpc>
              <a:buNone/>
            </a:pPr>
            <a:r>
              <a:rPr lang="en-US" sz="1450" dirty="0">
                <a:solidFill>
                  <a:srgbClr val="1B2340"/>
                </a:solidFill>
                <a:latin typeface="Calibri" pitchFamily="34" charset="0"/>
                <a:ea typeface="Calibri" pitchFamily="34" charset="-122"/>
                <a:cs typeface="Calibri" pitchFamily="34" charset="-120"/>
              </a:rPr>
              <a:t>Object-Oriented Programming is built on four ideas that make code reusable, secure, and easy to manage: Encapsulation, Inheritance, Polymorphism, and Abstraction.</a:t>
            </a:r>
            <a:endParaRPr lang="en-US" sz="1450" dirty="0"/>
          </a:p>
        </p:txBody>
      </p:sp>
      <p:sp>
        <p:nvSpPr>
          <p:cNvPr id="9" name="Shape 7"/>
          <p:cNvSpPr/>
          <p:nvPr/>
        </p:nvSpPr>
        <p:spPr>
          <a:xfrm>
            <a:off x="502920" y="3200400"/>
            <a:ext cx="164592" cy="274320"/>
          </a:xfrm>
          <a:prstGeom prst="roundRect">
            <a:avLst>
              <a:gd name="adj" fmla="val 22222"/>
            </a:avLst>
          </a:prstGeom>
          <a:solidFill>
            <a:srgbClr val="3FBFAE"/>
          </a:solidFill>
          <a:ln/>
        </p:spPr>
      </p:sp>
      <p:sp>
        <p:nvSpPr>
          <p:cNvPr id="10" name="Text 8"/>
          <p:cNvSpPr/>
          <p:nvPr/>
        </p:nvSpPr>
        <p:spPr>
          <a:xfrm>
            <a:off x="758952" y="3172968"/>
            <a:ext cx="4315968" cy="329184"/>
          </a:xfrm>
          <a:prstGeom prst="rect">
            <a:avLst/>
          </a:prstGeom>
          <a:noFill/>
          <a:ln/>
        </p:spPr>
        <p:txBody>
          <a:bodyPr wrap="square" rtlCol="0" anchor="ctr"/>
          <a:lstStyle/>
          <a:p>
            <a:pPr marL="0" indent="0">
              <a:buNone/>
            </a:pPr>
            <a:r>
              <a:rPr lang="en-US" sz="1300" b="1" kern="0" spc="50" dirty="0">
                <a:solidFill>
                  <a:srgbClr val="1B2340"/>
                </a:solidFill>
                <a:latin typeface="Calibri" pitchFamily="34" charset="0"/>
                <a:ea typeface="Calibri" pitchFamily="34" charset="-122"/>
                <a:cs typeface="Calibri" pitchFamily="34" charset="-120"/>
              </a:rPr>
              <a:t>EXPLANATION</a:t>
            </a:r>
            <a:endParaRPr lang="en-US" sz="1300" dirty="0"/>
          </a:p>
        </p:txBody>
      </p:sp>
      <p:sp>
        <p:nvSpPr>
          <p:cNvPr id="11" name="Text 9"/>
          <p:cNvSpPr/>
          <p:nvPr/>
        </p:nvSpPr>
        <p:spPr>
          <a:xfrm>
            <a:off x="502920" y="3529584"/>
            <a:ext cx="6858000" cy="2331720"/>
          </a:xfrm>
          <a:prstGeom prst="rect">
            <a:avLst/>
          </a:prstGeom>
          <a:noFill/>
          <a:ln/>
        </p:spPr>
        <p:txBody>
          <a:bodyPr wrap="square" lIns="0" tIns="0" rIns="0" bIns="0" rtlCol="0" anchor="t"/>
          <a:lstStyle/>
          <a:p>
            <a:pPr marL="177800" indent="-177800">
              <a:spcAft>
                <a:spcPts val="800"/>
              </a:spcAft>
              <a:buSzPct val="100000"/>
              <a:buChar char="•"/>
            </a:pPr>
            <a:r>
              <a:rPr lang="en-US" sz="1300" dirty="0">
                <a:solidFill>
                  <a:srgbClr val="1B2340"/>
                </a:solidFill>
                <a:latin typeface="Calibri" pitchFamily="34" charset="0"/>
                <a:ea typeface="Calibri" pitchFamily="34" charset="-122"/>
                <a:cs typeface="Calibri" pitchFamily="34" charset="-120"/>
              </a:rPr>
              <a:t>Encapsulation - hiding data using private fields and access methods</a:t>
            </a:r>
            <a:endParaRPr lang="en-US" sz="1300" dirty="0"/>
          </a:p>
          <a:p>
            <a:pPr marL="177800" indent="-177800">
              <a:spcAft>
                <a:spcPts val="800"/>
              </a:spcAft>
              <a:buSzPct val="100000"/>
              <a:buChar char="•"/>
            </a:pPr>
            <a:r>
              <a:rPr lang="en-US" sz="1300" dirty="0">
                <a:solidFill>
                  <a:srgbClr val="1B2340"/>
                </a:solidFill>
                <a:latin typeface="Calibri" pitchFamily="34" charset="0"/>
                <a:ea typeface="Calibri" pitchFamily="34" charset="-122"/>
                <a:cs typeface="Calibri" pitchFamily="34" charset="-120"/>
              </a:rPr>
              <a:t>Inheritance - one class reusing the properties of another</a:t>
            </a:r>
            <a:endParaRPr lang="en-US" sz="1300" dirty="0"/>
          </a:p>
          <a:p>
            <a:pPr marL="177800" indent="-177800">
              <a:spcAft>
                <a:spcPts val="800"/>
              </a:spcAft>
              <a:buSzPct val="100000"/>
              <a:buChar char="•"/>
            </a:pPr>
            <a:r>
              <a:rPr lang="en-US" sz="1300" dirty="0">
                <a:solidFill>
                  <a:srgbClr val="1B2340"/>
                </a:solidFill>
                <a:latin typeface="Calibri" pitchFamily="34" charset="0"/>
                <a:ea typeface="Calibri" pitchFamily="34" charset="-122"/>
                <a:cs typeface="Calibri" pitchFamily="34" charset="-120"/>
              </a:rPr>
              <a:t>Polymorphism - one action behaving differently in different situations</a:t>
            </a:r>
            <a:endParaRPr lang="en-US" sz="1300" dirty="0"/>
          </a:p>
          <a:p>
            <a:pPr marL="177800" indent="-177800">
              <a:spcAft>
                <a:spcPts val="800"/>
              </a:spcAft>
              <a:buSzPct val="100000"/>
              <a:buChar char="•"/>
            </a:pPr>
            <a:r>
              <a:rPr lang="en-US" sz="1300" dirty="0">
                <a:solidFill>
                  <a:srgbClr val="1B2340"/>
                </a:solidFill>
                <a:latin typeface="Calibri" pitchFamily="34" charset="0"/>
                <a:ea typeface="Calibri" pitchFamily="34" charset="-122"/>
                <a:cs typeface="Calibri" pitchFamily="34" charset="-120"/>
              </a:rPr>
              <a:t>Abstraction - showing only the needed details, hiding the complex logic</a:t>
            </a:r>
            <a:endParaRPr lang="en-US" sz="1300" dirty="0"/>
          </a:p>
        </p:txBody>
      </p:sp>
      <p:sp>
        <p:nvSpPr>
          <p:cNvPr id="12" name="Shape 10"/>
          <p:cNvSpPr/>
          <p:nvPr/>
        </p:nvSpPr>
        <p:spPr>
          <a:xfrm>
            <a:off x="7589520" y="3200400"/>
            <a:ext cx="4114800" cy="2194560"/>
          </a:xfrm>
          <a:prstGeom prst="roundRect">
            <a:avLst>
              <a:gd name="adj" fmla="val 3333"/>
            </a:avLst>
          </a:prstGeom>
          <a:solidFill>
            <a:srgbClr val="FDF3E3"/>
          </a:solidFill>
          <a:ln/>
        </p:spPr>
      </p:sp>
      <p:sp>
        <p:nvSpPr>
          <p:cNvPr id="13" name="Text 11"/>
          <p:cNvSpPr/>
          <p:nvPr/>
        </p:nvSpPr>
        <p:spPr>
          <a:xfrm>
            <a:off x="7790688" y="3310128"/>
            <a:ext cx="3712464" cy="274320"/>
          </a:xfrm>
          <a:prstGeom prst="rect">
            <a:avLst/>
          </a:prstGeom>
          <a:noFill/>
          <a:ln/>
        </p:spPr>
        <p:txBody>
          <a:bodyPr wrap="square" rtlCol="0" anchor="ctr"/>
          <a:lstStyle/>
          <a:p>
            <a:pPr marL="0" indent="0">
              <a:buNone/>
            </a:pPr>
            <a:r>
              <a:rPr lang="en-US" sz="1100" b="1" kern="0" spc="50" dirty="0">
                <a:solidFill>
                  <a:srgbClr val="C9862A"/>
                </a:solidFill>
                <a:latin typeface="Calibri" pitchFamily="34" charset="0"/>
                <a:ea typeface="Calibri" pitchFamily="34" charset="-122"/>
                <a:cs typeface="Calibri" pitchFamily="34" charset="-120"/>
              </a:rPr>
              <a:t>💡 REAL-LIFE ANALOGY</a:t>
            </a:r>
            <a:endParaRPr lang="en-US" sz="1100" dirty="0"/>
          </a:p>
        </p:txBody>
      </p:sp>
      <p:sp>
        <p:nvSpPr>
          <p:cNvPr id="14" name="Text 12"/>
          <p:cNvSpPr/>
          <p:nvPr/>
        </p:nvSpPr>
        <p:spPr>
          <a:xfrm>
            <a:off x="7790688" y="3602736"/>
            <a:ext cx="3712464" cy="1664208"/>
          </a:xfrm>
          <a:prstGeom prst="rect">
            <a:avLst/>
          </a:prstGeom>
          <a:noFill/>
          <a:ln/>
        </p:spPr>
        <p:txBody>
          <a:bodyPr wrap="square" lIns="0" tIns="0" rIns="0" bIns="0" rtlCol="0" anchor="t"/>
          <a:lstStyle/>
          <a:p>
            <a:pPr marL="0" indent="0">
              <a:lnSpc>
                <a:spcPct val="110000"/>
              </a:lnSpc>
              <a:buNone/>
            </a:pPr>
            <a:r>
              <a:rPr lang="en-US" sz="1250" i="1" dirty="0">
                <a:solidFill>
                  <a:srgbClr val="1B2340"/>
                </a:solidFill>
                <a:latin typeface="Calibri" pitchFamily="34" charset="0"/>
                <a:ea typeface="Calibri" pitchFamily="34" charset="-122"/>
                <a:cs typeface="Calibri" pitchFamily="34" charset="-120"/>
              </a:rPr>
              <a:t>Think of a car: you only see the steering wheel and pedals (abstraction), the engine parts are protected under the hood (encapsulation), a sports car IS-A car (inheritance), and pressing the accelerator does different things in a hybrid vs a petrol car (polymorphism).</a:t>
            </a:r>
            <a:endParaRPr lang="en-US" sz="1250" dirty="0"/>
          </a:p>
        </p:txBody>
      </p:sp>
      <p:sp>
        <p:nvSpPr>
          <p:cNvPr id="15" name="Shape 13"/>
          <p:cNvSpPr/>
          <p:nvPr/>
        </p:nvSpPr>
        <p:spPr>
          <a:xfrm>
            <a:off x="502920" y="5870448"/>
            <a:ext cx="11201400" cy="603504"/>
          </a:xfrm>
          <a:prstGeom prst="roundRect">
            <a:avLst>
              <a:gd name="adj" fmla="val 12121"/>
            </a:avLst>
          </a:prstGeom>
          <a:solidFill>
            <a:srgbClr val="1B2340"/>
          </a:solidFill>
          <a:ln/>
        </p:spPr>
      </p:sp>
      <p:sp>
        <p:nvSpPr>
          <p:cNvPr id="16" name="Text 14"/>
          <p:cNvSpPr/>
          <p:nvPr/>
        </p:nvSpPr>
        <p:spPr>
          <a:xfrm>
            <a:off x="731520" y="5961888"/>
            <a:ext cx="10744200" cy="256032"/>
          </a:xfrm>
          <a:prstGeom prst="rect">
            <a:avLst/>
          </a:prstGeom>
          <a:noFill/>
          <a:ln/>
        </p:spPr>
        <p:txBody>
          <a:bodyPr wrap="square" rtlCol="0" anchor="ctr"/>
          <a:lstStyle/>
          <a:p>
            <a:pPr marL="0" indent="0">
              <a:buNone/>
            </a:pPr>
            <a:r>
              <a:rPr lang="en-US" sz="1050" b="1" kern="0" spc="80" dirty="0">
                <a:solidFill>
                  <a:srgbClr val="E8A33D"/>
                </a:solidFill>
                <a:latin typeface="Calibri" pitchFamily="34" charset="0"/>
                <a:ea typeface="Calibri" pitchFamily="34" charset="-122"/>
                <a:cs typeface="Calibri" pitchFamily="34" charset="-120"/>
              </a:rPr>
              <a:t>ONE-LINE INTERVIEW ANSWER</a:t>
            </a:r>
            <a:endParaRPr lang="en-US" sz="1050" dirty="0"/>
          </a:p>
        </p:txBody>
      </p:sp>
      <p:sp>
        <p:nvSpPr>
          <p:cNvPr id="17" name="Text 15"/>
          <p:cNvSpPr/>
          <p:nvPr/>
        </p:nvSpPr>
        <p:spPr>
          <a:xfrm>
            <a:off x="731520" y="6217920"/>
            <a:ext cx="10744200" cy="146304"/>
          </a:xfrm>
          <a:prstGeom prst="rect">
            <a:avLst/>
          </a:prstGeom>
          <a:noFill/>
          <a:ln/>
        </p:spPr>
        <p:txBody>
          <a:bodyPr wrap="square" lIns="0" tIns="0" rIns="0" bIns="0" rtlCol="0" anchor="t"/>
          <a:lstStyle/>
          <a:p>
            <a:pPr marL="0" indent="0">
              <a:lnSpc>
                <a:spcPct val="105000"/>
              </a:lnSpc>
              <a:buNone/>
            </a:pPr>
            <a:r>
              <a:rPr lang="en-US" sz="1250" dirty="0">
                <a:solidFill>
                  <a:srgbClr val="FFFFFF"/>
                </a:solidFill>
                <a:latin typeface="Calibri" pitchFamily="34" charset="0"/>
                <a:ea typeface="Calibri" pitchFamily="34" charset="-122"/>
                <a:cs typeface="Calibri" pitchFamily="34" charset="-120"/>
              </a:rPr>
              <a:t>OOP has four pillars - Encapsulation, Inheritance, Polymorphism, and Abstraction - which together make code modular, reusable, and secure.</a:t>
            </a:r>
            <a:endParaRPr lang="en-US" sz="1250" dirty="0"/>
          </a:p>
        </p:txBody>
      </p:sp>
      <p:sp>
        <p:nvSpPr>
          <p:cNvPr id="18" name="Text 16"/>
          <p:cNvSpPr/>
          <p:nvPr/>
        </p:nvSpPr>
        <p:spPr>
          <a:xfrm>
            <a:off x="457200" y="6583680"/>
            <a:ext cx="5486400" cy="228600"/>
          </a:xfrm>
          <a:prstGeom prst="rect">
            <a:avLst/>
          </a:prstGeom>
          <a:noFill/>
          <a:ln/>
        </p:spPr>
        <p:txBody>
          <a:bodyPr wrap="square" rtlCol="0" anchor="ctr"/>
          <a:lstStyle/>
          <a:p>
            <a:pPr marL="0" indent="0" algn="l">
              <a:buNone/>
            </a:pPr>
            <a:r>
              <a:rPr lang="en-US" sz="850" dirty="0">
                <a:solidFill>
                  <a:srgbClr val="5B6178"/>
                </a:solidFill>
                <a:latin typeface="Calibri" pitchFamily="34" charset="0"/>
                <a:ea typeface="Calibri" pitchFamily="34" charset="-122"/>
                <a:cs typeface="Calibri" pitchFamily="34" charset="-120"/>
              </a:rPr>
              <a:t>Java &amp; Full-Stack Interview Prep</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502920" y="384048"/>
            <a:ext cx="3474720" cy="310896"/>
          </a:xfrm>
          <a:prstGeom prst="roundRect">
            <a:avLst>
              <a:gd name="adj" fmla="val 23529"/>
            </a:avLst>
          </a:prstGeom>
          <a:solidFill>
            <a:srgbClr val="E8A33D"/>
          </a:solidFill>
          <a:ln/>
        </p:spPr>
      </p:sp>
      <p:sp>
        <p:nvSpPr>
          <p:cNvPr id="3" name="Text 1"/>
          <p:cNvSpPr/>
          <p:nvPr/>
        </p:nvSpPr>
        <p:spPr>
          <a:xfrm>
            <a:off x="502920" y="384048"/>
            <a:ext cx="3474720" cy="310896"/>
          </a:xfrm>
          <a:prstGeom prst="rect">
            <a:avLst/>
          </a:prstGeom>
          <a:noFill/>
          <a:ln/>
        </p:spPr>
        <p:txBody>
          <a:bodyPr wrap="square" rtlCol="0" anchor="ctr"/>
          <a:lstStyle/>
          <a:p>
            <a:pPr marL="0" indent="0" algn="ctr">
              <a:buNone/>
            </a:pPr>
            <a:r>
              <a:rPr lang="en-US" sz="1100" b="1" kern="0" spc="100" dirty="0">
                <a:solidFill>
                  <a:srgbClr val="1B2340"/>
                </a:solidFill>
                <a:latin typeface="Calibri" pitchFamily="34" charset="0"/>
                <a:ea typeface="Calibri" pitchFamily="34" charset="-122"/>
                <a:cs typeface="Calibri" pitchFamily="34" charset="-120"/>
              </a:rPr>
              <a:t>CORE JAVA &amp; OOP</a:t>
            </a:r>
            <a:endParaRPr lang="en-US" sz="1100" dirty="0"/>
          </a:p>
        </p:txBody>
      </p:sp>
      <p:sp>
        <p:nvSpPr>
          <p:cNvPr id="4" name="Text 2"/>
          <p:cNvSpPr/>
          <p:nvPr/>
        </p:nvSpPr>
        <p:spPr>
          <a:xfrm>
            <a:off x="502920" y="786384"/>
            <a:ext cx="11155680" cy="868680"/>
          </a:xfrm>
          <a:prstGeom prst="rect">
            <a:avLst/>
          </a:prstGeom>
          <a:noFill/>
          <a:ln/>
        </p:spPr>
        <p:txBody>
          <a:bodyPr wrap="square" rtlCol="0" anchor="t"/>
          <a:lstStyle/>
          <a:p>
            <a:pPr marL="0" indent="0">
              <a:lnSpc>
                <a:spcPct val="102000"/>
              </a:lnSpc>
              <a:buNone/>
            </a:pPr>
            <a:r>
              <a:rPr lang="en-US" sz="2500" b="1" dirty="0">
                <a:solidFill>
                  <a:srgbClr val="1B2340"/>
                </a:solidFill>
                <a:latin typeface="Century Schoolbook" pitchFamily="34" charset="0"/>
                <a:ea typeface="Century Schoolbook" pitchFamily="34" charset="-122"/>
                <a:cs typeface="Century Schoolbook" pitchFamily="34" charset="-120"/>
              </a:rPr>
              <a:t>What is Encapsulation?</a:t>
            </a:r>
            <a:endParaRPr lang="en-US" sz="2500" dirty="0"/>
          </a:p>
        </p:txBody>
      </p:sp>
      <p:sp>
        <p:nvSpPr>
          <p:cNvPr id="5" name="Shape 3"/>
          <p:cNvSpPr/>
          <p:nvPr/>
        </p:nvSpPr>
        <p:spPr>
          <a:xfrm>
            <a:off x="502920" y="1810512"/>
            <a:ext cx="164592" cy="274320"/>
          </a:xfrm>
          <a:prstGeom prst="roundRect">
            <a:avLst>
              <a:gd name="adj" fmla="val 22222"/>
            </a:avLst>
          </a:prstGeom>
          <a:solidFill>
            <a:srgbClr val="E8A33D"/>
          </a:solidFill>
          <a:ln/>
        </p:spPr>
      </p:sp>
      <p:sp>
        <p:nvSpPr>
          <p:cNvPr id="6" name="Text 4"/>
          <p:cNvSpPr/>
          <p:nvPr/>
        </p:nvSpPr>
        <p:spPr>
          <a:xfrm>
            <a:off x="758952" y="1783080"/>
            <a:ext cx="4681728" cy="329184"/>
          </a:xfrm>
          <a:prstGeom prst="rect">
            <a:avLst/>
          </a:prstGeom>
          <a:noFill/>
          <a:ln/>
        </p:spPr>
        <p:txBody>
          <a:bodyPr wrap="square" rtlCol="0" anchor="ctr"/>
          <a:lstStyle/>
          <a:p>
            <a:pPr marL="0" indent="0">
              <a:buNone/>
            </a:pPr>
            <a:r>
              <a:rPr lang="en-US" sz="1300" b="1" kern="0" spc="50" dirty="0">
                <a:solidFill>
                  <a:srgbClr val="1B2340"/>
                </a:solidFill>
                <a:latin typeface="Calibri" pitchFamily="34" charset="0"/>
                <a:ea typeface="Calibri" pitchFamily="34" charset="-122"/>
                <a:cs typeface="Calibri" pitchFamily="34" charset="-120"/>
              </a:rPr>
              <a:t>DEFINITION / CONCEPT</a:t>
            </a:r>
            <a:endParaRPr lang="en-US" sz="1300" dirty="0"/>
          </a:p>
        </p:txBody>
      </p:sp>
      <p:sp>
        <p:nvSpPr>
          <p:cNvPr id="7" name="Shape 5"/>
          <p:cNvSpPr/>
          <p:nvPr/>
        </p:nvSpPr>
        <p:spPr>
          <a:xfrm>
            <a:off x="502920" y="2121408"/>
            <a:ext cx="4937760" cy="1234440"/>
          </a:xfrm>
          <a:prstGeom prst="roundRect">
            <a:avLst>
              <a:gd name="adj" fmla="val 5926"/>
            </a:avLst>
          </a:prstGeom>
          <a:solidFill>
            <a:srgbClr val="F7F7FA"/>
          </a:solidFill>
          <a:ln w="12700">
            <a:solidFill>
              <a:srgbClr val="E4E6EF"/>
            </a:solidFill>
            <a:prstDash val="solid"/>
          </a:ln>
        </p:spPr>
      </p:sp>
      <p:sp>
        <p:nvSpPr>
          <p:cNvPr id="8" name="Text 6"/>
          <p:cNvSpPr/>
          <p:nvPr/>
        </p:nvSpPr>
        <p:spPr>
          <a:xfrm>
            <a:off x="758952" y="2304288"/>
            <a:ext cx="4425696" cy="868680"/>
          </a:xfrm>
          <a:prstGeom prst="rect">
            <a:avLst/>
          </a:prstGeom>
          <a:noFill/>
          <a:ln/>
        </p:spPr>
        <p:txBody>
          <a:bodyPr wrap="square" lIns="0" tIns="0" rIns="0" bIns="0" rtlCol="0" anchor="t"/>
          <a:lstStyle/>
          <a:p>
            <a:pPr marL="0" indent="0">
              <a:lnSpc>
                <a:spcPct val="115000"/>
              </a:lnSpc>
              <a:buNone/>
            </a:pPr>
            <a:r>
              <a:rPr lang="en-US" sz="1450" dirty="0">
                <a:solidFill>
                  <a:srgbClr val="1B2340"/>
                </a:solidFill>
                <a:latin typeface="Calibri" pitchFamily="34" charset="0"/>
                <a:ea typeface="Calibri" pitchFamily="34" charset="-122"/>
                <a:cs typeface="Calibri" pitchFamily="34" charset="-120"/>
              </a:rPr>
              <a:t>Encapsulation means keeping a class's data private and allowing access only through public getter and setter methods.</a:t>
            </a:r>
            <a:endParaRPr lang="en-US" sz="1450" dirty="0"/>
          </a:p>
        </p:txBody>
      </p:sp>
      <p:sp>
        <p:nvSpPr>
          <p:cNvPr id="9" name="Shape 7"/>
          <p:cNvSpPr/>
          <p:nvPr/>
        </p:nvSpPr>
        <p:spPr>
          <a:xfrm>
            <a:off x="502920" y="3493008"/>
            <a:ext cx="4937760" cy="1554480"/>
          </a:xfrm>
          <a:prstGeom prst="roundRect">
            <a:avLst>
              <a:gd name="adj" fmla="val 4706"/>
            </a:avLst>
          </a:prstGeom>
          <a:solidFill>
            <a:srgbClr val="FDF3E3"/>
          </a:solidFill>
          <a:ln/>
        </p:spPr>
      </p:sp>
      <p:sp>
        <p:nvSpPr>
          <p:cNvPr id="10" name="Text 8"/>
          <p:cNvSpPr/>
          <p:nvPr/>
        </p:nvSpPr>
        <p:spPr>
          <a:xfrm>
            <a:off x="704088" y="3602736"/>
            <a:ext cx="4535424" cy="274320"/>
          </a:xfrm>
          <a:prstGeom prst="rect">
            <a:avLst/>
          </a:prstGeom>
          <a:noFill/>
          <a:ln/>
        </p:spPr>
        <p:txBody>
          <a:bodyPr wrap="square" rtlCol="0" anchor="ctr"/>
          <a:lstStyle/>
          <a:p>
            <a:pPr marL="0" indent="0">
              <a:buNone/>
            </a:pPr>
            <a:r>
              <a:rPr lang="en-US" sz="1100" b="1" kern="0" spc="50" dirty="0">
                <a:solidFill>
                  <a:srgbClr val="C9862A"/>
                </a:solidFill>
                <a:latin typeface="Calibri" pitchFamily="34" charset="0"/>
                <a:ea typeface="Calibri" pitchFamily="34" charset="-122"/>
                <a:cs typeface="Calibri" pitchFamily="34" charset="-120"/>
              </a:rPr>
              <a:t>💡 REAL-LIFE ANALOGY</a:t>
            </a:r>
            <a:endParaRPr lang="en-US" sz="1100" dirty="0"/>
          </a:p>
        </p:txBody>
      </p:sp>
      <p:sp>
        <p:nvSpPr>
          <p:cNvPr id="11" name="Text 9"/>
          <p:cNvSpPr/>
          <p:nvPr/>
        </p:nvSpPr>
        <p:spPr>
          <a:xfrm>
            <a:off x="704088" y="3895344"/>
            <a:ext cx="4535424" cy="1024128"/>
          </a:xfrm>
          <a:prstGeom prst="rect">
            <a:avLst/>
          </a:prstGeom>
          <a:noFill/>
          <a:ln/>
        </p:spPr>
        <p:txBody>
          <a:bodyPr wrap="square" lIns="0" tIns="0" rIns="0" bIns="0" rtlCol="0" anchor="t"/>
          <a:lstStyle/>
          <a:p>
            <a:pPr marL="0" indent="0">
              <a:lnSpc>
                <a:spcPct val="110000"/>
              </a:lnSpc>
              <a:buNone/>
            </a:pPr>
            <a:r>
              <a:rPr lang="en-US" sz="1250" i="1" dirty="0">
                <a:solidFill>
                  <a:srgbClr val="1B2340"/>
                </a:solidFill>
                <a:latin typeface="Calibri" pitchFamily="34" charset="0"/>
                <a:ea typeface="Calibri" pitchFamily="34" charset="-122"/>
                <a:cs typeface="Calibri" pitchFamily="34" charset="-120"/>
              </a:rPr>
              <a:t>Think about a car. You never touch the engine directly - you use the steering wheel, accelerator, and brake. Getters and setters work the same way for data.</a:t>
            </a:r>
            <a:endParaRPr lang="en-US" sz="1250" dirty="0"/>
          </a:p>
        </p:txBody>
      </p:sp>
      <p:sp>
        <p:nvSpPr>
          <p:cNvPr id="12" name="Shape 10"/>
          <p:cNvSpPr/>
          <p:nvPr/>
        </p:nvSpPr>
        <p:spPr>
          <a:xfrm>
            <a:off x="502920" y="5193792"/>
            <a:ext cx="4937760" cy="1051560"/>
          </a:xfrm>
          <a:prstGeom prst="roundRect">
            <a:avLst>
              <a:gd name="adj" fmla="val 6957"/>
            </a:avLst>
          </a:prstGeom>
          <a:solidFill>
            <a:srgbClr val="1B2340"/>
          </a:solidFill>
          <a:ln/>
        </p:spPr>
      </p:sp>
      <p:sp>
        <p:nvSpPr>
          <p:cNvPr id="13" name="Text 11"/>
          <p:cNvSpPr/>
          <p:nvPr/>
        </p:nvSpPr>
        <p:spPr>
          <a:xfrm>
            <a:off x="731520" y="5285232"/>
            <a:ext cx="4480560" cy="256032"/>
          </a:xfrm>
          <a:prstGeom prst="rect">
            <a:avLst/>
          </a:prstGeom>
          <a:noFill/>
          <a:ln/>
        </p:spPr>
        <p:txBody>
          <a:bodyPr wrap="square" rtlCol="0" anchor="ctr"/>
          <a:lstStyle/>
          <a:p>
            <a:pPr marL="0" indent="0">
              <a:buNone/>
            </a:pPr>
            <a:r>
              <a:rPr lang="en-US" sz="1050" b="1" kern="0" spc="80" dirty="0">
                <a:solidFill>
                  <a:srgbClr val="E8A33D"/>
                </a:solidFill>
                <a:latin typeface="Calibri" pitchFamily="34" charset="0"/>
                <a:ea typeface="Calibri" pitchFamily="34" charset="-122"/>
                <a:cs typeface="Calibri" pitchFamily="34" charset="-120"/>
              </a:rPr>
              <a:t>ONE-LINE INTERVIEW ANSWER</a:t>
            </a:r>
            <a:endParaRPr lang="en-US" sz="1050" dirty="0"/>
          </a:p>
        </p:txBody>
      </p:sp>
      <p:sp>
        <p:nvSpPr>
          <p:cNvPr id="14" name="Text 12"/>
          <p:cNvSpPr/>
          <p:nvPr/>
        </p:nvSpPr>
        <p:spPr>
          <a:xfrm>
            <a:off x="731520" y="5541264"/>
            <a:ext cx="4480560" cy="594360"/>
          </a:xfrm>
          <a:prstGeom prst="rect">
            <a:avLst/>
          </a:prstGeom>
          <a:noFill/>
          <a:ln/>
        </p:spPr>
        <p:txBody>
          <a:bodyPr wrap="square" lIns="0" tIns="0" rIns="0" bIns="0" rtlCol="0" anchor="t"/>
          <a:lstStyle/>
          <a:p>
            <a:pPr marL="0" indent="0">
              <a:lnSpc>
                <a:spcPct val="105000"/>
              </a:lnSpc>
              <a:buNone/>
            </a:pPr>
            <a:r>
              <a:rPr lang="en-US" sz="1250" dirty="0">
                <a:solidFill>
                  <a:srgbClr val="FFFFFF"/>
                </a:solidFill>
                <a:latin typeface="Calibri" pitchFamily="34" charset="0"/>
                <a:ea typeface="Calibri" pitchFamily="34" charset="-122"/>
                <a:cs typeface="Calibri" pitchFamily="34" charset="-120"/>
              </a:rPr>
              <a:t>Encapsulation is hiding data using private variables and exposing it safely through getters and setters.</a:t>
            </a:r>
            <a:endParaRPr lang="en-US" sz="1250" dirty="0"/>
          </a:p>
        </p:txBody>
      </p:sp>
      <p:sp>
        <p:nvSpPr>
          <p:cNvPr id="15" name="Shape 13"/>
          <p:cNvSpPr/>
          <p:nvPr/>
        </p:nvSpPr>
        <p:spPr>
          <a:xfrm>
            <a:off x="5669280" y="1810512"/>
            <a:ext cx="164592" cy="274320"/>
          </a:xfrm>
          <a:prstGeom prst="roundRect">
            <a:avLst>
              <a:gd name="adj" fmla="val 22222"/>
            </a:avLst>
          </a:prstGeom>
          <a:solidFill>
            <a:srgbClr val="3FBFAE"/>
          </a:solidFill>
          <a:ln/>
        </p:spPr>
      </p:sp>
      <p:sp>
        <p:nvSpPr>
          <p:cNvPr id="16" name="Text 14"/>
          <p:cNvSpPr/>
          <p:nvPr/>
        </p:nvSpPr>
        <p:spPr>
          <a:xfrm>
            <a:off x="5925312" y="1783080"/>
            <a:ext cx="5779008" cy="329184"/>
          </a:xfrm>
          <a:prstGeom prst="rect">
            <a:avLst/>
          </a:prstGeom>
          <a:noFill/>
          <a:ln/>
        </p:spPr>
        <p:txBody>
          <a:bodyPr wrap="square" rtlCol="0" anchor="ctr"/>
          <a:lstStyle/>
          <a:p>
            <a:pPr marL="0" indent="0">
              <a:buNone/>
            </a:pPr>
            <a:r>
              <a:rPr lang="en-US" sz="1300" b="1" kern="0" spc="50" dirty="0">
                <a:solidFill>
                  <a:srgbClr val="1B2340"/>
                </a:solidFill>
                <a:latin typeface="Calibri" pitchFamily="34" charset="0"/>
                <a:ea typeface="Calibri" pitchFamily="34" charset="-122"/>
                <a:cs typeface="Calibri" pitchFamily="34" charset="-120"/>
              </a:rPr>
              <a:t>EXAMPLE</a:t>
            </a:r>
            <a:endParaRPr lang="en-US" sz="1300" dirty="0"/>
          </a:p>
        </p:txBody>
      </p:sp>
      <p:sp>
        <p:nvSpPr>
          <p:cNvPr id="17" name="Shape 15"/>
          <p:cNvSpPr/>
          <p:nvPr/>
        </p:nvSpPr>
        <p:spPr>
          <a:xfrm>
            <a:off x="5669280" y="2121408"/>
            <a:ext cx="6035040" cy="1684020"/>
          </a:xfrm>
          <a:prstGeom prst="roundRect">
            <a:avLst>
              <a:gd name="adj" fmla="val 4344"/>
            </a:avLst>
          </a:prstGeom>
          <a:solidFill>
            <a:srgbClr val="1E1E2E"/>
          </a:solidFill>
          <a:ln/>
        </p:spPr>
      </p:sp>
      <p:sp>
        <p:nvSpPr>
          <p:cNvPr id="18" name="Shape 16"/>
          <p:cNvSpPr/>
          <p:nvPr/>
        </p:nvSpPr>
        <p:spPr>
          <a:xfrm>
            <a:off x="5806440" y="2249424"/>
            <a:ext cx="100584" cy="100584"/>
          </a:xfrm>
          <a:prstGeom prst="ellipse">
            <a:avLst/>
          </a:prstGeom>
          <a:solidFill>
            <a:srgbClr val="FF5F56"/>
          </a:solidFill>
          <a:ln/>
        </p:spPr>
      </p:sp>
      <p:sp>
        <p:nvSpPr>
          <p:cNvPr id="19" name="Shape 17"/>
          <p:cNvSpPr/>
          <p:nvPr/>
        </p:nvSpPr>
        <p:spPr>
          <a:xfrm>
            <a:off x="5961888" y="2249424"/>
            <a:ext cx="100584" cy="100584"/>
          </a:xfrm>
          <a:prstGeom prst="ellipse">
            <a:avLst/>
          </a:prstGeom>
          <a:solidFill>
            <a:srgbClr val="FFBD2E"/>
          </a:solidFill>
          <a:ln/>
        </p:spPr>
      </p:sp>
      <p:sp>
        <p:nvSpPr>
          <p:cNvPr id="20" name="Shape 18"/>
          <p:cNvSpPr/>
          <p:nvPr/>
        </p:nvSpPr>
        <p:spPr>
          <a:xfrm>
            <a:off x="6117336" y="2249424"/>
            <a:ext cx="100584" cy="100584"/>
          </a:xfrm>
          <a:prstGeom prst="ellipse">
            <a:avLst/>
          </a:prstGeom>
          <a:solidFill>
            <a:srgbClr val="27C93F"/>
          </a:solidFill>
          <a:ln/>
        </p:spPr>
      </p:sp>
      <p:sp>
        <p:nvSpPr>
          <p:cNvPr id="21" name="Text 19"/>
          <p:cNvSpPr/>
          <p:nvPr/>
        </p:nvSpPr>
        <p:spPr>
          <a:xfrm>
            <a:off x="6309360" y="2167128"/>
            <a:ext cx="5120640" cy="274320"/>
          </a:xfrm>
          <a:prstGeom prst="rect">
            <a:avLst/>
          </a:prstGeom>
          <a:noFill/>
          <a:ln/>
        </p:spPr>
        <p:txBody>
          <a:bodyPr wrap="square" rtlCol="0" anchor="ctr"/>
          <a:lstStyle/>
          <a:p>
            <a:pPr marL="0" indent="0" algn="r">
              <a:buNone/>
            </a:pPr>
            <a:r>
              <a:rPr lang="en-US" sz="1000" dirty="0">
                <a:solidFill>
                  <a:srgbClr val="8A90AC"/>
                </a:solidFill>
                <a:latin typeface="Courier New" pitchFamily="34" charset="0"/>
                <a:ea typeface="Courier New" pitchFamily="34" charset="-122"/>
                <a:cs typeface="Courier New" pitchFamily="34" charset="-120"/>
              </a:rPr>
              <a:t>Main.java</a:t>
            </a:r>
            <a:endParaRPr lang="en-US" sz="1000" dirty="0"/>
          </a:p>
        </p:txBody>
      </p:sp>
      <p:sp>
        <p:nvSpPr>
          <p:cNvPr id="22" name="Text 20"/>
          <p:cNvSpPr/>
          <p:nvPr/>
        </p:nvSpPr>
        <p:spPr>
          <a:xfrm>
            <a:off x="5897880" y="2487168"/>
            <a:ext cx="5577840" cy="1226820"/>
          </a:xfrm>
          <a:prstGeom prst="rect">
            <a:avLst/>
          </a:prstGeom>
          <a:noFill/>
          <a:ln/>
        </p:spPr>
        <p:txBody>
          <a:bodyPr wrap="square" lIns="0" tIns="0" rIns="0" bIns="0" rtlCol="0" anchor="t"/>
          <a:lstStyle/>
          <a:p>
            <a:pPr marL="0" indent="0">
              <a:lnSpc>
                <a:spcPct val="120000"/>
              </a:lnSpc>
              <a:buNone/>
            </a:pPr>
            <a:r>
              <a:rPr lang="en-US" sz="1200" dirty="0">
                <a:solidFill>
                  <a:srgbClr val="D4D4E0"/>
                </a:solidFill>
                <a:latin typeface="Courier New" pitchFamily="34" charset="0"/>
                <a:ea typeface="Courier New" pitchFamily="34" charset="-122"/>
                <a:cs typeface="Courier New" pitchFamily="34" charset="-120"/>
              </a:rPr>
              <a:t>class Car {</a:t>
            </a:r>
            <a:endParaRPr lang="en-US" sz="1200" dirty="0"/>
          </a:p>
          <a:p>
            <a:pPr marL="0" indent="0">
              <a:lnSpc>
                <a:spcPct val="120000"/>
              </a:lnSpc>
              <a:buNone/>
            </a:pPr>
            <a:r>
              <a:rPr lang="en-US" sz="1200" dirty="0">
                <a:solidFill>
                  <a:srgbClr val="D4D4E0"/>
                </a:solidFill>
                <a:latin typeface="Courier New" pitchFamily="34" charset="0"/>
                <a:ea typeface="Courier New" pitchFamily="34" charset="-122"/>
                <a:cs typeface="Courier New" pitchFamily="34" charset="-120"/>
              </a:rPr>
              <a:t>    private String brand;</a:t>
            </a:r>
            <a:endParaRPr lang="en-US" sz="1200" dirty="0"/>
          </a:p>
          <a:p>
            <a:pPr marL="0" indent="0">
              <a:lnSpc>
                <a:spcPct val="120000"/>
              </a:lnSpc>
              <a:buNone/>
            </a:pPr>
            <a:r>
              <a:rPr lang="en-US" sz="1200" dirty="0">
                <a:solidFill>
                  <a:srgbClr val="D4D4E0"/>
                </a:solidFill>
                <a:latin typeface="Courier New" pitchFamily="34" charset="0"/>
                <a:ea typeface="Courier New" pitchFamily="34" charset="-122"/>
                <a:cs typeface="Courier New" pitchFamily="34" charset="-120"/>
              </a:rPr>
              <a:t>    void setBrand(String b) { brand = b; }</a:t>
            </a:r>
            <a:endParaRPr lang="en-US" sz="1200" dirty="0"/>
          </a:p>
          <a:p>
            <a:pPr marL="0" indent="0">
              <a:lnSpc>
                <a:spcPct val="120000"/>
              </a:lnSpc>
              <a:buNone/>
            </a:pPr>
            <a:r>
              <a:rPr lang="en-US" sz="1200" dirty="0">
                <a:solidFill>
                  <a:srgbClr val="D4D4E0"/>
                </a:solidFill>
                <a:latin typeface="Courier New" pitchFamily="34" charset="0"/>
                <a:ea typeface="Courier New" pitchFamily="34" charset="-122"/>
                <a:cs typeface="Courier New" pitchFamily="34" charset="-120"/>
              </a:rPr>
              <a:t>    String getBrand() { return brand; }</a:t>
            </a:r>
            <a:endParaRPr lang="en-US" sz="1200" dirty="0"/>
          </a:p>
          <a:p>
            <a:pPr marL="0" indent="0">
              <a:lnSpc>
                <a:spcPct val="120000"/>
              </a:lnSpc>
              <a:buNone/>
            </a:pPr>
            <a:r>
              <a:rPr lang="en-US" sz="1200" dirty="0">
                <a:solidFill>
                  <a:srgbClr val="D4D4E0"/>
                </a:solidFill>
                <a:latin typeface="Courier New" pitchFamily="34" charset="0"/>
                <a:ea typeface="Courier New" pitchFamily="34" charset="-122"/>
                <a:cs typeface="Courier New" pitchFamily="34" charset="-120"/>
              </a:rPr>
              <a:t>}</a:t>
            </a:r>
            <a:endParaRPr lang="en-US" sz="1200" dirty="0"/>
          </a:p>
        </p:txBody>
      </p:sp>
      <p:sp>
        <p:nvSpPr>
          <p:cNvPr id="23" name="Shape 21"/>
          <p:cNvSpPr/>
          <p:nvPr/>
        </p:nvSpPr>
        <p:spPr>
          <a:xfrm>
            <a:off x="5669280" y="3970020"/>
            <a:ext cx="164592" cy="274320"/>
          </a:xfrm>
          <a:prstGeom prst="roundRect">
            <a:avLst>
              <a:gd name="adj" fmla="val 22222"/>
            </a:avLst>
          </a:prstGeom>
          <a:solidFill>
            <a:srgbClr val="3FBFAE"/>
          </a:solidFill>
          <a:ln/>
        </p:spPr>
      </p:sp>
      <p:sp>
        <p:nvSpPr>
          <p:cNvPr id="24" name="Text 22"/>
          <p:cNvSpPr/>
          <p:nvPr/>
        </p:nvSpPr>
        <p:spPr>
          <a:xfrm>
            <a:off x="5925312" y="3942588"/>
            <a:ext cx="5779008" cy="329184"/>
          </a:xfrm>
          <a:prstGeom prst="rect">
            <a:avLst/>
          </a:prstGeom>
          <a:noFill/>
          <a:ln/>
        </p:spPr>
        <p:txBody>
          <a:bodyPr wrap="square" rtlCol="0" anchor="ctr"/>
          <a:lstStyle/>
          <a:p>
            <a:pPr marL="0" indent="0">
              <a:buNone/>
            </a:pPr>
            <a:r>
              <a:rPr lang="en-US" sz="1300" b="1" kern="0" spc="50" dirty="0">
                <a:solidFill>
                  <a:srgbClr val="1B2340"/>
                </a:solidFill>
                <a:latin typeface="Calibri" pitchFamily="34" charset="0"/>
                <a:ea typeface="Calibri" pitchFamily="34" charset="-122"/>
                <a:cs typeface="Calibri" pitchFamily="34" charset="-120"/>
              </a:rPr>
              <a:t>EXPLANATION</a:t>
            </a:r>
            <a:endParaRPr lang="en-US" sz="1300" dirty="0"/>
          </a:p>
        </p:txBody>
      </p:sp>
      <p:sp>
        <p:nvSpPr>
          <p:cNvPr id="25" name="Text 23"/>
          <p:cNvSpPr/>
          <p:nvPr/>
        </p:nvSpPr>
        <p:spPr>
          <a:xfrm>
            <a:off x="5669280" y="4299204"/>
            <a:ext cx="6035040" cy="2101596"/>
          </a:xfrm>
          <a:prstGeom prst="rect">
            <a:avLst/>
          </a:prstGeom>
          <a:noFill/>
          <a:ln/>
        </p:spPr>
        <p:txBody>
          <a:bodyPr wrap="square" lIns="0" tIns="0" rIns="0" bIns="0" rtlCol="0" anchor="t"/>
          <a:lstStyle/>
          <a:p>
            <a:pPr marL="177800" indent="-177800">
              <a:spcAft>
                <a:spcPts val="600"/>
              </a:spcAft>
              <a:buSzPct val="100000"/>
              <a:buChar char="•"/>
            </a:pPr>
            <a:r>
              <a:rPr lang="en-US" sz="1200" dirty="0">
                <a:solidFill>
                  <a:srgbClr val="1B2340"/>
                </a:solidFill>
                <a:latin typeface="Calibri" pitchFamily="34" charset="0"/>
                <a:ea typeface="Calibri" pitchFamily="34" charset="-122"/>
                <a:cs typeface="Calibri" pitchFamily="34" charset="-120"/>
              </a:rPr>
              <a:t>'brand' is declared private, so it can't be touched directly from outside the class</a:t>
            </a:r>
            <a:endParaRPr lang="en-US" sz="1200" dirty="0"/>
          </a:p>
          <a:p>
            <a:pPr marL="177800" indent="-177800">
              <a:spcAft>
                <a:spcPts val="600"/>
              </a:spcAft>
              <a:buSzPct val="100000"/>
              <a:buChar char="•"/>
            </a:pPr>
            <a:r>
              <a:rPr lang="en-US" sz="1200" dirty="0">
                <a:solidFill>
                  <a:srgbClr val="1B2340"/>
                </a:solidFill>
                <a:latin typeface="Calibri" pitchFamily="34" charset="0"/>
                <a:ea typeface="Calibri" pitchFamily="34" charset="-122"/>
                <a:cs typeface="Calibri" pitchFamily="34" charset="-120"/>
              </a:rPr>
              <a:t>setBrand() lets us update the value safely</a:t>
            </a:r>
            <a:endParaRPr lang="en-US" sz="1200" dirty="0"/>
          </a:p>
          <a:p>
            <a:pPr marL="177800" indent="-177800">
              <a:spcAft>
                <a:spcPts val="600"/>
              </a:spcAft>
              <a:buSzPct val="100000"/>
              <a:buChar char="•"/>
            </a:pPr>
            <a:r>
              <a:rPr lang="en-US" sz="1200" dirty="0">
                <a:solidFill>
                  <a:srgbClr val="1B2340"/>
                </a:solidFill>
                <a:latin typeface="Calibri" pitchFamily="34" charset="0"/>
                <a:ea typeface="Calibri" pitchFamily="34" charset="-122"/>
                <a:cs typeface="Calibri" pitchFamily="34" charset="-120"/>
              </a:rPr>
              <a:t>getBrand() lets us read the value</a:t>
            </a:r>
            <a:endParaRPr lang="en-US" sz="1200" dirty="0"/>
          </a:p>
          <a:p>
            <a:pPr marL="177800" indent="-177800">
              <a:spcAft>
                <a:spcPts val="600"/>
              </a:spcAft>
              <a:buSzPct val="100000"/>
              <a:buChar char="•"/>
            </a:pPr>
            <a:r>
              <a:rPr lang="en-US" sz="1200" dirty="0">
                <a:solidFill>
                  <a:srgbClr val="1B2340"/>
                </a:solidFill>
                <a:latin typeface="Calibri" pitchFamily="34" charset="0"/>
                <a:ea typeface="Calibri" pitchFamily="34" charset="-122"/>
                <a:cs typeface="Calibri" pitchFamily="34" charset="-120"/>
              </a:rPr>
              <a:t>This gives full control over how the data is changed</a:t>
            </a:r>
            <a:endParaRPr lang="en-US" sz="1200" dirty="0"/>
          </a:p>
        </p:txBody>
      </p:sp>
      <p:sp>
        <p:nvSpPr>
          <p:cNvPr id="26" name="Text 24"/>
          <p:cNvSpPr/>
          <p:nvPr/>
        </p:nvSpPr>
        <p:spPr>
          <a:xfrm>
            <a:off x="457200" y="6583680"/>
            <a:ext cx="5486400" cy="228600"/>
          </a:xfrm>
          <a:prstGeom prst="rect">
            <a:avLst/>
          </a:prstGeom>
          <a:noFill/>
          <a:ln/>
        </p:spPr>
        <p:txBody>
          <a:bodyPr wrap="square" rtlCol="0" anchor="ctr"/>
          <a:lstStyle/>
          <a:p>
            <a:pPr marL="0" indent="0" algn="l">
              <a:buNone/>
            </a:pPr>
            <a:r>
              <a:rPr lang="en-US" sz="850" dirty="0">
                <a:solidFill>
                  <a:srgbClr val="5B6178"/>
                </a:solidFill>
                <a:latin typeface="Calibri" pitchFamily="34" charset="0"/>
                <a:ea typeface="Calibri" pitchFamily="34" charset="-122"/>
                <a:cs typeface="Calibri" pitchFamily="34" charset="-120"/>
              </a:rPr>
              <a:t>Java &amp; Full-Stack Interview Prep</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502920" y="384048"/>
            <a:ext cx="3474720" cy="310896"/>
          </a:xfrm>
          <a:prstGeom prst="roundRect">
            <a:avLst>
              <a:gd name="adj" fmla="val 23529"/>
            </a:avLst>
          </a:prstGeom>
          <a:solidFill>
            <a:srgbClr val="E8A33D"/>
          </a:solidFill>
          <a:ln/>
        </p:spPr>
      </p:sp>
      <p:sp>
        <p:nvSpPr>
          <p:cNvPr id="3" name="Text 1"/>
          <p:cNvSpPr/>
          <p:nvPr/>
        </p:nvSpPr>
        <p:spPr>
          <a:xfrm>
            <a:off x="502920" y="384048"/>
            <a:ext cx="3474720" cy="310896"/>
          </a:xfrm>
          <a:prstGeom prst="rect">
            <a:avLst/>
          </a:prstGeom>
          <a:noFill/>
          <a:ln/>
        </p:spPr>
        <p:txBody>
          <a:bodyPr wrap="square" rtlCol="0" anchor="ctr"/>
          <a:lstStyle/>
          <a:p>
            <a:pPr marL="0" indent="0" algn="ctr">
              <a:buNone/>
            </a:pPr>
            <a:r>
              <a:rPr lang="en-US" sz="1100" b="1" kern="0" spc="100" dirty="0">
                <a:solidFill>
                  <a:srgbClr val="1B2340"/>
                </a:solidFill>
                <a:latin typeface="Calibri" pitchFamily="34" charset="0"/>
                <a:ea typeface="Calibri" pitchFamily="34" charset="-122"/>
                <a:cs typeface="Calibri" pitchFamily="34" charset="-120"/>
              </a:rPr>
              <a:t>CORE JAVA &amp; OOP</a:t>
            </a:r>
            <a:endParaRPr lang="en-US" sz="1100" dirty="0"/>
          </a:p>
        </p:txBody>
      </p:sp>
      <p:sp>
        <p:nvSpPr>
          <p:cNvPr id="4" name="Text 2"/>
          <p:cNvSpPr/>
          <p:nvPr/>
        </p:nvSpPr>
        <p:spPr>
          <a:xfrm>
            <a:off x="502920" y="786384"/>
            <a:ext cx="11155680" cy="868680"/>
          </a:xfrm>
          <a:prstGeom prst="rect">
            <a:avLst/>
          </a:prstGeom>
          <a:noFill/>
          <a:ln/>
        </p:spPr>
        <p:txBody>
          <a:bodyPr wrap="square" rtlCol="0" anchor="t"/>
          <a:lstStyle/>
          <a:p>
            <a:pPr marL="0" indent="0">
              <a:lnSpc>
                <a:spcPct val="102000"/>
              </a:lnSpc>
              <a:buNone/>
            </a:pPr>
            <a:r>
              <a:rPr lang="en-US" sz="2500" b="1" dirty="0">
                <a:solidFill>
                  <a:srgbClr val="1B2340"/>
                </a:solidFill>
                <a:latin typeface="Century Schoolbook" pitchFamily="34" charset="0"/>
                <a:ea typeface="Century Schoolbook" pitchFamily="34" charset="-122"/>
                <a:cs typeface="Century Schoolbook" pitchFamily="34" charset="-120"/>
              </a:rPr>
              <a:t>What is Inheritance? Does Java support multiple inheritance?</a:t>
            </a:r>
            <a:endParaRPr lang="en-US" sz="2500" dirty="0"/>
          </a:p>
        </p:txBody>
      </p:sp>
      <p:sp>
        <p:nvSpPr>
          <p:cNvPr id="5" name="Shape 3"/>
          <p:cNvSpPr/>
          <p:nvPr/>
        </p:nvSpPr>
        <p:spPr>
          <a:xfrm>
            <a:off x="502920" y="1810512"/>
            <a:ext cx="164592" cy="274320"/>
          </a:xfrm>
          <a:prstGeom prst="roundRect">
            <a:avLst>
              <a:gd name="adj" fmla="val 22222"/>
            </a:avLst>
          </a:prstGeom>
          <a:solidFill>
            <a:srgbClr val="E8A33D"/>
          </a:solidFill>
          <a:ln/>
        </p:spPr>
      </p:sp>
      <p:sp>
        <p:nvSpPr>
          <p:cNvPr id="6" name="Text 4"/>
          <p:cNvSpPr/>
          <p:nvPr/>
        </p:nvSpPr>
        <p:spPr>
          <a:xfrm>
            <a:off x="758952" y="1783080"/>
            <a:ext cx="4681728" cy="329184"/>
          </a:xfrm>
          <a:prstGeom prst="rect">
            <a:avLst/>
          </a:prstGeom>
          <a:noFill/>
          <a:ln/>
        </p:spPr>
        <p:txBody>
          <a:bodyPr wrap="square" rtlCol="0" anchor="ctr"/>
          <a:lstStyle/>
          <a:p>
            <a:pPr marL="0" indent="0">
              <a:buNone/>
            </a:pPr>
            <a:r>
              <a:rPr lang="en-US" sz="1300" b="1" kern="0" spc="50" dirty="0">
                <a:solidFill>
                  <a:srgbClr val="1B2340"/>
                </a:solidFill>
                <a:latin typeface="Calibri" pitchFamily="34" charset="0"/>
                <a:ea typeface="Calibri" pitchFamily="34" charset="-122"/>
                <a:cs typeface="Calibri" pitchFamily="34" charset="-120"/>
              </a:rPr>
              <a:t>DEFINITION / CONCEPT</a:t>
            </a:r>
            <a:endParaRPr lang="en-US" sz="1300" dirty="0"/>
          </a:p>
        </p:txBody>
      </p:sp>
      <p:sp>
        <p:nvSpPr>
          <p:cNvPr id="7" name="Shape 5"/>
          <p:cNvSpPr/>
          <p:nvPr/>
        </p:nvSpPr>
        <p:spPr>
          <a:xfrm>
            <a:off x="502920" y="2121408"/>
            <a:ext cx="4937760" cy="1234440"/>
          </a:xfrm>
          <a:prstGeom prst="roundRect">
            <a:avLst>
              <a:gd name="adj" fmla="val 5926"/>
            </a:avLst>
          </a:prstGeom>
          <a:solidFill>
            <a:srgbClr val="F7F7FA"/>
          </a:solidFill>
          <a:ln w="12700">
            <a:solidFill>
              <a:srgbClr val="E4E6EF"/>
            </a:solidFill>
            <a:prstDash val="solid"/>
          </a:ln>
        </p:spPr>
      </p:sp>
      <p:sp>
        <p:nvSpPr>
          <p:cNvPr id="8" name="Text 6"/>
          <p:cNvSpPr/>
          <p:nvPr/>
        </p:nvSpPr>
        <p:spPr>
          <a:xfrm>
            <a:off x="758952" y="2304288"/>
            <a:ext cx="4425696" cy="868680"/>
          </a:xfrm>
          <a:prstGeom prst="rect">
            <a:avLst/>
          </a:prstGeom>
          <a:noFill/>
          <a:ln/>
        </p:spPr>
        <p:txBody>
          <a:bodyPr wrap="square" lIns="0" tIns="0" rIns="0" bIns="0" rtlCol="0" anchor="t"/>
          <a:lstStyle/>
          <a:p>
            <a:pPr marL="0" indent="0">
              <a:lnSpc>
                <a:spcPct val="115000"/>
              </a:lnSpc>
              <a:buNone/>
            </a:pPr>
            <a:r>
              <a:rPr lang="en-US" sz="1450" dirty="0">
                <a:solidFill>
                  <a:srgbClr val="1B2340"/>
                </a:solidFill>
                <a:latin typeface="Calibri" pitchFamily="34" charset="0"/>
                <a:ea typeface="Calibri" pitchFamily="34" charset="-122"/>
                <a:cs typeface="Calibri" pitchFamily="34" charset="-120"/>
              </a:rPr>
              <a:t>Inheritance lets one class (child) reuse the fields and methods of another class (parent) using the 'extends' keyword.</a:t>
            </a:r>
            <a:endParaRPr lang="en-US" sz="1450" dirty="0"/>
          </a:p>
        </p:txBody>
      </p:sp>
      <p:sp>
        <p:nvSpPr>
          <p:cNvPr id="9" name="Shape 7"/>
          <p:cNvSpPr/>
          <p:nvPr/>
        </p:nvSpPr>
        <p:spPr>
          <a:xfrm>
            <a:off x="502920" y="3493008"/>
            <a:ext cx="4937760" cy="1554480"/>
          </a:xfrm>
          <a:prstGeom prst="roundRect">
            <a:avLst>
              <a:gd name="adj" fmla="val 4706"/>
            </a:avLst>
          </a:prstGeom>
          <a:solidFill>
            <a:srgbClr val="FDF3E3"/>
          </a:solidFill>
          <a:ln/>
        </p:spPr>
      </p:sp>
      <p:sp>
        <p:nvSpPr>
          <p:cNvPr id="10" name="Text 8"/>
          <p:cNvSpPr/>
          <p:nvPr/>
        </p:nvSpPr>
        <p:spPr>
          <a:xfrm>
            <a:off x="704088" y="3602736"/>
            <a:ext cx="4535424" cy="274320"/>
          </a:xfrm>
          <a:prstGeom prst="rect">
            <a:avLst/>
          </a:prstGeom>
          <a:noFill/>
          <a:ln/>
        </p:spPr>
        <p:txBody>
          <a:bodyPr wrap="square" rtlCol="0" anchor="ctr"/>
          <a:lstStyle/>
          <a:p>
            <a:pPr marL="0" indent="0">
              <a:buNone/>
            </a:pPr>
            <a:r>
              <a:rPr lang="en-US" sz="1100" b="1" kern="0" spc="50" dirty="0">
                <a:solidFill>
                  <a:srgbClr val="C9862A"/>
                </a:solidFill>
                <a:latin typeface="Calibri" pitchFamily="34" charset="0"/>
                <a:ea typeface="Calibri" pitchFamily="34" charset="-122"/>
                <a:cs typeface="Calibri" pitchFamily="34" charset="-120"/>
              </a:rPr>
              <a:t>💡 REAL-LIFE ANALOGY</a:t>
            </a:r>
            <a:endParaRPr lang="en-US" sz="1100" dirty="0"/>
          </a:p>
        </p:txBody>
      </p:sp>
      <p:sp>
        <p:nvSpPr>
          <p:cNvPr id="11" name="Text 9"/>
          <p:cNvSpPr/>
          <p:nvPr/>
        </p:nvSpPr>
        <p:spPr>
          <a:xfrm>
            <a:off x="704088" y="3895344"/>
            <a:ext cx="4535424" cy="1024128"/>
          </a:xfrm>
          <a:prstGeom prst="rect">
            <a:avLst/>
          </a:prstGeom>
          <a:noFill/>
          <a:ln/>
        </p:spPr>
        <p:txBody>
          <a:bodyPr wrap="square" lIns="0" tIns="0" rIns="0" bIns="0" rtlCol="0" anchor="t"/>
          <a:lstStyle/>
          <a:p>
            <a:pPr marL="0" indent="0">
              <a:lnSpc>
                <a:spcPct val="110000"/>
              </a:lnSpc>
              <a:buNone/>
            </a:pPr>
            <a:r>
              <a:rPr lang="en-US" sz="1250" i="1" dirty="0">
                <a:solidFill>
                  <a:srgbClr val="1B2340"/>
                </a:solidFill>
                <a:latin typeface="Calibri" pitchFamily="34" charset="0"/>
                <a:ea typeface="Calibri" pitchFamily="34" charset="-122"/>
                <a:cs typeface="Calibri" pitchFamily="34" charset="-120"/>
              </a:rPr>
              <a:t>A child inherits traits from a parent but can also develop their own skills. Similarly, a subclass inherits methods from its parent but can add new ones.</a:t>
            </a:r>
            <a:endParaRPr lang="en-US" sz="1250" dirty="0"/>
          </a:p>
        </p:txBody>
      </p:sp>
      <p:sp>
        <p:nvSpPr>
          <p:cNvPr id="12" name="Shape 10"/>
          <p:cNvSpPr/>
          <p:nvPr/>
        </p:nvSpPr>
        <p:spPr>
          <a:xfrm>
            <a:off x="502920" y="5193792"/>
            <a:ext cx="4937760" cy="1051560"/>
          </a:xfrm>
          <a:prstGeom prst="roundRect">
            <a:avLst>
              <a:gd name="adj" fmla="val 6957"/>
            </a:avLst>
          </a:prstGeom>
          <a:solidFill>
            <a:srgbClr val="1B2340"/>
          </a:solidFill>
          <a:ln/>
        </p:spPr>
      </p:sp>
      <p:sp>
        <p:nvSpPr>
          <p:cNvPr id="13" name="Text 11"/>
          <p:cNvSpPr/>
          <p:nvPr/>
        </p:nvSpPr>
        <p:spPr>
          <a:xfrm>
            <a:off x="731520" y="5285232"/>
            <a:ext cx="4480560" cy="256032"/>
          </a:xfrm>
          <a:prstGeom prst="rect">
            <a:avLst/>
          </a:prstGeom>
          <a:noFill/>
          <a:ln/>
        </p:spPr>
        <p:txBody>
          <a:bodyPr wrap="square" rtlCol="0" anchor="ctr"/>
          <a:lstStyle/>
          <a:p>
            <a:pPr marL="0" indent="0">
              <a:buNone/>
            </a:pPr>
            <a:r>
              <a:rPr lang="en-US" sz="1050" b="1" kern="0" spc="80" dirty="0">
                <a:solidFill>
                  <a:srgbClr val="E8A33D"/>
                </a:solidFill>
                <a:latin typeface="Calibri" pitchFamily="34" charset="0"/>
                <a:ea typeface="Calibri" pitchFamily="34" charset="-122"/>
                <a:cs typeface="Calibri" pitchFamily="34" charset="-120"/>
              </a:rPr>
              <a:t>ONE-LINE INTERVIEW ANSWER</a:t>
            </a:r>
            <a:endParaRPr lang="en-US" sz="1050" dirty="0"/>
          </a:p>
        </p:txBody>
      </p:sp>
      <p:sp>
        <p:nvSpPr>
          <p:cNvPr id="14" name="Text 12"/>
          <p:cNvSpPr/>
          <p:nvPr/>
        </p:nvSpPr>
        <p:spPr>
          <a:xfrm>
            <a:off x="731520" y="5541264"/>
            <a:ext cx="4480560" cy="594360"/>
          </a:xfrm>
          <a:prstGeom prst="rect">
            <a:avLst/>
          </a:prstGeom>
          <a:noFill/>
          <a:ln/>
        </p:spPr>
        <p:txBody>
          <a:bodyPr wrap="square" lIns="0" tIns="0" rIns="0" bIns="0" rtlCol="0" anchor="t"/>
          <a:lstStyle/>
          <a:p>
            <a:pPr marL="0" indent="0">
              <a:lnSpc>
                <a:spcPct val="105000"/>
              </a:lnSpc>
              <a:buNone/>
            </a:pPr>
            <a:r>
              <a:rPr lang="en-US" sz="1250" dirty="0">
                <a:solidFill>
                  <a:srgbClr val="FFFFFF"/>
                </a:solidFill>
                <a:latin typeface="Calibri" pitchFamily="34" charset="0"/>
                <a:ea typeface="Calibri" pitchFamily="34" charset="-122"/>
                <a:cs typeface="Calibri" pitchFamily="34" charset="-120"/>
              </a:rPr>
              <a:t>Inheritance lets a class reuse another class's code using 'extends'; Java avoids multiple class inheritance to prevent ambiguity, but allows it through interfaces.</a:t>
            </a:r>
            <a:endParaRPr lang="en-US" sz="1250" dirty="0"/>
          </a:p>
        </p:txBody>
      </p:sp>
      <p:sp>
        <p:nvSpPr>
          <p:cNvPr id="15" name="Shape 13"/>
          <p:cNvSpPr/>
          <p:nvPr/>
        </p:nvSpPr>
        <p:spPr>
          <a:xfrm>
            <a:off x="5669280" y="1810512"/>
            <a:ext cx="164592" cy="274320"/>
          </a:xfrm>
          <a:prstGeom prst="roundRect">
            <a:avLst>
              <a:gd name="adj" fmla="val 22222"/>
            </a:avLst>
          </a:prstGeom>
          <a:solidFill>
            <a:srgbClr val="3FBFAE"/>
          </a:solidFill>
          <a:ln/>
        </p:spPr>
      </p:sp>
      <p:sp>
        <p:nvSpPr>
          <p:cNvPr id="16" name="Text 14"/>
          <p:cNvSpPr/>
          <p:nvPr/>
        </p:nvSpPr>
        <p:spPr>
          <a:xfrm>
            <a:off x="5925312" y="1783080"/>
            <a:ext cx="5779008" cy="329184"/>
          </a:xfrm>
          <a:prstGeom prst="rect">
            <a:avLst/>
          </a:prstGeom>
          <a:noFill/>
          <a:ln/>
        </p:spPr>
        <p:txBody>
          <a:bodyPr wrap="square" rtlCol="0" anchor="ctr"/>
          <a:lstStyle/>
          <a:p>
            <a:pPr marL="0" indent="0">
              <a:buNone/>
            </a:pPr>
            <a:r>
              <a:rPr lang="en-US" sz="1300" b="1" kern="0" spc="50" dirty="0">
                <a:solidFill>
                  <a:srgbClr val="1B2340"/>
                </a:solidFill>
                <a:latin typeface="Calibri" pitchFamily="34" charset="0"/>
                <a:ea typeface="Calibri" pitchFamily="34" charset="-122"/>
                <a:cs typeface="Calibri" pitchFamily="34" charset="-120"/>
              </a:rPr>
              <a:t>EXAMPLE</a:t>
            </a:r>
            <a:endParaRPr lang="en-US" sz="1300" dirty="0"/>
          </a:p>
        </p:txBody>
      </p:sp>
      <p:sp>
        <p:nvSpPr>
          <p:cNvPr id="17" name="Shape 15"/>
          <p:cNvSpPr/>
          <p:nvPr/>
        </p:nvSpPr>
        <p:spPr>
          <a:xfrm>
            <a:off x="5669280" y="2121408"/>
            <a:ext cx="6035040" cy="1920240"/>
          </a:xfrm>
          <a:prstGeom prst="roundRect">
            <a:avLst>
              <a:gd name="adj" fmla="val 3810"/>
            </a:avLst>
          </a:prstGeom>
          <a:solidFill>
            <a:srgbClr val="1E1E2E"/>
          </a:solidFill>
          <a:ln/>
        </p:spPr>
      </p:sp>
      <p:sp>
        <p:nvSpPr>
          <p:cNvPr id="18" name="Shape 16"/>
          <p:cNvSpPr/>
          <p:nvPr/>
        </p:nvSpPr>
        <p:spPr>
          <a:xfrm>
            <a:off x="5806440" y="2249424"/>
            <a:ext cx="100584" cy="100584"/>
          </a:xfrm>
          <a:prstGeom prst="ellipse">
            <a:avLst/>
          </a:prstGeom>
          <a:solidFill>
            <a:srgbClr val="FF5F56"/>
          </a:solidFill>
          <a:ln/>
        </p:spPr>
      </p:sp>
      <p:sp>
        <p:nvSpPr>
          <p:cNvPr id="19" name="Shape 17"/>
          <p:cNvSpPr/>
          <p:nvPr/>
        </p:nvSpPr>
        <p:spPr>
          <a:xfrm>
            <a:off x="5961888" y="2249424"/>
            <a:ext cx="100584" cy="100584"/>
          </a:xfrm>
          <a:prstGeom prst="ellipse">
            <a:avLst/>
          </a:prstGeom>
          <a:solidFill>
            <a:srgbClr val="FFBD2E"/>
          </a:solidFill>
          <a:ln/>
        </p:spPr>
      </p:sp>
      <p:sp>
        <p:nvSpPr>
          <p:cNvPr id="20" name="Shape 18"/>
          <p:cNvSpPr/>
          <p:nvPr/>
        </p:nvSpPr>
        <p:spPr>
          <a:xfrm>
            <a:off x="6117336" y="2249424"/>
            <a:ext cx="100584" cy="100584"/>
          </a:xfrm>
          <a:prstGeom prst="ellipse">
            <a:avLst/>
          </a:prstGeom>
          <a:solidFill>
            <a:srgbClr val="27C93F"/>
          </a:solidFill>
          <a:ln/>
        </p:spPr>
      </p:sp>
      <p:sp>
        <p:nvSpPr>
          <p:cNvPr id="21" name="Text 19"/>
          <p:cNvSpPr/>
          <p:nvPr/>
        </p:nvSpPr>
        <p:spPr>
          <a:xfrm>
            <a:off x="6309360" y="2167128"/>
            <a:ext cx="5120640" cy="274320"/>
          </a:xfrm>
          <a:prstGeom prst="rect">
            <a:avLst/>
          </a:prstGeom>
          <a:noFill/>
          <a:ln/>
        </p:spPr>
        <p:txBody>
          <a:bodyPr wrap="square" rtlCol="0" anchor="ctr"/>
          <a:lstStyle/>
          <a:p>
            <a:pPr marL="0" indent="0" algn="r">
              <a:buNone/>
            </a:pPr>
            <a:r>
              <a:rPr lang="en-US" sz="1000" dirty="0">
                <a:solidFill>
                  <a:srgbClr val="8A90AC"/>
                </a:solidFill>
                <a:latin typeface="Courier New" pitchFamily="34" charset="0"/>
                <a:ea typeface="Courier New" pitchFamily="34" charset="-122"/>
                <a:cs typeface="Courier New" pitchFamily="34" charset="-120"/>
              </a:rPr>
              <a:t>Main.java</a:t>
            </a:r>
            <a:endParaRPr lang="en-US" sz="1000" dirty="0"/>
          </a:p>
        </p:txBody>
      </p:sp>
      <p:sp>
        <p:nvSpPr>
          <p:cNvPr id="22" name="Text 20"/>
          <p:cNvSpPr/>
          <p:nvPr/>
        </p:nvSpPr>
        <p:spPr>
          <a:xfrm>
            <a:off x="5897880" y="2487168"/>
            <a:ext cx="5577840" cy="1463040"/>
          </a:xfrm>
          <a:prstGeom prst="rect">
            <a:avLst/>
          </a:prstGeom>
          <a:noFill/>
          <a:ln/>
        </p:spPr>
        <p:txBody>
          <a:bodyPr wrap="square" lIns="0" tIns="0" rIns="0" bIns="0" rtlCol="0" anchor="t"/>
          <a:lstStyle/>
          <a:p>
            <a:pPr marL="0" indent="0">
              <a:lnSpc>
                <a:spcPct val="120000"/>
              </a:lnSpc>
              <a:buNone/>
            </a:pPr>
            <a:r>
              <a:rPr lang="en-US" sz="1200" dirty="0">
                <a:solidFill>
                  <a:srgbClr val="D4D4E0"/>
                </a:solidFill>
                <a:latin typeface="Courier New" pitchFamily="34" charset="0"/>
                <a:ea typeface="Courier New" pitchFamily="34" charset="-122"/>
                <a:cs typeface="Courier New" pitchFamily="34" charset="-120"/>
              </a:rPr>
              <a:t>class Vehicle {</a:t>
            </a:r>
            <a:endParaRPr lang="en-US" sz="1200" dirty="0"/>
          </a:p>
          <a:p>
            <a:pPr marL="0" indent="0">
              <a:lnSpc>
                <a:spcPct val="120000"/>
              </a:lnSpc>
              <a:buNone/>
            </a:pPr>
            <a:r>
              <a:rPr lang="en-US" sz="1200" dirty="0">
                <a:solidFill>
                  <a:srgbClr val="D4D4E0"/>
                </a:solidFill>
                <a:latin typeface="Courier New" pitchFamily="34" charset="0"/>
                <a:ea typeface="Courier New" pitchFamily="34" charset="-122"/>
                <a:cs typeface="Courier New" pitchFamily="34" charset="-120"/>
              </a:rPr>
              <a:t>    void start() { System.out.println("Starting..."); }</a:t>
            </a:r>
            <a:endParaRPr lang="en-US" sz="1200" dirty="0"/>
          </a:p>
          <a:p>
            <a:pPr marL="0" indent="0">
              <a:lnSpc>
                <a:spcPct val="120000"/>
              </a:lnSpc>
              <a:buNone/>
            </a:pPr>
            <a:r>
              <a:rPr lang="en-US" sz="1200" dirty="0">
                <a:solidFill>
                  <a:srgbClr val="D4D4E0"/>
                </a:solidFill>
                <a:latin typeface="Courier New" pitchFamily="34" charset="0"/>
                <a:ea typeface="Courier New" pitchFamily="34" charset="-122"/>
                <a:cs typeface="Courier New" pitchFamily="34" charset="-120"/>
              </a:rPr>
              <a:t>}</a:t>
            </a:r>
            <a:endParaRPr lang="en-US" sz="1200" dirty="0"/>
          </a:p>
          <a:p>
            <a:pPr marL="0" indent="0">
              <a:lnSpc>
                <a:spcPct val="120000"/>
              </a:lnSpc>
              <a:buNone/>
            </a:pPr>
            <a:r>
              <a:rPr lang="en-US" sz="1200" dirty="0">
                <a:solidFill>
                  <a:srgbClr val="D4D4E0"/>
                </a:solidFill>
                <a:latin typeface="Courier New" pitchFamily="34" charset="0"/>
                <a:ea typeface="Courier New" pitchFamily="34" charset="-122"/>
                <a:cs typeface="Courier New" pitchFamily="34" charset="-120"/>
              </a:rPr>
              <a:t>class Car extends Vehicle {</a:t>
            </a:r>
            <a:endParaRPr lang="en-US" sz="1200" dirty="0"/>
          </a:p>
          <a:p>
            <a:pPr marL="0" indent="0">
              <a:lnSpc>
                <a:spcPct val="120000"/>
              </a:lnSpc>
              <a:buNone/>
            </a:pPr>
            <a:r>
              <a:rPr lang="en-US" sz="1200" dirty="0">
                <a:solidFill>
                  <a:srgbClr val="D4D4E0"/>
                </a:solidFill>
                <a:latin typeface="Courier New" pitchFamily="34" charset="0"/>
                <a:ea typeface="Courier New" pitchFamily="34" charset="-122"/>
                <a:cs typeface="Courier New" pitchFamily="34" charset="-120"/>
              </a:rPr>
              <a:t>    void honk() { System.out.println("Beep!"); }</a:t>
            </a:r>
            <a:endParaRPr lang="en-US" sz="1200" dirty="0"/>
          </a:p>
          <a:p>
            <a:pPr marL="0" indent="0">
              <a:lnSpc>
                <a:spcPct val="120000"/>
              </a:lnSpc>
              <a:buNone/>
            </a:pPr>
            <a:r>
              <a:rPr lang="en-US" sz="1200" dirty="0">
                <a:solidFill>
                  <a:srgbClr val="D4D4E0"/>
                </a:solidFill>
                <a:latin typeface="Courier New" pitchFamily="34" charset="0"/>
                <a:ea typeface="Courier New" pitchFamily="34" charset="-122"/>
                <a:cs typeface="Courier New" pitchFamily="34" charset="-120"/>
              </a:rPr>
              <a:t>}</a:t>
            </a:r>
            <a:endParaRPr lang="en-US" sz="1200" dirty="0"/>
          </a:p>
        </p:txBody>
      </p:sp>
      <p:sp>
        <p:nvSpPr>
          <p:cNvPr id="23" name="Shape 21"/>
          <p:cNvSpPr/>
          <p:nvPr/>
        </p:nvSpPr>
        <p:spPr>
          <a:xfrm>
            <a:off x="5669280" y="4206240"/>
            <a:ext cx="164592" cy="274320"/>
          </a:xfrm>
          <a:prstGeom prst="roundRect">
            <a:avLst>
              <a:gd name="adj" fmla="val 22222"/>
            </a:avLst>
          </a:prstGeom>
          <a:solidFill>
            <a:srgbClr val="3FBFAE"/>
          </a:solidFill>
          <a:ln/>
        </p:spPr>
      </p:sp>
      <p:sp>
        <p:nvSpPr>
          <p:cNvPr id="24" name="Text 22"/>
          <p:cNvSpPr/>
          <p:nvPr/>
        </p:nvSpPr>
        <p:spPr>
          <a:xfrm>
            <a:off x="5925312" y="4178808"/>
            <a:ext cx="5779008" cy="329184"/>
          </a:xfrm>
          <a:prstGeom prst="rect">
            <a:avLst/>
          </a:prstGeom>
          <a:noFill/>
          <a:ln/>
        </p:spPr>
        <p:txBody>
          <a:bodyPr wrap="square" rtlCol="0" anchor="ctr"/>
          <a:lstStyle/>
          <a:p>
            <a:pPr marL="0" indent="0">
              <a:buNone/>
            </a:pPr>
            <a:r>
              <a:rPr lang="en-US" sz="1300" b="1" kern="0" spc="50" dirty="0">
                <a:solidFill>
                  <a:srgbClr val="1B2340"/>
                </a:solidFill>
                <a:latin typeface="Calibri" pitchFamily="34" charset="0"/>
                <a:ea typeface="Calibri" pitchFamily="34" charset="-122"/>
                <a:cs typeface="Calibri" pitchFamily="34" charset="-120"/>
              </a:rPr>
              <a:t>EXPLANATION</a:t>
            </a:r>
            <a:endParaRPr lang="en-US" sz="1300" dirty="0"/>
          </a:p>
        </p:txBody>
      </p:sp>
      <p:sp>
        <p:nvSpPr>
          <p:cNvPr id="25" name="Text 23"/>
          <p:cNvSpPr/>
          <p:nvPr/>
        </p:nvSpPr>
        <p:spPr>
          <a:xfrm>
            <a:off x="5669280" y="4535424"/>
            <a:ext cx="6035040" cy="1865376"/>
          </a:xfrm>
          <a:prstGeom prst="rect">
            <a:avLst/>
          </a:prstGeom>
          <a:noFill/>
          <a:ln/>
        </p:spPr>
        <p:txBody>
          <a:bodyPr wrap="square" lIns="0" tIns="0" rIns="0" bIns="0" rtlCol="0" anchor="t"/>
          <a:lstStyle/>
          <a:p>
            <a:pPr marL="177800" indent="-177800">
              <a:spcAft>
                <a:spcPts val="600"/>
              </a:spcAft>
              <a:buSzPct val="100000"/>
              <a:buChar char="•"/>
            </a:pPr>
            <a:r>
              <a:rPr lang="en-US" sz="1200" dirty="0">
                <a:solidFill>
                  <a:srgbClr val="1B2340"/>
                </a:solidFill>
                <a:latin typeface="Calibri" pitchFamily="34" charset="0"/>
                <a:ea typeface="Calibri" pitchFamily="34" charset="-122"/>
                <a:cs typeface="Calibri" pitchFamily="34" charset="-120"/>
              </a:rPr>
              <a:t>Vehicle is the parent class with a common method start()</a:t>
            </a:r>
            <a:endParaRPr lang="en-US" sz="1200" dirty="0"/>
          </a:p>
          <a:p>
            <a:pPr marL="177800" indent="-177800">
              <a:spcAft>
                <a:spcPts val="600"/>
              </a:spcAft>
              <a:buSzPct val="100000"/>
              <a:buChar char="•"/>
            </a:pPr>
            <a:r>
              <a:rPr lang="en-US" sz="1200" dirty="0">
                <a:solidFill>
                  <a:srgbClr val="1B2340"/>
                </a:solidFill>
                <a:latin typeface="Calibri" pitchFamily="34" charset="0"/>
                <a:ea typeface="Calibri" pitchFamily="34" charset="-122"/>
                <a:cs typeface="Calibri" pitchFamily="34" charset="-120"/>
              </a:rPr>
              <a:t>Car extends Vehicle, so it automatically gets start()</a:t>
            </a:r>
            <a:endParaRPr lang="en-US" sz="1200" dirty="0"/>
          </a:p>
          <a:p>
            <a:pPr marL="177800" indent="-177800">
              <a:spcAft>
                <a:spcPts val="600"/>
              </a:spcAft>
              <a:buSzPct val="100000"/>
              <a:buChar char="•"/>
            </a:pPr>
            <a:r>
              <a:rPr lang="en-US" sz="1200" dirty="0">
                <a:solidFill>
                  <a:srgbClr val="1B2340"/>
                </a:solidFill>
                <a:latin typeface="Calibri" pitchFamily="34" charset="0"/>
                <a:ea typeface="Calibri" pitchFamily="34" charset="-122"/>
                <a:cs typeface="Calibri" pitchFamily="34" charset="-120"/>
              </a:rPr>
              <a:t>Car can also add its own new methods</a:t>
            </a:r>
            <a:endParaRPr lang="en-US" sz="1200" dirty="0"/>
          </a:p>
          <a:p>
            <a:pPr marL="177800" indent="-177800">
              <a:spcAft>
                <a:spcPts val="600"/>
              </a:spcAft>
              <a:buSzPct val="100000"/>
              <a:buChar char="•"/>
            </a:pPr>
            <a:r>
              <a:rPr lang="en-US" sz="1200" dirty="0">
                <a:solidFill>
                  <a:srgbClr val="1B2340"/>
                </a:solidFill>
                <a:latin typeface="Calibri" pitchFamily="34" charset="0"/>
                <a:ea typeface="Calibri" pitchFamily="34" charset="-122"/>
                <a:cs typeface="Calibri" pitchFamily="34" charset="-120"/>
              </a:rPr>
              <a:t>Java classes support single inheritance only - a class can extend just one class. Multiple inheritance of behaviour is achieved using interfaces.</a:t>
            </a:r>
            <a:endParaRPr lang="en-US" sz="1200" dirty="0"/>
          </a:p>
        </p:txBody>
      </p:sp>
      <p:sp>
        <p:nvSpPr>
          <p:cNvPr id="26" name="Text 24"/>
          <p:cNvSpPr/>
          <p:nvPr/>
        </p:nvSpPr>
        <p:spPr>
          <a:xfrm>
            <a:off x="457200" y="6583680"/>
            <a:ext cx="5486400" cy="228600"/>
          </a:xfrm>
          <a:prstGeom prst="rect">
            <a:avLst/>
          </a:prstGeom>
          <a:noFill/>
          <a:ln/>
        </p:spPr>
        <p:txBody>
          <a:bodyPr wrap="square" rtlCol="0" anchor="ctr"/>
          <a:lstStyle/>
          <a:p>
            <a:pPr marL="0" indent="0" algn="l">
              <a:buNone/>
            </a:pPr>
            <a:r>
              <a:rPr lang="en-US" sz="850" dirty="0">
                <a:solidFill>
                  <a:srgbClr val="5B6178"/>
                </a:solidFill>
                <a:latin typeface="Calibri" pitchFamily="34" charset="0"/>
                <a:ea typeface="Calibri" pitchFamily="34" charset="-122"/>
                <a:cs typeface="Calibri" pitchFamily="34" charset="-120"/>
              </a:rPr>
              <a:t>Java &amp; Full-Stack Interview Prep</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502920" y="384048"/>
            <a:ext cx="3474720" cy="310896"/>
          </a:xfrm>
          <a:prstGeom prst="roundRect">
            <a:avLst>
              <a:gd name="adj" fmla="val 23529"/>
            </a:avLst>
          </a:prstGeom>
          <a:solidFill>
            <a:srgbClr val="E8A33D"/>
          </a:solidFill>
          <a:ln/>
        </p:spPr>
      </p:sp>
      <p:sp>
        <p:nvSpPr>
          <p:cNvPr id="3" name="Text 1"/>
          <p:cNvSpPr/>
          <p:nvPr/>
        </p:nvSpPr>
        <p:spPr>
          <a:xfrm>
            <a:off x="502920" y="384048"/>
            <a:ext cx="3474720" cy="310896"/>
          </a:xfrm>
          <a:prstGeom prst="rect">
            <a:avLst/>
          </a:prstGeom>
          <a:noFill/>
          <a:ln/>
        </p:spPr>
        <p:txBody>
          <a:bodyPr wrap="square" rtlCol="0" anchor="ctr"/>
          <a:lstStyle/>
          <a:p>
            <a:pPr marL="0" indent="0" algn="ctr">
              <a:buNone/>
            </a:pPr>
            <a:r>
              <a:rPr lang="en-US" sz="1100" b="1" kern="0" spc="100" dirty="0">
                <a:solidFill>
                  <a:srgbClr val="1B2340"/>
                </a:solidFill>
                <a:latin typeface="Calibri" pitchFamily="34" charset="0"/>
                <a:ea typeface="Calibri" pitchFamily="34" charset="-122"/>
                <a:cs typeface="Calibri" pitchFamily="34" charset="-120"/>
              </a:rPr>
              <a:t>CORE JAVA &amp; OOP</a:t>
            </a:r>
            <a:endParaRPr lang="en-US" sz="1100" dirty="0"/>
          </a:p>
        </p:txBody>
      </p:sp>
      <p:sp>
        <p:nvSpPr>
          <p:cNvPr id="4" name="Text 2"/>
          <p:cNvSpPr/>
          <p:nvPr/>
        </p:nvSpPr>
        <p:spPr>
          <a:xfrm>
            <a:off x="502920" y="786384"/>
            <a:ext cx="11155680" cy="868680"/>
          </a:xfrm>
          <a:prstGeom prst="rect">
            <a:avLst/>
          </a:prstGeom>
          <a:noFill/>
          <a:ln/>
        </p:spPr>
        <p:txBody>
          <a:bodyPr wrap="square" rtlCol="0" anchor="t"/>
          <a:lstStyle/>
          <a:p>
            <a:pPr marL="0" indent="0">
              <a:lnSpc>
                <a:spcPct val="102000"/>
              </a:lnSpc>
              <a:buNone/>
            </a:pPr>
            <a:r>
              <a:rPr lang="en-US" sz="2500" b="1" dirty="0">
                <a:solidFill>
                  <a:srgbClr val="1B2340"/>
                </a:solidFill>
                <a:latin typeface="Century Schoolbook" pitchFamily="34" charset="0"/>
                <a:ea typeface="Century Schoolbook" pitchFamily="34" charset="-122"/>
                <a:cs typeface="Century Schoolbook" pitchFamily="34" charset="-120"/>
              </a:rPr>
              <a:t>What is Polymorphism? Compile-time vs Runtime.</a:t>
            </a:r>
            <a:endParaRPr lang="en-US" sz="2500" dirty="0"/>
          </a:p>
        </p:txBody>
      </p:sp>
      <p:sp>
        <p:nvSpPr>
          <p:cNvPr id="5" name="Shape 3"/>
          <p:cNvSpPr/>
          <p:nvPr/>
        </p:nvSpPr>
        <p:spPr>
          <a:xfrm>
            <a:off x="502920" y="1810512"/>
            <a:ext cx="164592" cy="274320"/>
          </a:xfrm>
          <a:prstGeom prst="roundRect">
            <a:avLst>
              <a:gd name="adj" fmla="val 22222"/>
            </a:avLst>
          </a:prstGeom>
          <a:solidFill>
            <a:srgbClr val="E8A33D"/>
          </a:solidFill>
          <a:ln/>
        </p:spPr>
      </p:sp>
      <p:sp>
        <p:nvSpPr>
          <p:cNvPr id="6" name="Text 4"/>
          <p:cNvSpPr/>
          <p:nvPr/>
        </p:nvSpPr>
        <p:spPr>
          <a:xfrm>
            <a:off x="758952" y="1783080"/>
            <a:ext cx="4681728" cy="329184"/>
          </a:xfrm>
          <a:prstGeom prst="rect">
            <a:avLst/>
          </a:prstGeom>
          <a:noFill/>
          <a:ln/>
        </p:spPr>
        <p:txBody>
          <a:bodyPr wrap="square" rtlCol="0" anchor="ctr"/>
          <a:lstStyle/>
          <a:p>
            <a:pPr marL="0" indent="0">
              <a:buNone/>
            </a:pPr>
            <a:r>
              <a:rPr lang="en-US" sz="1300" b="1" kern="0" spc="50" dirty="0">
                <a:solidFill>
                  <a:srgbClr val="1B2340"/>
                </a:solidFill>
                <a:latin typeface="Calibri" pitchFamily="34" charset="0"/>
                <a:ea typeface="Calibri" pitchFamily="34" charset="-122"/>
                <a:cs typeface="Calibri" pitchFamily="34" charset="-120"/>
              </a:rPr>
              <a:t>DEFINITION / CONCEPT</a:t>
            </a:r>
            <a:endParaRPr lang="en-US" sz="1300" dirty="0"/>
          </a:p>
        </p:txBody>
      </p:sp>
      <p:sp>
        <p:nvSpPr>
          <p:cNvPr id="7" name="Shape 5"/>
          <p:cNvSpPr/>
          <p:nvPr/>
        </p:nvSpPr>
        <p:spPr>
          <a:xfrm>
            <a:off x="502920" y="2121408"/>
            <a:ext cx="4937760" cy="1234440"/>
          </a:xfrm>
          <a:prstGeom prst="roundRect">
            <a:avLst>
              <a:gd name="adj" fmla="val 5926"/>
            </a:avLst>
          </a:prstGeom>
          <a:solidFill>
            <a:srgbClr val="F7F7FA"/>
          </a:solidFill>
          <a:ln w="12700">
            <a:solidFill>
              <a:srgbClr val="E4E6EF"/>
            </a:solidFill>
            <a:prstDash val="solid"/>
          </a:ln>
        </p:spPr>
      </p:sp>
      <p:sp>
        <p:nvSpPr>
          <p:cNvPr id="8" name="Text 6"/>
          <p:cNvSpPr/>
          <p:nvPr/>
        </p:nvSpPr>
        <p:spPr>
          <a:xfrm>
            <a:off x="758952" y="2304288"/>
            <a:ext cx="4425696" cy="868680"/>
          </a:xfrm>
          <a:prstGeom prst="rect">
            <a:avLst/>
          </a:prstGeom>
          <a:noFill/>
          <a:ln/>
        </p:spPr>
        <p:txBody>
          <a:bodyPr wrap="square" lIns="0" tIns="0" rIns="0" bIns="0" rtlCol="0" anchor="t"/>
          <a:lstStyle/>
          <a:p>
            <a:pPr marL="0" indent="0">
              <a:lnSpc>
                <a:spcPct val="115000"/>
              </a:lnSpc>
              <a:buNone/>
            </a:pPr>
            <a:r>
              <a:rPr lang="en-US" sz="1450" dirty="0">
                <a:solidFill>
                  <a:srgbClr val="1B2340"/>
                </a:solidFill>
                <a:latin typeface="Calibri" pitchFamily="34" charset="0"/>
                <a:ea typeface="Calibri" pitchFamily="34" charset="-122"/>
                <a:cs typeface="Calibri" pitchFamily="34" charset="-120"/>
              </a:rPr>
              <a:t>Polymorphism means one method name can behave differently depending on the situation. Java has two types: compile-time (method overloading) and runtime (method overriding).</a:t>
            </a:r>
            <a:endParaRPr lang="en-US" sz="1450" dirty="0"/>
          </a:p>
        </p:txBody>
      </p:sp>
      <p:sp>
        <p:nvSpPr>
          <p:cNvPr id="9" name="Shape 7"/>
          <p:cNvSpPr/>
          <p:nvPr/>
        </p:nvSpPr>
        <p:spPr>
          <a:xfrm>
            <a:off x="502920" y="3493008"/>
            <a:ext cx="4937760" cy="1554480"/>
          </a:xfrm>
          <a:prstGeom prst="roundRect">
            <a:avLst>
              <a:gd name="adj" fmla="val 4706"/>
            </a:avLst>
          </a:prstGeom>
          <a:solidFill>
            <a:srgbClr val="FDF3E3"/>
          </a:solidFill>
          <a:ln/>
        </p:spPr>
      </p:sp>
      <p:sp>
        <p:nvSpPr>
          <p:cNvPr id="10" name="Text 8"/>
          <p:cNvSpPr/>
          <p:nvPr/>
        </p:nvSpPr>
        <p:spPr>
          <a:xfrm>
            <a:off x="704088" y="3602736"/>
            <a:ext cx="4535424" cy="274320"/>
          </a:xfrm>
          <a:prstGeom prst="rect">
            <a:avLst/>
          </a:prstGeom>
          <a:noFill/>
          <a:ln/>
        </p:spPr>
        <p:txBody>
          <a:bodyPr wrap="square" rtlCol="0" anchor="ctr"/>
          <a:lstStyle/>
          <a:p>
            <a:pPr marL="0" indent="0">
              <a:buNone/>
            </a:pPr>
            <a:r>
              <a:rPr lang="en-US" sz="1100" b="1" kern="0" spc="50" dirty="0">
                <a:solidFill>
                  <a:srgbClr val="C9862A"/>
                </a:solidFill>
                <a:latin typeface="Calibri" pitchFamily="34" charset="0"/>
                <a:ea typeface="Calibri" pitchFamily="34" charset="-122"/>
                <a:cs typeface="Calibri" pitchFamily="34" charset="-120"/>
              </a:rPr>
              <a:t>💡 REAL-LIFE ANALOGY</a:t>
            </a:r>
            <a:endParaRPr lang="en-US" sz="1100" dirty="0"/>
          </a:p>
        </p:txBody>
      </p:sp>
      <p:sp>
        <p:nvSpPr>
          <p:cNvPr id="11" name="Text 9"/>
          <p:cNvSpPr/>
          <p:nvPr/>
        </p:nvSpPr>
        <p:spPr>
          <a:xfrm>
            <a:off x="704088" y="3895344"/>
            <a:ext cx="4535424" cy="1024128"/>
          </a:xfrm>
          <a:prstGeom prst="rect">
            <a:avLst/>
          </a:prstGeom>
          <a:noFill/>
          <a:ln/>
        </p:spPr>
        <p:txBody>
          <a:bodyPr wrap="square" lIns="0" tIns="0" rIns="0" bIns="0" rtlCol="0" anchor="t"/>
          <a:lstStyle/>
          <a:p>
            <a:pPr marL="0" indent="0">
              <a:lnSpc>
                <a:spcPct val="110000"/>
              </a:lnSpc>
              <a:buNone/>
            </a:pPr>
            <a:r>
              <a:rPr lang="en-US" sz="1250" i="1" dirty="0">
                <a:solidFill>
                  <a:srgbClr val="1B2340"/>
                </a:solidFill>
                <a:latin typeface="Calibri" pitchFamily="34" charset="0"/>
                <a:ea typeface="Calibri" pitchFamily="34" charset="-122"/>
                <a:cs typeface="Calibri" pitchFamily="34" charset="-120"/>
              </a:rPr>
              <a:t>Think of the word 'run'. A person runs, a machine runs, a business runs - same word, different meaning depending on context. That's polymorphism.</a:t>
            </a:r>
            <a:endParaRPr lang="en-US" sz="1250" dirty="0"/>
          </a:p>
        </p:txBody>
      </p:sp>
      <p:sp>
        <p:nvSpPr>
          <p:cNvPr id="12" name="Shape 10"/>
          <p:cNvSpPr/>
          <p:nvPr/>
        </p:nvSpPr>
        <p:spPr>
          <a:xfrm>
            <a:off x="502920" y="5193792"/>
            <a:ext cx="4937760" cy="1051560"/>
          </a:xfrm>
          <a:prstGeom prst="roundRect">
            <a:avLst>
              <a:gd name="adj" fmla="val 6957"/>
            </a:avLst>
          </a:prstGeom>
          <a:solidFill>
            <a:srgbClr val="1B2340"/>
          </a:solidFill>
          <a:ln/>
        </p:spPr>
      </p:sp>
      <p:sp>
        <p:nvSpPr>
          <p:cNvPr id="13" name="Text 11"/>
          <p:cNvSpPr/>
          <p:nvPr/>
        </p:nvSpPr>
        <p:spPr>
          <a:xfrm>
            <a:off x="731520" y="5285232"/>
            <a:ext cx="4480560" cy="256032"/>
          </a:xfrm>
          <a:prstGeom prst="rect">
            <a:avLst/>
          </a:prstGeom>
          <a:noFill/>
          <a:ln/>
        </p:spPr>
        <p:txBody>
          <a:bodyPr wrap="square" rtlCol="0" anchor="ctr"/>
          <a:lstStyle/>
          <a:p>
            <a:pPr marL="0" indent="0">
              <a:buNone/>
            </a:pPr>
            <a:r>
              <a:rPr lang="en-US" sz="1050" b="1" kern="0" spc="80" dirty="0">
                <a:solidFill>
                  <a:srgbClr val="E8A33D"/>
                </a:solidFill>
                <a:latin typeface="Calibri" pitchFamily="34" charset="0"/>
                <a:ea typeface="Calibri" pitchFamily="34" charset="-122"/>
                <a:cs typeface="Calibri" pitchFamily="34" charset="-120"/>
              </a:rPr>
              <a:t>ONE-LINE INTERVIEW ANSWER</a:t>
            </a:r>
            <a:endParaRPr lang="en-US" sz="1050" dirty="0"/>
          </a:p>
        </p:txBody>
      </p:sp>
      <p:sp>
        <p:nvSpPr>
          <p:cNvPr id="14" name="Text 12"/>
          <p:cNvSpPr/>
          <p:nvPr/>
        </p:nvSpPr>
        <p:spPr>
          <a:xfrm>
            <a:off x="731520" y="5541264"/>
            <a:ext cx="4480560" cy="594360"/>
          </a:xfrm>
          <a:prstGeom prst="rect">
            <a:avLst/>
          </a:prstGeom>
          <a:noFill/>
          <a:ln/>
        </p:spPr>
        <p:txBody>
          <a:bodyPr wrap="square" lIns="0" tIns="0" rIns="0" bIns="0" rtlCol="0" anchor="t"/>
          <a:lstStyle/>
          <a:p>
            <a:pPr marL="0" indent="0">
              <a:lnSpc>
                <a:spcPct val="105000"/>
              </a:lnSpc>
              <a:buNone/>
            </a:pPr>
            <a:r>
              <a:rPr lang="en-US" sz="1250" dirty="0">
                <a:solidFill>
                  <a:srgbClr val="FFFFFF"/>
                </a:solidFill>
                <a:latin typeface="Calibri" pitchFamily="34" charset="0"/>
                <a:ea typeface="Calibri" pitchFamily="34" charset="-122"/>
                <a:cs typeface="Calibri" pitchFamily="34" charset="-120"/>
              </a:rPr>
              <a:t>Polymorphism lets one action behave differently - overloading is resolved at compile time, overriding at runtime.</a:t>
            </a:r>
            <a:endParaRPr lang="en-US" sz="1250" dirty="0"/>
          </a:p>
        </p:txBody>
      </p:sp>
      <p:sp>
        <p:nvSpPr>
          <p:cNvPr id="15" name="Shape 13"/>
          <p:cNvSpPr/>
          <p:nvPr/>
        </p:nvSpPr>
        <p:spPr>
          <a:xfrm>
            <a:off x="5669280" y="1810512"/>
            <a:ext cx="164592" cy="274320"/>
          </a:xfrm>
          <a:prstGeom prst="roundRect">
            <a:avLst>
              <a:gd name="adj" fmla="val 22222"/>
            </a:avLst>
          </a:prstGeom>
          <a:solidFill>
            <a:srgbClr val="3FBFAE"/>
          </a:solidFill>
          <a:ln/>
        </p:spPr>
      </p:sp>
      <p:sp>
        <p:nvSpPr>
          <p:cNvPr id="16" name="Text 14"/>
          <p:cNvSpPr/>
          <p:nvPr/>
        </p:nvSpPr>
        <p:spPr>
          <a:xfrm>
            <a:off x="5925312" y="1783080"/>
            <a:ext cx="5779008" cy="329184"/>
          </a:xfrm>
          <a:prstGeom prst="rect">
            <a:avLst/>
          </a:prstGeom>
          <a:noFill/>
          <a:ln/>
        </p:spPr>
        <p:txBody>
          <a:bodyPr wrap="square" rtlCol="0" anchor="ctr"/>
          <a:lstStyle/>
          <a:p>
            <a:pPr marL="0" indent="0">
              <a:buNone/>
            </a:pPr>
            <a:r>
              <a:rPr lang="en-US" sz="1300" b="1" kern="0" spc="50" dirty="0">
                <a:solidFill>
                  <a:srgbClr val="1B2340"/>
                </a:solidFill>
                <a:latin typeface="Calibri" pitchFamily="34" charset="0"/>
                <a:ea typeface="Calibri" pitchFamily="34" charset="-122"/>
                <a:cs typeface="Calibri" pitchFamily="34" charset="-120"/>
              </a:rPr>
              <a:t>EXAMPLE</a:t>
            </a:r>
            <a:endParaRPr lang="en-US" sz="1300" dirty="0"/>
          </a:p>
        </p:txBody>
      </p:sp>
      <p:sp>
        <p:nvSpPr>
          <p:cNvPr id="17" name="Shape 15"/>
          <p:cNvSpPr/>
          <p:nvPr/>
        </p:nvSpPr>
        <p:spPr>
          <a:xfrm>
            <a:off x="5669280" y="2121408"/>
            <a:ext cx="6035040" cy="1447800"/>
          </a:xfrm>
          <a:prstGeom prst="roundRect">
            <a:avLst>
              <a:gd name="adj" fmla="val 5053"/>
            </a:avLst>
          </a:prstGeom>
          <a:solidFill>
            <a:srgbClr val="1E1E2E"/>
          </a:solidFill>
          <a:ln/>
        </p:spPr>
      </p:sp>
      <p:sp>
        <p:nvSpPr>
          <p:cNvPr id="18" name="Shape 16"/>
          <p:cNvSpPr/>
          <p:nvPr/>
        </p:nvSpPr>
        <p:spPr>
          <a:xfrm>
            <a:off x="5806440" y="2249424"/>
            <a:ext cx="100584" cy="100584"/>
          </a:xfrm>
          <a:prstGeom prst="ellipse">
            <a:avLst/>
          </a:prstGeom>
          <a:solidFill>
            <a:srgbClr val="FF5F56"/>
          </a:solidFill>
          <a:ln/>
        </p:spPr>
      </p:sp>
      <p:sp>
        <p:nvSpPr>
          <p:cNvPr id="19" name="Shape 17"/>
          <p:cNvSpPr/>
          <p:nvPr/>
        </p:nvSpPr>
        <p:spPr>
          <a:xfrm>
            <a:off x="5961888" y="2249424"/>
            <a:ext cx="100584" cy="100584"/>
          </a:xfrm>
          <a:prstGeom prst="ellipse">
            <a:avLst/>
          </a:prstGeom>
          <a:solidFill>
            <a:srgbClr val="FFBD2E"/>
          </a:solidFill>
          <a:ln/>
        </p:spPr>
      </p:sp>
      <p:sp>
        <p:nvSpPr>
          <p:cNvPr id="20" name="Shape 18"/>
          <p:cNvSpPr/>
          <p:nvPr/>
        </p:nvSpPr>
        <p:spPr>
          <a:xfrm>
            <a:off x="6117336" y="2249424"/>
            <a:ext cx="100584" cy="100584"/>
          </a:xfrm>
          <a:prstGeom prst="ellipse">
            <a:avLst/>
          </a:prstGeom>
          <a:solidFill>
            <a:srgbClr val="27C93F"/>
          </a:solidFill>
          <a:ln/>
        </p:spPr>
      </p:sp>
      <p:sp>
        <p:nvSpPr>
          <p:cNvPr id="21" name="Text 19"/>
          <p:cNvSpPr/>
          <p:nvPr/>
        </p:nvSpPr>
        <p:spPr>
          <a:xfrm>
            <a:off x="6309360" y="2167128"/>
            <a:ext cx="5120640" cy="274320"/>
          </a:xfrm>
          <a:prstGeom prst="rect">
            <a:avLst/>
          </a:prstGeom>
          <a:noFill/>
          <a:ln/>
        </p:spPr>
        <p:txBody>
          <a:bodyPr wrap="square" rtlCol="0" anchor="ctr"/>
          <a:lstStyle/>
          <a:p>
            <a:pPr marL="0" indent="0" algn="r">
              <a:buNone/>
            </a:pPr>
            <a:r>
              <a:rPr lang="en-US" sz="1000" dirty="0">
                <a:solidFill>
                  <a:srgbClr val="8A90AC"/>
                </a:solidFill>
                <a:latin typeface="Courier New" pitchFamily="34" charset="0"/>
                <a:ea typeface="Courier New" pitchFamily="34" charset="-122"/>
                <a:cs typeface="Courier New" pitchFamily="34" charset="-120"/>
              </a:rPr>
              <a:t>Main.java</a:t>
            </a:r>
            <a:endParaRPr lang="en-US" sz="1000" dirty="0"/>
          </a:p>
        </p:txBody>
      </p:sp>
      <p:sp>
        <p:nvSpPr>
          <p:cNvPr id="22" name="Text 20"/>
          <p:cNvSpPr/>
          <p:nvPr/>
        </p:nvSpPr>
        <p:spPr>
          <a:xfrm>
            <a:off x="5897880" y="2487168"/>
            <a:ext cx="5577840" cy="990600"/>
          </a:xfrm>
          <a:prstGeom prst="rect">
            <a:avLst/>
          </a:prstGeom>
          <a:noFill/>
          <a:ln/>
        </p:spPr>
        <p:txBody>
          <a:bodyPr wrap="square" lIns="0" tIns="0" rIns="0" bIns="0" rtlCol="0" anchor="t"/>
          <a:lstStyle/>
          <a:p>
            <a:pPr marL="0" indent="0">
              <a:lnSpc>
                <a:spcPct val="120000"/>
              </a:lnSpc>
              <a:buNone/>
            </a:pPr>
            <a:r>
              <a:rPr lang="en-US" sz="1200" dirty="0">
                <a:solidFill>
                  <a:srgbClr val="D4D4E0"/>
                </a:solidFill>
                <a:latin typeface="Courier New" pitchFamily="34" charset="0"/>
                <a:ea typeface="Courier New" pitchFamily="34" charset="-122"/>
                <a:cs typeface="Courier New" pitchFamily="34" charset="-120"/>
              </a:rPr>
              <a:t>class Calculator {</a:t>
            </a:r>
            <a:endParaRPr lang="en-US" sz="1200" dirty="0"/>
          </a:p>
          <a:p>
            <a:pPr marL="0" indent="0">
              <a:lnSpc>
                <a:spcPct val="120000"/>
              </a:lnSpc>
              <a:buNone/>
            </a:pPr>
            <a:r>
              <a:rPr lang="en-US" sz="1200" dirty="0">
                <a:solidFill>
                  <a:srgbClr val="D4D4E0"/>
                </a:solidFill>
                <a:latin typeface="Courier New" pitchFamily="34" charset="0"/>
                <a:ea typeface="Courier New" pitchFamily="34" charset="-122"/>
                <a:cs typeface="Courier New" pitchFamily="34" charset="-120"/>
              </a:rPr>
              <a:t>    int add(int a, int b) { return a + b; }</a:t>
            </a:r>
            <a:endParaRPr lang="en-US" sz="1200" dirty="0"/>
          </a:p>
          <a:p>
            <a:pPr marL="0" indent="0">
              <a:lnSpc>
                <a:spcPct val="120000"/>
              </a:lnSpc>
              <a:buNone/>
            </a:pPr>
            <a:r>
              <a:rPr lang="en-US" sz="1200" dirty="0">
                <a:solidFill>
                  <a:srgbClr val="D4D4E0"/>
                </a:solidFill>
                <a:latin typeface="Courier New" pitchFamily="34" charset="0"/>
                <a:ea typeface="Courier New" pitchFamily="34" charset="-122"/>
                <a:cs typeface="Courier New" pitchFamily="34" charset="-120"/>
              </a:rPr>
              <a:t>    double add(double a, double b) { return a + b; }</a:t>
            </a:r>
            <a:endParaRPr lang="en-US" sz="1200" dirty="0"/>
          </a:p>
          <a:p>
            <a:pPr marL="0" indent="0">
              <a:lnSpc>
                <a:spcPct val="120000"/>
              </a:lnSpc>
              <a:buNone/>
            </a:pPr>
            <a:r>
              <a:rPr lang="en-US" sz="1200" dirty="0">
                <a:solidFill>
                  <a:srgbClr val="D4D4E0"/>
                </a:solidFill>
                <a:latin typeface="Courier New" pitchFamily="34" charset="0"/>
                <a:ea typeface="Courier New" pitchFamily="34" charset="-122"/>
                <a:cs typeface="Courier New" pitchFamily="34" charset="-120"/>
              </a:rPr>
              <a:t>}</a:t>
            </a:r>
            <a:endParaRPr lang="en-US" sz="1200" dirty="0"/>
          </a:p>
        </p:txBody>
      </p:sp>
      <p:sp>
        <p:nvSpPr>
          <p:cNvPr id="23" name="Shape 21"/>
          <p:cNvSpPr/>
          <p:nvPr/>
        </p:nvSpPr>
        <p:spPr>
          <a:xfrm>
            <a:off x="5669280" y="3733800"/>
            <a:ext cx="164592" cy="274320"/>
          </a:xfrm>
          <a:prstGeom prst="roundRect">
            <a:avLst>
              <a:gd name="adj" fmla="val 22222"/>
            </a:avLst>
          </a:prstGeom>
          <a:solidFill>
            <a:srgbClr val="3FBFAE"/>
          </a:solidFill>
          <a:ln/>
        </p:spPr>
      </p:sp>
      <p:sp>
        <p:nvSpPr>
          <p:cNvPr id="24" name="Text 22"/>
          <p:cNvSpPr/>
          <p:nvPr/>
        </p:nvSpPr>
        <p:spPr>
          <a:xfrm>
            <a:off x="5925312" y="3706368"/>
            <a:ext cx="5779008" cy="329184"/>
          </a:xfrm>
          <a:prstGeom prst="rect">
            <a:avLst/>
          </a:prstGeom>
          <a:noFill/>
          <a:ln/>
        </p:spPr>
        <p:txBody>
          <a:bodyPr wrap="square" rtlCol="0" anchor="ctr"/>
          <a:lstStyle/>
          <a:p>
            <a:pPr marL="0" indent="0">
              <a:buNone/>
            </a:pPr>
            <a:r>
              <a:rPr lang="en-US" sz="1300" b="1" kern="0" spc="50" dirty="0">
                <a:solidFill>
                  <a:srgbClr val="1B2340"/>
                </a:solidFill>
                <a:latin typeface="Calibri" pitchFamily="34" charset="0"/>
                <a:ea typeface="Calibri" pitchFamily="34" charset="-122"/>
                <a:cs typeface="Calibri" pitchFamily="34" charset="-120"/>
              </a:rPr>
              <a:t>EXPLANATION</a:t>
            </a:r>
            <a:endParaRPr lang="en-US" sz="1300" dirty="0"/>
          </a:p>
        </p:txBody>
      </p:sp>
      <p:sp>
        <p:nvSpPr>
          <p:cNvPr id="25" name="Text 23"/>
          <p:cNvSpPr/>
          <p:nvPr/>
        </p:nvSpPr>
        <p:spPr>
          <a:xfrm>
            <a:off x="5669280" y="4062984"/>
            <a:ext cx="6035040" cy="2337816"/>
          </a:xfrm>
          <a:prstGeom prst="rect">
            <a:avLst/>
          </a:prstGeom>
          <a:noFill/>
          <a:ln/>
        </p:spPr>
        <p:txBody>
          <a:bodyPr wrap="square" lIns="0" tIns="0" rIns="0" bIns="0" rtlCol="0" anchor="t"/>
          <a:lstStyle/>
          <a:p>
            <a:pPr marL="177800" indent="-177800">
              <a:spcAft>
                <a:spcPts val="600"/>
              </a:spcAft>
              <a:buSzPct val="100000"/>
              <a:buChar char="•"/>
            </a:pPr>
            <a:r>
              <a:rPr lang="en-US" sz="1200" dirty="0">
                <a:solidFill>
                  <a:srgbClr val="1B2340"/>
                </a:solidFill>
                <a:latin typeface="Calibri" pitchFamily="34" charset="0"/>
                <a:ea typeface="Calibri" pitchFamily="34" charset="-122"/>
                <a:cs typeface="Calibri" pitchFamily="34" charset="-120"/>
              </a:rPr>
              <a:t>add(int, int) and add(double, double) are overloaded - decided at compile time</a:t>
            </a:r>
            <a:endParaRPr lang="en-US" sz="1200" dirty="0"/>
          </a:p>
          <a:p>
            <a:pPr marL="177800" indent="-177800">
              <a:spcAft>
                <a:spcPts val="600"/>
              </a:spcAft>
              <a:buSzPct val="100000"/>
              <a:buChar char="•"/>
            </a:pPr>
            <a:r>
              <a:rPr lang="en-US" sz="1200" dirty="0">
                <a:solidFill>
                  <a:srgbClr val="1B2340"/>
                </a:solidFill>
                <a:latin typeface="Calibri" pitchFamily="34" charset="0"/>
                <a:ea typeface="Calibri" pitchFamily="34" charset="-122"/>
                <a:cs typeface="Calibri" pitchFamily="34" charset="-120"/>
              </a:rPr>
              <a:t>Overriding happens when a child class redefines a parent's method, and Java decides which version to run at runtime</a:t>
            </a:r>
            <a:endParaRPr lang="en-US" sz="1200" dirty="0"/>
          </a:p>
          <a:p>
            <a:pPr marL="177800" indent="-177800">
              <a:spcAft>
                <a:spcPts val="600"/>
              </a:spcAft>
              <a:buSzPct val="100000"/>
              <a:buChar char="•"/>
            </a:pPr>
            <a:r>
              <a:rPr lang="en-US" sz="1200" dirty="0">
                <a:solidFill>
                  <a:srgbClr val="1B2340"/>
                </a:solidFill>
                <a:latin typeface="Calibri" pitchFamily="34" charset="0"/>
                <a:ea typeface="Calibri" pitchFamily="34" charset="-122"/>
                <a:cs typeface="Calibri" pitchFamily="34" charset="-120"/>
              </a:rPr>
              <a:t>Overloading = same class, different parameter lists</a:t>
            </a:r>
            <a:endParaRPr lang="en-US" sz="1200" dirty="0"/>
          </a:p>
          <a:p>
            <a:pPr marL="177800" indent="-177800">
              <a:spcAft>
                <a:spcPts val="600"/>
              </a:spcAft>
              <a:buSzPct val="100000"/>
              <a:buChar char="•"/>
            </a:pPr>
            <a:r>
              <a:rPr lang="en-US" sz="1200" dirty="0">
                <a:solidFill>
                  <a:srgbClr val="1B2340"/>
                </a:solidFill>
                <a:latin typeface="Calibri" pitchFamily="34" charset="0"/>
                <a:ea typeface="Calibri" pitchFamily="34" charset="-122"/>
                <a:cs typeface="Calibri" pitchFamily="34" charset="-120"/>
              </a:rPr>
              <a:t>Overriding = parent-child classes, same method signature</a:t>
            </a:r>
            <a:endParaRPr lang="en-US" sz="1200" dirty="0"/>
          </a:p>
        </p:txBody>
      </p:sp>
      <p:sp>
        <p:nvSpPr>
          <p:cNvPr id="26" name="Text 24"/>
          <p:cNvSpPr/>
          <p:nvPr/>
        </p:nvSpPr>
        <p:spPr>
          <a:xfrm>
            <a:off x="457200" y="6583680"/>
            <a:ext cx="5486400" cy="228600"/>
          </a:xfrm>
          <a:prstGeom prst="rect">
            <a:avLst/>
          </a:prstGeom>
          <a:noFill/>
          <a:ln/>
        </p:spPr>
        <p:txBody>
          <a:bodyPr wrap="square" rtlCol="0" anchor="ctr"/>
          <a:lstStyle/>
          <a:p>
            <a:pPr marL="0" indent="0" algn="l">
              <a:buNone/>
            </a:pPr>
            <a:r>
              <a:rPr lang="en-US" sz="850" dirty="0">
                <a:solidFill>
                  <a:srgbClr val="5B6178"/>
                </a:solidFill>
                <a:latin typeface="Calibri" pitchFamily="34" charset="0"/>
                <a:ea typeface="Calibri" pitchFamily="34" charset="-122"/>
                <a:cs typeface="Calibri" pitchFamily="34" charset="-120"/>
              </a:rPr>
              <a:t>Java &amp; Full-Stack Interview Prep</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502920" y="384048"/>
            <a:ext cx="3474720" cy="310896"/>
          </a:xfrm>
          <a:prstGeom prst="roundRect">
            <a:avLst>
              <a:gd name="adj" fmla="val 23529"/>
            </a:avLst>
          </a:prstGeom>
          <a:solidFill>
            <a:srgbClr val="E8A33D"/>
          </a:solidFill>
          <a:ln/>
        </p:spPr>
      </p:sp>
      <p:sp>
        <p:nvSpPr>
          <p:cNvPr id="3" name="Text 1"/>
          <p:cNvSpPr/>
          <p:nvPr/>
        </p:nvSpPr>
        <p:spPr>
          <a:xfrm>
            <a:off x="502920" y="384048"/>
            <a:ext cx="3474720" cy="310896"/>
          </a:xfrm>
          <a:prstGeom prst="rect">
            <a:avLst/>
          </a:prstGeom>
          <a:noFill/>
          <a:ln/>
        </p:spPr>
        <p:txBody>
          <a:bodyPr wrap="square" rtlCol="0" anchor="ctr"/>
          <a:lstStyle/>
          <a:p>
            <a:pPr marL="0" indent="0" algn="ctr">
              <a:buNone/>
            </a:pPr>
            <a:r>
              <a:rPr lang="en-US" sz="1100" b="1" kern="0" spc="100" dirty="0">
                <a:solidFill>
                  <a:srgbClr val="1B2340"/>
                </a:solidFill>
                <a:latin typeface="Calibri" pitchFamily="34" charset="0"/>
                <a:ea typeface="Calibri" pitchFamily="34" charset="-122"/>
                <a:cs typeface="Calibri" pitchFamily="34" charset="-120"/>
              </a:rPr>
              <a:t>CORE JAVA &amp; OOP</a:t>
            </a:r>
            <a:endParaRPr lang="en-US" sz="1100" dirty="0"/>
          </a:p>
        </p:txBody>
      </p:sp>
      <p:sp>
        <p:nvSpPr>
          <p:cNvPr id="4" name="Text 2"/>
          <p:cNvSpPr/>
          <p:nvPr/>
        </p:nvSpPr>
        <p:spPr>
          <a:xfrm>
            <a:off x="502920" y="786384"/>
            <a:ext cx="11155680" cy="868680"/>
          </a:xfrm>
          <a:prstGeom prst="rect">
            <a:avLst/>
          </a:prstGeom>
          <a:noFill/>
          <a:ln/>
        </p:spPr>
        <p:txBody>
          <a:bodyPr wrap="square" rtlCol="0" anchor="t"/>
          <a:lstStyle/>
          <a:p>
            <a:pPr marL="0" indent="0">
              <a:lnSpc>
                <a:spcPct val="102000"/>
              </a:lnSpc>
              <a:buNone/>
            </a:pPr>
            <a:r>
              <a:rPr lang="en-US" sz="2500" b="1" dirty="0">
                <a:solidFill>
                  <a:srgbClr val="1B2340"/>
                </a:solidFill>
                <a:latin typeface="Century Schoolbook" pitchFamily="34" charset="0"/>
                <a:ea typeface="Century Schoolbook" pitchFamily="34" charset="-122"/>
                <a:cs typeface="Century Schoolbook" pitchFamily="34" charset="-120"/>
              </a:rPr>
              <a:t>What is Abstraction? Abstract class vs Interface.</a:t>
            </a:r>
            <a:endParaRPr lang="en-US" sz="2500" dirty="0"/>
          </a:p>
        </p:txBody>
      </p:sp>
      <p:sp>
        <p:nvSpPr>
          <p:cNvPr id="5" name="Shape 3"/>
          <p:cNvSpPr/>
          <p:nvPr/>
        </p:nvSpPr>
        <p:spPr>
          <a:xfrm>
            <a:off x="502920" y="1810512"/>
            <a:ext cx="164592" cy="274320"/>
          </a:xfrm>
          <a:prstGeom prst="roundRect">
            <a:avLst>
              <a:gd name="adj" fmla="val 22222"/>
            </a:avLst>
          </a:prstGeom>
          <a:solidFill>
            <a:srgbClr val="E8A33D"/>
          </a:solidFill>
          <a:ln/>
        </p:spPr>
      </p:sp>
      <p:sp>
        <p:nvSpPr>
          <p:cNvPr id="6" name="Text 4"/>
          <p:cNvSpPr/>
          <p:nvPr/>
        </p:nvSpPr>
        <p:spPr>
          <a:xfrm>
            <a:off x="758952" y="1783080"/>
            <a:ext cx="4681728" cy="329184"/>
          </a:xfrm>
          <a:prstGeom prst="rect">
            <a:avLst/>
          </a:prstGeom>
          <a:noFill/>
          <a:ln/>
        </p:spPr>
        <p:txBody>
          <a:bodyPr wrap="square" rtlCol="0" anchor="ctr"/>
          <a:lstStyle/>
          <a:p>
            <a:pPr marL="0" indent="0">
              <a:buNone/>
            </a:pPr>
            <a:r>
              <a:rPr lang="en-US" sz="1300" b="1" kern="0" spc="50" dirty="0">
                <a:solidFill>
                  <a:srgbClr val="1B2340"/>
                </a:solidFill>
                <a:latin typeface="Calibri" pitchFamily="34" charset="0"/>
                <a:ea typeface="Calibri" pitchFamily="34" charset="-122"/>
                <a:cs typeface="Calibri" pitchFamily="34" charset="-120"/>
              </a:rPr>
              <a:t>DEFINITION / CONCEPT</a:t>
            </a:r>
            <a:endParaRPr lang="en-US" sz="1300" dirty="0"/>
          </a:p>
        </p:txBody>
      </p:sp>
      <p:sp>
        <p:nvSpPr>
          <p:cNvPr id="7" name="Shape 5"/>
          <p:cNvSpPr/>
          <p:nvPr/>
        </p:nvSpPr>
        <p:spPr>
          <a:xfrm>
            <a:off x="502920" y="2121408"/>
            <a:ext cx="4937760" cy="1234440"/>
          </a:xfrm>
          <a:prstGeom prst="roundRect">
            <a:avLst>
              <a:gd name="adj" fmla="val 5926"/>
            </a:avLst>
          </a:prstGeom>
          <a:solidFill>
            <a:srgbClr val="F7F7FA"/>
          </a:solidFill>
          <a:ln w="12700">
            <a:solidFill>
              <a:srgbClr val="E4E6EF"/>
            </a:solidFill>
            <a:prstDash val="solid"/>
          </a:ln>
        </p:spPr>
      </p:sp>
      <p:sp>
        <p:nvSpPr>
          <p:cNvPr id="8" name="Text 6"/>
          <p:cNvSpPr/>
          <p:nvPr/>
        </p:nvSpPr>
        <p:spPr>
          <a:xfrm>
            <a:off x="758952" y="2304288"/>
            <a:ext cx="4425696" cy="868680"/>
          </a:xfrm>
          <a:prstGeom prst="rect">
            <a:avLst/>
          </a:prstGeom>
          <a:noFill/>
          <a:ln/>
        </p:spPr>
        <p:txBody>
          <a:bodyPr wrap="square" lIns="0" tIns="0" rIns="0" bIns="0" rtlCol="0" anchor="t"/>
          <a:lstStyle/>
          <a:p>
            <a:pPr marL="0" indent="0">
              <a:lnSpc>
                <a:spcPct val="115000"/>
              </a:lnSpc>
              <a:buNone/>
            </a:pPr>
            <a:r>
              <a:rPr lang="en-US" sz="1450" dirty="0">
                <a:solidFill>
                  <a:srgbClr val="1B2340"/>
                </a:solidFill>
                <a:latin typeface="Calibri" pitchFamily="34" charset="0"/>
                <a:ea typeface="Calibri" pitchFamily="34" charset="-122"/>
                <a:cs typeface="Calibri" pitchFamily="34" charset="-120"/>
              </a:rPr>
              <a:t>Abstraction means showing only the essential features of an object and hiding the internal implementation details.</a:t>
            </a:r>
            <a:endParaRPr lang="en-US" sz="1450" dirty="0"/>
          </a:p>
        </p:txBody>
      </p:sp>
      <p:sp>
        <p:nvSpPr>
          <p:cNvPr id="9" name="Shape 7"/>
          <p:cNvSpPr/>
          <p:nvPr/>
        </p:nvSpPr>
        <p:spPr>
          <a:xfrm>
            <a:off x="502920" y="3493008"/>
            <a:ext cx="4937760" cy="1554480"/>
          </a:xfrm>
          <a:prstGeom prst="roundRect">
            <a:avLst>
              <a:gd name="adj" fmla="val 4706"/>
            </a:avLst>
          </a:prstGeom>
          <a:solidFill>
            <a:srgbClr val="FDF3E3"/>
          </a:solidFill>
          <a:ln/>
        </p:spPr>
      </p:sp>
      <p:sp>
        <p:nvSpPr>
          <p:cNvPr id="10" name="Text 8"/>
          <p:cNvSpPr/>
          <p:nvPr/>
        </p:nvSpPr>
        <p:spPr>
          <a:xfrm>
            <a:off x="704088" y="3602736"/>
            <a:ext cx="4535424" cy="274320"/>
          </a:xfrm>
          <a:prstGeom prst="rect">
            <a:avLst/>
          </a:prstGeom>
          <a:noFill/>
          <a:ln/>
        </p:spPr>
        <p:txBody>
          <a:bodyPr wrap="square" rtlCol="0" anchor="ctr"/>
          <a:lstStyle/>
          <a:p>
            <a:pPr marL="0" indent="0">
              <a:buNone/>
            </a:pPr>
            <a:r>
              <a:rPr lang="en-US" sz="1100" b="1" kern="0" spc="50" dirty="0">
                <a:solidFill>
                  <a:srgbClr val="C9862A"/>
                </a:solidFill>
                <a:latin typeface="Calibri" pitchFamily="34" charset="0"/>
                <a:ea typeface="Calibri" pitchFamily="34" charset="-122"/>
                <a:cs typeface="Calibri" pitchFamily="34" charset="-120"/>
              </a:rPr>
              <a:t>💡 REAL-LIFE ANALOGY</a:t>
            </a:r>
            <a:endParaRPr lang="en-US" sz="1100" dirty="0"/>
          </a:p>
        </p:txBody>
      </p:sp>
      <p:sp>
        <p:nvSpPr>
          <p:cNvPr id="11" name="Text 9"/>
          <p:cNvSpPr/>
          <p:nvPr/>
        </p:nvSpPr>
        <p:spPr>
          <a:xfrm>
            <a:off x="704088" y="3895344"/>
            <a:ext cx="4535424" cy="1024128"/>
          </a:xfrm>
          <a:prstGeom prst="rect">
            <a:avLst/>
          </a:prstGeom>
          <a:noFill/>
          <a:ln/>
        </p:spPr>
        <p:txBody>
          <a:bodyPr wrap="square" lIns="0" tIns="0" rIns="0" bIns="0" rtlCol="0" anchor="t"/>
          <a:lstStyle/>
          <a:p>
            <a:pPr marL="0" indent="0">
              <a:lnSpc>
                <a:spcPct val="110000"/>
              </a:lnSpc>
              <a:buNone/>
            </a:pPr>
            <a:r>
              <a:rPr lang="en-US" sz="1250" i="1" dirty="0">
                <a:solidFill>
                  <a:srgbClr val="1B2340"/>
                </a:solidFill>
                <a:latin typeface="Calibri" pitchFamily="34" charset="0"/>
                <a:ea typeface="Calibri" pitchFamily="34" charset="-122"/>
                <a:cs typeface="Calibri" pitchFamily="34" charset="-120"/>
              </a:rPr>
              <a:t>When you drive a car, you just use the steering and pedals - you don't need to know how the engine internally converts fuel into motion. That hidden complexity is abstraction.</a:t>
            </a:r>
            <a:endParaRPr lang="en-US" sz="1250" dirty="0"/>
          </a:p>
        </p:txBody>
      </p:sp>
      <p:sp>
        <p:nvSpPr>
          <p:cNvPr id="12" name="Shape 10"/>
          <p:cNvSpPr/>
          <p:nvPr/>
        </p:nvSpPr>
        <p:spPr>
          <a:xfrm>
            <a:off x="502920" y="5193792"/>
            <a:ext cx="4937760" cy="1051560"/>
          </a:xfrm>
          <a:prstGeom prst="roundRect">
            <a:avLst>
              <a:gd name="adj" fmla="val 6957"/>
            </a:avLst>
          </a:prstGeom>
          <a:solidFill>
            <a:srgbClr val="1B2340"/>
          </a:solidFill>
          <a:ln/>
        </p:spPr>
      </p:sp>
      <p:sp>
        <p:nvSpPr>
          <p:cNvPr id="13" name="Text 11"/>
          <p:cNvSpPr/>
          <p:nvPr/>
        </p:nvSpPr>
        <p:spPr>
          <a:xfrm>
            <a:off x="731520" y="5285232"/>
            <a:ext cx="4480560" cy="256032"/>
          </a:xfrm>
          <a:prstGeom prst="rect">
            <a:avLst/>
          </a:prstGeom>
          <a:noFill/>
          <a:ln/>
        </p:spPr>
        <p:txBody>
          <a:bodyPr wrap="square" rtlCol="0" anchor="ctr"/>
          <a:lstStyle/>
          <a:p>
            <a:pPr marL="0" indent="0">
              <a:buNone/>
            </a:pPr>
            <a:r>
              <a:rPr lang="en-US" sz="1050" b="1" kern="0" spc="80" dirty="0">
                <a:solidFill>
                  <a:srgbClr val="E8A33D"/>
                </a:solidFill>
                <a:latin typeface="Calibri" pitchFamily="34" charset="0"/>
                <a:ea typeface="Calibri" pitchFamily="34" charset="-122"/>
                <a:cs typeface="Calibri" pitchFamily="34" charset="-120"/>
              </a:rPr>
              <a:t>ONE-LINE INTERVIEW ANSWER</a:t>
            </a:r>
            <a:endParaRPr lang="en-US" sz="1050" dirty="0"/>
          </a:p>
        </p:txBody>
      </p:sp>
      <p:sp>
        <p:nvSpPr>
          <p:cNvPr id="14" name="Text 12"/>
          <p:cNvSpPr/>
          <p:nvPr/>
        </p:nvSpPr>
        <p:spPr>
          <a:xfrm>
            <a:off x="731520" y="5541264"/>
            <a:ext cx="4480560" cy="594360"/>
          </a:xfrm>
          <a:prstGeom prst="rect">
            <a:avLst/>
          </a:prstGeom>
          <a:noFill/>
          <a:ln/>
        </p:spPr>
        <p:txBody>
          <a:bodyPr wrap="square" lIns="0" tIns="0" rIns="0" bIns="0" rtlCol="0" anchor="t"/>
          <a:lstStyle/>
          <a:p>
            <a:pPr marL="0" indent="0">
              <a:lnSpc>
                <a:spcPct val="105000"/>
              </a:lnSpc>
              <a:buNone/>
            </a:pPr>
            <a:r>
              <a:rPr lang="en-US" sz="1250" dirty="0">
                <a:solidFill>
                  <a:srgbClr val="FFFFFF"/>
                </a:solidFill>
                <a:latin typeface="Calibri" pitchFamily="34" charset="0"/>
                <a:ea typeface="Calibri" pitchFamily="34" charset="-122"/>
                <a:cs typeface="Calibri" pitchFamily="34" charset="-120"/>
              </a:rPr>
              <a:t>Abstraction hides implementation details and shows only what's necessary, achieved in Java through abstract classes and interfaces.</a:t>
            </a:r>
            <a:endParaRPr lang="en-US" sz="1250" dirty="0"/>
          </a:p>
        </p:txBody>
      </p:sp>
      <p:sp>
        <p:nvSpPr>
          <p:cNvPr id="15" name="Shape 13"/>
          <p:cNvSpPr/>
          <p:nvPr/>
        </p:nvSpPr>
        <p:spPr>
          <a:xfrm>
            <a:off x="5669280" y="1810512"/>
            <a:ext cx="164592" cy="274320"/>
          </a:xfrm>
          <a:prstGeom prst="roundRect">
            <a:avLst>
              <a:gd name="adj" fmla="val 22222"/>
            </a:avLst>
          </a:prstGeom>
          <a:solidFill>
            <a:srgbClr val="3FBFAE"/>
          </a:solidFill>
          <a:ln/>
        </p:spPr>
      </p:sp>
      <p:sp>
        <p:nvSpPr>
          <p:cNvPr id="16" name="Text 14"/>
          <p:cNvSpPr/>
          <p:nvPr/>
        </p:nvSpPr>
        <p:spPr>
          <a:xfrm>
            <a:off x="5925312" y="1783080"/>
            <a:ext cx="5779008" cy="329184"/>
          </a:xfrm>
          <a:prstGeom prst="rect">
            <a:avLst/>
          </a:prstGeom>
          <a:noFill/>
          <a:ln/>
        </p:spPr>
        <p:txBody>
          <a:bodyPr wrap="square" rtlCol="0" anchor="ctr"/>
          <a:lstStyle/>
          <a:p>
            <a:pPr marL="0" indent="0">
              <a:buNone/>
            </a:pPr>
            <a:r>
              <a:rPr lang="en-US" sz="1300" b="1" kern="0" spc="50" dirty="0">
                <a:solidFill>
                  <a:srgbClr val="1B2340"/>
                </a:solidFill>
                <a:latin typeface="Calibri" pitchFamily="34" charset="0"/>
                <a:ea typeface="Calibri" pitchFamily="34" charset="-122"/>
                <a:cs typeface="Calibri" pitchFamily="34" charset="-120"/>
              </a:rPr>
              <a:t>EXAMPLE</a:t>
            </a:r>
            <a:endParaRPr lang="en-US" sz="1300" dirty="0"/>
          </a:p>
        </p:txBody>
      </p:sp>
      <p:sp>
        <p:nvSpPr>
          <p:cNvPr id="17" name="Shape 15"/>
          <p:cNvSpPr/>
          <p:nvPr/>
        </p:nvSpPr>
        <p:spPr>
          <a:xfrm>
            <a:off x="5669280" y="2121408"/>
            <a:ext cx="6035040" cy="2392680"/>
          </a:xfrm>
          <a:prstGeom prst="roundRect">
            <a:avLst>
              <a:gd name="adj" fmla="val 3057"/>
            </a:avLst>
          </a:prstGeom>
          <a:solidFill>
            <a:srgbClr val="1E1E2E"/>
          </a:solidFill>
          <a:ln/>
        </p:spPr>
      </p:sp>
      <p:sp>
        <p:nvSpPr>
          <p:cNvPr id="18" name="Shape 16"/>
          <p:cNvSpPr/>
          <p:nvPr/>
        </p:nvSpPr>
        <p:spPr>
          <a:xfrm>
            <a:off x="5806440" y="2249424"/>
            <a:ext cx="100584" cy="100584"/>
          </a:xfrm>
          <a:prstGeom prst="ellipse">
            <a:avLst/>
          </a:prstGeom>
          <a:solidFill>
            <a:srgbClr val="FF5F56"/>
          </a:solidFill>
          <a:ln/>
        </p:spPr>
      </p:sp>
      <p:sp>
        <p:nvSpPr>
          <p:cNvPr id="19" name="Shape 17"/>
          <p:cNvSpPr/>
          <p:nvPr/>
        </p:nvSpPr>
        <p:spPr>
          <a:xfrm>
            <a:off x="5961888" y="2249424"/>
            <a:ext cx="100584" cy="100584"/>
          </a:xfrm>
          <a:prstGeom prst="ellipse">
            <a:avLst/>
          </a:prstGeom>
          <a:solidFill>
            <a:srgbClr val="FFBD2E"/>
          </a:solidFill>
          <a:ln/>
        </p:spPr>
      </p:sp>
      <p:sp>
        <p:nvSpPr>
          <p:cNvPr id="20" name="Shape 18"/>
          <p:cNvSpPr/>
          <p:nvPr/>
        </p:nvSpPr>
        <p:spPr>
          <a:xfrm>
            <a:off x="6117336" y="2249424"/>
            <a:ext cx="100584" cy="100584"/>
          </a:xfrm>
          <a:prstGeom prst="ellipse">
            <a:avLst/>
          </a:prstGeom>
          <a:solidFill>
            <a:srgbClr val="27C93F"/>
          </a:solidFill>
          <a:ln/>
        </p:spPr>
      </p:sp>
      <p:sp>
        <p:nvSpPr>
          <p:cNvPr id="21" name="Text 19"/>
          <p:cNvSpPr/>
          <p:nvPr/>
        </p:nvSpPr>
        <p:spPr>
          <a:xfrm>
            <a:off x="6309360" y="2167128"/>
            <a:ext cx="5120640" cy="274320"/>
          </a:xfrm>
          <a:prstGeom prst="rect">
            <a:avLst/>
          </a:prstGeom>
          <a:noFill/>
          <a:ln/>
        </p:spPr>
        <p:txBody>
          <a:bodyPr wrap="square" rtlCol="0" anchor="ctr"/>
          <a:lstStyle/>
          <a:p>
            <a:pPr marL="0" indent="0" algn="r">
              <a:buNone/>
            </a:pPr>
            <a:r>
              <a:rPr lang="en-US" sz="1000" dirty="0">
                <a:solidFill>
                  <a:srgbClr val="8A90AC"/>
                </a:solidFill>
                <a:latin typeface="Courier New" pitchFamily="34" charset="0"/>
                <a:ea typeface="Courier New" pitchFamily="34" charset="-122"/>
                <a:cs typeface="Courier New" pitchFamily="34" charset="-120"/>
              </a:rPr>
              <a:t>Main.java</a:t>
            </a:r>
            <a:endParaRPr lang="en-US" sz="1000" dirty="0"/>
          </a:p>
        </p:txBody>
      </p:sp>
      <p:sp>
        <p:nvSpPr>
          <p:cNvPr id="22" name="Text 20"/>
          <p:cNvSpPr/>
          <p:nvPr/>
        </p:nvSpPr>
        <p:spPr>
          <a:xfrm>
            <a:off x="5897880" y="2487168"/>
            <a:ext cx="5577840" cy="1935480"/>
          </a:xfrm>
          <a:prstGeom prst="rect">
            <a:avLst/>
          </a:prstGeom>
          <a:noFill/>
          <a:ln/>
        </p:spPr>
        <p:txBody>
          <a:bodyPr wrap="square" lIns="0" tIns="0" rIns="0" bIns="0" rtlCol="0" anchor="t"/>
          <a:lstStyle/>
          <a:p>
            <a:pPr marL="0" indent="0">
              <a:lnSpc>
                <a:spcPct val="120000"/>
              </a:lnSpc>
              <a:buNone/>
            </a:pPr>
            <a:r>
              <a:rPr lang="en-US" sz="1200" dirty="0">
                <a:solidFill>
                  <a:srgbClr val="D4D4E0"/>
                </a:solidFill>
                <a:latin typeface="Courier New" pitchFamily="34" charset="0"/>
                <a:ea typeface="Courier New" pitchFamily="34" charset="-122"/>
                <a:cs typeface="Courier New" pitchFamily="34" charset="-120"/>
              </a:rPr>
              <a:t>abstract class Shape {</a:t>
            </a:r>
            <a:endParaRPr lang="en-US" sz="1200" dirty="0"/>
          </a:p>
          <a:p>
            <a:pPr marL="0" indent="0">
              <a:lnSpc>
                <a:spcPct val="120000"/>
              </a:lnSpc>
              <a:buNone/>
            </a:pPr>
            <a:r>
              <a:rPr lang="en-US" sz="1200" dirty="0">
                <a:solidFill>
                  <a:srgbClr val="D4D4E0"/>
                </a:solidFill>
                <a:latin typeface="Courier New" pitchFamily="34" charset="0"/>
                <a:ea typeface="Courier New" pitchFamily="34" charset="-122"/>
                <a:cs typeface="Courier New" pitchFamily="34" charset="-120"/>
              </a:rPr>
              <a:t>    abstract double area();</a:t>
            </a:r>
            <a:endParaRPr lang="en-US" sz="1200" dirty="0"/>
          </a:p>
          <a:p>
            <a:pPr marL="0" indent="0">
              <a:lnSpc>
                <a:spcPct val="120000"/>
              </a:lnSpc>
              <a:buNone/>
            </a:pPr>
            <a:r>
              <a:rPr lang="en-US" sz="1200" dirty="0">
                <a:solidFill>
                  <a:srgbClr val="D4D4E0"/>
                </a:solidFill>
                <a:latin typeface="Courier New" pitchFamily="34" charset="0"/>
                <a:ea typeface="Courier New" pitchFamily="34" charset="-122"/>
                <a:cs typeface="Courier New" pitchFamily="34" charset="-120"/>
              </a:rPr>
              <a:t>}</a:t>
            </a:r>
            <a:endParaRPr lang="en-US" sz="1200" dirty="0"/>
          </a:p>
          <a:p>
            <a:pPr marL="0" indent="0">
              <a:lnSpc>
                <a:spcPct val="120000"/>
              </a:lnSpc>
              <a:buNone/>
            </a:pPr>
            <a:endParaRPr lang="en-US" sz="1200" dirty="0"/>
          </a:p>
          <a:p>
            <a:pPr marL="0" indent="0">
              <a:lnSpc>
                <a:spcPct val="120000"/>
              </a:lnSpc>
              <a:buNone/>
            </a:pPr>
            <a:r>
              <a:rPr lang="en-US" sz="1200" dirty="0">
                <a:solidFill>
                  <a:srgbClr val="D4D4E0"/>
                </a:solidFill>
                <a:latin typeface="Courier New" pitchFamily="34" charset="0"/>
                <a:ea typeface="Courier New" pitchFamily="34" charset="-122"/>
                <a:cs typeface="Courier New" pitchFamily="34" charset="-120"/>
              </a:rPr>
              <a:t>class Circle extends Shape {</a:t>
            </a:r>
            <a:endParaRPr lang="en-US" sz="1200" dirty="0"/>
          </a:p>
          <a:p>
            <a:pPr marL="0" indent="0">
              <a:lnSpc>
                <a:spcPct val="120000"/>
              </a:lnSpc>
              <a:buNone/>
            </a:pPr>
            <a:r>
              <a:rPr lang="en-US" sz="1200" dirty="0">
                <a:solidFill>
                  <a:srgbClr val="D4D4E0"/>
                </a:solidFill>
                <a:latin typeface="Courier New" pitchFamily="34" charset="0"/>
                <a:ea typeface="Courier New" pitchFamily="34" charset="-122"/>
                <a:cs typeface="Courier New" pitchFamily="34" charset="-120"/>
              </a:rPr>
              <a:t>    double radius = 5;</a:t>
            </a:r>
            <a:endParaRPr lang="en-US" sz="1200" dirty="0"/>
          </a:p>
          <a:p>
            <a:pPr marL="0" indent="0">
              <a:lnSpc>
                <a:spcPct val="120000"/>
              </a:lnSpc>
              <a:buNone/>
            </a:pPr>
            <a:r>
              <a:rPr lang="en-US" sz="1200" dirty="0">
                <a:solidFill>
                  <a:srgbClr val="D4D4E0"/>
                </a:solidFill>
                <a:latin typeface="Courier New" pitchFamily="34" charset="0"/>
                <a:ea typeface="Courier New" pitchFamily="34" charset="-122"/>
                <a:cs typeface="Courier New" pitchFamily="34" charset="-120"/>
              </a:rPr>
              <a:t>    double area() { return Math.PI * radius * radius; }</a:t>
            </a:r>
            <a:endParaRPr lang="en-US" sz="1200" dirty="0"/>
          </a:p>
          <a:p>
            <a:pPr marL="0" indent="0">
              <a:lnSpc>
                <a:spcPct val="120000"/>
              </a:lnSpc>
              <a:buNone/>
            </a:pPr>
            <a:r>
              <a:rPr lang="en-US" sz="1200" dirty="0">
                <a:solidFill>
                  <a:srgbClr val="D4D4E0"/>
                </a:solidFill>
                <a:latin typeface="Courier New" pitchFamily="34" charset="0"/>
                <a:ea typeface="Courier New" pitchFamily="34" charset="-122"/>
                <a:cs typeface="Courier New" pitchFamily="34" charset="-120"/>
              </a:rPr>
              <a:t>}</a:t>
            </a:r>
            <a:endParaRPr lang="en-US" sz="1200" dirty="0"/>
          </a:p>
        </p:txBody>
      </p:sp>
      <p:sp>
        <p:nvSpPr>
          <p:cNvPr id="23" name="Shape 21"/>
          <p:cNvSpPr/>
          <p:nvPr/>
        </p:nvSpPr>
        <p:spPr>
          <a:xfrm>
            <a:off x="5669280" y="4678680"/>
            <a:ext cx="164592" cy="274320"/>
          </a:xfrm>
          <a:prstGeom prst="roundRect">
            <a:avLst>
              <a:gd name="adj" fmla="val 22222"/>
            </a:avLst>
          </a:prstGeom>
          <a:solidFill>
            <a:srgbClr val="3FBFAE"/>
          </a:solidFill>
          <a:ln/>
        </p:spPr>
      </p:sp>
      <p:sp>
        <p:nvSpPr>
          <p:cNvPr id="24" name="Text 22"/>
          <p:cNvSpPr/>
          <p:nvPr/>
        </p:nvSpPr>
        <p:spPr>
          <a:xfrm>
            <a:off x="5925312" y="4651248"/>
            <a:ext cx="5779008" cy="329184"/>
          </a:xfrm>
          <a:prstGeom prst="rect">
            <a:avLst/>
          </a:prstGeom>
          <a:noFill/>
          <a:ln/>
        </p:spPr>
        <p:txBody>
          <a:bodyPr wrap="square" rtlCol="0" anchor="ctr"/>
          <a:lstStyle/>
          <a:p>
            <a:pPr marL="0" indent="0">
              <a:buNone/>
            </a:pPr>
            <a:r>
              <a:rPr lang="en-US" sz="1300" b="1" kern="0" spc="50" dirty="0">
                <a:solidFill>
                  <a:srgbClr val="1B2340"/>
                </a:solidFill>
                <a:latin typeface="Calibri" pitchFamily="34" charset="0"/>
                <a:ea typeface="Calibri" pitchFamily="34" charset="-122"/>
                <a:cs typeface="Calibri" pitchFamily="34" charset="-120"/>
              </a:rPr>
              <a:t>EXPLANATION</a:t>
            </a:r>
            <a:endParaRPr lang="en-US" sz="1300" dirty="0"/>
          </a:p>
        </p:txBody>
      </p:sp>
      <p:sp>
        <p:nvSpPr>
          <p:cNvPr id="25" name="Text 23"/>
          <p:cNvSpPr/>
          <p:nvPr/>
        </p:nvSpPr>
        <p:spPr>
          <a:xfrm>
            <a:off x="5669280" y="5007864"/>
            <a:ext cx="6035040" cy="1392936"/>
          </a:xfrm>
          <a:prstGeom prst="rect">
            <a:avLst/>
          </a:prstGeom>
          <a:noFill/>
          <a:ln/>
        </p:spPr>
        <p:txBody>
          <a:bodyPr wrap="square" lIns="0" tIns="0" rIns="0" bIns="0" rtlCol="0" anchor="t"/>
          <a:lstStyle/>
          <a:p>
            <a:pPr marL="177800" indent="-177800">
              <a:spcAft>
                <a:spcPts val="600"/>
              </a:spcAft>
              <a:buSzPct val="100000"/>
              <a:buChar char="•"/>
            </a:pPr>
            <a:r>
              <a:rPr lang="en-US" sz="1200" dirty="0">
                <a:solidFill>
                  <a:srgbClr val="1B2340"/>
                </a:solidFill>
                <a:latin typeface="Calibri" pitchFamily="34" charset="0"/>
                <a:ea typeface="Calibri" pitchFamily="34" charset="-122"/>
                <a:cs typeface="Calibri" pitchFamily="34" charset="-120"/>
              </a:rPr>
              <a:t>An abstract class can have both abstract (no body) and concrete methods</a:t>
            </a:r>
            <a:endParaRPr lang="en-US" sz="1200" dirty="0"/>
          </a:p>
          <a:p>
            <a:pPr marL="177800" indent="-177800">
              <a:spcAft>
                <a:spcPts val="600"/>
              </a:spcAft>
              <a:buSzPct val="100000"/>
              <a:buChar char="•"/>
            </a:pPr>
            <a:r>
              <a:rPr lang="en-US" sz="1200" dirty="0">
                <a:solidFill>
                  <a:srgbClr val="1B2340"/>
                </a:solidFill>
                <a:latin typeface="Calibri" pitchFamily="34" charset="0"/>
                <a:ea typeface="Calibri" pitchFamily="34" charset="-122"/>
                <a:cs typeface="Calibri" pitchFamily="34" charset="-120"/>
              </a:rPr>
              <a:t>An interface (before Java 8) could only have abstract methods; now it can have default methods too</a:t>
            </a:r>
            <a:endParaRPr lang="en-US" sz="1200" dirty="0"/>
          </a:p>
          <a:p>
            <a:pPr marL="177800" indent="-177800">
              <a:spcAft>
                <a:spcPts val="600"/>
              </a:spcAft>
              <a:buSzPct val="100000"/>
              <a:buChar char="•"/>
            </a:pPr>
            <a:r>
              <a:rPr lang="en-US" sz="1200" dirty="0">
                <a:solidFill>
                  <a:srgbClr val="1B2340"/>
                </a:solidFill>
                <a:latin typeface="Calibri" pitchFamily="34" charset="0"/>
                <a:ea typeface="Calibri" pitchFamily="34" charset="-122"/>
                <a:cs typeface="Calibri" pitchFamily="34" charset="-120"/>
              </a:rPr>
              <a:t>A class can extend only one abstract class, but implement multiple interfaces</a:t>
            </a:r>
            <a:endParaRPr lang="en-US" sz="1200" dirty="0"/>
          </a:p>
          <a:p>
            <a:pPr marL="177800" indent="-177800">
              <a:spcAft>
                <a:spcPts val="600"/>
              </a:spcAft>
              <a:buSzPct val="100000"/>
              <a:buChar char="•"/>
            </a:pPr>
            <a:r>
              <a:rPr lang="en-US" sz="1200" dirty="0">
                <a:solidFill>
                  <a:srgbClr val="1B2340"/>
                </a:solidFill>
                <a:latin typeface="Calibri" pitchFamily="34" charset="0"/>
                <a:ea typeface="Calibri" pitchFamily="34" charset="-122"/>
                <a:cs typeface="Calibri" pitchFamily="34" charset="-120"/>
              </a:rPr>
              <a:t>Use abstract class for closely related objects sharing code; use interface for unrelated classes sharing a capability</a:t>
            </a:r>
            <a:endParaRPr lang="en-US" sz="1200" dirty="0"/>
          </a:p>
        </p:txBody>
      </p:sp>
      <p:sp>
        <p:nvSpPr>
          <p:cNvPr id="26" name="Text 24"/>
          <p:cNvSpPr/>
          <p:nvPr/>
        </p:nvSpPr>
        <p:spPr>
          <a:xfrm>
            <a:off x="457200" y="6583680"/>
            <a:ext cx="5486400" cy="228600"/>
          </a:xfrm>
          <a:prstGeom prst="rect">
            <a:avLst/>
          </a:prstGeom>
          <a:noFill/>
          <a:ln/>
        </p:spPr>
        <p:txBody>
          <a:bodyPr wrap="square" rtlCol="0" anchor="ctr"/>
          <a:lstStyle/>
          <a:p>
            <a:pPr marL="0" indent="0" algn="l">
              <a:buNone/>
            </a:pPr>
            <a:r>
              <a:rPr lang="en-US" sz="850" dirty="0">
                <a:solidFill>
                  <a:srgbClr val="5B6178"/>
                </a:solidFill>
                <a:latin typeface="Calibri" pitchFamily="34" charset="0"/>
                <a:ea typeface="Calibri" pitchFamily="34" charset="-122"/>
                <a:cs typeface="Calibri" pitchFamily="34" charset="-120"/>
              </a:rPr>
              <a:t>Java &amp; Full-Stack Interview Prep</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502920" y="384048"/>
            <a:ext cx="3474720" cy="310896"/>
          </a:xfrm>
          <a:prstGeom prst="roundRect">
            <a:avLst>
              <a:gd name="adj" fmla="val 23529"/>
            </a:avLst>
          </a:prstGeom>
          <a:solidFill>
            <a:srgbClr val="E8A33D"/>
          </a:solidFill>
          <a:ln/>
        </p:spPr>
      </p:sp>
      <p:sp>
        <p:nvSpPr>
          <p:cNvPr id="3" name="Text 1"/>
          <p:cNvSpPr/>
          <p:nvPr/>
        </p:nvSpPr>
        <p:spPr>
          <a:xfrm>
            <a:off x="502920" y="384048"/>
            <a:ext cx="3474720" cy="310896"/>
          </a:xfrm>
          <a:prstGeom prst="rect">
            <a:avLst/>
          </a:prstGeom>
          <a:noFill/>
          <a:ln/>
        </p:spPr>
        <p:txBody>
          <a:bodyPr wrap="square" rtlCol="0" anchor="ctr"/>
          <a:lstStyle/>
          <a:p>
            <a:pPr marL="0" indent="0" algn="ctr">
              <a:buNone/>
            </a:pPr>
            <a:r>
              <a:rPr lang="en-US" sz="1100" b="1" kern="0" spc="100" dirty="0">
                <a:solidFill>
                  <a:srgbClr val="1B2340"/>
                </a:solidFill>
                <a:latin typeface="Calibri" pitchFamily="34" charset="0"/>
                <a:ea typeface="Calibri" pitchFamily="34" charset="-122"/>
                <a:cs typeface="Calibri" pitchFamily="34" charset="-120"/>
              </a:rPr>
              <a:t>CORE JAVA &amp; OOP</a:t>
            </a:r>
            <a:endParaRPr lang="en-US" sz="1100" dirty="0"/>
          </a:p>
        </p:txBody>
      </p:sp>
      <p:sp>
        <p:nvSpPr>
          <p:cNvPr id="4" name="Text 2"/>
          <p:cNvSpPr/>
          <p:nvPr/>
        </p:nvSpPr>
        <p:spPr>
          <a:xfrm>
            <a:off x="502920" y="786384"/>
            <a:ext cx="11155680" cy="868680"/>
          </a:xfrm>
          <a:prstGeom prst="rect">
            <a:avLst/>
          </a:prstGeom>
          <a:noFill/>
          <a:ln/>
        </p:spPr>
        <p:txBody>
          <a:bodyPr wrap="square" rtlCol="0" anchor="t"/>
          <a:lstStyle/>
          <a:p>
            <a:pPr marL="0" indent="0">
              <a:lnSpc>
                <a:spcPct val="102000"/>
              </a:lnSpc>
              <a:buNone/>
            </a:pPr>
            <a:r>
              <a:rPr lang="en-US" sz="2500" b="1" dirty="0">
                <a:solidFill>
                  <a:srgbClr val="1B2340"/>
                </a:solidFill>
                <a:latin typeface="Century Schoolbook" pitchFamily="34" charset="0"/>
                <a:ea typeface="Century Schoolbook" pitchFamily="34" charset="-122"/>
                <a:cs typeface="Century Schoolbook" pitchFamily="34" charset="-120"/>
              </a:rPr>
              <a:t>Difference between Method Overloading and Overriding.</a:t>
            </a:r>
            <a:endParaRPr lang="en-US" sz="2500" dirty="0"/>
          </a:p>
        </p:txBody>
      </p:sp>
      <p:sp>
        <p:nvSpPr>
          <p:cNvPr id="5" name="Shape 3"/>
          <p:cNvSpPr/>
          <p:nvPr/>
        </p:nvSpPr>
        <p:spPr>
          <a:xfrm>
            <a:off x="502920" y="1810512"/>
            <a:ext cx="164592" cy="274320"/>
          </a:xfrm>
          <a:prstGeom prst="roundRect">
            <a:avLst>
              <a:gd name="adj" fmla="val 22222"/>
            </a:avLst>
          </a:prstGeom>
          <a:solidFill>
            <a:srgbClr val="E8A33D"/>
          </a:solidFill>
          <a:ln/>
        </p:spPr>
      </p:sp>
      <p:sp>
        <p:nvSpPr>
          <p:cNvPr id="6" name="Text 4"/>
          <p:cNvSpPr/>
          <p:nvPr/>
        </p:nvSpPr>
        <p:spPr>
          <a:xfrm>
            <a:off x="758952" y="1783080"/>
            <a:ext cx="4681728" cy="329184"/>
          </a:xfrm>
          <a:prstGeom prst="rect">
            <a:avLst/>
          </a:prstGeom>
          <a:noFill/>
          <a:ln/>
        </p:spPr>
        <p:txBody>
          <a:bodyPr wrap="square" rtlCol="0" anchor="ctr"/>
          <a:lstStyle/>
          <a:p>
            <a:pPr marL="0" indent="0">
              <a:buNone/>
            </a:pPr>
            <a:r>
              <a:rPr lang="en-US" sz="1300" b="1" kern="0" spc="50" dirty="0">
                <a:solidFill>
                  <a:srgbClr val="1B2340"/>
                </a:solidFill>
                <a:latin typeface="Calibri" pitchFamily="34" charset="0"/>
                <a:ea typeface="Calibri" pitchFamily="34" charset="-122"/>
                <a:cs typeface="Calibri" pitchFamily="34" charset="-120"/>
              </a:rPr>
              <a:t>DEFINITION / CONCEPT</a:t>
            </a:r>
            <a:endParaRPr lang="en-US" sz="1300" dirty="0"/>
          </a:p>
        </p:txBody>
      </p:sp>
      <p:sp>
        <p:nvSpPr>
          <p:cNvPr id="7" name="Shape 5"/>
          <p:cNvSpPr/>
          <p:nvPr/>
        </p:nvSpPr>
        <p:spPr>
          <a:xfrm>
            <a:off x="502920" y="2121408"/>
            <a:ext cx="4937760" cy="1234440"/>
          </a:xfrm>
          <a:prstGeom prst="roundRect">
            <a:avLst>
              <a:gd name="adj" fmla="val 5926"/>
            </a:avLst>
          </a:prstGeom>
          <a:solidFill>
            <a:srgbClr val="F7F7FA"/>
          </a:solidFill>
          <a:ln w="12700">
            <a:solidFill>
              <a:srgbClr val="E4E6EF"/>
            </a:solidFill>
            <a:prstDash val="solid"/>
          </a:ln>
        </p:spPr>
      </p:sp>
      <p:sp>
        <p:nvSpPr>
          <p:cNvPr id="8" name="Text 6"/>
          <p:cNvSpPr/>
          <p:nvPr/>
        </p:nvSpPr>
        <p:spPr>
          <a:xfrm>
            <a:off x="758952" y="2304288"/>
            <a:ext cx="4425696" cy="868680"/>
          </a:xfrm>
          <a:prstGeom prst="rect">
            <a:avLst/>
          </a:prstGeom>
          <a:noFill/>
          <a:ln/>
        </p:spPr>
        <p:txBody>
          <a:bodyPr wrap="square" lIns="0" tIns="0" rIns="0" bIns="0" rtlCol="0" anchor="t"/>
          <a:lstStyle/>
          <a:p>
            <a:pPr marL="0" indent="0">
              <a:lnSpc>
                <a:spcPct val="115000"/>
              </a:lnSpc>
              <a:buNone/>
            </a:pPr>
            <a:r>
              <a:rPr lang="en-US" sz="1450" dirty="0">
                <a:solidFill>
                  <a:srgbClr val="1B2340"/>
                </a:solidFill>
                <a:latin typeface="Calibri" pitchFamily="34" charset="0"/>
                <a:ea typeface="Calibri" pitchFamily="34" charset="-122"/>
                <a:cs typeface="Calibri" pitchFamily="34" charset="-120"/>
              </a:rPr>
              <a:t>Overloading means writing multiple methods with the same name but different parameters in the same class. Overriding means a subclass provides its own version of a method already defined in its parent class.</a:t>
            </a:r>
            <a:endParaRPr lang="en-US" sz="1450" dirty="0"/>
          </a:p>
        </p:txBody>
      </p:sp>
      <p:sp>
        <p:nvSpPr>
          <p:cNvPr id="9" name="Shape 7"/>
          <p:cNvSpPr/>
          <p:nvPr/>
        </p:nvSpPr>
        <p:spPr>
          <a:xfrm>
            <a:off x="502920" y="3493008"/>
            <a:ext cx="4937760" cy="1554480"/>
          </a:xfrm>
          <a:prstGeom prst="roundRect">
            <a:avLst>
              <a:gd name="adj" fmla="val 4706"/>
            </a:avLst>
          </a:prstGeom>
          <a:solidFill>
            <a:srgbClr val="FDF3E3"/>
          </a:solidFill>
          <a:ln/>
        </p:spPr>
      </p:sp>
      <p:sp>
        <p:nvSpPr>
          <p:cNvPr id="10" name="Text 8"/>
          <p:cNvSpPr/>
          <p:nvPr/>
        </p:nvSpPr>
        <p:spPr>
          <a:xfrm>
            <a:off x="704088" y="3602736"/>
            <a:ext cx="4535424" cy="274320"/>
          </a:xfrm>
          <a:prstGeom prst="rect">
            <a:avLst/>
          </a:prstGeom>
          <a:noFill/>
          <a:ln/>
        </p:spPr>
        <p:txBody>
          <a:bodyPr wrap="square" rtlCol="0" anchor="ctr"/>
          <a:lstStyle/>
          <a:p>
            <a:pPr marL="0" indent="0">
              <a:buNone/>
            </a:pPr>
            <a:r>
              <a:rPr lang="en-US" sz="1100" b="1" kern="0" spc="50" dirty="0">
                <a:solidFill>
                  <a:srgbClr val="C9862A"/>
                </a:solidFill>
                <a:latin typeface="Calibri" pitchFamily="34" charset="0"/>
                <a:ea typeface="Calibri" pitchFamily="34" charset="-122"/>
                <a:cs typeface="Calibri" pitchFamily="34" charset="-120"/>
              </a:rPr>
              <a:t>💡 REAL-LIFE ANALOGY</a:t>
            </a:r>
            <a:endParaRPr lang="en-US" sz="1100" dirty="0"/>
          </a:p>
        </p:txBody>
      </p:sp>
      <p:sp>
        <p:nvSpPr>
          <p:cNvPr id="11" name="Text 9"/>
          <p:cNvSpPr/>
          <p:nvPr/>
        </p:nvSpPr>
        <p:spPr>
          <a:xfrm>
            <a:off x="704088" y="3895344"/>
            <a:ext cx="4535424" cy="1024128"/>
          </a:xfrm>
          <a:prstGeom prst="rect">
            <a:avLst/>
          </a:prstGeom>
          <a:noFill/>
          <a:ln/>
        </p:spPr>
        <p:txBody>
          <a:bodyPr wrap="square" lIns="0" tIns="0" rIns="0" bIns="0" rtlCol="0" anchor="t"/>
          <a:lstStyle/>
          <a:p>
            <a:pPr marL="0" indent="0">
              <a:lnSpc>
                <a:spcPct val="110000"/>
              </a:lnSpc>
              <a:buNone/>
            </a:pPr>
            <a:r>
              <a:rPr lang="en-US" sz="1250" i="1" dirty="0">
                <a:solidFill>
                  <a:srgbClr val="1B2340"/>
                </a:solidFill>
                <a:latin typeface="Calibri" pitchFamily="34" charset="0"/>
                <a:ea typeface="Calibri" pitchFamily="34" charset="-122"/>
                <a:cs typeface="Calibri" pitchFamily="34" charset="-120"/>
              </a:rPr>
              <a:t>Overloading is like a shop offering the 'same service' in different sizes (small, medium, large coffee). Overriding is like a franchise outlet customizing the parent company's standard recipe for local taste.</a:t>
            </a:r>
            <a:endParaRPr lang="en-US" sz="1250" dirty="0"/>
          </a:p>
        </p:txBody>
      </p:sp>
      <p:sp>
        <p:nvSpPr>
          <p:cNvPr id="12" name="Shape 10"/>
          <p:cNvSpPr/>
          <p:nvPr/>
        </p:nvSpPr>
        <p:spPr>
          <a:xfrm>
            <a:off x="502920" y="5193792"/>
            <a:ext cx="4937760" cy="1051560"/>
          </a:xfrm>
          <a:prstGeom prst="roundRect">
            <a:avLst>
              <a:gd name="adj" fmla="val 6957"/>
            </a:avLst>
          </a:prstGeom>
          <a:solidFill>
            <a:srgbClr val="1B2340"/>
          </a:solidFill>
          <a:ln/>
        </p:spPr>
      </p:sp>
      <p:sp>
        <p:nvSpPr>
          <p:cNvPr id="13" name="Text 11"/>
          <p:cNvSpPr/>
          <p:nvPr/>
        </p:nvSpPr>
        <p:spPr>
          <a:xfrm>
            <a:off x="731520" y="5285232"/>
            <a:ext cx="4480560" cy="256032"/>
          </a:xfrm>
          <a:prstGeom prst="rect">
            <a:avLst/>
          </a:prstGeom>
          <a:noFill/>
          <a:ln/>
        </p:spPr>
        <p:txBody>
          <a:bodyPr wrap="square" rtlCol="0" anchor="ctr"/>
          <a:lstStyle/>
          <a:p>
            <a:pPr marL="0" indent="0">
              <a:buNone/>
            </a:pPr>
            <a:r>
              <a:rPr lang="en-US" sz="1050" b="1" kern="0" spc="80" dirty="0">
                <a:solidFill>
                  <a:srgbClr val="E8A33D"/>
                </a:solidFill>
                <a:latin typeface="Calibri" pitchFamily="34" charset="0"/>
                <a:ea typeface="Calibri" pitchFamily="34" charset="-122"/>
                <a:cs typeface="Calibri" pitchFamily="34" charset="-120"/>
              </a:rPr>
              <a:t>ONE-LINE INTERVIEW ANSWER</a:t>
            </a:r>
            <a:endParaRPr lang="en-US" sz="1050" dirty="0"/>
          </a:p>
        </p:txBody>
      </p:sp>
      <p:sp>
        <p:nvSpPr>
          <p:cNvPr id="14" name="Text 12"/>
          <p:cNvSpPr/>
          <p:nvPr/>
        </p:nvSpPr>
        <p:spPr>
          <a:xfrm>
            <a:off x="731520" y="5541264"/>
            <a:ext cx="4480560" cy="594360"/>
          </a:xfrm>
          <a:prstGeom prst="rect">
            <a:avLst/>
          </a:prstGeom>
          <a:noFill/>
          <a:ln/>
        </p:spPr>
        <p:txBody>
          <a:bodyPr wrap="square" lIns="0" tIns="0" rIns="0" bIns="0" rtlCol="0" anchor="t"/>
          <a:lstStyle/>
          <a:p>
            <a:pPr marL="0" indent="0">
              <a:lnSpc>
                <a:spcPct val="105000"/>
              </a:lnSpc>
              <a:buNone/>
            </a:pPr>
            <a:r>
              <a:rPr lang="en-US" sz="1250" dirty="0">
                <a:solidFill>
                  <a:srgbClr val="FFFFFF"/>
                </a:solidFill>
                <a:latin typeface="Calibri" pitchFamily="34" charset="0"/>
                <a:ea typeface="Calibri" pitchFamily="34" charset="-122"/>
                <a:cs typeface="Calibri" pitchFamily="34" charset="-120"/>
              </a:rPr>
              <a:t>Overloading is same method name with different parameters in one class; overriding is redefining a parent's method in a child class.</a:t>
            </a:r>
            <a:endParaRPr lang="en-US" sz="1250" dirty="0"/>
          </a:p>
        </p:txBody>
      </p:sp>
      <p:sp>
        <p:nvSpPr>
          <p:cNvPr id="15" name="Shape 13"/>
          <p:cNvSpPr/>
          <p:nvPr/>
        </p:nvSpPr>
        <p:spPr>
          <a:xfrm>
            <a:off x="5669280" y="1810512"/>
            <a:ext cx="164592" cy="274320"/>
          </a:xfrm>
          <a:prstGeom prst="roundRect">
            <a:avLst>
              <a:gd name="adj" fmla="val 22222"/>
            </a:avLst>
          </a:prstGeom>
          <a:solidFill>
            <a:srgbClr val="3FBFAE"/>
          </a:solidFill>
          <a:ln/>
        </p:spPr>
      </p:sp>
      <p:sp>
        <p:nvSpPr>
          <p:cNvPr id="16" name="Text 14"/>
          <p:cNvSpPr/>
          <p:nvPr/>
        </p:nvSpPr>
        <p:spPr>
          <a:xfrm>
            <a:off x="5925312" y="1783080"/>
            <a:ext cx="5779008" cy="329184"/>
          </a:xfrm>
          <a:prstGeom prst="rect">
            <a:avLst/>
          </a:prstGeom>
          <a:noFill/>
          <a:ln/>
        </p:spPr>
        <p:txBody>
          <a:bodyPr wrap="square" rtlCol="0" anchor="ctr"/>
          <a:lstStyle/>
          <a:p>
            <a:pPr marL="0" indent="0">
              <a:buNone/>
            </a:pPr>
            <a:r>
              <a:rPr lang="en-US" sz="1300" b="1" kern="0" spc="50" dirty="0">
                <a:solidFill>
                  <a:srgbClr val="1B2340"/>
                </a:solidFill>
                <a:latin typeface="Calibri" pitchFamily="34" charset="0"/>
                <a:ea typeface="Calibri" pitchFamily="34" charset="-122"/>
                <a:cs typeface="Calibri" pitchFamily="34" charset="-120"/>
              </a:rPr>
              <a:t>EXAMPLE</a:t>
            </a:r>
            <a:endParaRPr lang="en-US" sz="1300" dirty="0"/>
          </a:p>
        </p:txBody>
      </p:sp>
      <p:sp>
        <p:nvSpPr>
          <p:cNvPr id="17" name="Shape 15"/>
          <p:cNvSpPr/>
          <p:nvPr/>
        </p:nvSpPr>
        <p:spPr>
          <a:xfrm>
            <a:off x="5669280" y="2121408"/>
            <a:ext cx="6035040" cy="2668270"/>
          </a:xfrm>
          <a:prstGeom prst="roundRect">
            <a:avLst>
              <a:gd name="adj" fmla="val 2742"/>
            </a:avLst>
          </a:prstGeom>
          <a:solidFill>
            <a:srgbClr val="1E1E2E"/>
          </a:solidFill>
          <a:ln/>
        </p:spPr>
      </p:sp>
      <p:sp>
        <p:nvSpPr>
          <p:cNvPr id="18" name="Shape 16"/>
          <p:cNvSpPr/>
          <p:nvPr/>
        </p:nvSpPr>
        <p:spPr>
          <a:xfrm>
            <a:off x="5806440" y="2249424"/>
            <a:ext cx="100584" cy="100584"/>
          </a:xfrm>
          <a:prstGeom prst="ellipse">
            <a:avLst/>
          </a:prstGeom>
          <a:solidFill>
            <a:srgbClr val="FF5F56"/>
          </a:solidFill>
          <a:ln/>
        </p:spPr>
      </p:sp>
      <p:sp>
        <p:nvSpPr>
          <p:cNvPr id="19" name="Shape 17"/>
          <p:cNvSpPr/>
          <p:nvPr/>
        </p:nvSpPr>
        <p:spPr>
          <a:xfrm>
            <a:off x="5961888" y="2249424"/>
            <a:ext cx="100584" cy="100584"/>
          </a:xfrm>
          <a:prstGeom prst="ellipse">
            <a:avLst/>
          </a:prstGeom>
          <a:solidFill>
            <a:srgbClr val="FFBD2E"/>
          </a:solidFill>
          <a:ln/>
        </p:spPr>
      </p:sp>
      <p:sp>
        <p:nvSpPr>
          <p:cNvPr id="20" name="Shape 18"/>
          <p:cNvSpPr/>
          <p:nvPr/>
        </p:nvSpPr>
        <p:spPr>
          <a:xfrm>
            <a:off x="6117336" y="2249424"/>
            <a:ext cx="100584" cy="100584"/>
          </a:xfrm>
          <a:prstGeom prst="ellipse">
            <a:avLst/>
          </a:prstGeom>
          <a:solidFill>
            <a:srgbClr val="27C93F"/>
          </a:solidFill>
          <a:ln/>
        </p:spPr>
      </p:sp>
      <p:sp>
        <p:nvSpPr>
          <p:cNvPr id="21" name="Text 19"/>
          <p:cNvSpPr/>
          <p:nvPr/>
        </p:nvSpPr>
        <p:spPr>
          <a:xfrm>
            <a:off x="6309360" y="2167128"/>
            <a:ext cx="5120640" cy="274320"/>
          </a:xfrm>
          <a:prstGeom prst="rect">
            <a:avLst/>
          </a:prstGeom>
          <a:noFill/>
          <a:ln/>
        </p:spPr>
        <p:txBody>
          <a:bodyPr wrap="square" rtlCol="0" anchor="ctr"/>
          <a:lstStyle/>
          <a:p>
            <a:pPr marL="0" indent="0" algn="r">
              <a:buNone/>
            </a:pPr>
            <a:r>
              <a:rPr lang="en-US" sz="1000" dirty="0">
                <a:solidFill>
                  <a:srgbClr val="8A90AC"/>
                </a:solidFill>
                <a:latin typeface="Courier New" pitchFamily="34" charset="0"/>
                <a:ea typeface="Courier New" pitchFamily="34" charset="-122"/>
                <a:cs typeface="Courier New" pitchFamily="34" charset="-120"/>
              </a:rPr>
              <a:t>Main.java</a:t>
            </a:r>
            <a:endParaRPr lang="en-US" sz="1000" dirty="0"/>
          </a:p>
        </p:txBody>
      </p:sp>
      <p:sp>
        <p:nvSpPr>
          <p:cNvPr id="22" name="Text 20"/>
          <p:cNvSpPr/>
          <p:nvPr/>
        </p:nvSpPr>
        <p:spPr>
          <a:xfrm>
            <a:off x="5897880" y="2487168"/>
            <a:ext cx="5577840" cy="2211070"/>
          </a:xfrm>
          <a:prstGeom prst="rect">
            <a:avLst/>
          </a:prstGeom>
          <a:noFill/>
          <a:ln/>
        </p:spPr>
        <p:txBody>
          <a:bodyPr wrap="square" lIns="0" tIns="0" rIns="0" bIns="0" rtlCol="0" anchor="t"/>
          <a:lstStyle/>
          <a:p>
            <a:pPr marL="0" indent="0">
              <a:lnSpc>
                <a:spcPct val="120000"/>
              </a:lnSpc>
              <a:buNone/>
            </a:pPr>
            <a:r>
              <a:rPr lang="en-US" sz="1000" dirty="0">
                <a:solidFill>
                  <a:srgbClr val="D4D4E0"/>
                </a:solidFill>
                <a:latin typeface="Courier New" pitchFamily="34" charset="0"/>
                <a:ea typeface="Courier New" pitchFamily="34" charset="-122"/>
                <a:cs typeface="Courier New" pitchFamily="34" charset="-120"/>
              </a:rPr>
              <a:t>// Overloading</a:t>
            </a:r>
            <a:endParaRPr lang="en-US" sz="1000" dirty="0"/>
          </a:p>
          <a:p>
            <a:pPr marL="0" indent="0">
              <a:lnSpc>
                <a:spcPct val="120000"/>
              </a:lnSpc>
              <a:buNone/>
            </a:pPr>
            <a:r>
              <a:rPr lang="en-US" sz="1000" dirty="0">
                <a:solidFill>
                  <a:srgbClr val="D4D4E0"/>
                </a:solidFill>
                <a:latin typeface="Courier New" pitchFamily="34" charset="0"/>
                <a:ea typeface="Courier New" pitchFamily="34" charset="-122"/>
                <a:cs typeface="Courier New" pitchFamily="34" charset="-120"/>
              </a:rPr>
              <a:t>void print(int a) {}</a:t>
            </a:r>
            <a:endParaRPr lang="en-US" sz="1000" dirty="0"/>
          </a:p>
          <a:p>
            <a:pPr marL="0" indent="0">
              <a:lnSpc>
                <a:spcPct val="120000"/>
              </a:lnSpc>
              <a:buNone/>
            </a:pPr>
            <a:r>
              <a:rPr lang="en-US" sz="1000" dirty="0">
                <a:solidFill>
                  <a:srgbClr val="D4D4E0"/>
                </a:solidFill>
                <a:latin typeface="Courier New" pitchFamily="34" charset="0"/>
                <a:ea typeface="Courier New" pitchFamily="34" charset="-122"/>
                <a:cs typeface="Courier New" pitchFamily="34" charset="-120"/>
              </a:rPr>
              <a:t>void print(String a) {}</a:t>
            </a:r>
            <a:endParaRPr lang="en-US" sz="1000" dirty="0"/>
          </a:p>
          <a:p>
            <a:pPr marL="0" indent="0">
              <a:lnSpc>
                <a:spcPct val="120000"/>
              </a:lnSpc>
              <a:buNone/>
            </a:pPr>
            <a:r>
              <a:rPr lang="en-US" sz="1000" dirty="0">
                <a:solidFill>
                  <a:srgbClr val="D4D4E0"/>
                </a:solidFill>
                <a:latin typeface="Courier New" pitchFamily="34" charset="0"/>
                <a:ea typeface="Courier New" pitchFamily="34" charset="-122"/>
                <a:cs typeface="Courier New" pitchFamily="34" charset="-120"/>
              </a:rPr>
              <a:t>// Overriding</a:t>
            </a:r>
            <a:endParaRPr lang="en-US" sz="1000" dirty="0"/>
          </a:p>
          <a:p>
            <a:pPr marL="0" indent="0">
              <a:lnSpc>
                <a:spcPct val="120000"/>
              </a:lnSpc>
              <a:buNone/>
            </a:pPr>
            <a:r>
              <a:rPr lang="en-US" sz="1000" dirty="0">
                <a:solidFill>
                  <a:srgbClr val="D4D4E0"/>
                </a:solidFill>
                <a:latin typeface="Courier New" pitchFamily="34" charset="0"/>
                <a:ea typeface="Courier New" pitchFamily="34" charset="-122"/>
                <a:cs typeface="Courier New" pitchFamily="34" charset="-120"/>
              </a:rPr>
              <a:t>class Parent {</a:t>
            </a:r>
            <a:endParaRPr lang="en-US" sz="1000" dirty="0"/>
          </a:p>
          <a:p>
            <a:pPr marL="0" indent="0">
              <a:lnSpc>
                <a:spcPct val="120000"/>
              </a:lnSpc>
              <a:buNone/>
            </a:pPr>
            <a:r>
              <a:rPr lang="en-US" sz="1000" dirty="0">
                <a:solidFill>
                  <a:srgbClr val="D4D4E0"/>
                </a:solidFill>
                <a:latin typeface="Courier New" pitchFamily="34" charset="0"/>
                <a:ea typeface="Courier New" pitchFamily="34" charset="-122"/>
                <a:cs typeface="Courier New" pitchFamily="34" charset="-120"/>
              </a:rPr>
              <a:t>    void greet() { System.out.println("Hi"); }</a:t>
            </a:r>
            <a:endParaRPr lang="en-US" sz="1000" dirty="0"/>
          </a:p>
          <a:p>
            <a:pPr marL="0" indent="0">
              <a:lnSpc>
                <a:spcPct val="120000"/>
              </a:lnSpc>
              <a:buNone/>
            </a:pPr>
            <a:r>
              <a:rPr lang="en-US" sz="1000" dirty="0">
                <a:solidFill>
                  <a:srgbClr val="D4D4E0"/>
                </a:solidFill>
                <a:latin typeface="Courier New" pitchFamily="34" charset="0"/>
                <a:ea typeface="Courier New" pitchFamily="34" charset="-122"/>
                <a:cs typeface="Courier New" pitchFamily="34" charset="-120"/>
              </a:rPr>
              <a:t>}</a:t>
            </a:r>
            <a:endParaRPr lang="en-US" sz="1000" dirty="0"/>
          </a:p>
          <a:p>
            <a:pPr marL="0" indent="0">
              <a:lnSpc>
                <a:spcPct val="120000"/>
              </a:lnSpc>
              <a:buNone/>
            </a:pPr>
            <a:r>
              <a:rPr lang="en-US" sz="1000" dirty="0">
                <a:solidFill>
                  <a:srgbClr val="D4D4E0"/>
                </a:solidFill>
                <a:latin typeface="Courier New" pitchFamily="34" charset="0"/>
                <a:ea typeface="Courier New" pitchFamily="34" charset="-122"/>
                <a:cs typeface="Courier New" pitchFamily="34" charset="-120"/>
              </a:rPr>
              <a:t>class Child extends Parent {</a:t>
            </a:r>
            <a:endParaRPr lang="en-US" sz="1000" dirty="0"/>
          </a:p>
          <a:p>
            <a:pPr marL="0" indent="0">
              <a:lnSpc>
                <a:spcPct val="120000"/>
              </a:lnSpc>
              <a:buNone/>
            </a:pPr>
            <a:r>
              <a:rPr lang="en-US" sz="1000" dirty="0">
                <a:solidFill>
                  <a:srgbClr val="D4D4E0"/>
                </a:solidFill>
                <a:latin typeface="Courier New" pitchFamily="34" charset="0"/>
                <a:ea typeface="Courier New" pitchFamily="34" charset="-122"/>
                <a:cs typeface="Courier New" pitchFamily="34" charset="-120"/>
              </a:rPr>
              <a:t>    @Override</a:t>
            </a:r>
            <a:endParaRPr lang="en-US" sz="1000" dirty="0"/>
          </a:p>
          <a:p>
            <a:pPr marL="0" indent="0">
              <a:lnSpc>
                <a:spcPct val="120000"/>
              </a:lnSpc>
              <a:buNone/>
            </a:pPr>
            <a:r>
              <a:rPr lang="en-US" sz="1000" dirty="0">
                <a:solidFill>
                  <a:srgbClr val="D4D4E0"/>
                </a:solidFill>
                <a:latin typeface="Courier New" pitchFamily="34" charset="0"/>
                <a:ea typeface="Courier New" pitchFamily="34" charset="-122"/>
                <a:cs typeface="Courier New" pitchFamily="34" charset="-120"/>
              </a:rPr>
              <a:t>    void greet() { System.out.println("Hello"); }</a:t>
            </a:r>
            <a:endParaRPr lang="en-US" sz="1000" dirty="0"/>
          </a:p>
          <a:p>
            <a:pPr marL="0" indent="0">
              <a:lnSpc>
                <a:spcPct val="120000"/>
              </a:lnSpc>
              <a:buNone/>
            </a:pPr>
            <a:r>
              <a:rPr lang="en-US" sz="1000" dirty="0">
                <a:solidFill>
                  <a:srgbClr val="D4D4E0"/>
                </a:solidFill>
                <a:latin typeface="Courier New" pitchFamily="34" charset="0"/>
                <a:ea typeface="Courier New" pitchFamily="34" charset="-122"/>
                <a:cs typeface="Courier New" pitchFamily="34" charset="-120"/>
              </a:rPr>
              <a:t>}</a:t>
            </a:r>
            <a:endParaRPr lang="en-US" sz="1000" dirty="0"/>
          </a:p>
        </p:txBody>
      </p:sp>
      <p:sp>
        <p:nvSpPr>
          <p:cNvPr id="23" name="Shape 21"/>
          <p:cNvSpPr/>
          <p:nvPr/>
        </p:nvSpPr>
        <p:spPr>
          <a:xfrm>
            <a:off x="5669280" y="4954270"/>
            <a:ext cx="164592" cy="274320"/>
          </a:xfrm>
          <a:prstGeom prst="roundRect">
            <a:avLst>
              <a:gd name="adj" fmla="val 22222"/>
            </a:avLst>
          </a:prstGeom>
          <a:solidFill>
            <a:srgbClr val="3FBFAE"/>
          </a:solidFill>
          <a:ln/>
        </p:spPr>
      </p:sp>
      <p:sp>
        <p:nvSpPr>
          <p:cNvPr id="24" name="Text 22"/>
          <p:cNvSpPr/>
          <p:nvPr/>
        </p:nvSpPr>
        <p:spPr>
          <a:xfrm>
            <a:off x="5925312" y="4926838"/>
            <a:ext cx="5779008" cy="329184"/>
          </a:xfrm>
          <a:prstGeom prst="rect">
            <a:avLst/>
          </a:prstGeom>
          <a:noFill/>
          <a:ln/>
        </p:spPr>
        <p:txBody>
          <a:bodyPr wrap="square" rtlCol="0" anchor="ctr"/>
          <a:lstStyle/>
          <a:p>
            <a:pPr marL="0" indent="0">
              <a:buNone/>
            </a:pPr>
            <a:r>
              <a:rPr lang="en-US" sz="1300" b="1" kern="0" spc="50" dirty="0">
                <a:solidFill>
                  <a:srgbClr val="1B2340"/>
                </a:solidFill>
                <a:latin typeface="Calibri" pitchFamily="34" charset="0"/>
                <a:ea typeface="Calibri" pitchFamily="34" charset="-122"/>
                <a:cs typeface="Calibri" pitchFamily="34" charset="-120"/>
              </a:rPr>
              <a:t>EXPLANATION</a:t>
            </a:r>
            <a:endParaRPr lang="en-US" sz="1300" dirty="0"/>
          </a:p>
        </p:txBody>
      </p:sp>
      <p:sp>
        <p:nvSpPr>
          <p:cNvPr id="25" name="Text 23"/>
          <p:cNvSpPr/>
          <p:nvPr/>
        </p:nvSpPr>
        <p:spPr>
          <a:xfrm>
            <a:off x="5669280" y="5283454"/>
            <a:ext cx="6035040" cy="1117346"/>
          </a:xfrm>
          <a:prstGeom prst="rect">
            <a:avLst/>
          </a:prstGeom>
          <a:noFill/>
          <a:ln/>
        </p:spPr>
        <p:txBody>
          <a:bodyPr wrap="square" lIns="0" tIns="0" rIns="0" bIns="0" rtlCol="0" anchor="t"/>
          <a:lstStyle/>
          <a:p>
            <a:pPr marL="177800" indent="-177800">
              <a:spcAft>
                <a:spcPts val="600"/>
              </a:spcAft>
              <a:buSzPct val="100000"/>
              <a:buChar char="•"/>
            </a:pPr>
            <a:r>
              <a:rPr lang="en-US" sz="1200" dirty="0">
                <a:solidFill>
                  <a:srgbClr val="1B2340"/>
                </a:solidFill>
                <a:latin typeface="Calibri" pitchFamily="34" charset="0"/>
                <a:ea typeface="Calibri" pitchFamily="34" charset="-122"/>
                <a:cs typeface="Calibri" pitchFamily="34" charset="-120"/>
              </a:rPr>
              <a:t>Overloading - same class, same name, different parameter type/number, resolved at compile time</a:t>
            </a:r>
            <a:endParaRPr lang="en-US" sz="1200" dirty="0"/>
          </a:p>
          <a:p>
            <a:pPr marL="177800" indent="-177800">
              <a:spcAft>
                <a:spcPts val="600"/>
              </a:spcAft>
              <a:buSzPct val="100000"/>
              <a:buChar char="•"/>
            </a:pPr>
            <a:r>
              <a:rPr lang="en-US" sz="1200" dirty="0">
                <a:solidFill>
                  <a:srgbClr val="1B2340"/>
                </a:solidFill>
                <a:latin typeface="Calibri" pitchFamily="34" charset="0"/>
                <a:ea typeface="Calibri" pitchFamily="34" charset="-122"/>
                <a:cs typeface="Calibri" pitchFamily="34" charset="-120"/>
              </a:rPr>
              <a:t>Overriding - parent-child classes, same method signature, resolved at runtime</a:t>
            </a:r>
            <a:endParaRPr lang="en-US" sz="1200" dirty="0"/>
          </a:p>
          <a:p>
            <a:pPr marL="177800" indent="-177800">
              <a:spcAft>
                <a:spcPts val="600"/>
              </a:spcAft>
              <a:buSzPct val="100000"/>
              <a:buChar char="•"/>
            </a:pPr>
            <a:r>
              <a:rPr lang="en-US" sz="1200" dirty="0">
                <a:solidFill>
                  <a:srgbClr val="1B2340"/>
                </a:solidFill>
                <a:latin typeface="Calibri" pitchFamily="34" charset="0"/>
                <a:ea typeface="Calibri" pitchFamily="34" charset="-122"/>
                <a:cs typeface="Calibri" pitchFamily="34" charset="-120"/>
              </a:rPr>
              <a:t>Overloading increases readability; overriding enables runtime polymorphism</a:t>
            </a:r>
            <a:endParaRPr lang="en-US" sz="1200" dirty="0"/>
          </a:p>
          <a:p>
            <a:pPr marL="177800" indent="-177800">
              <a:spcAft>
                <a:spcPts val="600"/>
              </a:spcAft>
              <a:buSzPct val="100000"/>
              <a:buChar char="•"/>
            </a:pPr>
            <a:r>
              <a:rPr lang="en-US" sz="1200" dirty="0">
                <a:solidFill>
                  <a:srgbClr val="1B2340"/>
                </a:solidFill>
                <a:latin typeface="Calibri" pitchFamily="34" charset="0"/>
                <a:ea typeface="Calibri" pitchFamily="34" charset="-122"/>
                <a:cs typeface="Calibri" pitchFamily="34" charset="-120"/>
              </a:rPr>
              <a:t>@Override annotation is commonly used to mark overriding methods</a:t>
            </a:r>
            <a:endParaRPr lang="en-US" sz="1200" dirty="0"/>
          </a:p>
        </p:txBody>
      </p:sp>
      <p:sp>
        <p:nvSpPr>
          <p:cNvPr id="26" name="Text 24"/>
          <p:cNvSpPr/>
          <p:nvPr/>
        </p:nvSpPr>
        <p:spPr>
          <a:xfrm>
            <a:off x="457200" y="6583680"/>
            <a:ext cx="5486400" cy="228600"/>
          </a:xfrm>
          <a:prstGeom prst="rect">
            <a:avLst/>
          </a:prstGeom>
          <a:noFill/>
          <a:ln/>
        </p:spPr>
        <p:txBody>
          <a:bodyPr wrap="square" rtlCol="0" anchor="ctr"/>
          <a:lstStyle/>
          <a:p>
            <a:pPr marL="0" indent="0" algn="l">
              <a:buNone/>
            </a:pPr>
            <a:r>
              <a:rPr lang="en-US" sz="850" dirty="0">
                <a:solidFill>
                  <a:srgbClr val="5B6178"/>
                </a:solidFill>
                <a:latin typeface="Calibri" pitchFamily="34" charset="0"/>
                <a:ea typeface="Calibri" pitchFamily="34" charset="-122"/>
                <a:cs typeface="Calibri" pitchFamily="34" charset="-120"/>
              </a:rPr>
              <a:t>Java &amp; Full-Stack Interview Prep</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502920" y="384048"/>
            <a:ext cx="3474720" cy="310896"/>
          </a:xfrm>
          <a:prstGeom prst="roundRect">
            <a:avLst>
              <a:gd name="adj" fmla="val 23529"/>
            </a:avLst>
          </a:prstGeom>
          <a:solidFill>
            <a:srgbClr val="E8A33D"/>
          </a:solidFill>
          <a:ln/>
        </p:spPr>
      </p:sp>
      <p:sp>
        <p:nvSpPr>
          <p:cNvPr id="3" name="Text 1"/>
          <p:cNvSpPr/>
          <p:nvPr/>
        </p:nvSpPr>
        <p:spPr>
          <a:xfrm>
            <a:off x="502920" y="384048"/>
            <a:ext cx="3474720" cy="310896"/>
          </a:xfrm>
          <a:prstGeom prst="rect">
            <a:avLst/>
          </a:prstGeom>
          <a:noFill/>
          <a:ln/>
        </p:spPr>
        <p:txBody>
          <a:bodyPr wrap="square" rtlCol="0" anchor="ctr"/>
          <a:lstStyle/>
          <a:p>
            <a:pPr marL="0" indent="0" algn="ctr">
              <a:buNone/>
            </a:pPr>
            <a:r>
              <a:rPr lang="en-US" sz="1100" b="1" kern="0" spc="100" dirty="0">
                <a:solidFill>
                  <a:srgbClr val="1B2340"/>
                </a:solidFill>
                <a:latin typeface="Calibri" pitchFamily="34" charset="0"/>
                <a:ea typeface="Calibri" pitchFamily="34" charset="-122"/>
                <a:cs typeface="Calibri" pitchFamily="34" charset="-120"/>
              </a:rPr>
              <a:t>CORE JAVA &amp; OOP</a:t>
            </a:r>
            <a:endParaRPr lang="en-US" sz="1100" dirty="0"/>
          </a:p>
        </p:txBody>
      </p:sp>
      <p:sp>
        <p:nvSpPr>
          <p:cNvPr id="4" name="Text 2"/>
          <p:cNvSpPr/>
          <p:nvPr/>
        </p:nvSpPr>
        <p:spPr>
          <a:xfrm>
            <a:off x="502920" y="786384"/>
            <a:ext cx="11155680" cy="868680"/>
          </a:xfrm>
          <a:prstGeom prst="rect">
            <a:avLst/>
          </a:prstGeom>
          <a:noFill/>
          <a:ln/>
        </p:spPr>
        <p:txBody>
          <a:bodyPr wrap="square" rtlCol="0" anchor="t"/>
          <a:lstStyle/>
          <a:p>
            <a:pPr marL="0" indent="0">
              <a:lnSpc>
                <a:spcPct val="102000"/>
              </a:lnSpc>
              <a:buNone/>
            </a:pPr>
            <a:r>
              <a:rPr lang="en-US" sz="2500" b="1" dirty="0">
                <a:solidFill>
                  <a:srgbClr val="1B2340"/>
                </a:solidFill>
                <a:latin typeface="Century Schoolbook" pitchFamily="34" charset="0"/>
                <a:ea typeface="Century Schoolbook" pitchFamily="34" charset="-122"/>
                <a:cs typeface="Century Schoolbook" pitchFamily="34" charset="-120"/>
              </a:rPr>
              <a:t>What is the 'this' keyword used for?</a:t>
            </a:r>
            <a:endParaRPr lang="en-US" sz="2500" dirty="0"/>
          </a:p>
        </p:txBody>
      </p:sp>
      <p:sp>
        <p:nvSpPr>
          <p:cNvPr id="5" name="Shape 3"/>
          <p:cNvSpPr/>
          <p:nvPr/>
        </p:nvSpPr>
        <p:spPr>
          <a:xfrm>
            <a:off x="502920" y="1810512"/>
            <a:ext cx="164592" cy="274320"/>
          </a:xfrm>
          <a:prstGeom prst="roundRect">
            <a:avLst>
              <a:gd name="adj" fmla="val 22222"/>
            </a:avLst>
          </a:prstGeom>
          <a:solidFill>
            <a:srgbClr val="E8A33D"/>
          </a:solidFill>
          <a:ln/>
        </p:spPr>
      </p:sp>
      <p:sp>
        <p:nvSpPr>
          <p:cNvPr id="6" name="Text 4"/>
          <p:cNvSpPr/>
          <p:nvPr/>
        </p:nvSpPr>
        <p:spPr>
          <a:xfrm>
            <a:off x="758952" y="1783080"/>
            <a:ext cx="4681728" cy="329184"/>
          </a:xfrm>
          <a:prstGeom prst="rect">
            <a:avLst/>
          </a:prstGeom>
          <a:noFill/>
          <a:ln/>
        </p:spPr>
        <p:txBody>
          <a:bodyPr wrap="square" rtlCol="0" anchor="ctr"/>
          <a:lstStyle/>
          <a:p>
            <a:pPr marL="0" indent="0">
              <a:buNone/>
            </a:pPr>
            <a:r>
              <a:rPr lang="en-US" sz="1300" b="1" kern="0" spc="50" dirty="0">
                <a:solidFill>
                  <a:srgbClr val="1B2340"/>
                </a:solidFill>
                <a:latin typeface="Calibri" pitchFamily="34" charset="0"/>
                <a:ea typeface="Calibri" pitchFamily="34" charset="-122"/>
                <a:cs typeface="Calibri" pitchFamily="34" charset="-120"/>
              </a:rPr>
              <a:t>DEFINITION / CONCEPT</a:t>
            </a:r>
            <a:endParaRPr lang="en-US" sz="1300" dirty="0"/>
          </a:p>
        </p:txBody>
      </p:sp>
      <p:sp>
        <p:nvSpPr>
          <p:cNvPr id="7" name="Shape 5"/>
          <p:cNvSpPr/>
          <p:nvPr/>
        </p:nvSpPr>
        <p:spPr>
          <a:xfrm>
            <a:off x="502920" y="2121408"/>
            <a:ext cx="4937760" cy="1234440"/>
          </a:xfrm>
          <a:prstGeom prst="roundRect">
            <a:avLst>
              <a:gd name="adj" fmla="val 5926"/>
            </a:avLst>
          </a:prstGeom>
          <a:solidFill>
            <a:srgbClr val="F7F7FA"/>
          </a:solidFill>
          <a:ln w="12700">
            <a:solidFill>
              <a:srgbClr val="E4E6EF"/>
            </a:solidFill>
            <a:prstDash val="solid"/>
          </a:ln>
        </p:spPr>
      </p:sp>
      <p:sp>
        <p:nvSpPr>
          <p:cNvPr id="8" name="Text 6"/>
          <p:cNvSpPr/>
          <p:nvPr/>
        </p:nvSpPr>
        <p:spPr>
          <a:xfrm>
            <a:off x="758952" y="2304288"/>
            <a:ext cx="4425696" cy="868680"/>
          </a:xfrm>
          <a:prstGeom prst="rect">
            <a:avLst/>
          </a:prstGeom>
          <a:noFill/>
          <a:ln/>
        </p:spPr>
        <p:txBody>
          <a:bodyPr wrap="square" lIns="0" tIns="0" rIns="0" bIns="0" rtlCol="0" anchor="t"/>
          <a:lstStyle/>
          <a:p>
            <a:pPr marL="0" indent="0">
              <a:lnSpc>
                <a:spcPct val="115000"/>
              </a:lnSpc>
              <a:buNone/>
            </a:pPr>
            <a:r>
              <a:rPr lang="en-US" sz="1450" dirty="0">
                <a:solidFill>
                  <a:srgbClr val="1B2340"/>
                </a:solidFill>
                <a:latin typeface="Calibri" pitchFamily="34" charset="0"/>
                <a:ea typeface="Calibri" pitchFamily="34" charset="-122"/>
                <a:cs typeface="Calibri" pitchFamily="34" charset="-120"/>
              </a:rPr>
              <a:t>'this' refers to the current object of the class. It is mainly used to remove confusion between instance variables and parameters with the same name.</a:t>
            </a:r>
            <a:endParaRPr lang="en-US" sz="1450" dirty="0"/>
          </a:p>
        </p:txBody>
      </p:sp>
      <p:sp>
        <p:nvSpPr>
          <p:cNvPr id="9" name="Shape 7"/>
          <p:cNvSpPr/>
          <p:nvPr/>
        </p:nvSpPr>
        <p:spPr>
          <a:xfrm>
            <a:off x="502920" y="3493008"/>
            <a:ext cx="4937760" cy="1554480"/>
          </a:xfrm>
          <a:prstGeom prst="roundRect">
            <a:avLst>
              <a:gd name="adj" fmla="val 4706"/>
            </a:avLst>
          </a:prstGeom>
          <a:solidFill>
            <a:srgbClr val="FDF3E3"/>
          </a:solidFill>
          <a:ln/>
        </p:spPr>
      </p:sp>
      <p:sp>
        <p:nvSpPr>
          <p:cNvPr id="10" name="Text 8"/>
          <p:cNvSpPr/>
          <p:nvPr/>
        </p:nvSpPr>
        <p:spPr>
          <a:xfrm>
            <a:off x="704088" y="3602736"/>
            <a:ext cx="4535424" cy="274320"/>
          </a:xfrm>
          <a:prstGeom prst="rect">
            <a:avLst/>
          </a:prstGeom>
          <a:noFill/>
          <a:ln/>
        </p:spPr>
        <p:txBody>
          <a:bodyPr wrap="square" rtlCol="0" anchor="ctr"/>
          <a:lstStyle/>
          <a:p>
            <a:pPr marL="0" indent="0">
              <a:buNone/>
            </a:pPr>
            <a:r>
              <a:rPr lang="en-US" sz="1100" b="1" kern="0" spc="50" dirty="0">
                <a:solidFill>
                  <a:srgbClr val="C9862A"/>
                </a:solidFill>
                <a:latin typeface="Calibri" pitchFamily="34" charset="0"/>
                <a:ea typeface="Calibri" pitchFamily="34" charset="-122"/>
                <a:cs typeface="Calibri" pitchFamily="34" charset="-120"/>
              </a:rPr>
              <a:t>💡 REAL-LIFE ANALOGY</a:t>
            </a:r>
            <a:endParaRPr lang="en-US" sz="1100" dirty="0"/>
          </a:p>
        </p:txBody>
      </p:sp>
      <p:sp>
        <p:nvSpPr>
          <p:cNvPr id="11" name="Text 9"/>
          <p:cNvSpPr/>
          <p:nvPr/>
        </p:nvSpPr>
        <p:spPr>
          <a:xfrm>
            <a:off x="704088" y="3895344"/>
            <a:ext cx="4535424" cy="1024128"/>
          </a:xfrm>
          <a:prstGeom prst="rect">
            <a:avLst/>
          </a:prstGeom>
          <a:noFill/>
          <a:ln/>
        </p:spPr>
        <p:txBody>
          <a:bodyPr wrap="square" lIns="0" tIns="0" rIns="0" bIns="0" rtlCol="0" anchor="t"/>
          <a:lstStyle/>
          <a:p>
            <a:pPr marL="0" indent="0">
              <a:lnSpc>
                <a:spcPct val="110000"/>
              </a:lnSpc>
              <a:buNone/>
            </a:pPr>
            <a:r>
              <a:rPr lang="en-US" sz="1250" i="1" dirty="0">
                <a:solidFill>
                  <a:srgbClr val="1B2340"/>
                </a:solidFill>
                <a:latin typeface="Calibri" pitchFamily="34" charset="0"/>
                <a:ea typeface="Calibri" pitchFamily="34" charset="-122"/>
                <a:cs typeface="Calibri" pitchFamily="34" charset="-120"/>
              </a:rPr>
              <a:t>Imagine two people named 'Sam' in a room - a teacher and a student. Saying 'this Sam' clarifies you mean yourself (the current object), not the other one.</a:t>
            </a:r>
            <a:endParaRPr lang="en-US" sz="1250" dirty="0"/>
          </a:p>
        </p:txBody>
      </p:sp>
      <p:sp>
        <p:nvSpPr>
          <p:cNvPr id="12" name="Shape 10"/>
          <p:cNvSpPr/>
          <p:nvPr/>
        </p:nvSpPr>
        <p:spPr>
          <a:xfrm>
            <a:off x="502920" y="5193792"/>
            <a:ext cx="4937760" cy="1051560"/>
          </a:xfrm>
          <a:prstGeom prst="roundRect">
            <a:avLst>
              <a:gd name="adj" fmla="val 6957"/>
            </a:avLst>
          </a:prstGeom>
          <a:solidFill>
            <a:srgbClr val="1B2340"/>
          </a:solidFill>
          <a:ln/>
        </p:spPr>
      </p:sp>
      <p:sp>
        <p:nvSpPr>
          <p:cNvPr id="13" name="Text 11"/>
          <p:cNvSpPr/>
          <p:nvPr/>
        </p:nvSpPr>
        <p:spPr>
          <a:xfrm>
            <a:off x="731520" y="5285232"/>
            <a:ext cx="4480560" cy="256032"/>
          </a:xfrm>
          <a:prstGeom prst="rect">
            <a:avLst/>
          </a:prstGeom>
          <a:noFill/>
          <a:ln/>
        </p:spPr>
        <p:txBody>
          <a:bodyPr wrap="square" rtlCol="0" anchor="ctr"/>
          <a:lstStyle/>
          <a:p>
            <a:pPr marL="0" indent="0">
              <a:buNone/>
            </a:pPr>
            <a:r>
              <a:rPr lang="en-US" sz="1050" b="1" kern="0" spc="80" dirty="0">
                <a:solidFill>
                  <a:srgbClr val="E8A33D"/>
                </a:solidFill>
                <a:latin typeface="Calibri" pitchFamily="34" charset="0"/>
                <a:ea typeface="Calibri" pitchFamily="34" charset="-122"/>
                <a:cs typeface="Calibri" pitchFamily="34" charset="-120"/>
              </a:rPr>
              <a:t>ONE-LINE INTERVIEW ANSWER</a:t>
            </a:r>
            <a:endParaRPr lang="en-US" sz="1050" dirty="0"/>
          </a:p>
        </p:txBody>
      </p:sp>
      <p:sp>
        <p:nvSpPr>
          <p:cNvPr id="14" name="Text 12"/>
          <p:cNvSpPr/>
          <p:nvPr/>
        </p:nvSpPr>
        <p:spPr>
          <a:xfrm>
            <a:off x="731520" y="5541264"/>
            <a:ext cx="4480560" cy="594360"/>
          </a:xfrm>
          <a:prstGeom prst="rect">
            <a:avLst/>
          </a:prstGeom>
          <a:noFill/>
          <a:ln/>
        </p:spPr>
        <p:txBody>
          <a:bodyPr wrap="square" lIns="0" tIns="0" rIns="0" bIns="0" rtlCol="0" anchor="t"/>
          <a:lstStyle/>
          <a:p>
            <a:pPr marL="0" indent="0">
              <a:lnSpc>
                <a:spcPct val="105000"/>
              </a:lnSpc>
              <a:buNone/>
            </a:pPr>
            <a:r>
              <a:rPr lang="en-US" sz="1250" dirty="0">
                <a:solidFill>
                  <a:srgbClr val="FFFFFF"/>
                </a:solidFill>
                <a:latin typeface="Calibri" pitchFamily="34" charset="0"/>
                <a:ea typeface="Calibri" pitchFamily="34" charset="-122"/>
                <a:cs typeface="Calibri" pitchFamily="34" charset="-120"/>
              </a:rPr>
              <a:t>'this' refers to the current object and is mainly used to differentiate instance variables from parameters of the same name.</a:t>
            </a:r>
            <a:endParaRPr lang="en-US" sz="1250" dirty="0"/>
          </a:p>
        </p:txBody>
      </p:sp>
      <p:sp>
        <p:nvSpPr>
          <p:cNvPr id="15" name="Shape 13"/>
          <p:cNvSpPr/>
          <p:nvPr/>
        </p:nvSpPr>
        <p:spPr>
          <a:xfrm>
            <a:off x="5669280" y="1810512"/>
            <a:ext cx="164592" cy="274320"/>
          </a:xfrm>
          <a:prstGeom prst="roundRect">
            <a:avLst>
              <a:gd name="adj" fmla="val 22222"/>
            </a:avLst>
          </a:prstGeom>
          <a:solidFill>
            <a:srgbClr val="3FBFAE"/>
          </a:solidFill>
          <a:ln/>
        </p:spPr>
      </p:sp>
      <p:sp>
        <p:nvSpPr>
          <p:cNvPr id="16" name="Text 14"/>
          <p:cNvSpPr/>
          <p:nvPr/>
        </p:nvSpPr>
        <p:spPr>
          <a:xfrm>
            <a:off x="5925312" y="1783080"/>
            <a:ext cx="5779008" cy="329184"/>
          </a:xfrm>
          <a:prstGeom prst="rect">
            <a:avLst/>
          </a:prstGeom>
          <a:noFill/>
          <a:ln/>
        </p:spPr>
        <p:txBody>
          <a:bodyPr wrap="square" rtlCol="0" anchor="ctr"/>
          <a:lstStyle/>
          <a:p>
            <a:pPr marL="0" indent="0">
              <a:buNone/>
            </a:pPr>
            <a:r>
              <a:rPr lang="en-US" sz="1300" b="1" kern="0" spc="50" dirty="0">
                <a:solidFill>
                  <a:srgbClr val="1B2340"/>
                </a:solidFill>
                <a:latin typeface="Calibri" pitchFamily="34" charset="0"/>
                <a:ea typeface="Calibri" pitchFamily="34" charset="-122"/>
                <a:cs typeface="Calibri" pitchFamily="34" charset="-120"/>
              </a:rPr>
              <a:t>EXAMPLE</a:t>
            </a:r>
            <a:endParaRPr lang="en-US" sz="1300" dirty="0"/>
          </a:p>
        </p:txBody>
      </p:sp>
      <p:sp>
        <p:nvSpPr>
          <p:cNvPr id="17" name="Shape 15"/>
          <p:cNvSpPr/>
          <p:nvPr/>
        </p:nvSpPr>
        <p:spPr>
          <a:xfrm>
            <a:off x="5669280" y="2121408"/>
            <a:ext cx="6035040" cy="1920240"/>
          </a:xfrm>
          <a:prstGeom prst="roundRect">
            <a:avLst>
              <a:gd name="adj" fmla="val 3810"/>
            </a:avLst>
          </a:prstGeom>
          <a:solidFill>
            <a:srgbClr val="1E1E2E"/>
          </a:solidFill>
          <a:ln/>
        </p:spPr>
      </p:sp>
      <p:sp>
        <p:nvSpPr>
          <p:cNvPr id="18" name="Shape 16"/>
          <p:cNvSpPr/>
          <p:nvPr/>
        </p:nvSpPr>
        <p:spPr>
          <a:xfrm>
            <a:off x="5806440" y="2249424"/>
            <a:ext cx="100584" cy="100584"/>
          </a:xfrm>
          <a:prstGeom prst="ellipse">
            <a:avLst/>
          </a:prstGeom>
          <a:solidFill>
            <a:srgbClr val="FF5F56"/>
          </a:solidFill>
          <a:ln/>
        </p:spPr>
      </p:sp>
      <p:sp>
        <p:nvSpPr>
          <p:cNvPr id="19" name="Shape 17"/>
          <p:cNvSpPr/>
          <p:nvPr/>
        </p:nvSpPr>
        <p:spPr>
          <a:xfrm>
            <a:off x="5961888" y="2249424"/>
            <a:ext cx="100584" cy="100584"/>
          </a:xfrm>
          <a:prstGeom prst="ellipse">
            <a:avLst/>
          </a:prstGeom>
          <a:solidFill>
            <a:srgbClr val="FFBD2E"/>
          </a:solidFill>
          <a:ln/>
        </p:spPr>
      </p:sp>
      <p:sp>
        <p:nvSpPr>
          <p:cNvPr id="20" name="Shape 18"/>
          <p:cNvSpPr/>
          <p:nvPr/>
        </p:nvSpPr>
        <p:spPr>
          <a:xfrm>
            <a:off x="6117336" y="2249424"/>
            <a:ext cx="100584" cy="100584"/>
          </a:xfrm>
          <a:prstGeom prst="ellipse">
            <a:avLst/>
          </a:prstGeom>
          <a:solidFill>
            <a:srgbClr val="27C93F"/>
          </a:solidFill>
          <a:ln/>
        </p:spPr>
      </p:sp>
      <p:sp>
        <p:nvSpPr>
          <p:cNvPr id="21" name="Text 19"/>
          <p:cNvSpPr/>
          <p:nvPr/>
        </p:nvSpPr>
        <p:spPr>
          <a:xfrm>
            <a:off x="6309360" y="2167128"/>
            <a:ext cx="5120640" cy="274320"/>
          </a:xfrm>
          <a:prstGeom prst="rect">
            <a:avLst/>
          </a:prstGeom>
          <a:noFill/>
          <a:ln/>
        </p:spPr>
        <p:txBody>
          <a:bodyPr wrap="square" rtlCol="0" anchor="ctr"/>
          <a:lstStyle/>
          <a:p>
            <a:pPr marL="0" indent="0" algn="r">
              <a:buNone/>
            </a:pPr>
            <a:r>
              <a:rPr lang="en-US" sz="1000" dirty="0">
                <a:solidFill>
                  <a:srgbClr val="8A90AC"/>
                </a:solidFill>
                <a:latin typeface="Courier New" pitchFamily="34" charset="0"/>
                <a:ea typeface="Courier New" pitchFamily="34" charset="-122"/>
                <a:cs typeface="Courier New" pitchFamily="34" charset="-120"/>
              </a:rPr>
              <a:t>Main.java</a:t>
            </a:r>
            <a:endParaRPr lang="en-US" sz="1000" dirty="0"/>
          </a:p>
        </p:txBody>
      </p:sp>
      <p:sp>
        <p:nvSpPr>
          <p:cNvPr id="22" name="Text 20"/>
          <p:cNvSpPr/>
          <p:nvPr/>
        </p:nvSpPr>
        <p:spPr>
          <a:xfrm>
            <a:off x="5897880" y="2487168"/>
            <a:ext cx="5577840" cy="1463040"/>
          </a:xfrm>
          <a:prstGeom prst="rect">
            <a:avLst/>
          </a:prstGeom>
          <a:noFill/>
          <a:ln/>
        </p:spPr>
        <p:txBody>
          <a:bodyPr wrap="square" lIns="0" tIns="0" rIns="0" bIns="0" rtlCol="0" anchor="t"/>
          <a:lstStyle/>
          <a:p>
            <a:pPr marL="0" indent="0">
              <a:lnSpc>
                <a:spcPct val="120000"/>
              </a:lnSpc>
              <a:buNone/>
            </a:pPr>
            <a:r>
              <a:rPr lang="en-US" sz="1200" dirty="0">
                <a:solidFill>
                  <a:srgbClr val="D4D4E0"/>
                </a:solidFill>
                <a:latin typeface="Courier New" pitchFamily="34" charset="0"/>
                <a:ea typeface="Courier New" pitchFamily="34" charset="-122"/>
                <a:cs typeface="Courier New" pitchFamily="34" charset="-120"/>
              </a:rPr>
              <a:t>class Student {</a:t>
            </a:r>
            <a:endParaRPr lang="en-US" sz="1200" dirty="0"/>
          </a:p>
          <a:p>
            <a:pPr marL="0" indent="0">
              <a:lnSpc>
                <a:spcPct val="120000"/>
              </a:lnSpc>
              <a:buNone/>
            </a:pPr>
            <a:r>
              <a:rPr lang="en-US" sz="1200" dirty="0">
                <a:solidFill>
                  <a:srgbClr val="D4D4E0"/>
                </a:solidFill>
                <a:latin typeface="Courier New" pitchFamily="34" charset="0"/>
                <a:ea typeface="Courier New" pitchFamily="34" charset="-122"/>
                <a:cs typeface="Courier New" pitchFamily="34" charset="-120"/>
              </a:rPr>
              <a:t>    String name;</a:t>
            </a:r>
            <a:endParaRPr lang="en-US" sz="1200" dirty="0"/>
          </a:p>
          <a:p>
            <a:pPr marL="0" indent="0">
              <a:lnSpc>
                <a:spcPct val="120000"/>
              </a:lnSpc>
              <a:buNone/>
            </a:pPr>
            <a:r>
              <a:rPr lang="en-US" sz="1200" dirty="0">
                <a:solidFill>
                  <a:srgbClr val="D4D4E0"/>
                </a:solidFill>
                <a:latin typeface="Courier New" pitchFamily="34" charset="0"/>
                <a:ea typeface="Courier New" pitchFamily="34" charset="-122"/>
                <a:cs typeface="Courier New" pitchFamily="34" charset="-120"/>
              </a:rPr>
              <a:t>    Student(String name) {</a:t>
            </a:r>
            <a:endParaRPr lang="en-US" sz="1200" dirty="0"/>
          </a:p>
          <a:p>
            <a:pPr marL="0" indent="0">
              <a:lnSpc>
                <a:spcPct val="120000"/>
              </a:lnSpc>
              <a:buNone/>
            </a:pPr>
            <a:r>
              <a:rPr lang="en-US" sz="1200" dirty="0">
                <a:solidFill>
                  <a:srgbClr val="D4D4E0"/>
                </a:solidFill>
                <a:latin typeface="Courier New" pitchFamily="34" charset="0"/>
                <a:ea typeface="Courier New" pitchFamily="34" charset="-122"/>
                <a:cs typeface="Courier New" pitchFamily="34" charset="-120"/>
              </a:rPr>
              <a:t>        this.name = name;</a:t>
            </a:r>
            <a:endParaRPr lang="en-US" sz="1200" dirty="0"/>
          </a:p>
          <a:p>
            <a:pPr marL="0" indent="0">
              <a:lnSpc>
                <a:spcPct val="120000"/>
              </a:lnSpc>
              <a:buNone/>
            </a:pPr>
            <a:r>
              <a:rPr lang="en-US" sz="1200" dirty="0">
                <a:solidFill>
                  <a:srgbClr val="D4D4E0"/>
                </a:solidFill>
                <a:latin typeface="Courier New" pitchFamily="34" charset="0"/>
                <a:ea typeface="Courier New" pitchFamily="34" charset="-122"/>
                <a:cs typeface="Courier New" pitchFamily="34" charset="-120"/>
              </a:rPr>
              <a:t>    }</a:t>
            </a:r>
            <a:endParaRPr lang="en-US" sz="1200" dirty="0"/>
          </a:p>
          <a:p>
            <a:pPr marL="0" indent="0">
              <a:lnSpc>
                <a:spcPct val="120000"/>
              </a:lnSpc>
              <a:buNone/>
            </a:pPr>
            <a:r>
              <a:rPr lang="en-US" sz="1200" dirty="0">
                <a:solidFill>
                  <a:srgbClr val="D4D4E0"/>
                </a:solidFill>
                <a:latin typeface="Courier New" pitchFamily="34" charset="0"/>
                <a:ea typeface="Courier New" pitchFamily="34" charset="-122"/>
                <a:cs typeface="Courier New" pitchFamily="34" charset="-120"/>
              </a:rPr>
              <a:t>}</a:t>
            </a:r>
            <a:endParaRPr lang="en-US" sz="1200" dirty="0"/>
          </a:p>
        </p:txBody>
      </p:sp>
      <p:sp>
        <p:nvSpPr>
          <p:cNvPr id="23" name="Shape 21"/>
          <p:cNvSpPr/>
          <p:nvPr/>
        </p:nvSpPr>
        <p:spPr>
          <a:xfrm>
            <a:off x="5669280" y="4206240"/>
            <a:ext cx="164592" cy="274320"/>
          </a:xfrm>
          <a:prstGeom prst="roundRect">
            <a:avLst>
              <a:gd name="adj" fmla="val 22222"/>
            </a:avLst>
          </a:prstGeom>
          <a:solidFill>
            <a:srgbClr val="3FBFAE"/>
          </a:solidFill>
          <a:ln/>
        </p:spPr>
      </p:sp>
      <p:sp>
        <p:nvSpPr>
          <p:cNvPr id="24" name="Text 22"/>
          <p:cNvSpPr/>
          <p:nvPr/>
        </p:nvSpPr>
        <p:spPr>
          <a:xfrm>
            <a:off x="5925312" y="4178808"/>
            <a:ext cx="5779008" cy="329184"/>
          </a:xfrm>
          <a:prstGeom prst="rect">
            <a:avLst/>
          </a:prstGeom>
          <a:noFill/>
          <a:ln/>
        </p:spPr>
        <p:txBody>
          <a:bodyPr wrap="square" rtlCol="0" anchor="ctr"/>
          <a:lstStyle/>
          <a:p>
            <a:pPr marL="0" indent="0">
              <a:buNone/>
            </a:pPr>
            <a:r>
              <a:rPr lang="en-US" sz="1300" b="1" kern="0" spc="50" dirty="0">
                <a:solidFill>
                  <a:srgbClr val="1B2340"/>
                </a:solidFill>
                <a:latin typeface="Calibri" pitchFamily="34" charset="0"/>
                <a:ea typeface="Calibri" pitchFamily="34" charset="-122"/>
                <a:cs typeface="Calibri" pitchFamily="34" charset="-120"/>
              </a:rPr>
              <a:t>EXPLANATION</a:t>
            </a:r>
            <a:endParaRPr lang="en-US" sz="1300" dirty="0"/>
          </a:p>
        </p:txBody>
      </p:sp>
      <p:sp>
        <p:nvSpPr>
          <p:cNvPr id="25" name="Text 23"/>
          <p:cNvSpPr/>
          <p:nvPr/>
        </p:nvSpPr>
        <p:spPr>
          <a:xfrm>
            <a:off x="5669280" y="4535424"/>
            <a:ext cx="6035040" cy="1865376"/>
          </a:xfrm>
          <a:prstGeom prst="rect">
            <a:avLst/>
          </a:prstGeom>
          <a:noFill/>
          <a:ln/>
        </p:spPr>
        <p:txBody>
          <a:bodyPr wrap="square" lIns="0" tIns="0" rIns="0" bIns="0" rtlCol="0" anchor="t"/>
          <a:lstStyle/>
          <a:p>
            <a:pPr marL="177800" indent="-177800">
              <a:spcAft>
                <a:spcPts val="600"/>
              </a:spcAft>
              <a:buSzPct val="100000"/>
              <a:buChar char="•"/>
            </a:pPr>
            <a:r>
              <a:rPr lang="en-US" sz="1200" dirty="0">
                <a:solidFill>
                  <a:srgbClr val="1B2340"/>
                </a:solidFill>
                <a:latin typeface="Calibri" pitchFamily="34" charset="0"/>
                <a:ea typeface="Calibri" pitchFamily="34" charset="-122"/>
                <a:cs typeface="Calibri" pitchFamily="34" charset="-120"/>
              </a:rPr>
              <a:t>'this.name' refers to the instance variable</a:t>
            </a:r>
            <a:endParaRPr lang="en-US" sz="1200" dirty="0"/>
          </a:p>
          <a:p>
            <a:pPr marL="177800" indent="-177800">
              <a:spcAft>
                <a:spcPts val="600"/>
              </a:spcAft>
              <a:buSzPct val="100000"/>
              <a:buChar char="•"/>
            </a:pPr>
            <a:r>
              <a:rPr lang="en-US" sz="1200" dirty="0">
                <a:solidFill>
                  <a:srgbClr val="1B2340"/>
                </a:solidFill>
                <a:latin typeface="Calibri" pitchFamily="34" charset="0"/>
                <a:ea typeface="Calibri" pitchFamily="34" charset="-122"/>
                <a:cs typeface="Calibri" pitchFamily="34" charset="-120"/>
              </a:rPr>
              <a:t>'name' (without this) refers to the constructor parameter</a:t>
            </a:r>
            <a:endParaRPr lang="en-US" sz="1200" dirty="0"/>
          </a:p>
          <a:p>
            <a:pPr marL="177800" indent="-177800">
              <a:spcAft>
                <a:spcPts val="600"/>
              </a:spcAft>
              <a:buSzPct val="100000"/>
              <a:buChar char="•"/>
            </a:pPr>
            <a:r>
              <a:rPr lang="en-US" sz="1200" dirty="0">
                <a:solidFill>
                  <a:srgbClr val="1B2340"/>
                </a:solidFill>
                <a:latin typeface="Calibri" pitchFamily="34" charset="0"/>
                <a:ea typeface="Calibri" pitchFamily="34" charset="-122"/>
                <a:cs typeface="Calibri" pitchFamily="34" charset="-120"/>
              </a:rPr>
              <a:t>Without 'this', the parameter would just be reassigned to itself, and the field would stay null</a:t>
            </a:r>
            <a:endParaRPr lang="en-US" sz="1200" dirty="0"/>
          </a:p>
          <a:p>
            <a:pPr marL="177800" indent="-177800">
              <a:spcAft>
                <a:spcPts val="600"/>
              </a:spcAft>
              <a:buSzPct val="100000"/>
              <a:buChar char="•"/>
            </a:pPr>
            <a:r>
              <a:rPr lang="en-US" sz="1200" dirty="0">
                <a:solidFill>
                  <a:srgbClr val="1B2340"/>
                </a:solidFill>
                <a:latin typeface="Calibri" pitchFamily="34" charset="0"/>
                <a:ea typeface="Calibri" pitchFamily="34" charset="-122"/>
                <a:cs typeface="Calibri" pitchFamily="34" charset="-120"/>
              </a:rPr>
              <a:t>'this' can also be used to call another constructor of the same class</a:t>
            </a:r>
            <a:endParaRPr lang="en-US" sz="1200" dirty="0"/>
          </a:p>
        </p:txBody>
      </p:sp>
      <p:sp>
        <p:nvSpPr>
          <p:cNvPr id="26" name="Text 24"/>
          <p:cNvSpPr/>
          <p:nvPr/>
        </p:nvSpPr>
        <p:spPr>
          <a:xfrm>
            <a:off x="457200" y="6583680"/>
            <a:ext cx="5486400" cy="228600"/>
          </a:xfrm>
          <a:prstGeom prst="rect">
            <a:avLst/>
          </a:prstGeom>
          <a:noFill/>
          <a:ln/>
        </p:spPr>
        <p:txBody>
          <a:bodyPr wrap="square" rtlCol="0" anchor="ctr"/>
          <a:lstStyle/>
          <a:p>
            <a:pPr marL="0" indent="0" algn="l">
              <a:buNone/>
            </a:pPr>
            <a:r>
              <a:rPr lang="en-US" sz="850" dirty="0">
                <a:solidFill>
                  <a:srgbClr val="5B6178"/>
                </a:solidFill>
                <a:latin typeface="Calibri" pitchFamily="34" charset="0"/>
                <a:ea typeface="Calibri" pitchFamily="34" charset="-122"/>
                <a:cs typeface="Calibri" pitchFamily="34" charset="-120"/>
              </a:rPr>
              <a:t>Java &amp; Full-Stack Interview Prep</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502920" y="384048"/>
            <a:ext cx="3474720" cy="310896"/>
          </a:xfrm>
          <a:prstGeom prst="roundRect">
            <a:avLst>
              <a:gd name="adj" fmla="val 23529"/>
            </a:avLst>
          </a:prstGeom>
          <a:solidFill>
            <a:srgbClr val="E8A33D"/>
          </a:solidFill>
          <a:ln/>
        </p:spPr>
      </p:sp>
      <p:sp>
        <p:nvSpPr>
          <p:cNvPr id="3" name="Text 1"/>
          <p:cNvSpPr/>
          <p:nvPr/>
        </p:nvSpPr>
        <p:spPr>
          <a:xfrm>
            <a:off x="502920" y="384048"/>
            <a:ext cx="3474720" cy="310896"/>
          </a:xfrm>
          <a:prstGeom prst="rect">
            <a:avLst/>
          </a:prstGeom>
          <a:noFill/>
          <a:ln/>
        </p:spPr>
        <p:txBody>
          <a:bodyPr wrap="square" rtlCol="0" anchor="ctr"/>
          <a:lstStyle/>
          <a:p>
            <a:pPr marL="0" indent="0" algn="ctr">
              <a:buNone/>
            </a:pPr>
            <a:r>
              <a:rPr lang="en-US" sz="1100" b="1" kern="0" spc="100" dirty="0">
                <a:solidFill>
                  <a:srgbClr val="1B2340"/>
                </a:solidFill>
                <a:latin typeface="Calibri" pitchFamily="34" charset="0"/>
                <a:ea typeface="Calibri" pitchFamily="34" charset="-122"/>
                <a:cs typeface="Calibri" pitchFamily="34" charset="-120"/>
              </a:rPr>
              <a:t>CORE JAVA &amp; OOP</a:t>
            </a:r>
            <a:endParaRPr lang="en-US" sz="1100" dirty="0"/>
          </a:p>
        </p:txBody>
      </p:sp>
      <p:sp>
        <p:nvSpPr>
          <p:cNvPr id="4" name="Text 2"/>
          <p:cNvSpPr/>
          <p:nvPr/>
        </p:nvSpPr>
        <p:spPr>
          <a:xfrm>
            <a:off x="502920" y="786384"/>
            <a:ext cx="11155680" cy="868680"/>
          </a:xfrm>
          <a:prstGeom prst="rect">
            <a:avLst/>
          </a:prstGeom>
          <a:noFill/>
          <a:ln/>
        </p:spPr>
        <p:txBody>
          <a:bodyPr wrap="square" rtlCol="0" anchor="t"/>
          <a:lstStyle/>
          <a:p>
            <a:pPr marL="0" indent="0">
              <a:lnSpc>
                <a:spcPct val="102000"/>
              </a:lnSpc>
              <a:buNone/>
            </a:pPr>
            <a:r>
              <a:rPr lang="en-US" sz="2500" b="1" dirty="0">
                <a:solidFill>
                  <a:srgbClr val="1B2340"/>
                </a:solidFill>
                <a:latin typeface="Century Schoolbook" pitchFamily="34" charset="0"/>
                <a:ea typeface="Century Schoolbook" pitchFamily="34" charset="-122"/>
                <a:cs typeface="Century Schoolbook" pitchFamily="34" charset="-120"/>
              </a:rPr>
              <a:t>What is the 'static' keyword in Java?</a:t>
            </a:r>
            <a:endParaRPr lang="en-US" sz="2500" dirty="0"/>
          </a:p>
        </p:txBody>
      </p:sp>
      <p:sp>
        <p:nvSpPr>
          <p:cNvPr id="5" name="Shape 3"/>
          <p:cNvSpPr/>
          <p:nvPr/>
        </p:nvSpPr>
        <p:spPr>
          <a:xfrm>
            <a:off x="502920" y="1810512"/>
            <a:ext cx="164592" cy="274320"/>
          </a:xfrm>
          <a:prstGeom prst="roundRect">
            <a:avLst>
              <a:gd name="adj" fmla="val 22222"/>
            </a:avLst>
          </a:prstGeom>
          <a:solidFill>
            <a:srgbClr val="E8A33D"/>
          </a:solidFill>
          <a:ln/>
        </p:spPr>
      </p:sp>
      <p:sp>
        <p:nvSpPr>
          <p:cNvPr id="6" name="Text 4"/>
          <p:cNvSpPr/>
          <p:nvPr/>
        </p:nvSpPr>
        <p:spPr>
          <a:xfrm>
            <a:off x="758952" y="1783080"/>
            <a:ext cx="4681728" cy="329184"/>
          </a:xfrm>
          <a:prstGeom prst="rect">
            <a:avLst/>
          </a:prstGeom>
          <a:noFill/>
          <a:ln/>
        </p:spPr>
        <p:txBody>
          <a:bodyPr wrap="square" rtlCol="0" anchor="ctr"/>
          <a:lstStyle/>
          <a:p>
            <a:pPr marL="0" indent="0">
              <a:buNone/>
            </a:pPr>
            <a:r>
              <a:rPr lang="en-US" sz="1300" b="1" kern="0" spc="50" dirty="0">
                <a:solidFill>
                  <a:srgbClr val="1B2340"/>
                </a:solidFill>
                <a:latin typeface="Calibri" pitchFamily="34" charset="0"/>
                <a:ea typeface="Calibri" pitchFamily="34" charset="-122"/>
                <a:cs typeface="Calibri" pitchFamily="34" charset="-120"/>
              </a:rPr>
              <a:t>DEFINITION / CONCEPT</a:t>
            </a:r>
            <a:endParaRPr lang="en-US" sz="1300" dirty="0"/>
          </a:p>
        </p:txBody>
      </p:sp>
      <p:sp>
        <p:nvSpPr>
          <p:cNvPr id="7" name="Shape 5"/>
          <p:cNvSpPr/>
          <p:nvPr/>
        </p:nvSpPr>
        <p:spPr>
          <a:xfrm>
            <a:off x="502920" y="2121408"/>
            <a:ext cx="4937760" cy="1234440"/>
          </a:xfrm>
          <a:prstGeom prst="roundRect">
            <a:avLst>
              <a:gd name="adj" fmla="val 5926"/>
            </a:avLst>
          </a:prstGeom>
          <a:solidFill>
            <a:srgbClr val="F7F7FA"/>
          </a:solidFill>
          <a:ln w="12700">
            <a:solidFill>
              <a:srgbClr val="E4E6EF"/>
            </a:solidFill>
            <a:prstDash val="solid"/>
          </a:ln>
        </p:spPr>
      </p:sp>
      <p:sp>
        <p:nvSpPr>
          <p:cNvPr id="8" name="Text 6"/>
          <p:cNvSpPr/>
          <p:nvPr/>
        </p:nvSpPr>
        <p:spPr>
          <a:xfrm>
            <a:off x="758952" y="2304288"/>
            <a:ext cx="4425696" cy="868680"/>
          </a:xfrm>
          <a:prstGeom prst="rect">
            <a:avLst/>
          </a:prstGeom>
          <a:noFill/>
          <a:ln/>
        </p:spPr>
        <p:txBody>
          <a:bodyPr wrap="square" lIns="0" tIns="0" rIns="0" bIns="0" rtlCol="0" anchor="t"/>
          <a:lstStyle/>
          <a:p>
            <a:pPr marL="0" indent="0">
              <a:lnSpc>
                <a:spcPct val="115000"/>
              </a:lnSpc>
              <a:buNone/>
            </a:pPr>
            <a:r>
              <a:rPr lang="en-US" sz="1450" dirty="0">
                <a:solidFill>
                  <a:srgbClr val="1B2340"/>
                </a:solidFill>
                <a:latin typeface="Calibri" pitchFamily="34" charset="0"/>
                <a:ea typeface="Calibri" pitchFamily="34" charset="-122"/>
                <a:cs typeface="Calibri" pitchFamily="34" charset="-120"/>
              </a:rPr>
              <a:t>'static' means a member (variable or method) belongs to the class itself, not to any individual object. It is shared across all instances.</a:t>
            </a:r>
            <a:endParaRPr lang="en-US" sz="1450" dirty="0"/>
          </a:p>
        </p:txBody>
      </p:sp>
      <p:sp>
        <p:nvSpPr>
          <p:cNvPr id="9" name="Shape 7"/>
          <p:cNvSpPr/>
          <p:nvPr/>
        </p:nvSpPr>
        <p:spPr>
          <a:xfrm>
            <a:off x="502920" y="3493008"/>
            <a:ext cx="4937760" cy="1554480"/>
          </a:xfrm>
          <a:prstGeom prst="roundRect">
            <a:avLst>
              <a:gd name="adj" fmla="val 4706"/>
            </a:avLst>
          </a:prstGeom>
          <a:solidFill>
            <a:srgbClr val="FDF3E3"/>
          </a:solidFill>
          <a:ln/>
        </p:spPr>
      </p:sp>
      <p:sp>
        <p:nvSpPr>
          <p:cNvPr id="10" name="Text 8"/>
          <p:cNvSpPr/>
          <p:nvPr/>
        </p:nvSpPr>
        <p:spPr>
          <a:xfrm>
            <a:off x="704088" y="3602736"/>
            <a:ext cx="4535424" cy="274320"/>
          </a:xfrm>
          <a:prstGeom prst="rect">
            <a:avLst/>
          </a:prstGeom>
          <a:noFill/>
          <a:ln/>
        </p:spPr>
        <p:txBody>
          <a:bodyPr wrap="square" rtlCol="0" anchor="ctr"/>
          <a:lstStyle/>
          <a:p>
            <a:pPr marL="0" indent="0">
              <a:buNone/>
            </a:pPr>
            <a:r>
              <a:rPr lang="en-US" sz="1100" b="1" kern="0" spc="50" dirty="0">
                <a:solidFill>
                  <a:srgbClr val="C9862A"/>
                </a:solidFill>
                <a:latin typeface="Calibri" pitchFamily="34" charset="0"/>
                <a:ea typeface="Calibri" pitchFamily="34" charset="-122"/>
                <a:cs typeface="Calibri" pitchFamily="34" charset="-120"/>
              </a:rPr>
              <a:t>💡 REAL-LIFE ANALOGY</a:t>
            </a:r>
            <a:endParaRPr lang="en-US" sz="1100" dirty="0"/>
          </a:p>
        </p:txBody>
      </p:sp>
      <p:sp>
        <p:nvSpPr>
          <p:cNvPr id="11" name="Text 9"/>
          <p:cNvSpPr/>
          <p:nvPr/>
        </p:nvSpPr>
        <p:spPr>
          <a:xfrm>
            <a:off x="704088" y="3895344"/>
            <a:ext cx="4535424" cy="1024128"/>
          </a:xfrm>
          <a:prstGeom prst="rect">
            <a:avLst/>
          </a:prstGeom>
          <a:noFill/>
          <a:ln/>
        </p:spPr>
        <p:txBody>
          <a:bodyPr wrap="square" lIns="0" tIns="0" rIns="0" bIns="0" rtlCol="0" anchor="t"/>
          <a:lstStyle/>
          <a:p>
            <a:pPr marL="0" indent="0">
              <a:lnSpc>
                <a:spcPct val="110000"/>
              </a:lnSpc>
              <a:buNone/>
            </a:pPr>
            <a:r>
              <a:rPr lang="en-US" sz="1250" i="1" dirty="0">
                <a:solidFill>
                  <a:srgbClr val="1B2340"/>
                </a:solidFill>
                <a:latin typeface="Calibri" pitchFamily="34" charset="0"/>
                <a:ea typeface="Calibri" pitchFamily="34" charset="-122"/>
                <a:cs typeface="Calibri" pitchFamily="34" charset="-120"/>
              </a:rPr>
              <a:t>Think of a school's name - it's the same for every student in that school. It doesn't change from student to student, just like a static variable stays the same across every object.</a:t>
            </a:r>
            <a:endParaRPr lang="en-US" sz="1250" dirty="0"/>
          </a:p>
        </p:txBody>
      </p:sp>
      <p:sp>
        <p:nvSpPr>
          <p:cNvPr id="12" name="Shape 10"/>
          <p:cNvSpPr/>
          <p:nvPr/>
        </p:nvSpPr>
        <p:spPr>
          <a:xfrm>
            <a:off x="502920" y="5193792"/>
            <a:ext cx="4937760" cy="1051560"/>
          </a:xfrm>
          <a:prstGeom prst="roundRect">
            <a:avLst>
              <a:gd name="adj" fmla="val 6957"/>
            </a:avLst>
          </a:prstGeom>
          <a:solidFill>
            <a:srgbClr val="1B2340"/>
          </a:solidFill>
          <a:ln/>
        </p:spPr>
      </p:sp>
      <p:sp>
        <p:nvSpPr>
          <p:cNvPr id="13" name="Text 11"/>
          <p:cNvSpPr/>
          <p:nvPr/>
        </p:nvSpPr>
        <p:spPr>
          <a:xfrm>
            <a:off x="731520" y="5285232"/>
            <a:ext cx="4480560" cy="256032"/>
          </a:xfrm>
          <a:prstGeom prst="rect">
            <a:avLst/>
          </a:prstGeom>
          <a:noFill/>
          <a:ln/>
        </p:spPr>
        <p:txBody>
          <a:bodyPr wrap="square" rtlCol="0" anchor="ctr"/>
          <a:lstStyle/>
          <a:p>
            <a:pPr marL="0" indent="0">
              <a:buNone/>
            </a:pPr>
            <a:r>
              <a:rPr lang="en-US" sz="1050" b="1" kern="0" spc="80" dirty="0">
                <a:solidFill>
                  <a:srgbClr val="E8A33D"/>
                </a:solidFill>
                <a:latin typeface="Calibri" pitchFamily="34" charset="0"/>
                <a:ea typeface="Calibri" pitchFamily="34" charset="-122"/>
                <a:cs typeface="Calibri" pitchFamily="34" charset="-120"/>
              </a:rPr>
              <a:t>ONE-LINE INTERVIEW ANSWER</a:t>
            </a:r>
            <a:endParaRPr lang="en-US" sz="1050" dirty="0"/>
          </a:p>
        </p:txBody>
      </p:sp>
      <p:sp>
        <p:nvSpPr>
          <p:cNvPr id="14" name="Text 12"/>
          <p:cNvSpPr/>
          <p:nvPr/>
        </p:nvSpPr>
        <p:spPr>
          <a:xfrm>
            <a:off x="731520" y="5541264"/>
            <a:ext cx="4480560" cy="594360"/>
          </a:xfrm>
          <a:prstGeom prst="rect">
            <a:avLst/>
          </a:prstGeom>
          <a:noFill/>
          <a:ln/>
        </p:spPr>
        <p:txBody>
          <a:bodyPr wrap="square" lIns="0" tIns="0" rIns="0" bIns="0" rtlCol="0" anchor="t"/>
          <a:lstStyle/>
          <a:p>
            <a:pPr marL="0" indent="0">
              <a:lnSpc>
                <a:spcPct val="105000"/>
              </a:lnSpc>
              <a:buNone/>
            </a:pPr>
            <a:r>
              <a:rPr lang="en-US" sz="1250" dirty="0">
                <a:solidFill>
                  <a:srgbClr val="FFFFFF"/>
                </a:solidFill>
                <a:latin typeface="Calibri" pitchFamily="34" charset="0"/>
                <a:ea typeface="Calibri" pitchFamily="34" charset="-122"/>
                <a:cs typeface="Calibri" pitchFamily="34" charset="-120"/>
              </a:rPr>
              <a:t>'static' means a member belongs to the class rather than any single object, and is shared by all instances.</a:t>
            </a:r>
            <a:endParaRPr lang="en-US" sz="1250" dirty="0"/>
          </a:p>
        </p:txBody>
      </p:sp>
      <p:sp>
        <p:nvSpPr>
          <p:cNvPr id="15" name="Shape 13"/>
          <p:cNvSpPr/>
          <p:nvPr/>
        </p:nvSpPr>
        <p:spPr>
          <a:xfrm>
            <a:off x="5669280" y="1810512"/>
            <a:ext cx="164592" cy="274320"/>
          </a:xfrm>
          <a:prstGeom prst="roundRect">
            <a:avLst>
              <a:gd name="adj" fmla="val 22222"/>
            </a:avLst>
          </a:prstGeom>
          <a:solidFill>
            <a:srgbClr val="3FBFAE"/>
          </a:solidFill>
          <a:ln/>
        </p:spPr>
      </p:sp>
      <p:sp>
        <p:nvSpPr>
          <p:cNvPr id="16" name="Text 14"/>
          <p:cNvSpPr/>
          <p:nvPr/>
        </p:nvSpPr>
        <p:spPr>
          <a:xfrm>
            <a:off x="5925312" y="1783080"/>
            <a:ext cx="5779008" cy="329184"/>
          </a:xfrm>
          <a:prstGeom prst="rect">
            <a:avLst/>
          </a:prstGeom>
          <a:noFill/>
          <a:ln/>
        </p:spPr>
        <p:txBody>
          <a:bodyPr wrap="square" rtlCol="0" anchor="ctr"/>
          <a:lstStyle/>
          <a:p>
            <a:pPr marL="0" indent="0">
              <a:buNone/>
            </a:pPr>
            <a:r>
              <a:rPr lang="en-US" sz="1300" b="1" kern="0" spc="50" dirty="0">
                <a:solidFill>
                  <a:srgbClr val="1B2340"/>
                </a:solidFill>
                <a:latin typeface="Calibri" pitchFamily="34" charset="0"/>
                <a:ea typeface="Calibri" pitchFamily="34" charset="-122"/>
                <a:cs typeface="Calibri" pitchFamily="34" charset="-120"/>
              </a:rPr>
              <a:t>EXAMPLE</a:t>
            </a:r>
            <a:endParaRPr lang="en-US" sz="1300" dirty="0"/>
          </a:p>
        </p:txBody>
      </p:sp>
      <p:sp>
        <p:nvSpPr>
          <p:cNvPr id="17" name="Shape 15"/>
          <p:cNvSpPr/>
          <p:nvPr/>
        </p:nvSpPr>
        <p:spPr>
          <a:xfrm>
            <a:off x="5669280" y="2121408"/>
            <a:ext cx="6035040" cy="1447800"/>
          </a:xfrm>
          <a:prstGeom prst="roundRect">
            <a:avLst>
              <a:gd name="adj" fmla="val 5053"/>
            </a:avLst>
          </a:prstGeom>
          <a:solidFill>
            <a:srgbClr val="1E1E2E"/>
          </a:solidFill>
          <a:ln/>
        </p:spPr>
      </p:sp>
      <p:sp>
        <p:nvSpPr>
          <p:cNvPr id="18" name="Shape 16"/>
          <p:cNvSpPr/>
          <p:nvPr/>
        </p:nvSpPr>
        <p:spPr>
          <a:xfrm>
            <a:off x="5806440" y="2249424"/>
            <a:ext cx="100584" cy="100584"/>
          </a:xfrm>
          <a:prstGeom prst="ellipse">
            <a:avLst/>
          </a:prstGeom>
          <a:solidFill>
            <a:srgbClr val="FF5F56"/>
          </a:solidFill>
          <a:ln/>
        </p:spPr>
      </p:sp>
      <p:sp>
        <p:nvSpPr>
          <p:cNvPr id="19" name="Shape 17"/>
          <p:cNvSpPr/>
          <p:nvPr/>
        </p:nvSpPr>
        <p:spPr>
          <a:xfrm>
            <a:off x="5961888" y="2249424"/>
            <a:ext cx="100584" cy="100584"/>
          </a:xfrm>
          <a:prstGeom prst="ellipse">
            <a:avLst/>
          </a:prstGeom>
          <a:solidFill>
            <a:srgbClr val="FFBD2E"/>
          </a:solidFill>
          <a:ln/>
        </p:spPr>
      </p:sp>
      <p:sp>
        <p:nvSpPr>
          <p:cNvPr id="20" name="Shape 18"/>
          <p:cNvSpPr/>
          <p:nvPr/>
        </p:nvSpPr>
        <p:spPr>
          <a:xfrm>
            <a:off x="6117336" y="2249424"/>
            <a:ext cx="100584" cy="100584"/>
          </a:xfrm>
          <a:prstGeom prst="ellipse">
            <a:avLst/>
          </a:prstGeom>
          <a:solidFill>
            <a:srgbClr val="27C93F"/>
          </a:solidFill>
          <a:ln/>
        </p:spPr>
      </p:sp>
      <p:sp>
        <p:nvSpPr>
          <p:cNvPr id="21" name="Text 19"/>
          <p:cNvSpPr/>
          <p:nvPr/>
        </p:nvSpPr>
        <p:spPr>
          <a:xfrm>
            <a:off x="6309360" y="2167128"/>
            <a:ext cx="5120640" cy="274320"/>
          </a:xfrm>
          <a:prstGeom prst="rect">
            <a:avLst/>
          </a:prstGeom>
          <a:noFill/>
          <a:ln/>
        </p:spPr>
        <p:txBody>
          <a:bodyPr wrap="square" rtlCol="0" anchor="ctr"/>
          <a:lstStyle/>
          <a:p>
            <a:pPr marL="0" indent="0" algn="r">
              <a:buNone/>
            </a:pPr>
            <a:r>
              <a:rPr lang="en-US" sz="1000" dirty="0">
                <a:solidFill>
                  <a:srgbClr val="8A90AC"/>
                </a:solidFill>
                <a:latin typeface="Courier New" pitchFamily="34" charset="0"/>
                <a:ea typeface="Courier New" pitchFamily="34" charset="-122"/>
                <a:cs typeface="Courier New" pitchFamily="34" charset="-120"/>
              </a:rPr>
              <a:t>Main.java</a:t>
            </a:r>
            <a:endParaRPr lang="en-US" sz="1000" dirty="0"/>
          </a:p>
        </p:txBody>
      </p:sp>
      <p:sp>
        <p:nvSpPr>
          <p:cNvPr id="22" name="Text 20"/>
          <p:cNvSpPr/>
          <p:nvPr/>
        </p:nvSpPr>
        <p:spPr>
          <a:xfrm>
            <a:off x="5897880" y="2487168"/>
            <a:ext cx="5577840" cy="990600"/>
          </a:xfrm>
          <a:prstGeom prst="rect">
            <a:avLst/>
          </a:prstGeom>
          <a:noFill/>
          <a:ln/>
        </p:spPr>
        <p:txBody>
          <a:bodyPr wrap="square" lIns="0" tIns="0" rIns="0" bIns="0" rtlCol="0" anchor="t"/>
          <a:lstStyle/>
          <a:p>
            <a:pPr marL="0" indent="0">
              <a:lnSpc>
                <a:spcPct val="120000"/>
              </a:lnSpc>
              <a:buNone/>
            </a:pPr>
            <a:r>
              <a:rPr lang="en-US" sz="1200" dirty="0">
                <a:solidFill>
                  <a:srgbClr val="D4D4E0"/>
                </a:solidFill>
                <a:latin typeface="Courier New" pitchFamily="34" charset="0"/>
                <a:ea typeface="Courier New" pitchFamily="34" charset="-122"/>
                <a:cs typeface="Courier New" pitchFamily="34" charset="-120"/>
              </a:rPr>
              <a:t>class Counter {</a:t>
            </a:r>
            <a:endParaRPr lang="en-US" sz="1200" dirty="0"/>
          </a:p>
          <a:p>
            <a:pPr marL="0" indent="0">
              <a:lnSpc>
                <a:spcPct val="120000"/>
              </a:lnSpc>
              <a:buNone/>
            </a:pPr>
            <a:r>
              <a:rPr lang="en-US" sz="1200" dirty="0">
                <a:solidFill>
                  <a:srgbClr val="D4D4E0"/>
                </a:solidFill>
                <a:latin typeface="Courier New" pitchFamily="34" charset="0"/>
                <a:ea typeface="Courier New" pitchFamily="34" charset="-122"/>
                <a:cs typeface="Courier New" pitchFamily="34" charset="-120"/>
              </a:rPr>
              <a:t>    static int count = 0;</a:t>
            </a:r>
            <a:endParaRPr lang="en-US" sz="1200" dirty="0"/>
          </a:p>
          <a:p>
            <a:pPr marL="0" indent="0">
              <a:lnSpc>
                <a:spcPct val="120000"/>
              </a:lnSpc>
              <a:buNone/>
            </a:pPr>
            <a:r>
              <a:rPr lang="en-US" sz="1200" dirty="0">
                <a:solidFill>
                  <a:srgbClr val="D4D4E0"/>
                </a:solidFill>
                <a:latin typeface="Courier New" pitchFamily="34" charset="0"/>
                <a:ea typeface="Courier New" pitchFamily="34" charset="-122"/>
                <a:cs typeface="Courier New" pitchFamily="34" charset="-120"/>
              </a:rPr>
              <a:t>    Counter() { count++; }</a:t>
            </a:r>
            <a:endParaRPr lang="en-US" sz="1200" dirty="0"/>
          </a:p>
          <a:p>
            <a:pPr marL="0" indent="0">
              <a:lnSpc>
                <a:spcPct val="120000"/>
              </a:lnSpc>
              <a:buNone/>
            </a:pPr>
            <a:r>
              <a:rPr lang="en-US" sz="1200" dirty="0">
                <a:solidFill>
                  <a:srgbClr val="D4D4E0"/>
                </a:solidFill>
                <a:latin typeface="Courier New" pitchFamily="34" charset="0"/>
                <a:ea typeface="Courier New" pitchFamily="34" charset="-122"/>
                <a:cs typeface="Courier New" pitchFamily="34" charset="-120"/>
              </a:rPr>
              <a:t>}</a:t>
            </a:r>
            <a:endParaRPr lang="en-US" sz="1200" dirty="0"/>
          </a:p>
        </p:txBody>
      </p:sp>
      <p:sp>
        <p:nvSpPr>
          <p:cNvPr id="23" name="Shape 21"/>
          <p:cNvSpPr/>
          <p:nvPr/>
        </p:nvSpPr>
        <p:spPr>
          <a:xfrm>
            <a:off x="5669280" y="3733800"/>
            <a:ext cx="164592" cy="274320"/>
          </a:xfrm>
          <a:prstGeom prst="roundRect">
            <a:avLst>
              <a:gd name="adj" fmla="val 22222"/>
            </a:avLst>
          </a:prstGeom>
          <a:solidFill>
            <a:srgbClr val="3FBFAE"/>
          </a:solidFill>
          <a:ln/>
        </p:spPr>
      </p:sp>
      <p:sp>
        <p:nvSpPr>
          <p:cNvPr id="24" name="Text 22"/>
          <p:cNvSpPr/>
          <p:nvPr/>
        </p:nvSpPr>
        <p:spPr>
          <a:xfrm>
            <a:off x="5925312" y="3706368"/>
            <a:ext cx="5779008" cy="329184"/>
          </a:xfrm>
          <a:prstGeom prst="rect">
            <a:avLst/>
          </a:prstGeom>
          <a:noFill/>
          <a:ln/>
        </p:spPr>
        <p:txBody>
          <a:bodyPr wrap="square" rtlCol="0" anchor="ctr"/>
          <a:lstStyle/>
          <a:p>
            <a:pPr marL="0" indent="0">
              <a:buNone/>
            </a:pPr>
            <a:r>
              <a:rPr lang="en-US" sz="1300" b="1" kern="0" spc="50" dirty="0">
                <a:solidFill>
                  <a:srgbClr val="1B2340"/>
                </a:solidFill>
                <a:latin typeface="Calibri" pitchFamily="34" charset="0"/>
                <a:ea typeface="Calibri" pitchFamily="34" charset="-122"/>
                <a:cs typeface="Calibri" pitchFamily="34" charset="-120"/>
              </a:rPr>
              <a:t>EXPLANATION</a:t>
            </a:r>
            <a:endParaRPr lang="en-US" sz="1300" dirty="0"/>
          </a:p>
        </p:txBody>
      </p:sp>
      <p:sp>
        <p:nvSpPr>
          <p:cNvPr id="25" name="Text 23"/>
          <p:cNvSpPr/>
          <p:nvPr/>
        </p:nvSpPr>
        <p:spPr>
          <a:xfrm>
            <a:off x="5669280" y="4062984"/>
            <a:ext cx="6035040" cy="2337816"/>
          </a:xfrm>
          <a:prstGeom prst="rect">
            <a:avLst/>
          </a:prstGeom>
          <a:noFill/>
          <a:ln/>
        </p:spPr>
        <p:txBody>
          <a:bodyPr wrap="square" lIns="0" tIns="0" rIns="0" bIns="0" rtlCol="0" anchor="t"/>
          <a:lstStyle/>
          <a:p>
            <a:pPr marL="177800" indent="-177800">
              <a:spcAft>
                <a:spcPts val="600"/>
              </a:spcAft>
              <a:buSzPct val="100000"/>
              <a:buChar char="•"/>
            </a:pPr>
            <a:r>
              <a:rPr lang="en-US" sz="1200" dirty="0">
                <a:solidFill>
                  <a:srgbClr val="1B2340"/>
                </a:solidFill>
                <a:latin typeface="Calibri" pitchFamily="34" charset="0"/>
                <a:ea typeface="Calibri" pitchFamily="34" charset="-122"/>
                <a:cs typeface="Calibri" pitchFamily="34" charset="-120"/>
              </a:rPr>
              <a:t>A static variable has one copy shared by all objects</a:t>
            </a:r>
            <a:endParaRPr lang="en-US" sz="1200" dirty="0"/>
          </a:p>
          <a:p>
            <a:pPr marL="177800" indent="-177800">
              <a:spcAft>
                <a:spcPts val="600"/>
              </a:spcAft>
              <a:buSzPct val="100000"/>
              <a:buChar char="•"/>
            </a:pPr>
            <a:r>
              <a:rPr lang="en-US" sz="1200" dirty="0">
                <a:solidFill>
                  <a:srgbClr val="1B2340"/>
                </a:solidFill>
                <a:latin typeface="Calibri" pitchFamily="34" charset="0"/>
                <a:ea typeface="Calibri" pitchFamily="34" charset="-122"/>
                <a:cs typeface="Calibri" pitchFamily="34" charset="-120"/>
              </a:rPr>
              <a:t>A static method can be called using the class name, without creating an object</a:t>
            </a:r>
            <a:endParaRPr lang="en-US" sz="1200" dirty="0"/>
          </a:p>
          <a:p>
            <a:pPr marL="177800" indent="-177800">
              <a:spcAft>
                <a:spcPts val="600"/>
              </a:spcAft>
              <a:buSzPct val="100000"/>
              <a:buChar char="•"/>
            </a:pPr>
            <a:r>
              <a:rPr lang="en-US" sz="1200" dirty="0">
                <a:solidFill>
                  <a:srgbClr val="1B2340"/>
                </a:solidFill>
                <a:latin typeface="Calibri" pitchFamily="34" charset="0"/>
                <a:ea typeface="Calibri" pitchFamily="34" charset="-122"/>
                <a:cs typeface="Calibri" pitchFamily="34" charset="-120"/>
              </a:rPr>
              <a:t>static void main() is static because JVM calls it before any object exists</a:t>
            </a:r>
            <a:endParaRPr lang="en-US" sz="1200" dirty="0"/>
          </a:p>
          <a:p>
            <a:pPr marL="177800" indent="-177800">
              <a:spcAft>
                <a:spcPts val="600"/>
              </a:spcAft>
              <a:buSzPct val="100000"/>
              <a:buChar char="•"/>
            </a:pPr>
            <a:r>
              <a:rPr lang="en-US" sz="1200" dirty="0">
                <a:solidFill>
                  <a:srgbClr val="1B2340"/>
                </a:solidFill>
                <a:latin typeface="Calibri" pitchFamily="34" charset="0"/>
                <a:ea typeface="Calibri" pitchFamily="34" charset="-122"/>
                <a:cs typeface="Calibri" pitchFamily="34" charset="-120"/>
              </a:rPr>
              <a:t>Static members are loaded into memory once, when the class is loaded</a:t>
            </a:r>
            <a:endParaRPr lang="en-US" sz="1200" dirty="0"/>
          </a:p>
        </p:txBody>
      </p:sp>
      <p:sp>
        <p:nvSpPr>
          <p:cNvPr id="26" name="Text 24"/>
          <p:cNvSpPr/>
          <p:nvPr/>
        </p:nvSpPr>
        <p:spPr>
          <a:xfrm>
            <a:off x="457200" y="6583680"/>
            <a:ext cx="5486400" cy="228600"/>
          </a:xfrm>
          <a:prstGeom prst="rect">
            <a:avLst/>
          </a:prstGeom>
          <a:noFill/>
          <a:ln/>
        </p:spPr>
        <p:txBody>
          <a:bodyPr wrap="square" rtlCol="0" anchor="ctr"/>
          <a:lstStyle/>
          <a:p>
            <a:pPr marL="0" indent="0" algn="l">
              <a:buNone/>
            </a:pPr>
            <a:r>
              <a:rPr lang="en-US" sz="850" dirty="0">
                <a:solidFill>
                  <a:srgbClr val="5B6178"/>
                </a:solidFill>
                <a:latin typeface="Calibri" pitchFamily="34" charset="0"/>
                <a:ea typeface="Calibri" pitchFamily="34" charset="-122"/>
                <a:cs typeface="Calibri" pitchFamily="34" charset="-120"/>
              </a:rPr>
              <a:t>Java &amp; Full-Stack Interview Prep</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502920" y="384048"/>
            <a:ext cx="3474720" cy="310896"/>
          </a:xfrm>
          <a:prstGeom prst="roundRect">
            <a:avLst>
              <a:gd name="adj" fmla="val 23529"/>
            </a:avLst>
          </a:prstGeom>
          <a:solidFill>
            <a:srgbClr val="E8A33D"/>
          </a:solidFill>
          <a:ln/>
        </p:spPr>
      </p:sp>
      <p:sp>
        <p:nvSpPr>
          <p:cNvPr id="3" name="Text 1"/>
          <p:cNvSpPr/>
          <p:nvPr/>
        </p:nvSpPr>
        <p:spPr>
          <a:xfrm>
            <a:off x="502920" y="384048"/>
            <a:ext cx="3474720" cy="310896"/>
          </a:xfrm>
          <a:prstGeom prst="rect">
            <a:avLst/>
          </a:prstGeom>
          <a:noFill/>
          <a:ln/>
        </p:spPr>
        <p:txBody>
          <a:bodyPr wrap="square" rtlCol="0" anchor="ctr"/>
          <a:lstStyle/>
          <a:p>
            <a:pPr marL="0" indent="0" algn="ctr">
              <a:buNone/>
            </a:pPr>
            <a:r>
              <a:rPr lang="en-US" sz="1100" b="1" kern="0" spc="100" dirty="0">
                <a:solidFill>
                  <a:srgbClr val="1B2340"/>
                </a:solidFill>
                <a:latin typeface="Calibri" pitchFamily="34" charset="0"/>
                <a:ea typeface="Calibri" pitchFamily="34" charset="-122"/>
                <a:cs typeface="Calibri" pitchFamily="34" charset="-120"/>
              </a:rPr>
              <a:t>CORE JAVA &amp; OOP</a:t>
            </a:r>
            <a:endParaRPr lang="en-US" sz="1100" dirty="0"/>
          </a:p>
        </p:txBody>
      </p:sp>
      <p:sp>
        <p:nvSpPr>
          <p:cNvPr id="4" name="Text 2"/>
          <p:cNvSpPr/>
          <p:nvPr/>
        </p:nvSpPr>
        <p:spPr>
          <a:xfrm>
            <a:off x="502920" y="786384"/>
            <a:ext cx="11155680" cy="868680"/>
          </a:xfrm>
          <a:prstGeom prst="rect">
            <a:avLst/>
          </a:prstGeom>
          <a:noFill/>
          <a:ln/>
        </p:spPr>
        <p:txBody>
          <a:bodyPr wrap="square" rtlCol="0" anchor="t"/>
          <a:lstStyle/>
          <a:p>
            <a:pPr marL="0" indent="0">
              <a:lnSpc>
                <a:spcPct val="102000"/>
              </a:lnSpc>
              <a:buNone/>
            </a:pPr>
            <a:r>
              <a:rPr lang="en-US" sz="2500" b="1" dirty="0">
                <a:solidFill>
                  <a:srgbClr val="1B2340"/>
                </a:solidFill>
                <a:latin typeface="Century Schoolbook" pitchFamily="34" charset="0"/>
                <a:ea typeface="Century Schoolbook" pitchFamily="34" charset="-122"/>
                <a:cs typeface="Century Schoolbook" pitchFamily="34" charset="-120"/>
              </a:rPr>
              <a:t>Difference between final, finally, and finalize.</a:t>
            </a:r>
            <a:endParaRPr lang="en-US" sz="2500" dirty="0"/>
          </a:p>
        </p:txBody>
      </p:sp>
      <p:sp>
        <p:nvSpPr>
          <p:cNvPr id="5" name="Shape 3"/>
          <p:cNvSpPr/>
          <p:nvPr/>
        </p:nvSpPr>
        <p:spPr>
          <a:xfrm>
            <a:off x="502920" y="1810512"/>
            <a:ext cx="164592" cy="274320"/>
          </a:xfrm>
          <a:prstGeom prst="roundRect">
            <a:avLst>
              <a:gd name="adj" fmla="val 22222"/>
            </a:avLst>
          </a:prstGeom>
          <a:solidFill>
            <a:srgbClr val="E8A33D"/>
          </a:solidFill>
          <a:ln/>
        </p:spPr>
      </p:sp>
      <p:sp>
        <p:nvSpPr>
          <p:cNvPr id="6" name="Text 4"/>
          <p:cNvSpPr/>
          <p:nvPr/>
        </p:nvSpPr>
        <p:spPr>
          <a:xfrm>
            <a:off x="758952" y="1783080"/>
            <a:ext cx="4315968" cy="329184"/>
          </a:xfrm>
          <a:prstGeom prst="rect">
            <a:avLst/>
          </a:prstGeom>
          <a:noFill/>
          <a:ln/>
        </p:spPr>
        <p:txBody>
          <a:bodyPr wrap="square" rtlCol="0" anchor="ctr"/>
          <a:lstStyle/>
          <a:p>
            <a:pPr marL="0" indent="0">
              <a:buNone/>
            </a:pPr>
            <a:r>
              <a:rPr lang="en-US" sz="1300" b="1" kern="0" spc="50" dirty="0">
                <a:solidFill>
                  <a:srgbClr val="1B2340"/>
                </a:solidFill>
                <a:latin typeface="Calibri" pitchFamily="34" charset="0"/>
                <a:ea typeface="Calibri" pitchFamily="34" charset="-122"/>
                <a:cs typeface="Calibri" pitchFamily="34" charset="-120"/>
              </a:rPr>
              <a:t>DEFINITION / CONCEPT</a:t>
            </a:r>
            <a:endParaRPr lang="en-US" sz="1300" dirty="0"/>
          </a:p>
        </p:txBody>
      </p:sp>
      <p:sp>
        <p:nvSpPr>
          <p:cNvPr id="7" name="Shape 5"/>
          <p:cNvSpPr/>
          <p:nvPr/>
        </p:nvSpPr>
        <p:spPr>
          <a:xfrm>
            <a:off x="502920" y="2121408"/>
            <a:ext cx="11201400" cy="914400"/>
          </a:xfrm>
          <a:prstGeom prst="roundRect">
            <a:avLst>
              <a:gd name="adj" fmla="val 8000"/>
            </a:avLst>
          </a:prstGeom>
          <a:solidFill>
            <a:srgbClr val="F7F7FA"/>
          </a:solidFill>
          <a:ln w="12700">
            <a:solidFill>
              <a:srgbClr val="E4E6EF"/>
            </a:solidFill>
            <a:prstDash val="solid"/>
          </a:ln>
        </p:spPr>
      </p:sp>
      <p:sp>
        <p:nvSpPr>
          <p:cNvPr id="8" name="Text 6"/>
          <p:cNvSpPr/>
          <p:nvPr/>
        </p:nvSpPr>
        <p:spPr>
          <a:xfrm>
            <a:off x="758952" y="2304288"/>
            <a:ext cx="10689336" cy="548640"/>
          </a:xfrm>
          <a:prstGeom prst="rect">
            <a:avLst/>
          </a:prstGeom>
          <a:noFill/>
          <a:ln/>
        </p:spPr>
        <p:txBody>
          <a:bodyPr wrap="square" lIns="0" tIns="0" rIns="0" bIns="0" rtlCol="0" anchor="t"/>
          <a:lstStyle/>
          <a:p>
            <a:pPr marL="0" indent="0">
              <a:lnSpc>
                <a:spcPct val="115000"/>
              </a:lnSpc>
              <a:buNone/>
            </a:pPr>
            <a:r>
              <a:rPr lang="en-US" sz="1450" dirty="0">
                <a:solidFill>
                  <a:srgbClr val="1B2340"/>
                </a:solidFill>
                <a:latin typeface="Calibri" pitchFamily="34" charset="0"/>
                <a:ea typeface="Calibri" pitchFamily="34" charset="-122"/>
                <a:cs typeface="Calibri" pitchFamily="34" charset="-120"/>
              </a:rPr>
              <a:t>These three sound similar but do completely different jobs in Java.</a:t>
            </a:r>
            <a:endParaRPr lang="en-US" sz="1450" dirty="0"/>
          </a:p>
        </p:txBody>
      </p:sp>
      <p:sp>
        <p:nvSpPr>
          <p:cNvPr id="9" name="Shape 7"/>
          <p:cNvSpPr/>
          <p:nvPr/>
        </p:nvSpPr>
        <p:spPr>
          <a:xfrm>
            <a:off x="502920" y="3200400"/>
            <a:ext cx="164592" cy="274320"/>
          </a:xfrm>
          <a:prstGeom prst="roundRect">
            <a:avLst>
              <a:gd name="adj" fmla="val 22222"/>
            </a:avLst>
          </a:prstGeom>
          <a:solidFill>
            <a:srgbClr val="3FBFAE"/>
          </a:solidFill>
          <a:ln/>
        </p:spPr>
      </p:sp>
      <p:sp>
        <p:nvSpPr>
          <p:cNvPr id="10" name="Text 8"/>
          <p:cNvSpPr/>
          <p:nvPr/>
        </p:nvSpPr>
        <p:spPr>
          <a:xfrm>
            <a:off x="758952" y="3172968"/>
            <a:ext cx="4315968" cy="329184"/>
          </a:xfrm>
          <a:prstGeom prst="rect">
            <a:avLst/>
          </a:prstGeom>
          <a:noFill/>
          <a:ln/>
        </p:spPr>
        <p:txBody>
          <a:bodyPr wrap="square" rtlCol="0" anchor="ctr"/>
          <a:lstStyle/>
          <a:p>
            <a:pPr marL="0" indent="0">
              <a:buNone/>
            </a:pPr>
            <a:r>
              <a:rPr lang="en-US" sz="1300" b="1" kern="0" spc="50" dirty="0">
                <a:solidFill>
                  <a:srgbClr val="1B2340"/>
                </a:solidFill>
                <a:latin typeface="Calibri" pitchFamily="34" charset="0"/>
                <a:ea typeface="Calibri" pitchFamily="34" charset="-122"/>
                <a:cs typeface="Calibri" pitchFamily="34" charset="-120"/>
              </a:rPr>
              <a:t>EXPLANATION</a:t>
            </a:r>
            <a:endParaRPr lang="en-US" sz="1300" dirty="0"/>
          </a:p>
        </p:txBody>
      </p:sp>
      <p:sp>
        <p:nvSpPr>
          <p:cNvPr id="11" name="Text 9"/>
          <p:cNvSpPr/>
          <p:nvPr/>
        </p:nvSpPr>
        <p:spPr>
          <a:xfrm>
            <a:off x="502920" y="3529584"/>
            <a:ext cx="6858000" cy="2331720"/>
          </a:xfrm>
          <a:prstGeom prst="rect">
            <a:avLst/>
          </a:prstGeom>
          <a:noFill/>
          <a:ln/>
        </p:spPr>
        <p:txBody>
          <a:bodyPr wrap="square" lIns="0" tIns="0" rIns="0" bIns="0" rtlCol="0" anchor="t"/>
          <a:lstStyle/>
          <a:p>
            <a:pPr marL="177800" indent="-177800">
              <a:spcAft>
                <a:spcPts val="800"/>
              </a:spcAft>
              <a:buSzPct val="100000"/>
              <a:buChar char="•"/>
            </a:pPr>
            <a:r>
              <a:rPr lang="en-US" sz="1300" dirty="0">
                <a:solidFill>
                  <a:srgbClr val="1B2340"/>
                </a:solidFill>
                <a:latin typeface="Calibri" pitchFamily="34" charset="0"/>
                <a:ea typeface="Calibri" pitchFamily="34" charset="-122"/>
                <a:cs typeface="Calibri" pitchFamily="34" charset="-120"/>
              </a:rPr>
              <a:t>final - a keyword that makes a variable constant, a method non-overridable, or a class non-inheritable</a:t>
            </a:r>
            <a:endParaRPr lang="en-US" sz="1300" dirty="0"/>
          </a:p>
          <a:p>
            <a:pPr marL="177800" indent="-177800">
              <a:spcAft>
                <a:spcPts val="800"/>
              </a:spcAft>
              <a:buSzPct val="100000"/>
              <a:buChar char="•"/>
            </a:pPr>
            <a:r>
              <a:rPr lang="en-US" sz="1300" dirty="0">
                <a:solidFill>
                  <a:srgbClr val="1B2340"/>
                </a:solidFill>
                <a:latin typeface="Calibri" pitchFamily="34" charset="0"/>
                <a:ea typeface="Calibri" pitchFamily="34" charset="-122"/>
                <a:cs typeface="Calibri" pitchFamily="34" charset="-120"/>
              </a:rPr>
              <a:t>finally - a block that always executes after try-catch, used for cleanup like closing files</a:t>
            </a:r>
            <a:endParaRPr lang="en-US" sz="1300" dirty="0"/>
          </a:p>
          <a:p>
            <a:pPr marL="177800" indent="-177800">
              <a:spcAft>
                <a:spcPts val="800"/>
              </a:spcAft>
              <a:buSzPct val="100000"/>
              <a:buChar char="•"/>
            </a:pPr>
            <a:r>
              <a:rPr lang="en-US" sz="1300" dirty="0">
                <a:solidFill>
                  <a:srgbClr val="1B2340"/>
                </a:solidFill>
                <a:latin typeface="Calibri" pitchFamily="34" charset="0"/>
                <a:ea typeface="Calibri" pitchFamily="34" charset="-122"/>
                <a:cs typeface="Calibri" pitchFamily="34" charset="-120"/>
              </a:rPr>
              <a:t>finalize() - a method called by the Garbage Collector just before an object is destroyed (rarely used today)</a:t>
            </a:r>
            <a:endParaRPr lang="en-US" sz="1300" dirty="0"/>
          </a:p>
          <a:p>
            <a:pPr marL="177800" indent="-177800">
              <a:spcAft>
                <a:spcPts val="800"/>
              </a:spcAft>
              <a:buSzPct val="100000"/>
              <a:buChar char="•"/>
            </a:pPr>
            <a:r>
              <a:rPr lang="en-US" sz="1300" dirty="0">
                <a:solidFill>
                  <a:srgbClr val="1B2340"/>
                </a:solidFill>
                <a:latin typeface="Calibri" pitchFamily="34" charset="0"/>
                <a:ea typeface="Calibri" pitchFamily="34" charset="-122"/>
                <a:cs typeface="Calibri" pitchFamily="34" charset="-120"/>
              </a:rPr>
              <a:t>Remember: final = restriction, finally = guaranteed execution, finalize = cleanup before deletion</a:t>
            </a:r>
            <a:endParaRPr lang="en-US" sz="1300" dirty="0"/>
          </a:p>
        </p:txBody>
      </p:sp>
      <p:sp>
        <p:nvSpPr>
          <p:cNvPr id="12" name="Shape 10"/>
          <p:cNvSpPr/>
          <p:nvPr/>
        </p:nvSpPr>
        <p:spPr>
          <a:xfrm>
            <a:off x="7589520" y="3200400"/>
            <a:ext cx="4114800" cy="2194560"/>
          </a:xfrm>
          <a:prstGeom prst="roundRect">
            <a:avLst>
              <a:gd name="adj" fmla="val 3333"/>
            </a:avLst>
          </a:prstGeom>
          <a:solidFill>
            <a:srgbClr val="FDF3E3"/>
          </a:solidFill>
          <a:ln/>
        </p:spPr>
      </p:sp>
      <p:sp>
        <p:nvSpPr>
          <p:cNvPr id="13" name="Text 11"/>
          <p:cNvSpPr/>
          <p:nvPr/>
        </p:nvSpPr>
        <p:spPr>
          <a:xfrm>
            <a:off x="7790688" y="3310128"/>
            <a:ext cx="3712464" cy="274320"/>
          </a:xfrm>
          <a:prstGeom prst="rect">
            <a:avLst/>
          </a:prstGeom>
          <a:noFill/>
          <a:ln/>
        </p:spPr>
        <p:txBody>
          <a:bodyPr wrap="square" rtlCol="0" anchor="ctr"/>
          <a:lstStyle/>
          <a:p>
            <a:pPr marL="0" indent="0">
              <a:buNone/>
            </a:pPr>
            <a:r>
              <a:rPr lang="en-US" sz="1100" b="1" kern="0" spc="50" dirty="0">
                <a:solidFill>
                  <a:srgbClr val="C9862A"/>
                </a:solidFill>
                <a:latin typeface="Calibri" pitchFamily="34" charset="0"/>
                <a:ea typeface="Calibri" pitchFamily="34" charset="-122"/>
                <a:cs typeface="Calibri" pitchFamily="34" charset="-120"/>
              </a:rPr>
              <a:t>💡 REAL-LIFE ANALOGY</a:t>
            </a:r>
            <a:endParaRPr lang="en-US" sz="1100" dirty="0"/>
          </a:p>
        </p:txBody>
      </p:sp>
      <p:sp>
        <p:nvSpPr>
          <p:cNvPr id="14" name="Text 12"/>
          <p:cNvSpPr/>
          <p:nvPr/>
        </p:nvSpPr>
        <p:spPr>
          <a:xfrm>
            <a:off x="7790688" y="3602736"/>
            <a:ext cx="3712464" cy="1664208"/>
          </a:xfrm>
          <a:prstGeom prst="rect">
            <a:avLst/>
          </a:prstGeom>
          <a:noFill/>
          <a:ln/>
        </p:spPr>
        <p:txBody>
          <a:bodyPr wrap="square" lIns="0" tIns="0" rIns="0" bIns="0" rtlCol="0" anchor="t"/>
          <a:lstStyle/>
          <a:p>
            <a:pPr marL="0" indent="0">
              <a:lnSpc>
                <a:spcPct val="110000"/>
              </a:lnSpc>
              <a:buNone/>
            </a:pPr>
            <a:r>
              <a:rPr lang="en-US" sz="1250" i="1" dirty="0">
                <a:solidFill>
                  <a:srgbClr val="1B2340"/>
                </a:solidFill>
                <a:latin typeface="Calibri" pitchFamily="34" charset="0"/>
                <a:ea typeface="Calibri" pitchFamily="34" charset="-122"/>
                <a:cs typeface="Calibri" pitchFamily="34" charset="-120"/>
              </a:rPr>
              <a:t>final is like a locked door (can't be changed), finally is like turning off the lights before leaving a room no matter what happened inside, and finalize is like a cleanup crew right before a building is demolished.</a:t>
            </a:r>
            <a:endParaRPr lang="en-US" sz="1250" dirty="0"/>
          </a:p>
        </p:txBody>
      </p:sp>
      <p:sp>
        <p:nvSpPr>
          <p:cNvPr id="15" name="Shape 13"/>
          <p:cNvSpPr/>
          <p:nvPr/>
        </p:nvSpPr>
        <p:spPr>
          <a:xfrm>
            <a:off x="502920" y="5870448"/>
            <a:ext cx="11201400" cy="603504"/>
          </a:xfrm>
          <a:prstGeom prst="roundRect">
            <a:avLst>
              <a:gd name="adj" fmla="val 12121"/>
            </a:avLst>
          </a:prstGeom>
          <a:solidFill>
            <a:srgbClr val="1B2340"/>
          </a:solidFill>
          <a:ln/>
        </p:spPr>
      </p:sp>
      <p:sp>
        <p:nvSpPr>
          <p:cNvPr id="16" name="Text 14"/>
          <p:cNvSpPr/>
          <p:nvPr/>
        </p:nvSpPr>
        <p:spPr>
          <a:xfrm>
            <a:off x="731520" y="5961888"/>
            <a:ext cx="10744200" cy="256032"/>
          </a:xfrm>
          <a:prstGeom prst="rect">
            <a:avLst/>
          </a:prstGeom>
          <a:noFill/>
          <a:ln/>
        </p:spPr>
        <p:txBody>
          <a:bodyPr wrap="square" rtlCol="0" anchor="ctr"/>
          <a:lstStyle/>
          <a:p>
            <a:pPr marL="0" indent="0">
              <a:buNone/>
            </a:pPr>
            <a:r>
              <a:rPr lang="en-US" sz="1050" b="1" kern="0" spc="80" dirty="0">
                <a:solidFill>
                  <a:srgbClr val="E8A33D"/>
                </a:solidFill>
                <a:latin typeface="Calibri" pitchFamily="34" charset="0"/>
                <a:ea typeface="Calibri" pitchFamily="34" charset="-122"/>
                <a:cs typeface="Calibri" pitchFamily="34" charset="-120"/>
              </a:rPr>
              <a:t>ONE-LINE INTERVIEW ANSWER</a:t>
            </a:r>
            <a:endParaRPr lang="en-US" sz="1050" dirty="0"/>
          </a:p>
        </p:txBody>
      </p:sp>
      <p:sp>
        <p:nvSpPr>
          <p:cNvPr id="17" name="Text 15"/>
          <p:cNvSpPr/>
          <p:nvPr/>
        </p:nvSpPr>
        <p:spPr>
          <a:xfrm>
            <a:off x="731520" y="6217920"/>
            <a:ext cx="10744200" cy="146304"/>
          </a:xfrm>
          <a:prstGeom prst="rect">
            <a:avLst/>
          </a:prstGeom>
          <a:noFill/>
          <a:ln/>
        </p:spPr>
        <p:txBody>
          <a:bodyPr wrap="square" lIns="0" tIns="0" rIns="0" bIns="0" rtlCol="0" anchor="t"/>
          <a:lstStyle/>
          <a:p>
            <a:pPr marL="0" indent="0">
              <a:lnSpc>
                <a:spcPct val="105000"/>
              </a:lnSpc>
              <a:buNone/>
            </a:pPr>
            <a:r>
              <a:rPr lang="en-US" sz="1250" dirty="0">
                <a:solidFill>
                  <a:srgbClr val="FFFFFF"/>
                </a:solidFill>
                <a:latin typeface="Calibri" pitchFamily="34" charset="0"/>
                <a:ea typeface="Calibri" pitchFamily="34" charset="-122"/>
                <a:cs typeface="Calibri" pitchFamily="34" charset="-120"/>
              </a:rPr>
              <a:t>final restricts change, finally always runs after try-catch for cleanup, and finalize is called by the garbage collector before object destruction.</a:t>
            </a:r>
            <a:endParaRPr lang="en-US" sz="1250" dirty="0"/>
          </a:p>
        </p:txBody>
      </p:sp>
      <p:sp>
        <p:nvSpPr>
          <p:cNvPr id="18" name="Text 16"/>
          <p:cNvSpPr/>
          <p:nvPr/>
        </p:nvSpPr>
        <p:spPr>
          <a:xfrm>
            <a:off x="457200" y="6583680"/>
            <a:ext cx="5486400" cy="228600"/>
          </a:xfrm>
          <a:prstGeom prst="rect">
            <a:avLst/>
          </a:prstGeom>
          <a:noFill/>
          <a:ln/>
        </p:spPr>
        <p:txBody>
          <a:bodyPr wrap="square" rtlCol="0" anchor="ctr"/>
          <a:lstStyle/>
          <a:p>
            <a:pPr marL="0" indent="0" algn="l">
              <a:buNone/>
            </a:pPr>
            <a:r>
              <a:rPr lang="en-US" sz="850" dirty="0">
                <a:solidFill>
                  <a:srgbClr val="5B6178"/>
                </a:solidFill>
                <a:latin typeface="Calibri" pitchFamily="34" charset="0"/>
                <a:ea typeface="Calibri" pitchFamily="34" charset="-122"/>
                <a:cs typeface="Calibri" pitchFamily="34" charset="-120"/>
              </a:rPr>
              <a:t>Java &amp; Full-Stack Interview Prep</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502920" y="384048"/>
            <a:ext cx="3474720" cy="310896"/>
          </a:xfrm>
          <a:prstGeom prst="roundRect">
            <a:avLst>
              <a:gd name="adj" fmla="val 23529"/>
            </a:avLst>
          </a:prstGeom>
          <a:solidFill>
            <a:srgbClr val="E8A33D"/>
          </a:solidFill>
          <a:ln/>
        </p:spPr>
      </p:sp>
      <p:sp>
        <p:nvSpPr>
          <p:cNvPr id="3" name="Text 1"/>
          <p:cNvSpPr/>
          <p:nvPr/>
        </p:nvSpPr>
        <p:spPr>
          <a:xfrm>
            <a:off x="502920" y="384048"/>
            <a:ext cx="3474720" cy="310896"/>
          </a:xfrm>
          <a:prstGeom prst="rect">
            <a:avLst/>
          </a:prstGeom>
          <a:noFill/>
          <a:ln/>
        </p:spPr>
        <p:txBody>
          <a:bodyPr wrap="square" rtlCol="0" anchor="ctr"/>
          <a:lstStyle/>
          <a:p>
            <a:pPr marL="0" indent="0" algn="ctr">
              <a:buNone/>
            </a:pPr>
            <a:r>
              <a:rPr lang="en-US" sz="1100" b="1" kern="0" spc="100" dirty="0">
                <a:solidFill>
                  <a:srgbClr val="1B2340"/>
                </a:solidFill>
                <a:latin typeface="Calibri" pitchFamily="34" charset="0"/>
                <a:ea typeface="Calibri" pitchFamily="34" charset="-122"/>
                <a:cs typeface="Calibri" pitchFamily="34" charset="-120"/>
              </a:rPr>
              <a:t>CORE JAVA &amp; OOP</a:t>
            </a:r>
            <a:endParaRPr lang="en-US" sz="1100" dirty="0"/>
          </a:p>
        </p:txBody>
      </p:sp>
      <p:sp>
        <p:nvSpPr>
          <p:cNvPr id="4" name="Text 2"/>
          <p:cNvSpPr/>
          <p:nvPr/>
        </p:nvSpPr>
        <p:spPr>
          <a:xfrm>
            <a:off x="502920" y="786384"/>
            <a:ext cx="11155680" cy="868680"/>
          </a:xfrm>
          <a:prstGeom prst="rect">
            <a:avLst/>
          </a:prstGeom>
          <a:noFill/>
          <a:ln/>
        </p:spPr>
        <p:txBody>
          <a:bodyPr wrap="square" rtlCol="0" anchor="t"/>
          <a:lstStyle/>
          <a:p>
            <a:pPr marL="0" indent="0">
              <a:lnSpc>
                <a:spcPct val="102000"/>
              </a:lnSpc>
              <a:buNone/>
            </a:pPr>
            <a:r>
              <a:rPr lang="en-US" sz="2500" b="1" dirty="0">
                <a:solidFill>
                  <a:srgbClr val="1B2340"/>
                </a:solidFill>
                <a:latin typeface="Century Schoolbook" pitchFamily="34" charset="0"/>
                <a:ea typeface="Century Schoolbook" pitchFamily="34" charset="-122"/>
                <a:cs typeface="Century Schoolbook" pitchFamily="34" charset="-120"/>
              </a:rPr>
              <a:t>Why is Java called platform independent? What are JVM, JDK, JRE?</a:t>
            </a:r>
            <a:endParaRPr lang="en-US" sz="2500" dirty="0"/>
          </a:p>
        </p:txBody>
      </p:sp>
      <p:sp>
        <p:nvSpPr>
          <p:cNvPr id="5" name="Shape 3"/>
          <p:cNvSpPr/>
          <p:nvPr/>
        </p:nvSpPr>
        <p:spPr>
          <a:xfrm>
            <a:off x="502920" y="1810512"/>
            <a:ext cx="164592" cy="274320"/>
          </a:xfrm>
          <a:prstGeom prst="roundRect">
            <a:avLst>
              <a:gd name="adj" fmla="val 22222"/>
            </a:avLst>
          </a:prstGeom>
          <a:solidFill>
            <a:srgbClr val="E8A33D"/>
          </a:solidFill>
          <a:ln/>
        </p:spPr>
      </p:sp>
      <p:sp>
        <p:nvSpPr>
          <p:cNvPr id="6" name="Text 4"/>
          <p:cNvSpPr/>
          <p:nvPr/>
        </p:nvSpPr>
        <p:spPr>
          <a:xfrm>
            <a:off x="758952" y="1783080"/>
            <a:ext cx="4315968" cy="329184"/>
          </a:xfrm>
          <a:prstGeom prst="rect">
            <a:avLst/>
          </a:prstGeom>
          <a:noFill/>
          <a:ln/>
        </p:spPr>
        <p:txBody>
          <a:bodyPr wrap="square" rtlCol="0" anchor="ctr"/>
          <a:lstStyle/>
          <a:p>
            <a:pPr marL="0" indent="0">
              <a:buNone/>
            </a:pPr>
            <a:r>
              <a:rPr lang="en-US" sz="1300" b="1" kern="0" spc="50" dirty="0">
                <a:solidFill>
                  <a:srgbClr val="1B2340"/>
                </a:solidFill>
                <a:latin typeface="Calibri" pitchFamily="34" charset="0"/>
                <a:ea typeface="Calibri" pitchFamily="34" charset="-122"/>
                <a:cs typeface="Calibri" pitchFamily="34" charset="-120"/>
              </a:rPr>
              <a:t>DEFINITION / CONCEPT</a:t>
            </a:r>
            <a:endParaRPr lang="en-US" sz="1300" dirty="0"/>
          </a:p>
        </p:txBody>
      </p:sp>
      <p:sp>
        <p:nvSpPr>
          <p:cNvPr id="7" name="Shape 5"/>
          <p:cNvSpPr/>
          <p:nvPr/>
        </p:nvSpPr>
        <p:spPr>
          <a:xfrm>
            <a:off x="502920" y="2121408"/>
            <a:ext cx="11201400" cy="914400"/>
          </a:xfrm>
          <a:prstGeom prst="roundRect">
            <a:avLst>
              <a:gd name="adj" fmla="val 8000"/>
            </a:avLst>
          </a:prstGeom>
          <a:solidFill>
            <a:srgbClr val="F7F7FA"/>
          </a:solidFill>
          <a:ln w="12700">
            <a:solidFill>
              <a:srgbClr val="E4E6EF"/>
            </a:solidFill>
            <a:prstDash val="solid"/>
          </a:ln>
        </p:spPr>
      </p:sp>
      <p:sp>
        <p:nvSpPr>
          <p:cNvPr id="8" name="Text 6"/>
          <p:cNvSpPr/>
          <p:nvPr/>
        </p:nvSpPr>
        <p:spPr>
          <a:xfrm>
            <a:off x="758952" y="2304288"/>
            <a:ext cx="10689336" cy="548640"/>
          </a:xfrm>
          <a:prstGeom prst="rect">
            <a:avLst/>
          </a:prstGeom>
          <a:noFill/>
          <a:ln/>
        </p:spPr>
        <p:txBody>
          <a:bodyPr wrap="square" lIns="0" tIns="0" rIns="0" bIns="0" rtlCol="0" anchor="t"/>
          <a:lstStyle/>
          <a:p>
            <a:pPr marL="0" indent="0">
              <a:lnSpc>
                <a:spcPct val="115000"/>
              </a:lnSpc>
              <a:buNone/>
            </a:pPr>
            <a:r>
              <a:rPr lang="en-US" sz="1450" dirty="0">
                <a:solidFill>
                  <a:srgbClr val="1B2340"/>
                </a:solidFill>
                <a:latin typeface="Calibri" pitchFamily="34" charset="0"/>
                <a:ea typeface="Calibri" pitchFamily="34" charset="-122"/>
                <a:cs typeface="Calibri" pitchFamily="34" charset="-120"/>
              </a:rPr>
              <a:t>Java code is compiled into an intermediate form called bytecode, which can run on any machine that has a JVM installed - this is what makes Java 'write once, run anywhere'.</a:t>
            </a:r>
            <a:endParaRPr lang="en-US" sz="1450" dirty="0"/>
          </a:p>
        </p:txBody>
      </p:sp>
      <p:sp>
        <p:nvSpPr>
          <p:cNvPr id="9" name="Shape 7"/>
          <p:cNvSpPr/>
          <p:nvPr/>
        </p:nvSpPr>
        <p:spPr>
          <a:xfrm>
            <a:off x="502920" y="3200400"/>
            <a:ext cx="164592" cy="274320"/>
          </a:xfrm>
          <a:prstGeom prst="roundRect">
            <a:avLst>
              <a:gd name="adj" fmla="val 22222"/>
            </a:avLst>
          </a:prstGeom>
          <a:solidFill>
            <a:srgbClr val="3FBFAE"/>
          </a:solidFill>
          <a:ln/>
        </p:spPr>
      </p:sp>
      <p:sp>
        <p:nvSpPr>
          <p:cNvPr id="10" name="Text 8"/>
          <p:cNvSpPr/>
          <p:nvPr/>
        </p:nvSpPr>
        <p:spPr>
          <a:xfrm>
            <a:off x="758952" y="3172968"/>
            <a:ext cx="4315968" cy="329184"/>
          </a:xfrm>
          <a:prstGeom prst="rect">
            <a:avLst/>
          </a:prstGeom>
          <a:noFill/>
          <a:ln/>
        </p:spPr>
        <p:txBody>
          <a:bodyPr wrap="square" rtlCol="0" anchor="ctr"/>
          <a:lstStyle/>
          <a:p>
            <a:pPr marL="0" indent="0">
              <a:buNone/>
            </a:pPr>
            <a:r>
              <a:rPr lang="en-US" sz="1300" b="1" kern="0" spc="50" dirty="0">
                <a:solidFill>
                  <a:srgbClr val="1B2340"/>
                </a:solidFill>
                <a:latin typeface="Calibri" pitchFamily="34" charset="0"/>
                <a:ea typeface="Calibri" pitchFamily="34" charset="-122"/>
                <a:cs typeface="Calibri" pitchFamily="34" charset="-120"/>
              </a:rPr>
              <a:t>EXPLANATION</a:t>
            </a:r>
            <a:endParaRPr lang="en-US" sz="1300" dirty="0"/>
          </a:p>
        </p:txBody>
      </p:sp>
      <p:sp>
        <p:nvSpPr>
          <p:cNvPr id="11" name="Text 9"/>
          <p:cNvSpPr/>
          <p:nvPr/>
        </p:nvSpPr>
        <p:spPr>
          <a:xfrm>
            <a:off x="502920" y="3529584"/>
            <a:ext cx="6858000" cy="2331720"/>
          </a:xfrm>
          <a:prstGeom prst="rect">
            <a:avLst/>
          </a:prstGeom>
          <a:noFill/>
          <a:ln/>
        </p:spPr>
        <p:txBody>
          <a:bodyPr wrap="square" lIns="0" tIns="0" rIns="0" bIns="0" rtlCol="0" anchor="t"/>
          <a:lstStyle/>
          <a:p>
            <a:pPr marL="177800" indent="-177800">
              <a:spcAft>
                <a:spcPts val="800"/>
              </a:spcAft>
              <a:buSzPct val="100000"/>
              <a:buChar char="•"/>
            </a:pPr>
            <a:r>
              <a:rPr lang="en-US" sz="1300" dirty="0">
                <a:solidFill>
                  <a:srgbClr val="1B2340"/>
                </a:solidFill>
                <a:latin typeface="Calibri" pitchFamily="34" charset="0"/>
                <a:ea typeface="Calibri" pitchFamily="34" charset="-122"/>
                <a:cs typeface="Calibri" pitchFamily="34" charset="-120"/>
              </a:rPr>
              <a:t>JDK (Java Development Kit) - tools to write and compile Java code; includes JRE</a:t>
            </a:r>
            <a:endParaRPr lang="en-US" sz="1300" dirty="0"/>
          </a:p>
          <a:p>
            <a:pPr marL="177800" indent="-177800">
              <a:spcAft>
                <a:spcPts val="800"/>
              </a:spcAft>
              <a:buSzPct val="100000"/>
              <a:buChar char="•"/>
            </a:pPr>
            <a:r>
              <a:rPr lang="en-US" sz="1300" dirty="0">
                <a:solidFill>
                  <a:srgbClr val="1B2340"/>
                </a:solidFill>
                <a:latin typeface="Calibri" pitchFamily="34" charset="0"/>
                <a:ea typeface="Calibri" pitchFamily="34" charset="-122"/>
                <a:cs typeface="Calibri" pitchFamily="34" charset="-120"/>
              </a:rPr>
              <a:t>JRE (Java Runtime Environment) - environment needed to run Java programs; includes JVM</a:t>
            </a:r>
            <a:endParaRPr lang="en-US" sz="1300" dirty="0"/>
          </a:p>
          <a:p>
            <a:pPr marL="177800" indent="-177800">
              <a:spcAft>
                <a:spcPts val="800"/>
              </a:spcAft>
              <a:buSzPct val="100000"/>
              <a:buChar char="•"/>
            </a:pPr>
            <a:r>
              <a:rPr lang="en-US" sz="1300" dirty="0">
                <a:solidFill>
                  <a:srgbClr val="1B2340"/>
                </a:solidFill>
                <a:latin typeface="Calibri" pitchFamily="34" charset="0"/>
                <a:ea typeface="Calibri" pitchFamily="34" charset="-122"/>
                <a:cs typeface="Calibri" pitchFamily="34" charset="-120"/>
              </a:rPr>
              <a:t>JVM (Java Virtual Machine) - converts bytecode into machine-specific instructions and executes it</a:t>
            </a:r>
            <a:endParaRPr lang="en-US" sz="1300" dirty="0"/>
          </a:p>
          <a:p>
            <a:pPr marL="177800" indent="-177800">
              <a:spcAft>
                <a:spcPts val="800"/>
              </a:spcAft>
              <a:buSzPct val="100000"/>
              <a:buChar char="•"/>
            </a:pPr>
            <a:r>
              <a:rPr lang="en-US" sz="1300" dirty="0">
                <a:solidFill>
                  <a:srgbClr val="1B2340"/>
                </a:solidFill>
                <a:latin typeface="Calibri" pitchFamily="34" charset="0"/>
                <a:ea typeface="Calibri" pitchFamily="34" charset="-122"/>
                <a:cs typeface="Calibri" pitchFamily="34" charset="-120"/>
              </a:rPr>
              <a:t>Because the JVM (not the raw source code) is platform-specific, the same .class file runs on Windows, Linux, or Mac</a:t>
            </a:r>
            <a:endParaRPr lang="en-US" sz="1300" dirty="0"/>
          </a:p>
        </p:txBody>
      </p:sp>
      <p:sp>
        <p:nvSpPr>
          <p:cNvPr id="12" name="Shape 10"/>
          <p:cNvSpPr/>
          <p:nvPr/>
        </p:nvSpPr>
        <p:spPr>
          <a:xfrm>
            <a:off x="7589520" y="3200400"/>
            <a:ext cx="4114800" cy="2194560"/>
          </a:xfrm>
          <a:prstGeom prst="roundRect">
            <a:avLst>
              <a:gd name="adj" fmla="val 3333"/>
            </a:avLst>
          </a:prstGeom>
          <a:solidFill>
            <a:srgbClr val="FDF3E3"/>
          </a:solidFill>
          <a:ln/>
        </p:spPr>
      </p:sp>
      <p:sp>
        <p:nvSpPr>
          <p:cNvPr id="13" name="Text 11"/>
          <p:cNvSpPr/>
          <p:nvPr/>
        </p:nvSpPr>
        <p:spPr>
          <a:xfrm>
            <a:off x="7790688" y="3310128"/>
            <a:ext cx="3712464" cy="274320"/>
          </a:xfrm>
          <a:prstGeom prst="rect">
            <a:avLst/>
          </a:prstGeom>
          <a:noFill/>
          <a:ln/>
        </p:spPr>
        <p:txBody>
          <a:bodyPr wrap="square" rtlCol="0" anchor="ctr"/>
          <a:lstStyle/>
          <a:p>
            <a:pPr marL="0" indent="0">
              <a:buNone/>
            </a:pPr>
            <a:r>
              <a:rPr lang="en-US" sz="1100" b="1" kern="0" spc="50" dirty="0">
                <a:solidFill>
                  <a:srgbClr val="C9862A"/>
                </a:solidFill>
                <a:latin typeface="Calibri" pitchFamily="34" charset="0"/>
                <a:ea typeface="Calibri" pitchFamily="34" charset="-122"/>
                <a:cs typeface="Calibri" pitchFamily="34" charset="-120"/>
              </a:rPr>
              <a:t>💡 REAL-LIFE ANALOGY</a:t>
            </a:r>
            <a:endParaRPr lang="en-US" sz="1100" dirty="0"/>
          </a:p>
        </p:txBody>
      </p:sp>
      <p:sp>
        <p:nvSpPr>
          <p:cNvPr id="14" name="Text 12"/>
          <p:cNvSpPr/>
          <p:nvPr/>
        </p:nvSpPr>
        <p:spPr>
          <a:xfrm>
            <a:off x="7790688" y="3602736"/>
            <a:ext cx="3712464" cy="1664208"/>
          </a:xfrm>
          <a:prstGeom prst="rect">
            <a:avLst/>
          </a:prstGeom>
          <a:noFill/>
          <a:ln/>
        </p:spPr>
        <p:txBody>
          <a:bodyPr wrap="square" lIns="0" tIns="0" rIns="0" bIns="0" rtlCol="0" anchor="t"/>
          <a:lstStyle/>
          <a:p>
            <a:pPr marL="0" indent="0">
              <a:lnSpc>
                <a:spcPct val="110000"/>
              </a:lnSpc>
              <a:buNone/>
            </a:pPr>
            <a:r>
              <a:rPr lang="en-US" sz="1250" i="1" dirty="0">
                <a:solidFill>
                  <a:srgbClr val="1B2340"/>
                </a:solidFill>
                <a:latin typeface="Calibri" pitchFamily="34" charset="0"/>
                <a:ea typeface="Calibri" pitchFamily="34" charset="-122"/>
                <a:cs typeface="Calibri" pitchFamily="34" charset="-120"/>
              </a:rPr>
              <a:t>Think of bytecode like a universal translator. A speech (Java code) is translated once into a universal format, and every country's local translator (JVM) can understand and speak it in their own tongue.</a:t>
            </a:r>
            <a:endParaRPr lang="en-US" sz="1250" dirty="0"/>
          </a:p>
        </p:txBody>
      </p:sp>
      <p:sp>
        <p:nvSpPr>
          <p:cNvPr id="15" name="Shape 13"/>
          <p:cNvSpPr/>
          <p:nvPr/>
        </p:nvSpPr>
        <p:spPr>
          <a:xfrm>
            <a:off x="502920" y="5870448"/>
            <a:ext cx="11201400" cy="603504"/>
          </a:xfrm>
          <a:prstGeom prst="roundRect">
            <a:avLst>
              <a:gd name="adj" fmla="val 12121"/>
            </a:avLst>
          </a:prstGeom>
          <a:solidFill>
            <a:srgbClr val="1B2340"/>
          </a:solidFill>
          <a:ln/>
        </p:spPr>
      </p:sp>
      <p:sp>
        <p:nvSpPr>
          <p:cNvPr id="16" name="Text 14"/>
          <p:cNvSpPr/>
          <p:nvPr/>
        </p:nvSpPr>
        <p:spPr>
          <a:xfrm>
            <a:off x="731520" y="5961888"/>
            <a:ext cx="10744200" cy="256032"/>
          </a:xfrm>
          <a:prstGeom prst="rect">
            <a:avLst/>
          </a:prstGeom>
          <a:noFill/>
          <a:ln/>
        </p:spPr>
        <p:txBody>
          <a:bodyPr wrap="square" rtlCol="0" anchor="ctr"/>
          <a:lstStyle/>
          <a:p>
            <a:pPr marL="0" indent="0">
              <a:buNone/>
            </a:pPr>
            <a:r>
              <a:rPr lang="en-US" sz="1050" b="1" kern="0" spc="80" dirty="0">
                <a:solidFill>
                  <a:srgbClr val="E8A33D"/>
                </a:solidFill>
                <a:latin typeface="Calibri" pitchFamily="34" charset="0"/>
                <a:ea typeface="Calibri" pitchFamily="34" charset="-122"/>
                <a:cs typeface="Calibri" pitchFamily="34" charset="-120"/>
              </a:rPr>
              <a:t>ONE-LINE INTERVIEW ANSWER</a:t>
            </a:r>
            <a:endParaRPr lang="en-US" sz="1050" dirty="0"/>
          </a:p>
        </p:txBody>
      </p:sp>
      <p:sp>
        <p:nvSpPr>
          <p:cNvPr id="17" name="Text 15"/>
          <p:cNvSpPr/>
          <p:nvPr/>
        </p:nvSpPr>
        <p:spPr>
          <a:xfrm>
            <a:off x="731520" y="6217920"/>
            <a:ext cx="10744200" cy="146304"/>
          </a:xfrm>
          <a:prstGeom prst="rect">
            <a:avLst/>
          </a:prstGeom>
          <a:noFill/>
          <a:ln/>
        </p:spPr>
        <p:txBody>
          <a:bodyPr wrap="square" lIns="0" tIns="0" rIns="0" bIns="0" rtlCol="0" anchor="t"/>
          <a:lstStyle/>
          <a:p>
            <a:pPr marL="0" indent="0">
              <a:lnSpc>
                <a:spcPct val="105000"/>
              </a:lnSpc>
              <a:buNone/>
            </a:pPr>
            <a:r>
              <a:rPr lang="en-US" sz="1250" dirty="0">
                <a:solidFill>
                  <a:srgbClr val="FFFFFF"/>
                </a:solidFill>
                <a:latin typeface="Calibri" pitchFamily="34" charset="0"/>
                <a:ea typeface="Calibri" pitchFamily="34" charset="-122"/>
                <a:cs typeface="Calibri" pitchFamily="34" charset="-120"/>
              </a:rPr>
              <a:t>Java is platform independent because it compiles to bytecode, which any machine's JVM can execute - hence 'write once, run anywhere'.</a:t>
            </a:r>
            <a:endParaRPr lang="en-US" sz="1250" dirty="0"/>
          </a:p>
        </p:txBody>
      </p:sp>
      <p:sp>
        <p:nvSpPr>
          <p:cNvPr id="18" name="Text 16"/>
          <p:cNvSpPr/>
          <p:nvPr/>
        </p:nvSpPr>
        <p:spPr>
          <a:xfrm>
            <a:off x="457200" y="6583680"/>
            <a:ext cx="5486400" cy="228600"/>
          </a:xfrm>
          <a:prstGeom prst="rect">
            <a:avLst/>
          </a:prstGeom>
          <a:noFill/>
          <a:ln/>
        </p:spPr>
        <p:txBody>
          <a:bodyPr wrap="square" rtlCol="0" anchor="ctr"/>
          <a:lstStyle/>
          <a:p>
            <a:pPr marL="0" indent="0" algn="l">
              <a:buNone/>
            </a:pPr>
            <a:r>
              <a:rPr lang="en-US" sz="850" dirty="0">
                <a:solidFill>
                  <a:srgbClr val="5B6178"/>
                </a:solidFill>
                <a:latin typeface="Calibri" pitchFamily="34" charset="0"/>
                <a:ea typeface="Calibri" pitchFamily="34" charset="-122"/>
                <a:cs typeface="Calibri" pitchFamily="34" charset="-120"/>
              </a:rPr>
              <a:t>Java &amp; Full-Stack Interview Prep</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502920" y="384048"/>
            <a:ext cx="3474720" cy="310896"/>
          </a:xfrm>
          <a:prstGeom prst="roundRect">
            <a:avLst>
              <a:gd name="adj" fmla="val 23529"/>
            </a:avLst>
          </a:prstGeom>
          <a:solidFill>
            <a:srgbClr val="E8A33D"/>
          </a:solidFill>
          <a:ln/>
        </p:spPr>
      </p:sp>
      <p:sp>
        <p:nvSpPr>
          <p:cNvPr id="3" name="Text 1"/>
          <p:cNvSpPr/>
          <p:nvPr/>
        </p:nvSpPr>
        <p:spPr>
          <a:xfrm>
            <a:off x="502920" y="384048"/>
            <a:ext cx="3474720" cy="310896"/>
          </a:xfrm>
          <a:prstGeom prst="rect">
            <a:avLst/>
          </a:prstGeom>
          <a:noFill/>
          <a:ln/>
        </p:spPr>
        <p:txBody>
          <a:bodyPr wrap="square" rtlCol="0" anchor="ctr"/>
          <a:lstStyle/>
          <a:p>
            <a:pPr marL="0" indent="0" algn="ctr">
              <a:buNone/>
            </a:pPr>
            <a:r>
              <a:rPr lang="en-US" sz="1100" b="1" kern="0" spc="100" dirty="0">
                <a:solidFill>
                  <a:srgbClr val="1B2340"/>
                </a:solidFill>
                <a:latin typeface="Calibri" pitchFamily="34" charset="0"/>
                <a:ea typeface="Calibri" pitchFamily="34" charset="-122"/>
                <a:cs typeface="Calibri" pitchFamily="34" charset="-120"/>
              </a:rPr>
              <a:t>CORE JAVA &amp; OOP</a:t>
            </a:r>
            <a:endParaRPr lang="en-US" sz="1100" dirty="0"/>
          </a:p>
        </p:txBody>
      </p:sp>
      <p:sp>
        <p:nvSpPr>
          <p:cNvPr id="4" name="Text 2"/>
          <p:cNvSpPr/>
          <p:nvPr/>
        </p:nvSpPr>
        <p:spPr>
          <a:xfrm>
            <a:off x="502920" y="786384"/>
            <a:ext cx="11155680" cy="868680"/>
          </a:xfrm>
          <a:prstGeom prst="rect">
            <a:avLst/>
          </a:prstGeom>
          <a:noFill/>
          <a:ln/>
        </p:spPr>
        <p:txBody>
          <a:bodyPr wrap="square" rtlCol="0" anchor="t"/>
          <a:lstStyle/>
          <a:p>
            <a:pPr marL="0" indent="0">
              <a:lnSpc>
                <a:spcPct val="102000"/>
              </a:lnSpc>
              <a:buNone/>
            </a:pPr>
            <a:r>
              <a:rPr lang="en-US" sz="2500" b="1" dirty="0">
                <a:solidFill>
                  <a:srgbClr val="1B2340"/>
                </a:solidFill>
                <a:latin typeface="Century Schoolbook" pitchFamily="34" charset="0"/>
                <a:ea typeface="Century Schoolbook" pitchFamily="34" charset="-122"/>
                <a:cs typeface="Century Schoolbook" pitchFamily="34" charset="-120"/>
              </a:rPr>
              <a:t>How does Exception Handling work in Java?</a:t>
            </a:r>
            <a:endParaRPr lang="en-US" sz="2500" dirty="0"/>
          </a:p>
        </p:txBody>
      </p:sp>
      <p:sp>
        <p:nvSpPr>
          <p:cNvPr id="5" name="Shape 3"/>
          <p:cNvSpPr/>
          <p:nvPr/>
        </p:nvSpPr>
        <p:spPr>
          <a:xfrm>
            <a:off x="502920" y="1810512"/>
            <a:ext cx="164592" cy="274320"/>
          </a:xfrm>
          <a:prstGeom prst="roundRect">
            <a:avLst>
              <a:gd name="adj" fmla="val 22222"/>
            </a:avLst>
          </a:prstGeom>
          <a:solidFill>
            <a:srgbClr val="E8A33D"/>
          </a:solidFill>
          <a:ln/>
        </p:spPr>
      </p:sp>
      <p:sp>
        <p:nvSpPr>
          <p:cNvPr id="6" name="Text 4"/>
          <p:cNvSpPr/>
          <p:nvPr/>
        </p:nvSpPr>
        <p:spPr>
          <a:xfrm>
            <a:off x="758952" y="1783080"/>
            <a:ext cx="4681728" cy="329184"/>
          </a:xfrm>
          <a:prstGeom prst="rect">
            <a:avLst/>
          </a:prstGeom>
          <a:noFill/>
          <a:ln/>
        </p:spPr>
        <p:txBody>
          <a:bodyPr wrap="square" rtlCol="0" anchor="ctr"/>
          <a:lstStyle/>
          <a:p>
            <a:pPr marL="0" indent="0">
              <a:buNone/>
            </a:pPr>
            <a:r>
              <a:rPr lang="en-US" sz="1300" b="1" kern="0" spc="50" dirty="0">
                <a:solidFill>
                  <a:srgbClr val="1B2340"/>
                </a:solidFill>
                <a:latin typeface="Calibri" pitchFamily="34" charset="0"/>
                <a:ea typeface="Calibri" pitchFamily="34" charset="-122"/>
                <a:cs typeface="Calibri" pitchFamily="34" charset="-120"/>
              </a:rPr>
              <a:t>DEFINITION / CONCEPT</a:t>
            </a:r>
            <a:endParaRPr lang="en-US" sz="1300" dirty="0"/>
          </a:p>
        </p:txBody>
      </p:sp>
      <p:sp>
        <p:nvSpPr>
          <p:cNvPr id="7" name="Shape 5"/>
          <p:cNvSpPr/>
          <p:nvPr/>
        </p:nvSpPr>
        <p:spPr>
          <a:xfrm>
            <a:off x="502920" y="2121408"/>
            <a:ext cx="4937760" cy="1234440"/>
          </a:xfrm>
          <a:prstGeom prst="roundRect">
            <a:avLst>
              <a:gd name="adj" fmla="val 5926"/>
            </a:avLst>
          </a:prstGeom>
          <a:solidFill>
            <a:srgbClr val="F7F7FA"/>
          </a:solidFill>
          <a:ln w="12700">
            <a:solidFill>
              <a:srgbClr val="E4E6EF"/>
            </a:solidFill>
            <a:prstDash val="solid"/>
          </a:ln>
        </p:spPr>
      </p:sp>
      <p:sp>
        <p:nvSpPr>
          <p:cNvPr id="8" name="Text 6"/>
          <p:cNvSpPr/>
          <p:nvPr/>
        </p:nvSpPr>
        <p:spPr>
          <a:xfrm>
            <a:off x="758952" y="2304288"/>
            <a:ext cx="4425696" cy="868680"/>
          </a:xfrm>
          <a:prstGeom prst="rect">
            <a:avLst/>
          </a:prstGeom>
          <a:noFill/>
          <a:ln/>
        </p:spPr>
        <p:txBody>
          <a:bodyPr wrap="square" lIns="0" tIns="0" rIns="0" bIns="0" rtlCol="0" anchor="t"/>
          <a:lstStyle/>
          <a:p>
            <a:pPr marL="0" indent="0">
              <a:lnSpc>
                <a:spcPct val="115000"/>
              </a:lnSpc>
              <a:buNone/>
            </a:pPr>
            <a:r>
              <a:rPr lang="en-US" sz="1450" dirty="0">
                <a:solidFill>
                  <a:srgbClr val="1B2340"/>
                </a:solidFill>
                <a:latin typeface="Calibri" pitchFamily="34" charset="0"/>
                <a:ea typeface="Calibri" pitchFamily="34" charset="-122"/>
                <a:cs typeface="Calibri" pitchFamily="34" charset="-120"/>
              </a:rPr>
              <a:t>Exception handling is a mechanism to manage runtime errors so the program doesn't crash unexpectedly. It uses try, catch, finally, throw, and throws.</a:t>
            </a:r>
            <a:endParaRPr lang="en-US" sz="1450" dirty="0"/>
          </a:p>
        </p:txBody>
      </p:sp>
      <p:sp>
        <p:nvSpPr>
          <p:cNvPr id="9" name="Shape 7"/>
          <p:cNvSpPr/>
          <p:nvPr/>
        </p:nvSpPr>
        <p:spPr>
          <a:xfrm>
            <a:off x="502920" y="3493008"/>
            <a:ext cx="4937760" cy="1554480"/>
          </a:xfrm>
          <a:prstGeom prst="roundRect">
            <a:avLst>
              <a:gd name="adj" fmla="val 4706"/>
            </a:avLst>
          </a:prstGeom>
          <a:solidFill>
            <a:srgbClr val="FDF3E3"/>
          </a:solidFill>
          <a:ln/>
        </p:spPr>
      </p:sp>
      <p:sp>
        <p:nvSpPr>
          <p:cNvPr id="10" name="Text 8"/>
          <p:cNvSpPr/>
          <p:nvPr/>
        </p:nvSpPr>
        <p:spPr>
          <a:xfrm>
            <a:off x="704088" y="3602736"/>
            <a:ext cx="4535424" cy="274320"/>
          </a:xfrm>
          <a:prstGeom prst="rect">
            <a:avLst/>
          </a:prstGeom>
          <a:noFill/>
          <a:ln/>
        </p:spPr>
        <p:txBody>
          <a:bodyPr wrap="square" rtlCol="0" anchor="ctr"/>
          <a:lstStyle/>
          <a:p>
            <a:pPr marL="0" indent="0">
              <a:buNone/>
            </a:pPr>
            <a:r>
              <a:rPr lang="en-US" sz="1100" b="1" kern="0" spc="50" dirty="0">
                <a:solidFill>
                  <a:srgbClr val="C9862A"/>
                </a:solidFill>
                <a:latin typeface="Calibri" pitchFamily="34" charset="0"/>
                <a:ea typeface="Calibri" pitchFamily="34" charset="-122"/>
                <a:cs typeface="Calibri" pitchFamily="34" charset="-120"/>
              </a:rPr>
              <a:t>💡 REAL-LIFE ANALOGY</a:t>
            </a:r>
            <a:endParaRPr lang="en-US" sz="1100" dirty="0"/>
          </a:p>
        </p:txBody>
      </p:sp>
      <p:sp>
        <p:nvSpPr>
          <p:cNvPr id="11" name="Text 9"/>
          <p:cNvSpPr/>
          <p:nvPr/>
        </p:nvSpPr>
        <p:spPr>
          <a:xfrm>
            <a:off x="704088" y="3895344"/>
            <a:ext cx="4535424" cy="1024128"/>
          </a:xfrm>
          <a:prstGeom prst="rect">
            <a:avLst/>
          </a:prstGeom>
          <a:noFill/>
          <a:ln/>
        </p:spPr>
        <p:txBody>
          <a:bodyPr wrap="square" lIns="0" tIns="0" rIns="0" bIns="0" rtlCol="0" anchor="t"/>
          <a:lstStyle/>
          <a:p>
            <a:pPr marL="0" indent="0">
              <a:lnSpc>
                <a:spcPct val="110000"/>
              </a:lnSpc>
              <a:buNone/>
            </a:pPr>
            <a:r>
              <a:rPr lang="en-US" sz="1250" i="1" dirty="0">
                <a:solidFill>
                  <a:srgbClr val="1B2340"/>
                </a:solidFill>
                <a:latin typeface="Calibri" pitchFamily="34" charset="0"/>
                <a:ea typeface="Calibri" pitchFamily="34" charset="-122"/>
                <a:cs typeface="Calibri" pitchFamily="34" charset="-120"/>
              </a:rPr>
              <a:t>It's like wearing a seatbelt while driving. You still drive normally (try), but if there's a sudden jerk (exception), the seatbelt (catch) protects you from a bigger crash, and you always check your mirrors before starting (finally, i.e. cleanup).</a:t>
            </a:r>
            <a:endParaRPr lang="en-US" sz="1250" dirty="0"/>
          </a:p>
        </p:txBody>
      </p:sp>
      <p:sp>
        <p:nvSpPr>
          <p:cNvPr id="12" name="Shape 10"/>
          <p:cNvSpPr/>
          <p:nvPr/>
        </p:nvSpPr>
        <p:spPr>
          <a:xfrm>
            <a:off x="502920" y="5193792"/>
            <a:ext cx="4937760" cy="1051560"/>
          </a:xfrm>
          <a:prstGeom prst="roundRect">
            <a:avLst>
              <a:gd name="adj" fmla="val 6957"/>
            </a:avLst>
          </a:prstGeom>
          <a:solidFill>
            <a:srgbClr val="1B2340"/>
          </a:solidFill>
          <a:ln/>
        </p:spPr>
      </p:sp>
      <p:sp>
        <p:nvSpPr>
          <p:cNvPr id="13" name="Text 11"/>
          <p:cNvSpPr/>
          <p:nvPr/>
        </p:nvSpPr>
        <p:spPr>
          <a:xfrm>
            <a:off x="731520" y="5285232"/>
            <a:ext cx="4480560" cy="256032"/>
          </a:xfrm>
          <a:prstGeom prst="rect">
            <a:avLst/>
          </a:prstGeom>
          <a:noFill/>
          <a:ln/>
        </p:spPr>
        <p:txBody>
          <a:bodyPr wrap="square" rtlCol="0" anchor="ctr"/>
          <a:lstStyle/>
          <a:p>
            <a:pPr marL="0" indent="0">
              <a:buNone/>
            </a:pPr>
            <a:r>
              <a:rPr lang="en-US" sz="1050" b="1" kern="0" spc="80" dirty="0">
                <a:solidFill>
                  <a:srgbClr val="E8A33D"/>
                </a:solidFill>
                <a:latin typeface="Calibri" pitchFamily="34" charset="0"/>
                <a:ea typeface="Calibri" pitchFamily="34" charset="-122"/>
                <a:cs typeface="Calibri" pitchFamily="34" charset="-120"/>
              </a:rPr>
              <a:t>ONE-LINE INTERVIEW ANSWER</a:t>
            </a:r>
            <a:endParaRPr lang="en-US" sz="1050" dirty="0"/>
          </a:p>
        </p:txBody>
      </p:sp>
      <p:sp>
        <p:nvSpPr>
          <p:cNvPr id="14" name="Text 12"/>
          <p:cNvSpPr/>
          <p:nvPr/>
        </p:nvSpPr>
        <p:spPr>
          <a:xfrm>
            <a:off x="731520" y="5541264"/>
            <a:ext cx="4480560" cy="594360"/>
          </a:xfrm>
          <a:prstGeom prst="rect">
            <a:avLst/>
          </a:prstGeom>
          <a:noFill/>
          <a:ln/>
        </p:spPr>
        <p:txBody>
          <a:bodyPr wrap="square" lIns="0" tIns="0" rIns="0" bIns="0" rtlCol="0" anchor="t"/>
          <a:lstStyle/>
          <a:p>
            <a:pPr marL="0" indent="0">
              <a:lnSpc>
                <a:spcPct val="105000"/>
              </a:lnSpc>
              <a:buNone/>
            </a:pPr>
            <a:r>
              <a:rPr lang="en-US" sz="1250" dirty="0">
                <a:solidFill>
                  <a:srgbClr val="FFFFFF"/>
                </a:solidFill>
                <a:latin typeface="Calibri" pitchFamily="34" charset="0"/>
                <a:ea typeface="Calibri" pitchFamily="34" charset="-122"/>
                <a:cs typeface="Calibri" pitchFamily="34" charset="-120"/>
              </a:rPr>
              <a:t>Exception handling uses try-catch-finally to gracefully handle runtime errors and keep the program from crashing.</a:t>
            </a:r>
            <a:endParaRPr lang="en-US" sz="1250" dirty="0"/>
          </a:p>
        </p:txBody>
      </p:sp>
      <p:sp>
        <p:nvSpPr>
          <p:cNvPr id="15" name="Shape 13"/>
          <p:cNvSpPr/>
          <p:nvPr/>
        </p:nvSpPr>
        <p:spPr>
          <a:xfrm>
            <a:off x="5669280" y="1810512"/>
            <a:ext cx="164592" cy="274320"/>
          </a:xfrm>
          <a:prstGeom prst="roundRect">
            <a:avLst>
              <a:gd name="adj" fmla="val 22222"/>
            </a:avLst>
          </a:prstGeom>
          <a:solidFill>
            <a:srgbClr val="3FBFAE"/>
          </a:solidFill>
          <a:ln/>
        </p:spPr>
      </p:sp>
      <p:sp>
        <p:nvSpPr>
          <p:cNvPr id="16" name="Text 14"/>
          <p:cNvSpPr/>
          <p:nvPr/>
        </p:nvSpPr>
        <p:spPr>
          <a:xfrm>
            <a:off x="5925312" y="1783080"/>
            <a:ext cx="5779008" cy="329184"/>
          </a:xfrm>
          <a:prstGeom prst="rect">
            <a:avLst/>
          </a:prstGeom>
          <a:noFill/>
          <a:ln/>
        </p:spPr>
        <p:txBody>
          <a:bodyPr wrap="square" rtlCol="0" anchor="ctr"/>
          <a:lstStyle/>
          <a:p>
            <a:pPr marL="0" indent="0">
              <a:buNone/>
            </a:pPr>
            <a:r>
              <a:rPr lang="en-US" sz="1300" b="1" kern="0" spc="50" dirty="0">
                <a:solidFill>
                  <a:srgbClr val="1B2340"/>
                </a:solidFill>
                <a:latin typeface="Calibri" pitchFamily="34" charset="0"/>
                <a:ea typeface="Calibri" pitchFamily="34" charset="-122"/>
                <a:cs typeface="Calibri" pitchFamily="34" charset="-120"/>
              </a:rPr>
              <a:t>EXAMPLE</a:t>
            </a:r>
            <a:endParaRPr lang="en-US" sz="1300" dirty="0"/>
          </a:p>
        </p:txBody>
      </p:sp>
      <p:sp>
        <p:nvSpPr>
          <p:cNvPr id="17" name="Shape 15"/>
          <p:cNvSpPr/>
          <p:nvPr/>
        </p:nvSpPr>
        <p:spPr>
          <a:xfrm>
            <a:off x="5669280" y="2121408"/>
            <a:ext cx="6035040" cy="2156460"/>
          </a:xfrm>
          <a:prstGeom prst="roundRect">
            <a:avLst>
              <a:gd name="adj" fmla="val 3392"/>
            </a:avLst>
          </a:prstGeom>
          <a:solidFill>
            <a:srgbClr val="1E1E2E"/>
          </a:solidFill>
          <a:ln/>
        </p:spPr>
      </p:sp>
      <p:sp>
        <p:nvSpPr>
          <p:cNvPr id="18" name="Shape 16"/>
          <p:cNvSpPr/>
          <p:nvPr/>
        </p:nvSpPr>
        <p:spPr>
          <a:xfrm>
            <a:off x="5806440" y="2249424"/>
            <a:ext cx="100584" cy="100584"/>
          </a:xfrm>
          <a:prstGeom prst="ellipse">
            <a:avLst/>
          </a:prstGeom>
          <a:solidFill>
            <a:srgbClr val="FF5F56"/>
          </a:solidFill>
          <a:ln/>
        </p:spPr>
      </p:sp>
      <p:sp>
        <p:nvSpPr>
          <p:cNvPr id="19" name="Shape 17"/>
          <p:cNvSpPr/>
          <p:nvPr/>
        </p:nvSpPr>
        <p:spPr>
          <a:xfrm>
            <a:off x="5961888" y="2249424"/>
            <a:ext cx="100584" cy="100584"/>
          </a:xfrm>
          <a:prstGeom prst="ellipse">
            <a:avLst/>
          </a:prstGeom>
          <a:solidFill>
            <a:srgbClr val="FFBD2E"/>
          </a:solidFill>
          <a:ln/>
        </p:spPr>
      </p:sp>
      <p:sp>
        <p:nvSpPr>
          <p:cNvPr id="20" name="Shape 18"/>
          <p:cNvSpPr/>
          <p:nvPr/>
        </p:nvSpPr>
        <p:spPr>
          <a:xfrm>
            <a:off x="6117336" y="2249424"/>
            <a:ext cx="100584" cy="100584"/>
          </a:xfrm>
          <a:prstGeom prst="ellipse">
            <a:avLst/>
          </a:prstGeom>
          <a:solidFill>
            <a:srgbClr val="27C93F"/>
          </a:solidFill>
          <a:ln/>
        </p:spPr>
      </p:sp>
      <p:sp>
        <p:nvSpPr>
          <p:cNvPr id="21" name="Text 19"/>
          <p:cNvSpPr/>
          <p:nvPr/>
        </p:nvSpPr>
        <p:spPr>
          <a:xfrm>
            <a:off x="6309360" y="2167128"/>
            <a:ext cx="5120640" cy="274320"/>
          </a:xfrm>
          <a:prstGeom prst="rect">
            <a:avLst/>
          </a:prstGeom>
          <a:noFill/>
          <a:ln/>
        </p:spPr>
        <p:txBody>
          <a:bodyPr wrap="square" rtlCol="0" anchor="ctr"/>
          <a:lstStyle/>
          <a:p>
            <a:pPr marL="0" indent="0" algn="r">
              <a:buNone/>
            </a:pPr>
            <a:r>
              <a:rPr lang="en-US" sz="1000" dirty="0">
                <a:solidFill>
                  <a:srgbClr val="8A90AC"/>
                </a:solidFill>
                <a:latin typeface="Courier New" pitchFamily="34" charset="0"/>
                <a:ea typeface="Courier New" pitchFamily="34" charset="-122"/>
                <a:cs typeface="Courier New" pitchFamily="34" charset="-120"/>
              </a:rPr>
              <a:t>Main.java</a:t>
            </a:r>
            <a:endParaRPr lang="en-US" sz="1000" dirty="0"/>
          </a:p>
        </p:txBody>
      </p:sp>
      <p:sp>
        <p:nvSpPr>
          <p:cNvPr id="22" name="Text 20"/>
          <p:cNvSpPr/>
          <p:nvPr/>
        </p:nvSpPr>
        <p:spPr>
          <a:xfrm>
            <a:off x="5897880" y="2487168"/>
            <a:ext cx="5577840" cy="1699260"/>
          </a:xfrm>
          <a:prstGeom prst="rect">
            <a:avLst/>
          </a:prstGeom>
          <a:noFill/>
          <a:ln/>
        </p:spPr>
        <p:txBody>
          <a:bodyPr wrap="square" lIns="0" tIns="0" rIns="0" bIns="0" rtlCol="0" anchor="t"/>
          <a:lstStyle/>
          <a:p>
            <a:pPr marL="0" indent="0">
              <a:lnSpc>
                <a:spcPct val="120000"/>
              </a:lnSpc>
              <a:buNone/>
            </a:pPr>
            <a:r>
              <a:rPr lang="en-US" sz="1200" dirty="0">
                <a:solidFill>
                  <a:srgbClr val="D4D4E0"/>
                </a:solidFill>
                <a:latin typeface="Courier New" pitchFamily="34" charset="0"/>
                <a:ea typeface="Courier New" pitchFamily="34" charset="-122"/>
                <a:cs typeface="Courier New" pitchFamily="34" charset="-120"/>
              </a:rPr>
              <a:t>try {</a:t>
            </a:r>
            <a:endParaRPr lang="en-US" sz="1200" dirty="0"/>
          </a:p>
          <a:p>
            <a:pPr marL="0" indent="0">
              <a:lnSpc>
                <a:spcPct val="120000"/>
              </a:lnSpc>
              <a:buNone/>
            </a:pPr>
            <a:r>
              <a:rPr lang="en-US" sz="1200" dirty="0">
                <a:solidFill>
                  <a:srgbClr val="D4D4E0"/>
                </a:solidFill>
                <a:latin typeface="Courier New" pitchFamily="34" charset="0"/>
                <a:ea typeface="Courier New" pitchFamily="34" charset="-122"/>
                <a:cs typeface="Courier New" pitchFamily="34" charset="-120"/>
              </a:rPr>
              <a:t>    int result = 10 / 0;</a:t>
            </a:r>
            <a:endParaRPr lang="en-US" sz="1200" dirty="0"/>
          </a:p>
          <a:p>
            <a:pPr marL="0" indent="0">
              <a:lnSpc>
                <a:spcPct val="120000"/>
              </a:lnSpc>
              <a:buNone/>
            </a:pPr>
            <a:r>
              <a:rPr lang="en-US" sz="1200" dirty="0">
                <a:solidFill>
                  <a:srgbClr val="D4D4E0"/>
                </a:solidFill>
                <a:latin typeface="Courier New" pitchFamily="34" charset="0"/>
                <a:ea typeface="Courier New" pitchFamily="34" charset="-122"/>
                <a:cs typeface="Courier New" pitchFamily="34" charset="-120"/>
              </a:rPr>
              <a:t>} catch (ArithmeticException e) {</a:t>
            </a:r>
            <a:endParaRPr lang="en-US" sz="1200" dirty="0"/>
          </a:p>
          <a:p>
            <a:pPr marL="0" indent="0">
              <a:lnSpc>
                <a:spcPct val="120000"/>
              </a:lnSpc>
              <a:buNone/>
            </a:pPr>
            <a:r>
              <a:rPr lang="en-US" sz="1200" dirty="0">
                <a:solidFill>
                  <a:srgbClr val="D4D4E0"/>
                </a:solidFill>
                <a:latin typeface="Courier New" pitchFamily="34" charset="0"/>
                <a:ea typeface="Courier New" pitchFamily="34" charset="-122"/>
                <a:cs typeface="Courier New" pitchFamily="34" charset="-120"/>
              </a:rPr>
              <a:t>    System.out.println("Cannot divide by zero");</a:t>
            </a:r>
            <a:endParaRPr lang="en-US" sz="1200" dirty="0"/>
          </a:p>
          <a:p>
            <a:pPr marL="0" indent="0">
              <a:lnSpc>
                <a:spcPct val="120000"/>
              </a:lnSpc>
              <a:buNone/>
            </a:pPr>
            <a:r>
              <a:rPr lang="en-US" sz="1200" dirty="0">
                <a:solidFill>
                  <a:srgbClr val="D4D4E0"/>
                </a:solidFill>
                <a:latin typeface="Courier New" pitchFamily="34" charset="0"/>
                <a:ea typeface="Courier New" pitchFamily="34" charset="-122"/>
                <a:cs typeface="Courier New" pitchFamily="34" charset="-120"/>
              </a:rPr>
              <a:t>} finally {</a:t>
            </a:r>
            <a:endParaRPr lang="en-US" sz="1200" dirty="0"/>
          </a:p>
          <a:p>
            <a:pPr marL="0" indent="0">
              <a:lnSpc>
                <a:spcPct val="120000"/>
              </a:lnSpc>
              <a:buNone/>
            </a:pPr>
            <a:r>
              <a:rPr lang="en-US" sz="1200" dirty="0">
                <a:solidFill>
                  <a:srgbClr val="D4D4E0"/>
                </a:solidFill>
                <a:latin typeface="Courier New" pitchFamily="34" charset="0"/>
                <a:ea typeface="Courier New" pitchFamily="34" charset="-122"/>
                <a:cs typeface="Courier New" pitchFamily="34" charset="-120"/>
              </a:rPr>
              <a:t>    System.out.println("Cleanup done");</a:t>
            </a:r>
            <a:endParaRPr lang="en-US" sz="1200" dirty="0"/>
          </a:p>
          <a:p>
            <a:pPr marL="0" indent="0">
              <a:lnSpc>
                <a:spcPct val="120000"/>
              </a:lnSpc>
              <a:buNone/>
            </a:pPr>
            <a:r>
              <a:rPr lang="en-US" sz="1200" dirty="0">
                <a:solidFill>
                  <a:srgbClr val="D4D4E0"/>
                </a:solidFill>
                <a:latin typeface="Courier New" pitchFamily="34" charset="0"/>
                <a:ea typeface="Courier New" pitchFamily="34" charset="-122"/>
                <a:cs typeface="Courier New" pitchFamily="34" charset="-120"/>
              </a:rPr>
              <a:t>}</a:t>
            </a:r>
            <a:endParaRPr lang="en-US" sz="1200" dirty="0"/>
          </a:p>
        </p:txBody>
      </p:sp>
      <p:sp>
        <p:nvSpPr>
          <p:cNvPr id="23" name="Shape 21"/>
          <p:cNvSpPr/>
          <p:nvPr/>
        </p:nvSpPr>
        <p:spPr>
          <a:xfrm>
            <a:off x="5669280" y="4442460"/>
            <a:ext cx="164592" cy="274320"/>
          </a:xfrm>
          <a:prstGeom prst="roundRect">
            <a:avLst>
              <a:gd name="adj" fmla="val 22222"/>
            </a:avLst>
          </a:prstGeom>
          <a:solidFill>
            <a:srgbClr val="3FBFAE"/>
          </a:solidFill>
          <a:ln/>
        </p:spPr>
      </p:sp>
      <p:sp>
        <p:nvSpPr>
          <p:cNvPr id="24" name="Text 22"/>
          <p:cNvSpPr/>
          <p:nvPr/>
        </p:nvSpPr>
        <p:spPr>
          <a:xfrm>
            <a:off x="5925312" y="4415028"/>
            <a:ext cx="5779008" cy="329184"/>
          </a:xfrm>
          <a:prstGeom prst="rect">
            <a:avLst/>
          </a:prstGeom>
          <a:noFill/>
          <a:ln/>
        </p:spPr>
        <p:txBody>
          <a:bodyPr wrap="square" rtlCol="0" anchor="ctr"/>
          <a:lstStyle/>
          <a:p>
            <a:pPr marL="0" indent="0">
              <a:buNone/>
            </a:pPr>
            <a:r>
              <a:rPr lang="en-US" sz="1300" b="1" kern="0" spc="50" dirty="0">
                <a:solidFill>
                  <a:srgbClr val="1B2340"/>
                </a:solidFill>
                <a:latin typeface="Calibri" pitchFamily="34" charset="0"/>
                <a:ea typeface="Calibri" pitchFamily="34" charset="-122"/>
                <a:cs typeface="Calibri" pitchFamily="34" charset="-120"/>
              </a:rPr>
              <a:t>EXPLANATION</a:t>
            </a:r>
            <a:endParaRPr lang="en-US" sz="1300" dirty="0"/>
          </a:p>
        </p:txBody>
      </p:sp>
      <p:sp>
        <p:nvSpPr>
          <p:cNvPr id="25" name="Text 23"/>
          <p:cNvSpPr/>
          <p:nvPr/>
        </p:nvSpPr>
        <p:spPr>
          <a:xfrm>
            <a:off x="5669280" y="4771644"/>
            <a:ext cx="6035040" cy="1629156"/>
          </a:xfrm>
          <a:prstGeom prst="rect">
            <a:avLst/>
          </a:prstGeom>
          <a:noFill/>
          <a:ln/>
        </p:spPr>
        <p:txBody>
          <a:bodyPr wrap="square" lIns="0" tIns="0" rIns="0" bIns="0" rtlCol="0" anchor="t"/>
          <a:lstStyle/>
          <a:p>
            <a:pPr marL="177800" indent="-177800">
              <a:spcAft>
                <a:spcPts val="600"/>
              </a:spcAft>
              <a:buSzPct val="100000"/>
              <a:buChar char="•"/>
            </a:pPr>
            <a:r>
              <a:rPr lang="en-US" sz="1200" dirty="0">
                <a:solidFill>
                  <a:srgbClr val="1B2340"/>
                </a:solidFill>
                <a:latin typeface="Calibri" pitchFamily="34" charset="0"/>
                <a:ea typeface="Calibri" pitchFamily="34" charset="-122"/>
                <a:cs typeface="Calibri" pitchFamily="34" charset="-120"/>
              </a:rPr>
              <a:t>Code that might fail is placed inside try</a:t>
            </a:r>
            <a:endParaRPr lang="en-US" sz="1200" dirty="0"/>
          </a:p>
          <a:p>
            <a:pPr marL="177800" indent="-177800">
              <a:spcAft>
                <a:spcPts val="600"/>
              </a:spcAft>
              <a:buSzPct val="100000"/>
              <a:buChar char="•"/>
            </a:pPr>
            <a:r>
              <a:rPr lang="en-US" sz="1200" dirty="0">
                <a:solidFill>
                  <a:srgbClr val="1B2340"/>
                </a:solidFill>
                <a:latin typeface="Calibri" pitchFamily="34" charset="0"/>
                <a:ea typeface="Calibri" pitchFamily="34" charset="-122"/>
                <a:cs typeface="Calibri" pitchFamily="34" charset="-120"/>
              </a:rPr>
              <a:t>If an error occurs, control jumps to the matching catch block</a:t>
            </a:r>
            <a:endParaRPr lang="en-US" sz="1200" dirty="0"/>
          </a:p>
          <a:p>
            <a:pPr marL="177800" indent="-177800">
              <a:spcAft>
                <a:spcPts val="600"/>
              </a:spcAft>
              <a:buSzPct val="100000"/>
              <a:buChar char="•"/>
            </a:pPr>
            <a:r>
              <a:rPr lang="en-US" sz="1200" dirty="0">
                <a:solidFill>
                  <a:srgbClr val="1B2340"/>
                </a:solidFill>
                <a:latin typeface="Calibri" pitchFamily="34" charset="0"/>
                <a:ea typeface="Calibri" pitchFamily="34" charset="-122"/>
                <a:cs typeface="Calibri" pitchFamily="34" charset="-120"/>
              </a:rPr>
              <a:t>finally runs regardless of whether an exception occurred, often used for cleanup</a:t>
            </a:r>
            <a:endParaRPr lang="en-US" sz="1200" dirty="0"/>
          </a:p>
          <a:p>
            <a:pPr marL="177800" indent="-177800">
              <a:spcAft>
                <a:spcPts val="600"/>
              </a:spcAft>
              <a:buSzPct val="100000"/>
              <a:buChar char="•"/>
            </a:pPr>
            <a:r>
              <a:rPr lang="en-US" sz="1200" dirty="0">
                <a:solidFill>
                  <a:srgbClr val="1B2340"/>
                </a:solidFill>
                <a:latin typeface="Calibri" pitchFamily="34" charset="0"/>
                <a:ea typeface="Calibri" pitchFamily="34" charset="-122"/>
                <a:cs typeface="Calibri" pitchFamily="34" charset="-120"/>
              </a:rPr>
              <a:t>Custom exceptions can be created by extending the Exception class</a:t>
            </a:r>
            <a:endParaRPr lang="en-US" sz="1200" dirty="0"/>
          </a:p>
        </p:txBody>
      </p:sp>
      <p:sp>
        <p:nvSpPr>
          <p:cNvPr id="26" name="Text 24"/>
          <p:cNvSpPr/>
          <p:nvPr/>
        </p:nvSpPr>
        <p:spPr>
          <a:xfrm>
            <a:off x="457200" y="6583680"/>
            <a:ext cx="5486400" cy="228600"/>
          </a:xfrm>
          <a:prstGeom prst="rect">
            <a:avLst/>
          </a:prstGeom>
          <a:noFill/>
          <a:ln/>
        </p:spPr>
        <p:txBody>
          <a:bodyPr wrap="square" rtlCol="0" anchor="ctr"/>
          <a:lstStyle/>
          <a:p>
            <a:pPr marL="0" indent="0" algn="l">
              <a:buNone/>
            </a:pPr>
            <a:r>
              <a:rPr lang="en-US" sz="850" dirty="0">
                <a:solidFill>
                  <a:srgbClr val="5B6178"/>
                </a:solidFill>
                <a:latin typeface="Calibri" pitchFamily="34" charset="0"/>
                <a:ea typeface="Calibri" pitchFamily="34" charset="-122"/>
                <a:cs typeface="Calibri" pitchFamily="34" charset="-120"/>
              </a:rPr>
              <a:t>Java &amp; Full-Stack Interview Prep</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502920" y="384048"/>
            <a:ext cx="3474720" cy="310896"/>
          </a:xfrm>
          <a:prstGeom prst="roundRect">
            <a:avLst>
              <a:gd name="adj" fmla="val 23529"/>
            </a:avLst>
          </a:prstGeom>
          <a:solidFill>
            <a:srgbClr val="E8A33D"/>
          </a:solidFill>
          <a:ln/>
        </p:spPr>
      </p:sp>
      <p:sp>
        <p:nvSpPr>
          <p:cNvPr id="3" name="Text 1"/>
          <p:cNvSpPr/>
          <p:nvPr/>
        </p:nvSpPr>
        <p:spPr>
          <a:xfrm>
            <a:off x="502920" y="384048"/>
            <a:ext cx="3474720" cy="310896"/>
          </a:xfrm>
          <a:prstGeom prst="rect">
            <a:avLst/>
          </a:prstGeom>
          <a:noFill/>
          <a:ln/>
        </p:spPr>
        <p:txBody>
          <a:bodyPr wrap="square" rtlCol="0" anchor="ctr"/>
          <a:lstStyle/>
          <a:p>
            <a:pPr marL="0" indent="0" algn="ctr">
              <a:buNone/>
            </a:pPr>
            <a:r>
              <a:rPr lang="en-US" sz="1100" b="1" kern="0" spc="100" dirty="0">
                <a:solidFill>
                  <a:srgbClr val="1B2340"/>
                </a:solidFill>
                <a:latin typeface="Calibri" pitchFamily="34" charset="0"/>
                <a:ea typeface="Calibri" pitchFamily="34" charset="-122"/>
                <a:cs typeface="Calibri" pitchFamily="34" charset="-120"/>
              </a:rPr>
              <a:t>CORE JAVA &amp; OOP</a:t>
            </a:r>
            <a:endParaRPr lang="en-US" sz="1100" dirty="0"/>
          </a:p>
        </p:txBody>
      </p:sp>
      <p:sp>
        <p:nvSpPr>
          <p:cNvPr id="4" name="Text 2"/>
          <p:cNvSpPr/>
          <p:nvPr/>
        </p:nvSpPr>
        <p:spPr>
          <a:xfrm>
            <a:off x="502920" y="786384"/>
            <a:ext cx="11155680" cy="868680"/>
          </a:xfrm>
          <a:prstGeom prst="rect">
            <a:avLst/>
          </a:prstGeom>
          <a:noFill/>
          <a:ln/>
        </p:spPr>
        <p:txBody>
          <a:bodyPr wrap="square" rtlCol="0" anchor="t"/>
          <a:lstStyle/>
          <a:p>
            <a:pPr marL="0" indent="0">
              <a:lnSpc>
                <a:spcPct val="102000"/>
              </a:lnSpc>
              <a:buNone/>
            </a:pPr>
            <a:r>
              <a:rPr lang="en-US" sz="2500" b="1" dirty="0">
                <a:solidFill>
                  <a:srgbClr val="1B2340"/>
                </a:solidFill>
                <a:latin typeface="Century Schoolbook" pitchFamily="34" charset="0"/>
                <a:ea typeface="Century Schoolbook" pitchFamily="34" charset="-122"/>
                <a:cs typeface="Century Schoolbook" pitchFamily="34" charset="-120"/>
              </a:rPr>
              <a:t>Why is String immutable? String vs StringBuilder vs StringBuffer.</a:t>
            </a:r>
            <a:endParaRPr lang="en-US" sz="2500" dirty="0"/>
          </a:p>
        </p:txBody>
      </p:sp>
      <p:sp>
        <p:nvSpPr>
          <p:cNvPr id="5" name="Shape 3"/>
          <p:cNvSpPr/>
          <p:nvPr/>
        </p:nvSpPr>
        <p:spPr>
          <a:xfrm>
            <a:off x="502920" y="1810512"/>
            <a:ext cx="164592" cy="274320"/>
          </a:xfrm>
          <a:prstGeom prst="roundRect">
            <a:avLst>
              <a:gd name="adj" fmla="val 22222"/>
            </a:avLst>
          </a:prstGeom>
          <a:solidFill>
            <a:srgbClr val="E8A33D"/>
          </a:solidFill>
          <a:ln/>
        </p:spPr>
      </p:sp>
      <p:sp>
        <p:nvSpPr>
          <p:cNvPr id="6" name="Text 4"/>
          <p:cNvSpPr/>
          <p:nvPr/>
        </p:nvSpPr>
        <p:spPr>
          <a:xfrm>
            <a:off x="758952" y="1783080"/>
            <a:ext cx="4315968" cy="329184"/>
          </a:xfrm>
          <a:prstGeom prst="rect">
            <a:avLst/>
          </a:prstGeom>
          <a:noFill/>
          <a:ln/>
        </p:spPr>
        <p:txBody>
          <a:bodyPr wrap="square" rtlCol="0" anchor="ctr"/>
          <a:lstStyle/>
          <a:p>
            <a:pPr marL="0" indent="0">
              <a:buNone/>
            </a:pPr>
            <a:r>
              <a:rPr lang="en-US" sz="1300" b="1" kern="0" spc="50" dirty="0">
                <a:solidFill>
                  <a:srgbClr val="1B2340"/>
                </a:solidFill>
                <a:latin typeface="Calibri" pitchFamily="34" charset="0"/>
                <a:ea typeface="Calibri" pitchFamily="34" charset="-122"/>
                <a:cs typeface="Calibri" pitchFamily="34" charset="-120"/>
              </a:rPr>
              <a:t>DEFINITION / CONCEPT</a:t>
            </a:r>
            <a:endParaRPr lang="en-US" sz="1300" dirty="0"/>
          </a:p>
        </p:txBody>
      </p:sp>
      <p:sp>
        <p:nvSpPr>
          <p:cNvPr id="7" name="Shape 5"/>
          <p:cNvSpPr/>
          <p:nvPr/>
        </p:nvSpPr>
        <p:spPr>
          <a:xfrm>
            <a:off x="502920" y="2121408"/>
            <a:ext cx="11201400" cy="914400"/>
          </a:xfrm>
          <a:prstGeom prst="roundRect">
            <a:avLst>
              <a:gd name="adj" fmla="val 8000"/>
            </a:avLst>
          </a:prstGeom>
          <a:solidFill>
            <a:srgbClr val="F7F7FA"/>
          </a:solidFill>
          <a:ln w="12700">
            <a:solidFill>
              <a:srgbClr val="E4E6EF"/>
            </a:solidFill>
            <a:prstDash val="solid"/>
          </a:ln>
        </p:spPr>
      </p:sp>
      <p:sp>
        <p:nvSpPr>
          <p:cNvPr id="8" name="Text 6"/>
          <p:cNvSpPr/>
          <p:nvPr/>
        </p:nvSpPr>
        <p:spPr>
          <a:xfrm>
            <a:off x="758952" y="2304288"/>
            <a:ext cx="10689336" cy="548640"/>
          </a:xfrm>
          <a:prstGeom prst="rect">
            <a:avLst/>
          </a:prstGeom>
          <a:noFill/>
          <a:ln/>
        </p:spPr>
        <p:txBody>
          <a:bodyPr wrap="square" lIns="0" tIns="0" rIns="0" bIns="0" rtlCol="0" anchor="t"/>
          <a:lstStyle/>
          <a:p>
            <a:pPr marL="0" indent="0">
              <a:lnSpc>
                <a:spcPct val="115000"/>
              </a:lnSpc>
              <a:buNone/>
            </a:pPr>
            <a:r>
              <a:rPr lang="en-US" sz="1450" dirty="0">
                <a:solidFill>
                  <a:srgbClr val="1B2340"/>
                </a:solidFill>
                <a:latin typeface="Calibri" pitchFamily="34" charset="0"/>
                <a:ea typeface="Calibri" pitchFamily="34" charset="-122"/>
                <a:cs typeface="Calibri" pitchFamily="34" charset="-120"/>
              </a:rPr>
              <a:t>A String object cannot be changed once created; any 'modification' actually creates a new object. This makes Strings safe to share, cache, and use as keys.</a:t>
            </a:r>
            <a:endParaRPr lang="en-US" sz="1450" dirty="0"/>
          </a:p>
        </p:txBody>
      </p:sp>
      <p:sp>
        <p:nvSpPr>
          <p:cNvPr id="9" name="Shape 7"/>
          <p:cNvSpPr/>
          <p:nvPr/>
        </p:nvSpPr>
        <p:spPr>
          <a:xfrm>
            <a:off x="502920" y="3200400"/>
            <a:ext cx="164592" cy="274320"/>
          </a:xfrm>
          <a:prstGeom prst="roundRect">
            <a:avLst>
              <a:gd name="adj" fmla="val 22222"/>
            </a:avLst>
          </a:prstGeom>
          <a:solidFill>
            <a:srgbClr val="3FBFAE"/>
          </a:solidFill>
          <a:ln/>
        </p:spPr>
      </p:sp>
      <p:sp>
        <p:nvSpPr>
          <p:cNvPr id="10" name="Text 8"/>
          <p:cNvSpPr/>
          <p:nvPr/>
        </p:nvSpPr>
        <p:spPr>
          <a:xfrm>
            <a:off x="758952" y="3172968"/>
            <a:ext cx="4315968" cy="329184"/>
          </a:xfrm>
          <a:prstGeom prst="rect">
            <a:avLst/>
          </a:prstGeom>
          <a:noFill/>
          <a:ln/>
        </p:spPr>
        <p:txBody>
          <a:bodyPr wrap="square" rtlCol="0" anchor="ctr"/>
          <a:lstStyle/>
          <a:p>
            <a:pPr marL="0" indent="0">
              <a:buNone/>
            </a:pPr>
            <a:r>
              <a:rPr lang="en-US" sz="1300" b="1" kern="0" spc="50" dirty="0">
                <a:solidFill>
                  <a:srgbClr val="1B2340"/>
                </a:solidFill>
                <a:latin typeface="Calibri" pitchFamily="34" charset="0"/>
                <a:ea typeface="Calibri" pitchFamily="34" charset="-122"/>
                <a:cs typeface="Calibri" pitchFamily="34" charset="-120"/>
              </a:rPr>
              <a:t>EXPLANATION</a:t>
            </a:r>
            <a:endParaRPr lang="en-US" sz="1300" dirty="0"/>
          </a:p>
        </p:txBody>
      </p:sp>
      <p:sp>
        <p:nvSpPr>
          <p:cNvPr id="11" name="Text 9"/>
          <p:cNvSpPr/>
          <p:nvPr/>
        </p:nvSpPr>
        <p:spPr>
          <a:xfrm>
            <a:off x="502920" y="3529584"/>
            <a:ext cx="6858000" cy="2331720"/>
          </a:xfrm>
          <a:prstGeom prst="rect">
            <a:avLst/>
          </a:prstGeom>
          <a:noFill/>
          <a:ln/>
        </p:spPr>
        <p:txBody>
          <a:bodyPr wrap="square" lIns="0" tIns="0" rIns="0" bIns="0" rtlCol="0" anchor="t"/>
          <a:lstStyle/>
          <a:p>
            <a:pPr marL="177800" indent="-177800">
              <a:spcAft>
                <a:spcPts val="800"/>
              </a:spcAft>
              <a:buSzPct val="100000"/>
              <a:buChar char="•"/>
            </a:pPr>
            <a:r>
              <a:rPr lang="en-US" sz="1300" dirty="0">
                <a:solidFill>
                  <a:srgbClr val="1B2340"/>
                </a:solidFill>
                <a:latin typeface="Calibri" pitchFamily="34" charset="0"/>
                <a:ea typeface="Calibri" pitchFamily="34" charset="-122"/>
                <a:cs typeface="Calibri" pitchFamily="34" charset="-120"/>
              </a:rPr>
              <a:t>String - immutable; every change creates a brand-new object (memory-heavy for frequent edits)</a:t>
            </a:r>
            <a:endParaRPr lang="en-US" sz="1300" dirty="0"/>
          </a:p>
          <a:p>
            <a:pPr marL="177800" indent="-177800">
              <a:spcAft>
                <a:spcPts val="800"/>
              </a:spcAft>
              <a:buSzPct val="100000"/>
              <a:buChar char="•"/>
            </a:pPr>
            <a:r>
              <a:rPr lang="en-US" sz="1300" dirty="0">
                <a:solidFill>
                  <a:srgbClr val="1B2340"/>
                </a:solidFill>
                <a:latin typeface="Calibri" pitchFamily="34" charset="0"/>
                <a:ea typeface="Calibri" pitchFamily="34" charset="-122"/>
                <a:cs typeface="Calibri" pitchFamily="34" charset="-120"/>
              </a:rPr>
              <a:t>StringBuilder - mutable and fast, but not thread-safe; best for single-threaded string building</a:t>
            </a:r>
            <a:endParaRPr lang="en-US" sz="1300" dirty="0"/>
          </a:p>
          <a:p>
            <a:pPr marL="177800" indent="-177800">
              <a:spcAft>
                <a:spcPts val="800"/>
              </a:spcAft>
              <a:buSzPct val="100000"/>
              <a:buChar char="•"/>
            </a:pPr>
            <a:r>
              <a:rPr lang="en-US" sz="1300" dirty="0">
                <a:solidFill>
                  <a:srgbClr val="1B2340"/>
                </a:solidFill>
                <a:latin typeface="Calibri" pitchFamily="34" charset="0"/>
                <a:ea typeface="Calibri" pitchFamily="34" charset="-122"/>
                <a:cs typeface="Calibri" pitchFamily="34" charset="-120"/>
              </a:rPr>
              <a:t>StringBuffer - mutable and thread-safe (synchronized), but slightly slower than StringBuilder</a:t>
            </a:r>
            <a:endParaRPr lang="en-US" sz="1300" dirty="0"/>
          </a:p>
          <a:p>
            <a:pPr marL="177800" indent="-177800">
              <a:spcAft>
                <a:spcPts val="800"/>
              </a:spcAft>
              <a:buSzPct val="100000"/>
              <a:buChar char="•"/>
            </a:pPr>
            <a:r>
              <a:rPr lang="en-US" sz="1300" dirty="0">
                <a:solidFill>
                  <a:srgbClr val="1B2340"/>
                </a:solidFill>
                <a:latin typeface="Calibri" pitchFamily="34" charset="0"/>
                <a:ea typeface="Calibri" pitchFamily="34" charset="-122"/>
                <a:cs typeface="Calibri" pitchFamily="34" charset="-120"/>
              </a:rPr>
              <a:t>Immutability also allows Strings to be safely shared and cached in the String pool</a:t>
            </a:r>
            <a:endParaRPr lang="en-US" sz="1300" dirty="0"/>
          </a:p>
        </p:txBody>
      </p:sp>
      <p:sp>
        <p:nvSpPr>
          <p:cNvPr id="12" name="Shape 10"/>
          <p:cNvSpPr/>
          <p:nvPr/>
        </p:nvSpPr>
        <p:spPr>
          <a:xfrm>
            <a:off x="7589520" y="3200400"/>
            <a:ext cx="4114800" cy="2194560"/>
          </a:xfrm>
          <a:prstGeom prst="roundRect">
            <a:avLst>
              <a:gd name="adj" fmla="val 3333"/>
            </a:avLst>
          </a:prstGeom>
          <a:solidFill>
            <a:srgbClr val="FDF3E3"/>
          </a:solidFill>
          <a:ln/>
        </p:spPr>
      </p:sp>
      <p:sp>
        <p:nvSpPr>
          <p:cNvPr id="13" name="Text 11"/>
          <p:cNvSpPr/>
          <p:nvPr/>
        </p:nvSpPr>
        <p:spPr>
          <a:xfrm>
            <a:off x="7790688" y="3310128"/>
            <a:ext cx="3712464" cy="274320"/>
          </a:xfrm>
          <a:prstGeom prst="rect">
            <a:avLst/>
          </a:prstGeom>
          <a:noFill/>
          <a:ln/>
        </p:spPr>
        <p:txBody>
          <a:bodyPr wrap="square" rtlCol="0" anchor="ctr"/>
          <a:lstStyle/>
          <a:p>
            <a:pPr marL="0" indent="0">
              <a:buNone/>
            </a:pPr>
            <a:r>
              <a:rPr lang="en-US" sz="1100" b="1" kern="0" spc="50" dirty="0">
                <a:solidFill>
                  <a:srgbClr val="C9862A"/>
                </a:solidFill>
                <a:latin typeface="Calibri" pitchFamily="34" charset="0"/>
                <a:ea typeface="Calibri" pitchFamily="34" charset="-122"/>
                <a:cs typeface="Calibri" pitchFamily="34" charset="-120"/>
              </a:rPr>
              <a:t>💡 REAL-LIFE ANALOGY</a:t>
            </a:r>
            <a:endParaRPr lang="en-US" sz="1100" dirty="0"/>
          </a:p>
        </p:txBody>
      </p:sp>
      <p:sp>
        <p:nvSpPr>
          <p:cNvPr id="14" name="Text 12"/>
          <p:cNvSpPr/>
          <p:nvPr/>
        </p:nvSpPr>
        <p:spPr>
          <a:xfrm>
            <a:off x="7790688" y="3602736"/>
            <a:ext cx="3712464" cy="1664208"/>
          </a:xfrm>
          <a:prstGeom prst="rect">
            <a:avLst/>
          </a:prstGeom>
          <a:noFill/>
          <a:ln/>
        </p:spPr>
        <p:txBody>
          <a:bodyPr wrap="square" lIns="0" tIns="0" rIns="0" bIns="0" rtlCol="0" anchor="t"/>
          <a:lstStyle/>
          <a:p>
            <a:pPr marL="0" indent="0">
              <a:lnSpc>
                <a:spcPct val="110000"/>
              </a:lnSpc>
              <a:buNone/>
            </a:pPr>
            <a:r>
              <a:rPr lang="en-US" sz="1250" i="1" dirty="0">
                <a:solidFill>
                  <a:srgbClr val="1B2340"/>
                </a:solidFill>
                <a:latin typeface="Calibri" pitchFamily="34" charset="0"/>
                <a:ea typeface="Calibri" pitchFamily="34" charset="-122"/>
                <a:cs typeface="Calibri" pitchFamily="34" charset="-120"/>
              </a:rPr>
              <a:t>A String is like a printed photo - to 'edit' it you must print a brand-new copy. A StringBuilder is like an editable digital document you can keep changing without making new copies each time.</a:t>
            </a:r>
            <a:endParaRPr lang="en-US" sz="1250" dirty="0"/>
          </a:p>
        </p:txBody>
      </p:sp>
      <p:sp>
        <p:nvSpPr>
          <p:cNvPr id="15" name="Shape 13"/>
          <p:cNvSpPr/>
          <p:nvPr/>
        </p:nvSpPr>
        <p:spPr>
          <a:xfrm>
            <a:off x="502920" y="5870448"/>
            <a:ext cx="11201400" cy="603504"/>
          </a:xfrm>
          <a:prstGeom prst="roundRect">
            <a:avLst>
              <a:gd name="adj" fmla="val 12121"/>
            </a:avLst>
          </a:prstGeom>
          <a:solidFill>
            <a:srgbClr val="1B2340"/>
          </a:solidFill>
          <a:ln/>
        </p:spPr>
      </p:sp>
      <p:sp>
        <p:nvSpPr>
          <p:cNvPr id="16" name="Text 14"/>
          <p:cNvSpPr/>
          <p:nvPr/>
        </p:nvSpPr>
        <p:spPr>
          <a:xfrm>
            <a:off x="731520" y="5961888"/>
            <a:ext cx="10744200" cy="256032"/>
          </a:xfrm>
          <a:prstGeom prst="rect">
            <a:avLst/>
          </a:prstGeom>
          <a:noFill/>
          <a:ln/>
        </p:spPr>
        <p:txBody>
          <a:bodyPr wrap="square" rtlCol="0" anchor="ctr"/>
          <a:lstStyle/>
          <a:p>
            <a:pPr marL="0" indent="0">
              <a:buNone/>
            </a:pPr>
            <a:r>
              <a:rPr lang="en-US" sz="1050" b="1" kern="0" spc="80" dirty="0">
                <a:solidFill>
                  <a:srgbClr val="E8A33D"/>
                </a:solidFill>
                <a:latin typeface="Calibri" pitchFamily="34" charset="0"/>
                <a:ea typeface="Calibri" pitchFamily="34" charset="-122"/>
                <a:cs typeface="Calibri" pitchFamily="34" charset="-120"/>
              </a:rPr>
              <a:t>ONE-LINE INTERVIEW ANSWER</a:t>
            </a:r>
            <a:endParaRPr lang="en-US" sz="1050" dirty="0"/>
          </a:p>
        </p:txBody>
      </p:sp>
      <p:sp>
        <p:nvSpPr>
          <p:cNvPr id="17" name="Text 15"/>
          <p:cNvSpPr/>
          <p:nvPr/>
        </p:nvSpPr>
        <p:spPr>
          <a:xfrm>
            <a:off x="731520" y="6217920"/>
            <a:ext cx="10744200" cy="146304"/>
          </a:xfrm>
          <a:prstGeom prst="rect">
            <a:avLst/>
          </a:prstGeom>
          <a:noFill/>
          <a:ln/>
        </p:spPr>
        <p:txBody>
          <a:bodyPr wrap="square" lIns="0" tIns="0" rIns="0" bIns="0" rtlCol="0" anchor="t"/>
          <a:lstStyle/>
          <a:p>
            <a:pPr marL="0" indent="0">
              <a:lnSpc>
                <a:spcPct val="105000"/>
              </a:lnSpc>
              <a:buNone/>
            </a:pPr>
            <a:r>
              <a:rPr lang="en-US" sz="1250" dirty="0">
                <a:solidFill>
                  <a:srgbClr val="FFFFFF"/>
                </a:solidFill>
                <a:latin typeface="Calibri" pitchFamily="34" charset="0"/>
                <a:ea typeface="Calibri" pitchFamily="34" charset="-122"/>
                <a:cs typeface="Calibri" pitchFamily="34" charset="-120"/>
              </a:rPr>
              <a:t>Strings are immutable for safety and caching; use StringBuilder for fast single-threaded edits and StringBuffer when thread safety is needed.</a:t>
            </a:r>
            <a:endParaRPr lang="en-US" sz="1250" dirty="0"/>
          </a:p>
        </p:txBody>
      </p:sp>
      <p:sp>
        <p:nvSpPr>
          <p:cNvPr id="18" name="Text 16"/>
          <p:cNvSpPr/>
          <p:nvPr/>
        </p:nvSpPr>
        <p:spPr>
          <a:xfrm>
            <a:off x="457200" y="6583680"/>
            <a:ext cx="5486400" cy="228600"/>
          </a:xfrm>
          <a:prstGeom prst="rect">
            <a:avLst/>
          </a:prstGeom>
          <a:noFill/>
          <a:ln/>
        </p:spPr>
        <p:txBody>
          <a:bodyPr wrap="square" rtlCol="0" anchor="ctr"/>
          <a:lstStyle/>
          <a:p>
            <a:pPr marL="0" indent="0" algn="l">
              <a:buNone/>
            </a:pPr>
            <a:r>
              <a:rPr lang="en-US" sz="850" dirty="0">
                <a:solidFill>
                  <a:srgbClr val="5B6178"/>
                </a:solidFill>
                <a:latin typeface="Calibri" pitchFamily="34" charset="0"/>
                <a:ea typeface="Calibri" pitchFamily="34" charset="-122"/>
                <a:cs typeface="Calibri" pitchFamily="34" charset="-120"/>
              </a:rPr>
              <a:t>Java &amp; Full-Stack Interview Prep</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B2340"/>
        </a:solidFill>
        <a:effectLst/>
      </p:bgPr>
    </p:bg>
    <p:spTree>
      <p:nvGrpSpPr>
        <p:cNvPr id="1" name=""/>
        <p:cNvGrpSpPr/>
        <p:nvPr/>
      </p:nvGrpSpPr>
      <p:grpSpPr>
        <a:xfrm>
          <a:off x="0" y="0"/>
          <a:ext cx="0" cy="0"/>
          <a:chOff x="0" y="0"/>
          <a:chExt cx="0" cy="0"/>
        </a:xfrm>
      </p:grpSpPr>
      <p:sp>
        <p:nvSpPr>
          <p:cNvPr id="2" name="Shape 0"/>
          <p:cNvSpPr/>
          <p:nvPr/>
        </p:nvSpPr>
        <p:spPr>
          <a:xfrm>
            <a:off x="9692640" y="-1463040"/>
            <a:ext cx="4206240" cy="4206240"/>
          </a:xfrm>
          <a:prstGeom prst="ellipse">
            <a:avLst/>
          </a:prstGeom>
          <a:solidFill>
            <a:srgbClr val="232B4D"/>
          </a:solidFill>
          <a:ln/>
        </p:spPr>
      </p:sp>
      <p:sp>
        <p:nvSpPr>
          <p:cNvPr id="3" name="Text 1"/>
          <p:cNvSpPr/>
          <p:nvPr/>
        </p:nvSpPr>
        <p:spPr>
          <a:xfrm>
            <a:off x="822960" y="1920240"/>
            <a:ext cx="2743200" cy="1463040"/>
          </a:xfrm>
          <a:prstGeom prst="rect">
            <a:avLst/>
          </a:prstGeom>
          <a:noFill/>
          <a:ln/>
        </p:spPr>
        <p:txBody>
          <a:bodyPr wrap="square" rtlCol="0" anchor="ctr"/>
          <a:lstStyle/>
          <a:p>
            <a:pPr marL="0" indent="0">
              <a:buNone/>
            </a:pPr>
            <a:r>
              <a:rPr lang="en-US" sz="6400" b="1" dirty="0">
                <a:solidFill>
                  <a:srgbClr val="232B4D"/>
                </a:solidFill>
                <a:latin typeface="Century Schoolbook" pitchFamily="34" charset="0"/>
                <a:ea typeface="Century Schoolbook" pitchFamily="34" charset="-122"/>
                <a:cs typeface="Century Schoolbook" pitchFamily="34" charset="-120"/>
              </a:rPr>
              <a:t>02</a:t>
            </a:r>
            <a:endParaRPr lang="en-US" sz="6400" dirty="0"/>
          </a:p>
        </p:txBody>
      </p:sp>
      <p:sp>
        <p:nvSpPr>
          <p:cNvPr id="4" name="Shape 2"/>
          <p:cNvSpPr/>
          <p:nvPr/>
        </p:nvSpPr>
        <p:spPr>
          <a:xfrm>
            <a:off x="868680" y="3383280"/>
            <a:ext cx="1005840" cy="82296"/>
          </a:xfrm>
          <a:prstGeom prst="rect">
            <a:avLst/>
          </a:prstGeom>
          <a:solidFill>
            <a:srgbClr val="E8A33D"/>
          </a:solidFill>
          <a:ln/>
        </p:spPr>
      </p:sp>
      <p:sp>
        <p:nvSpPr>
          <p:cNvPr id="5" name="Text 3"/>
          <p:cNvSpPr/>
          <p:nvPr/>
        </p:nvSpPr>
        <p:spPr>
          <a:xfrm>
            <a:off x="822960" y="3520440"/>
            <a:ext cx="9601200" cy="1005840"/>
          </a:xfrm>
          <a:prstGeom prst="rect">
            <a:avLst/>
          </a:prstGeom>
          <a:noFill/>
          <a:ln/>
        </p:spPr>
        <p:txBody>
          <a:bodyPr wrap="square" rtlCol="0" anchor="ctr"/>
          <a:lstStyle/>
          <a:p>
            <a:pPr marL="0" indent="0">
              <a:buNone/>
            </a:pPr>
            <a:r>
              <a:rPr lang="en-US" sz="3800" b="1" dirty="0">
                <a:solidFill>
                  <a:srgbClr val="FFFFFF"/>
                </a:solidFill>
                <a:latin typeface="Century Schoolbook" pitchFamily="34" charset="0"/>
                <a:ea typeface="Century Schoolbook" pitchFamily="34" charset="-122"/>
                <a:cs typeface="Century Schoolbook" pitchFamily="34" charset="-120"/>
              </a:rPr>
              <a:t>Collections &amp; Advanced Java</a:t>
            </a:r>
            <a:endParaRPr lang="en-US" sz="3800" dirty="0"/>
          </a:p>
        </p:txBody>
      </p:sp>
      <p:sp>
        <p:nvSpPr>
          <p:cNvPr id="6" name="Text 4"/>
          <p:cNvSpPr/>
          <p:nvPr/>
        </p:nvSpPr>
        <p:spPr>
          <a:xfrm>
            <a:off x="822960" y="4434840"/>
            <a:ext cx="8229600" cy="457200"/>
          </a:xfrm>
          <a:prstGeom prst="rect">
            <a:avLst/>
          </a:prstGeom>
          <a:noFill/>
          <a:ln/>
        </p:spPr>
        <p:txBody>
          <a:bodyPr wrap="square" rtlCol="0" anchor="ctr"/>
          <a:lstStyle/>
          <a:p>
            <a:pPr marL="0" indent="0">
              <a:buNone/>
            </a:pPr>
            <a:r>
              <a:rPr lang="en-US" sz="1400" i="1" dirty="0">
                <a:solidFill>
                  <a:srgbClr val="C3C8DC"/>
                </a:solidFill>
                <a:latin typeface="Calibri" pitchFamily="34" charset="0"/>
                <a:ea typeface="Calibri" pitchFamily="34" charset="-122"/>
                <a:cs typeface="Calibri" pitchFamily="34" charset="-120"/>
              </a:rPr>
              <a:t>6 slides covering commonly asked interview questions</a:t>
            </a:r>
            <a:endParaRPr lang="en-US" sz="1400" dirty="0"/>
          </a:p>
        </p:txBody>
      </p:sp>
      <p:sp>
        <p:nvSpPr>
          <p:cNvPr id="7" name="Text 5"/>
          <p:cNvSpPr/>
          <p:nvPr/>
        </p:nvSpPr>
        <p:spPr>
          <a:xfrm>
            <a:off x="457200" y="6583680"/>
            <a:ext cx="5486400" cy="228600"/>
          </a:xfrm>
          <a:prstGeom prst="rect">
            <a:avLst/>
          </a:prstGeom>
          <a:noFill/>
          <a:ln/>
        </p:spPr>
        <p:txBody>
          <a:bodyPr wrap="square" rtlCol="0" anchor="ctr"/>
          <a:lstStyle/>
          <a:p>
            <a:pPr marL="0" indent="0" algn="l">
              <a:buNone/>
            </a:pPr>
            <a:r>
              <a:rPr lang="en-US" sz="850" dirty="0">
                <a:solidFill>
                  <a:srgbClr val="5B6178"/>
                </a:solidFill>
                <a:latin typeface="Calibri" pitchFamily="34" charset="0"/>
                <a:ea typeface="Calibri" pitchFamily="34" charset="-122"/>
                <a:cs typeface="Calibri" pitchFamily="34" charset="-120"/>
              </a:rPr>
              <a:t>Java &amp; Full-Stack Interview Prep</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Shape 0"/>
          <p:cNvSpPr/>
          <p:nvPr/>
        </p:nvSpPr>
        <p:spPr>
          <a:xfrm>
            <a:off x="502920" y="384048"/>
            <a:ext cx="5888736" cy="310896"/>
          </a:xfrm>
          <a:prstGeom prst="roundRect">
            <a:avLst>
              <a:gd name="adj" fmla="val 23529"/>
            </a:avLst>
          </a:prstGeom>
          <a:solidFill>
            <a:srgbClr val="E8A33D"/>
          </a:solidFill>
          <a:ln/>
        </p:spPr>
      </p:sp>
      <p:sp>
        <p:nvSpPr>
          <p:cNvPr id="3" name="Text 1"/>
          <p:cNvSpPr/>
          <p:nvPr/>
        </p:nvSpPr>
        <p:spPr>
          <a:xfrm>
            <a:off x="502920" y="384048"/>
            <a:ext cx="5888736" cy="310896"/>
          </a:xfrm>
          <a:prstGeom prst="rect">
            <a:avLst/>
          </a:prstGeom>
          <a:noFill/>
          <a:ln/>
        </p:spPr>
        <p:txBody>
          <a:bodyPr wrap="square" rtlCol="0" anchor="ctr"/>
          <a:lstStyle/>
          <a:p>
            <a:pPr marL="0" indent="0" algn="ctr">
              <a:buNone/>
            </a:pPr>
            <a:r>
              <a:rPr lang="en-US" sz="1100" b="1" kern="0" spc="100" dirty="0">
                <a:solidFill>
                  <a:srgbClr val="1B2340"/>
                </a:solidFill>
                <a:latin typeface="Calibri" pitchFamily="34" charset="0"/>
                <a:ea typeface="Calibri" pitchFamily="34" charset="-122"/>
                <a:cs typeface="Calibri" pitchFamily="34" charset="-120"/>
              </a:rPr>
              <a:t>COLLECTIONS &amp; ADVANCED JAVA</a:t>
            </a:r>
            <a:endParaRPr lang="en-US" sz="1100" dirty="0"/>
          </a:p>
        </p:txBody>
      </p:sp>
      <p:sp>
        <p:nvSpPr>
          <p:cNvPr id="4" name="Text 2"/>
          <p:cNvSpPr/>
          <p:nvPr/>
        </p:nvSpPr>
        <p:spPr>
          <a:xfrm>
            <a:off x="502920" y="786384"/>
            <a:ext cx="11155680" cy="868680"/>
          </a:xfrm>
          <a:prstGeom prst="rect">
            <a:avLst/>
          </a:prstGeom>
          <a:noFill/>
          <a:ln/>
        </p:spPr>
        <p:txBody>
          <a:bodyPr wrap="square" rtlCol="0" anchor="t"/>
          <a:lstStyle/>
          <a:p>
            <a:pPr marL="0" indent="0">
              <a:lnSpc>
                <a:spcPct val="102000"/>
              </a:lnSpc>
              <a:buNone/>
            </a:pPr>
            <a:r>
              <a:rPr lang="en-US" sz="2500" b="1" dirty="0">
                <a:solidFill>
                  <a:srgbClr val="1B2340"/>
                </a:solidFill>
                <a:latin typeface="Century Schoolbook" pitchFamily="34" charset="0"/>
                <a:ea typeface="Century Schoolbook" pitchFamily="34" charset="-122"/>
                <a:cs typeface="Century Schoolbook" pitchFamily="34" charset="-120"/>
              </a:rPr>
              <a:t>Difference between == and .equals()</a:t>
            </a:r>
            <a:endParaRPr lang="en-US" sz="2500" dirty="0"/>
          </a:p>
        </p:txBody>
      </p:sp>
      <p:sp>
        <p:nvSpPr>
          <p:cNvPr id="5" name="Shape 3"/>
          <p:cNvSpPr/>
          <p:nvPr/>
        </p:nvSpPr>
        <p:spPr>
          <a:xfrm>
            <a:off x="502920" y="1810512"/>
            <a:ext cx="164592" cy="274320"/>
          </a:xfrm>
          <a:prstGeom prst="roundRect">
            <a:avLst>
              <a:gd name="adj" fmla="val 22222"/>
            </a:avLst>
          </a:prstGeom>
          <a:solidFill>
            <a:srgbClr val="E8A33D"/>
          </a:solidFill>
          <a:ln/>
        </p:spPr>
      </p:sp>
      <p:sp>
        <p:nvSpPr>
          <p:cNvPr id="6" name="Text 4"/>
          <p:cNvSpPr/>
          <p:nvPr/>
        </p:nvSpPr>
        <p:spPr>
          <a:xfrm>
            <a:off x="758952" y="1783080"/>
            <a:ext cx="4681728" cy="329184"/>
          </a:xfrm>
          <a:prstGeom prst="rect">
            <a:avLst/>
          </a:prstGeom>
          <a:noFill/>
          <a:ln/>
        </p:spPr>
        <p:txBody>
          <a:bodyPr wrap="square" rtlCol="0" anchor="ctr"/>
          <a:lstStyle/>
          <a:p>
            <a:pPr marL="0" indent="0">
              <a:buNone/>
            </a:pPr>
            <a:r>
              <a:rPr lang="en-US" sz="1300" b="1" kern="0" spc="50" dirty="0">
                <a:solidFill>
                  <a:srgbClr val="1B2340"/>
                </a:solidFill>
                <a:latin typeface="Calibri" pitchFamily="34" charset="0"/>
                <a:ea typeface="Calibri" pitchFamily="34" charset="-122"/>
                <a:cs typeface="Calibri" pitchFamily="34" charset="-120"/>
              </a:rPr>
              <a:t>DEFINITION / CONCEPT</a:t>
            </a:r>
            <a:endParaRPr lang="en-US" sz="1300" dirty="0"/>
          </a:p>
        </p:txBody>
      </p:sp>
      <p:sp>
        <p:nvSpPr>
          <p:cNvPr id="7" name="Shape 5"/>
          <p:cNvSpPr/>
          <p:nvPr/>
        </p:nvSpPr>
        <p:spPr>
          <a:xfrm>
            <a:off x="502920" y="2121408"/>
            <a:ext cx="4937760" cy="1234440"/>
          </a:xfrm>
          <a:prstGeom prst="roundRect">
            <a:avLst>
              <a:gd name="adj" fmla="val 5926"/>
            </a:avLst>
          </a:prstGeom>
          <a:solidFill>
            <a:srgbClr val="F7F7FA"/>
          </a:solidFill>
          <a:ln w="12700">
            <a:solidFill>
              <a:srgbClr val="E4E6EF"/>
            </a:solidFill>
            <a:prstDash val="solid"/>
          </a:ln>
        </p:spPr>
      </p:sp>
      <p:sp>
        <p:nvSpPr>
          <p:cNvPr id="8" name="Text 6"/>
          <p:cNvSpPr/>
          <p:nvPr/>
        </p:nvSpPr>
        <p:spPr>
          <a:xfrm>
            <a:off x="758952" y="2304288"/>
            <a:ext cx="4425696" cy="868680"/>
          </a:xfrm>
          <a:prstGeom prst="rect">
            <a:avLst/>
          </a:prstGeom>
          <a:noFill/>
          <a:ln/>
        </p:spPr>
        <p:txBody>
          <a:bodyPr wrap="square" lIns="0" tIns="0" rIns="0" bIns="0" rtlCol="0" anchor="t"/>
          <a:lstStyle/>
          <a:p>
            <a:pPr marL="0" indent="0">
              <a:lnSpc>
                <a:spcPct val="115000"/>
              </a:lnSpc>
              <a:buNone/>
            </a:pPr>
            <a:r>
              <a:rPr lang="en-US" sz="1450" dirty="0">
                <a:solidFill>
                  <a:srgbClr val="1B2340"/>
                </a:solidFill>
                <a:latin typeface="Calibri" pitchFamily="34" charset="0"/>
                <a:ea typeface="Calibri" pitchFamily="34" charset="-122"/>
                <a:cs typeface="Calibri" pitchFamily="34" charset="-120"/>
              </a:rPr>
              <a:t>== compares references (memory addresses) for objects, while .equals() compares the actual content/value of objects.</a:t>
            </a:r>
            <a:endParaRPr lang="en-US" sz="1450" dirty="0"/>
          </a:p>
        </p:txBody>
      </p:sp>
      <p:sp>
        <p:nvSpPr>
          <p:cNvPr id="9" name="Shape 7"/>
          <p:cNvSpPr/>
          <p:nvPr/>
        </p:nvSpPr>
        <p:spPr>
          <a:xfrm>
            <a:off x="502920" y="3493008"/>
            <a:ext cx="4937760" cy="1554480"/>
          </a:xfrm>
          <a:prstGeom prst="roundRect">
            <a:avLst>
              <a:gd name="adj" fmla="val 4706"/>
            </a:avLst>
          </a:prstGeom>
          <a:solidFill>
            <a:srgbClr val="FDF3E3"/>
          </a:solidFill>
          <a:ln/>
        </p:spPr>
      </p:sp>
      <p:sp>
        <p:nvSpPr>
          <p:cNvPr id="10" name="Text 8"/>
          <p:cNvSpPr/>
          <p:nvPr/>
        </p:nvSpPr>
        <p:spPr>
          <a:xfrm>
            <a:off x="704088" y="3602736"/>
            <a:ext cx="4535424" cy="274320"/>
          </a:xfrm>
          <a:prstGeom prst="rect">
            <a:avLst/>
          </a:prstGeom>
          <a:noFill/>
          <a:ln/>
        </p:spPr>
        <p:txBody>
          <a:bodyPr wrap="square" rtlCol="0" anchor="ctr"/>
          <a:lstStyle/>
          <a:p>
            <a:pPr marL="0" indent="0">
              <a:buNone/>
            </a:pPr>
            <a:r>
              <a:rPr lang="en-US" sz="1100" b="1" kern="0" spc="50" dirty="0">
                <a:solidFill>
                  <a:srgbClr val="C9862A"/>
                </a:solidFill>
                <a:latin typeface="Calibri" pitchFamily="34" charset="0"/>
                <a:ea typeface="Calibri" pitchFamily="34" charset="-122"/>
                <a:cs typeface="Calibri" pitchFamily="34" charset="-120"/>
              </a:rPr>
              <a:t>💡 REAL-LIFE ANALOGY</a:t>
            </a:r>
            <a:endParaRPr lang="en-US" sz="1100" dirty="0"/>
          </a:p>
        </p:txBody>
      </p:sp>
      <p:sp>
        <p:nvSpPr>
          <p:cNvPr id="11" name="Text 9"/>
          <p:cNvSpPr/>
          <p:nvPr/>
        </p:nvSpPr>
        <p:spPr>
          <a:xfrm>
            <a:off x="704088" y="3895344"/>
            <a:ext cx="4535424" cy="1024128"/>
          </a:xfrm>
          <a:prstGeom prst="rect">
            <a:avLst/>
          </a:prstGeom>
          <a:noFill/>
          <a:ln/>
        </p:spPr>
        <p:txBody>
          <a:bodyPr wrap="square" lIns="0" tIns="0" rIns="0" bIns="0" rtlCol="0" anchor="t"/>
          <a:lstStyle/>
          <a:p>
            <a:pPr marL="0" indent="0">
              <a:lnSpc>
                <a:spcPct val="110000"/>
              </a:lnSpc>
              <a:buNone/>
            </a:pPr>
            <a:r>
              <a:rPr lang="en-US" sz="1250" i="1" dirty="0">
                <a:solidFill>
                  <a:srgbClr val="1B2340"/>
                </a:solidFill>
                <a:latin typeface="Calibri" pitchFamily="34" charset="0"/>
                <a:ea typeface="Calibri" pitchFamily="34" charset="-122"/>
                <a:cs typeface="Calibri" pitchFamily="34" charset="-120"/>
              </a:rPr>
              <a:t>== is like asking 'are these the same physical house?' while .equals() asks 'do these two houses look identical inside?' Two different houses can look the same without being the same building.</a:t>
            </a:r>
            <a:endParaRPr lang="en-US" sz="1250" dirty="0"/>
          </a:p>
        </p:txBody>
      </p:sp>
      <p:sp>
        <p:nvSpPr>
          <p:cNvPr id="12" name="Shape 10"/>
          <p:cNvSpPr/>
          <p:nvPr/>
        </p:nvSpPr>
        <p:spPr>
          <a:xfrm>
            <a:off x="502920" y="5193792"/>
            <a:ext cx="4937760" cy="1051560"/>
          </a:xfrm>
          <a:prstGeom prst="roundRect">
            <a:avLst>
              <a:gd name="adj" fmla="val 6957"/>
            </a:avLst>
          </a:prstGeom>
          <a:solidFill>
            <a:srgbClr val="1B2340"/>
          </a:solidFill>
          <a:ln/>
        </p:spPr>
      </p:sp>
      <p:sp>
        <p:nvSpPr>
          <p:cNvPr id="13" name="Text 11"/>
          <p:cNvSpPr/>
          <p:nvPr/>
        </p:nvSpPr>
        <p:spPr>
          <a:xfrm>
            <a:off x="731520" y="5285232"/>
            <a:ext cx="4480560" cy="256032"/>
          </a:xfrm>
          <a:prstGeom prst="rect">
            <a:avLst/>
          </a:prstGeom>
          <a:noFill/>
          <a:ln/>
        </p:spPr>
        <p:txBody>
          <a:bodyPr wrap="square" rtlCol="0" anchor="ctr"/>
          <a:lstStyle/>
          <a:p>
            <a:pPr marL="0" indent="0">
              <a:buNone/>
            </a:pPr>
            <a:r>
              <a:rPr lang="en-US" sz="1050" b="1" kern="0" spc="80" dirty="0">
                <a:solidFill>
                  <a:srgbClr val="E8A33D"/>
                </a:solidFill>
                <a:latin typeface="Calibri" pitchFamily="34" charset="0"/>
                <a:ea typeface="Calibri" pitchFamily="34" charset="-122"/>
                <a:cs typeface="Calibri" pitchFamily="34" charset="-120"/>
              </a:rPr>
              <a:t>ONE-LINE INTERVIEW ANSWER</a:t>
            </a:r>
            <a:endParaRPr lang="en-US" sz="1050" dirty="0"/>
          </a:p>
        </p:txBody>
      </p:sp>
      <p:sp>
        <p:nvSpPr>
          <p:cNvPr id="14" name="Text 12"/>
          <p:cNvSpPr/>
          <p:nvPr/>
        </p:nvSpPr>
        <p:spPr>
          <a:xfrm>
            <a:off x="731520" y="5541264"/>
            <a:ext cx="4480560" cy="594360"/>
          </a:xfrm>
          <a:prstGeom prst="rect">
            <a:avLst/>
          </a:prstGeom>
          <a:noFill/>
          <a:ln/>
        </p:spPr>
        <p:txBody>
          <a:bodyPr wrap="square" lIns="0" tIns="0" rIns="0" bIns="0" rtlCol="0" anchor="t"/>
          <a:lstStyle/>
          <a:p>
            <a:pPr marL="0" indent="0">
              <a:lnSpc>
                <a:spcPct val="105000"/>
              </a:lnSpc>
              <a:buNone/>
            </a:pPr>
            <a:r>
              <a:rPr lang="en-US" sz="1250" dirty="0">
                <a:solidFill>
                  <a:srgbClr val="FFFFFF"/>
                </a:solidFill>
                <a:latin typeface="Calibri" pitchFamily="34" charset="0"/>
                <a:ea typeface="Calibri" pitchFamily="34" charset="-122"/>
                <a:cs typeface="Calibri" pitchFamily="34" charset="-120"/>
              </a:rPr>
              <a:t>== compares object references (memory location), while .equals() compares the actual values/content.</a:t>
            </a:r>
            <a:endParaRPr lang="en-US" sz="1250" dirty="0"/>
          </a:p>
        </p:txBody>
      </p:sp>
      <p:sp>
        <p:nvSpPr>
          <p:cNvPr id="15" name="Shape 13"/>
          <p:cNvSpPr/>
          <p:nvPr/>
        </p:nvSpPr>
        <p:spPr>
          <a:xfrm>
            <a:off x="5669280" y="1810512"/>
            <a:ext cx="164592" cy="274320"/>
          </a:xfrm>
          <a:prstGeom prst="roundRect">
            <a:avLst>
              <a:gd name="adj" fmla="val 22222"/>
            </a:avLst>
          </a:prstGeom>
          <a:solidFill>
            <a:srgbClr val="3FBFAE"/>
          </a:solidFill>
          <a:ln/>
        </p:spPr>
      </p:sp>
      <p:sp>
        <p:nvSpPr>
          <p:cNvPr id="16" name="Text 14"/>
          <p:cNvSpPr/>
          <p:nvPr/>
        </p:nvSpPr>
        <p:spPr>
          <a:xfrm>
            <a:off x="5925312" y="1783080"/>
            <a:ext cx="5779008" cy="329184"/>
          </a:xfrm>
          <a:prstGeom prst="rect">
            <a:avLst/>
          </a:prstGeom>
          <a:noFill/>
          <a:ln/>
        </p:spPr>
        <p:txBody>
          <a:bodyPr wrap="square" rtlCol="0" anchor="ctr"/>
          <a:lstStyle/>
          <a:p>
            <a:pPr marL="0" indent="0">
              <a:buNone/>
            </a:pPr>
            <a:r>
              <a:rPr lang="en-US" sz="1300" b="1" kern="0" spc="50" dirty="0">
                <a:solidFill>
                  <a:srgbClr val="1B2340"/>
                </a:solidFill>
                <a:latin typeface="Calibri" pitchFamily="34" charset="0"/>
                <a:ea typeface="Calibri" pitchFamily="34" charset="-122"/>
                <a:cs typeface="Calibri" pitchFamily="34" charset="-120"/>
              </a:rPr>
              <a:t>EXAMPLE</a:t>
            </a:r>
            <a:endParaRPr lang="en-US" sz="1300" dirty="0"/>
          </a:p>
        </p:txBody>
      </p:sp>
      <p:sp>
        <p:nvSpPr>
          <p:cNvPr id="17" name="Shape 15"/>
          <p:cNvSpPr/>
          <p:nvPr/>
        </p:nvSpPr>
        <p:spPr>
          <a:xfrm>
            <a:off x="5669280" y="2121408"/>
            <a:ext cx="6035040" cy="1447800"/>
          </a:xfrm>
          <a:prstGeom prst="roundRect">
            <a:avLst>
              <a:gd name="adj" fmla="val 5053"/>
            </a:avLst>
          </a:prstGeom>
          <a:solidFill>
            <a:srgbClr val="1E1E2E"/>
          </a:solidFill>
          <a:ln/>
        </p:spPr>
      </p:sp>
      <p:sp>
        <p:nvSpPr>
          <p:cNvPr id="18" name="Shape 16"/>
          <p:cNvSpPr/>
          <p:nvPr/>
        </p:nvSpPr>
        <p:spPr>
          <a:xfrm>
            <a:off x="5806440" y="2249424"/>
            <a:ext cx="100584" cy="100584"/>
          </a:xfrm>
          <a:prstGeom prst="ellipse">
            <a:avLst/>
          </a:prstGeom>
          <a:solidFill>
            <a:srgbClr val="FF5F56"/>
          </a:solidFill>
          <a:ln/>
        </p:spPr>
      </p:sp>
      <p:sp>
        <p:nvSpPr>
          <p:cNvPr id="19" name="Shape 17"/>
          <p:cNvSpPr/>
          <p:nvPr/>
        </p:nvSpPr>
        <p:spPr>
          <a:xfrm>
            <a:off x="5961888" y="2249424"/>
            <a:ext cx="100584" cy="100584"/>
          </a:xfrm>
          <a:prstGeom prst="ellipse">
            <a:avLst/>
          </a:prstGeom>
          <a:solidFill>
            <a:srgbClr val="FFBD2E"/>
          </a:solidFill>
          <a:ln/>
        </p:spPr>
      </p:sp>
      <p:sp>
        <p:nvSpPr>
          <p:cNvPr id="20" name="Shape 18"/>
          <p:cNvSpPr/>
          <p:nvPr/>
        </p:nvSpPr>
        <p:spPr>
          <a:xfrm>
            <a:off x="6117336" y="2249424"/>
            <a:ext cx="100584" cy="100584"/>
          </a:xfrm>
          <a:prstGeom prst="ellipse">
            <a:avLst/>
          </a:prstGeom>
          <a:solidFill>
            <a:srgbClr val="27C93F"/>
          </a:solidFill>
          <a:ln/>
        </p:spPr>
      </p:sp>
      <p:sp>
        <p:nvSpPr>
          <p:cNvPr id="21" name="Text 19"/>
          <p:cNvSpPr/>
          <p:nvPr/>
        </p:nvSpPr>
        <p:spPr>
          <a:xfrm>
            <a:off x="6309360" y="2167128"/>
            <a:ext cx="5120640" cy="274320"/>
          </a:xfrm>
          <a:prstGeom prst="rect">
            <a:avLst/>
          </a:prstGeom>
          <a:noFill/>
          <a:ln/>
        </p:spPr>
        <p:txBody>
          <a:bodyPr wrap="square" rtlCol="0" anchor="ctr"/>
          <a:lstStyle/>
          <a:p>
            <a:pPr marL="0" indent="0" algn="r">
              <a:buNone/>
            </a:pPr>
            <a:r>
              <a:rPr lang="en-US" sz="1000" dirty="0">
                <a:solidFill>
                  <a:srgbClr val="8A90AC"/>
                </a:solidFill>
                <a:latin typeface="Courier New" pitchFamily="34" charset="0"/>
                <a:ea typeface="Courier New" pitchFamily="34" charset="-122"/>
                <a:cs typeface="Courier New" pitchFamily="34" charset="-120"/>
              </a:rPr>
              <a:t>Main.java</a:t>
            </a:r>
            <a:endParaRPr lang="en-US" sz="1000" dirty="0"/>
          </a:p>
        </p:txBody>
      </p:sp>
      <p:sp>
        <p:nvSpPr>
          <p:cNvPr id="22" name="Text 20"/>
          <p:cNvSpPr/>
          <p:nvPr/>
        </p:nvSpPr>
        <p:spPr>
          <a:xfrm>
            <a:off x="5897880" y="2487168"/>
            <a:ext cx="5577840" cy="990600"/>
          </a:xfrm>
          <a:prstGeom prst="rect">
            <a:avLst/>
          </a:prstGeom>
          <a:noFill/>
          <a:ln/>
        </p:spPr>
        <p:txBody>
          <a:bodyPr wrap="square" lIns="0" tIns="0" rIns="0" bIns="0" rtlCol="0" anchor="t"/>
          <a:lstStyle/>
          <a:p>
            <a:pPr marL="0" indent="0">
              <a:lnSpc>
                <a:spcPct val="120000"/>
              </a:lnSpc>
              <a:buNone/>
            </a:pPr>
            <a:r>
              <a:rPr lang="en-US" sz="1200" dirty="0">
                <a:solidFill>
                  <a:srgbClr val="D4D4E0"/>
                </a:solidFill>
                <a:latin typeface="Courier New" pitchFamily="34" charset="0"/>
                <a:ea typeface="Courier New" pitchFamily="34" charset="-122"/>
                <a:cs typeface="Courier New" pitchFamily="34" charset="-120"/>
              </a:rPr>
              <a:t>String a = new String("hi");</a:t>
            </a:r>
            <a:endParaRPr lang="en-US" sz="1200" dirty="0"/>
          </a:p>
          <a:p>
            <a:pPr marL="0" indent="0">
              <a:lnSpc>
                <a:spcPct val="120000"/>
              </a:lnSpc>
              <a:buNone/>
            </a:pPr>
            <a:r>
              <a:rPr lang="en-US" sz="1200" dirty="0">
                <a:solidFill>
                  <a:srgbClr val="D4D4E0"/>
                </a:solidFill>
                <a:latin typeface="Courier New" pitchFamily="34" charset="0"/>
                <a:ea typeface="Courier New" pitchFamily="34" charset="-122"/>
                <a:cs typeface="Courier New" pitchFamily="34" charset="-120"/>
              </a:rPr>
              <a:t>String b = new String("hi");</a:t>
            </a:r>
            <a:endParaRPr lang="en-US" sz="1200" dirty="0"/>
          </a:p>
          <a:p>
            <a:pPr marL="0" indent="0">
              <a:lnSpc>
                <a:spcPct val="120000"/>
              </a:lnSpc>
              <a:buNone/>
            </a:pPr>
            <a:r>
              <a:rPr lang="en-US" sz="1200" dirty="0">
                <a:solidFill>
                  <a:srgbClr val="D4D4E0"/>
                </a:solidFill>
                <a:latin typeface="Courier New" pitchFamily="34" charset="0"/>
                <a:ea typeface="Courier New" pitchFamily="34" charset="-122"/>
                <a:cs typeface="Courier New" pitchFamily="34" charset="-120"/>
              </a:rPr>
              <a:t>System.out.println(a == b);       // false</a:t>
            </a:r>
            <a:endParaRPr lang="en-US" sz="1200" dirty="0"/>
          </a:p>
          <a:p>
            <a:pPr marL="0" indent="0">
              <a:lnSpc>
                <a:spcPct val="120000"/>
              </a:lnSpc>
              <a:buNone/>
            </a:pPr>
            <a:r>
              <a:rPr lang="en-US" sz="1200" dirty="0">
                <a:solidFill>
                  <a:srgbClr val="D4D4E0"/>
                </a:solidFill>
                <a:latin typeface="Courier New" pitchFamily="34" charset="0"/>
                <a:ea typeface="Courier New" pitchFamily="34" charset="-122"/>
                <a:cs typeface="Courier New" pitchFamily="34" charset="-120"/>
              </a:rPr>
              <a:t>System.out.println(a.equals(b));  // true</a:t>
            </a:r>
            <a:endParaRPr lang="en-US" sz="1200" dirty="0"/>
          </a:p>
        </p:txBody>
      </p:sp>
      <p:sp>
        <p:nvSpPr>
          <p:cNvPr id="23" name="Shape 21"/>
          <p:cNvSpPr/>
          <p:nvPr/>
        </p:nvSpPr>
        <p:spPr>
          <a:xfrm>
            <a:off x="5669280" y="3733800"/>
            <a:ext cx="164592" cy="274320"/>
          </a:xfrm>
          <a:prstGeom prst="roundRect">
            <a:avLst>
              <a:gd name="adj" fmla="val 22222"/>
            </a:avLst>
          </a:prstGeom>
          <a:solidFill>
            <a:srgbClr val="3FBFAE"/>
          </a:solidFill>
          <a:ln/>
        </p:spPr>
      </p:sp>
      <p:sp>
        <p:nvSpPr>
          <p:cNvPr id="24" name="Text 22"/>
          <p:cNvSpPr/>
          <p:nvPr/>
        </p:nvSpPr>
        <p:spPr>
          <a:xfrm>
            <a:off x="5925312" y="3706368"/>
            <a:ext cx="5779008" cy="329184"/>
          </a:xfrm>
          <a:prstGeom prst="rect">
            <a:avLst/>
          </a:prstGeom>
          <a:noFill/>
          <a:ln/>
        </p:spPr>
        <p:txBody>
          <a:bodyPr wrap="square" rtlCol="0" anchor="ctr"/>
          <a:lstStyle/>
          <a:p>
            <a:pPr marL="0" indent="0">
              <a:buNone/>
            </a:pPr>
            <a:r>
              <a:rPr lang="en-US" sz="1300" b="1" kern="0" spc="50" dirty="0">
                <a:solidFill>
                  <a:srgbClr val="1B2340"/>
                </a:solidFill>
                <a:latin typeface="Calibri" pitchFamily="34" charset="0"/>
                <a:ea typeface="Calibri" pitchFamily="34" charset="-122"/>
                <a:cs typeface="Calibri" pitchFamily="34" charset="-120"/>
              </a:rPr>
              <a:t>EXPLANATION</a:t>
            </a:r>
            <a:endParaRPr lang="en-US" sz="1300" dirty="0"/>
          </a:p>
        </p:txBody>
      </p:sp>
      <p:sp>
        <p:nvSpPr>
          <p:cNvPr id="25" name="Text 23"/>
          <p:cNvSpPr/>
          <p:nvPr/>
        </p:nvSpPr>
        <p:spPr>
          <a:xfrm>
            <a:off x="5669280" y="4062984"/>
            <a:ext cx="6035040" cy="2337816"/>
          </a:xfrm>
          <a:prstGeom prst="rect">
            <a:avLst/>
          </a:prstGeom>
          <a:noFill/>
          <a:ln/>
        </p:spPr>
        <p:txBody>
          <a:bodyPr wrap="square" lIns="0" tIns="0" rIns="0" bIns="0" rtlCol="0" anchor="t"/>
          <a:lstStyle/>
          <a:p>
            <a:pPr marL="177800" indent="-177800">
              <a:spcAft>
                <a:spcPts val="600"/>
              </a:spcAft>
              <a:buSzPct val="100000"/>
              <a:buChar char="•"/>
            </a:pPr>
            <a:r>
              <a:rPr lang="en-US" sz="1200" dirty="0">
                <a:solidFill>
                  <a:srgbClr val="1B2340"/>
                </a:solidFill>
                <a:latin typeface="Calibri" pitchFamily="34" charset="0"/>
                <a:ea typeface="Calibri" pitchFamily="34" charset="-122"/>
                <a:cs typeface="Calibri" pitchFamily="34" charset="-120"/>
              </a:rPr>
              <a:t>For primitives, == simply compares values</a:t>
            </a:r>
            <a:endParaRPr lang="en-US" sz="1200" dirty="0"/>
          </a:p>
          <a:p>
            <a:pPr marL="177800" indent="-177800">
              <a:spcAft>
                <a:spcPts val="600"/>
              </a:spcAft>
              <a:buSzPct val="100000"/>
              <a:buChar char="•"/>
            </a:pPr>
            <a:r>
              <a:rPr lang="en-US" sz="1200" dirty="0">
                <a:solidFill>
                  <a:srgbClr val="1B2340"/>
                </a:solidFill>
                <a:latin typeface="Calibri" pitchFamily="34" charset="0"/>
                <a:ea typeface="Calibri" pitchFamily="34" charset="-122"/>
                <a:cs typeface="Calibri" pitchFamily="34" charset="-120"/>
              </a:rPr>
              <a:t>For objects, == checks if both variables point to the exact same object in memory</a:t>
            </a:r>
            <a:endParaRPr lang="en-US" sz="1200" dirty="0"/>
          </a:p>
          <a:p>
            <a:pPr marL="177800" indent="-177800">
              <a:spcAft>
                <a:spcPts val="600"/>
              </a:spcAft>
              <a:buSzPct val="100000"/>
              <a:buChar char="•"/>
            </a:pPr>
            <a:r>
              <a:rPr lang="en-US" sz="1200" dirty="0">
                <a:solidFill>
                  <a:srgbClr val="1B2340"/>
                </a:solidFill>
                <a:latin typeface="Calibri" pitchFamily="34" charset="0"/>
                <a:ea typeface="Calibri" pitchFamily="34" charset="-122"/>
                <a:cs typeface="Calibri" pitchFamily="34" charset="-120"/>
              </a:rPr>
              <a:t>.equals() (when properly overridden, e.g. in String) compares the actual content</a:t>
            </a:r>
            <a:endParaRPr lang="en-US" sz="1200" dirty="0"/>
          </a:p>
          <a:p>
            <a:pPr marL="177800" indent="-177800">
              <a:spcAft>
                <a:spcPts val="600"/>
              </a:spcAft>
              <a:buSzPct val="100000"/>
              <a:buChar char="•"/>
            </a:pPr>
            <a:r>
              <a:rPr lang="en-US" sz="1200" dirty="0">
                <a:solidFill>
                  <a:srgbClr val="1B2340"/>
                </a:solidFill>
                <a:latin typeface="Calibri" pitchFamily="34" charset="0"/>
                <a:ea typeface="Calibri" pitchFamily="34" charset="-122"/>
                <a:cs typeface="Calibri" pitchFamily="34" charset="-120"/>
              </a:rPr>
              <a:t>Two different String objects with the same text are == false, but .equals() true</a:t>
            </a:r>
            <a:endParaRPr lang="en-US" sz="1200" dirty="0"/>
          </a:p>
        </p:txBody>
      </p:sp>
      <p:sp>
        <p:nvSpPr>
          <p:cNvPr id="26" name="Text 24"/>
          <p:cNvSpPr/>
          <p:nvPr/>
        </p:nvSpPr>
        <p:spPr>
          <a:xfrm>
            <a:off x="457200" y="6583680"/>
            <a:ext cx="5486400" cy="228600"/>
          </a:xfrm>
          <a:prstGeom prst="rect">
            <a:avLst/>
          </a:prstGeom>
          <a:noFill/>
          <a:ln/>
        </p:spPr>
        <p:txBody>
          <a:bodyPr wrap="square" rtlCol="0" anchor="ctr"/>
          <a:lstStyle/>
          <a:p>
            <a:pPr marL="0" indent="0" algn="l">
              <a:buNone/>
            </a:pPr>
            <a:r>
              <a:rPr lang="en-US" sz="850" dirty="0">
                <a:solidFill>
                  <a:srgbClr val="5B6178"/>
                </a:solidFill>
                <a:latin typeface="Calibri" pitchFamily="34" charset="0"/>
                <a:ea typeface="Calibri" pitchFamily="34" charset="-122"/>
                <a:cs typeface="Calibri" pitchFamily="34" charset="-120"/>
              </a:rPr>
              <a:t>Java &amp; Full-Stack Interview Prep</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Shape 0"/>
          <p:cNvSpPr/>
          <p:nvPr/>
        </p:nvSpPr>
        <p:spPr>
          <a:xfrm>
            <a:off x="502920" y="384048"/>
            <a:ext cx="5888736" cy="310896"/>
          </a:xfrm>
          <a:prstGeom prst="roundRect">
            <a:avLst>
              <a:gd name="adj" fmla="val 23529"/>
            </a:avLst>
          </a:prstGeom>
          <a:solidFill>
            <a:srgbClr val="E8A33D"/>
          </a:solidFill>
          <a:ln/>
        </p:spPr>
      </p:sp>
      <p:sp>
        <p:nvSpPr>
          <p:cNvPr id="3" name="Text 1"/>
          <p:cNvSpPr/>
          <p:nvPr/>
        </p:nvSpPr>
        <p:spPr>
          <a:xfrm>
            <a:off x="502920" y="384048"/>
            <a:ext cx="5888736" cy="310896"/>
          </a:xfrm>
          <a:prstGeom prst="rect">
            <a:avLst/>
          </a:prstGeom>
          <a:noFill/>
          <a:ln/>
        </p:spPr>
        <p:txBody>
          <a:bodyPr wrap="square" rtlCol="0" anchor="ctr"/>
          <a:lstStyle/>
          <a:p>
            <a:pPr marL="0" indent="0" algn="ctr">
              <a:buNone/>
            </a:pPr>
            <a:r>
              <a:rPr lang="en-US" sz="1100" b="1" kern="0" spc="100" dirty="0">
                <a:solidFill>
                  <a:srgbClr val="1B2340"/>
                </a:solidFill>
                <a:latin typeface="Calibri" pitchFamily="34" charset="0"/>
                <a:ea typeface="Calibri" pitchFamily="34" charset="-122"/>
                <a:cs typeface="Calibri" pitchFamily="34" charset="-120"/>
              </a:rPr>
              <a:t>COLLECTIONS &amp; ADVANCED JAVA</a:t>
            </a:r>
            <a:endParaRPr lang="en-US" sz="1100" dirty="0"/>
          </a:p>
        </p:txBody>
      </p:sp>
      <p:sp>
        <p:nvSpPr>
          <p:cNvPr id="4" name="Text 2"/>
          <p:cNvSpPr/>
          <p:nvPr/>
        </p:nvSpPr>
        <p:spPr>
          <a:xfrm>
            <a:off x="502920" y="786384"/>
            <a:ext cx="11155680" cy="868680"/>
          </a:xfrm>
          <a:prstGeom prst="rect">
            <a:avLst/>
          </a:prstGeom>
          <a:noFill/>
          <a:ln/>
        </p:spPr>
        <p:txBody>
          <a:bodyPr wrap="square" rtlCol="0" anchor="t"/>
          <a:lstStyle/>
          <a:p>
            <a:pPr marL="0" indent="0">
              <a:lnSpc>
                <a:spcPct val="102000"/>
              </a:lnSpc>
              <a:buNone/>
            </a:pPr>
            <a:r>
              <a:rPr lang="en-US" sz="2500" b="1" dirty="0">
                <a:solidFill>
                  <a:srgbClr val="1B2340"/>
                </a:solidFill>
                <a:latin typeface="Century Schoolbook" pitchFamily="34" charset="0"/>
                <a:ea typeface="Century Schoolbook" pitchFamily="34" charset="-122"/>
                <a:cs typeface="Century Schoolbook" pitchFamily="34" charset="-120"/>
              </a:rPr>
              <a:t>Difference between ArrayList and LinkedList.</a:t>
            </a:r>
            <a:endParaRPr lang="en-US" sz="2500" dirty="0"/>
          </a:p>
        </p:txBody>
      </p:sp>
      <p:sp>
        <p:nvSpPr>
          <p:cNvPr id="5" name="Shape 3"/>
          <p:cNvSpPr/>
          <p:nvPr/>
        </p:nvSpPr>
        <p:spPr>
          <a:xfrm>
            <a:off x="502920" y="1810512"/>
            <a:ext cx="164592" cy="274320"/>
          </a:xfrm>
          <a:prstGeom prst="roundRect">
            <a:avLst>
              <a:gd name="adj" fmla="val 22222"/>
            </a:avLst>
          </a:prstGeom>
          <a:solidFill>
            <a:srgbClr val="E8A33D"/>
          </a:solidFill>
          <a:ln/>
        </p:spPr>
      </p:sp>
      <p:sp>
        <p:nvSpPr>
          <p:cNvPr id="6" name="Text 4"/>
          <p:cNvSpPr/>
          <p:nvPr/>
        </p:nvSpPr>
        <p:spPr>
          <a:xfrm>
            <a:off x="758952" y="1783080"/>
            <a:ext cx="4315968" cy="329184"/>
          </a:xfrm>
          <a:prstGeom prst="rect">
            <a:avLst/>
          </a:prstGeom>
          <a:noFill/>
          <a:ln/>
        </p:spPr>
        <p:txBody>
          <a:bodyPr wrap="square" rtlCol="0" anchor="ctr"/>
          <a:lstStyle/>
          <a:p>
            <a:pPr marL="0" indent="0">
              <a:buNone/>
            </a:pPr>
            <a:r>
              <a:rPr lang="en-US" sz="1300" b="1" kern="0" spc="50" dirty="0">
                <a:solidFill>
                  <a:srgbClr val="1B2340"/>
                </a:solidFill>
                <a:latin typeface="Calibri" pitchFamily="34" charset="0"/>
                <a:ea typeface="Calibri" pitchFamily="34" charset="-122"/>
                <a:cs typeface="Calibri" pitchFamily="34" charset="-120"/>
              </a:rPr>
              <a:t>DEFINITION / CONCEPT</a:t>
            </a:r>
            <a:endParaRPr lang="en-US" sz="1300" dirty="0"/>
          </a:p>
        </p:txBody>
      </p:sp>
      <p:sp>
        <p:nvSpPr>
          <p:cNvPr id="7" name="Shape 5"/>
          <p:cNvSpPr/>
          <p:nvPr/>
        </p:nvSpPr>
        <p:spPr>
          <a:xfrm>
            <a:off x="502920" y="2121408"/>
            <a:ext cx="11201400" cy="914400"/>
          </a:xfrm>
          <a:prstGeom prst="roundRect">
            <a:avLst>
              <a:gd name="adj" fmla="val 8000"/>
            </a:avLst>
          </a:prstGeom>
          <a:solidFill>
            <a:srgbClr val="F7F7FA"/>
          </a:solidFill>
          <a:ln w="12700">
            <a:solidFill>
              <a:srgbClr val="E4E6EF"/>
            </a:solidFill>
            <a:prstDash val="solid"/>
          </a:ln>
        </p:spPr>
      </p:sp>
      <p:sp>
        <p:nvSpPr>
          <p:cNvPr id="8" name="Text 6"/>
          <p:cNvSpPr/>
          <p:nvPr/>
        </p:nvSpPr>
        <p:spPr>
          <a:xfrm>
            <a:off x="758952" y="2304288"/>
            <a:ext cx="10689336" cy="548640"/>
          </a:xfrm>
          <a:prstGeom prst="rect">
            <a:avLst/>
          </a:prstGeom>
          <a:noFill/>
          <a:ln/>
        </p:spPr>
        <p:txBody>
          <a:bodyPr wrap="square" lIns="0" tIns="0" rIns="0" bIns="0" rtlCol="0" anchor="t"/>
          <a:lstStyle/>
          <a:p>
            <a:pPr marL="0" indent="0">
              <a:lnSpc>
                <a:spcPct val="115000"/>
              </a:lnSpc>
              <a:buNone/>
            </a:pPr>
            <a:r>
              <a:rPr lang="en-US" sz="1450" dirty="0">
                <a:solidFill>
                  <a:srgbClr val="1B2340"/>
                </a:solidFill>
                <a:latin typeface="Calibri" pitchFamily="34" charset="0"/>
                <a:ea typeface="Calibri" pitchFamily="34" charset="-122"/>
                <a:cs typeface="Calibri" pitchFamily="34" charset="-120"/>
              </a:rPr>
              <a:t>Both implement the List interface, but they store and access data differently, which changes their performance for different operations.</a:t>
            </a:r>
            <a:endParaRPr lang="en-US" sz="1450" dirty="0"/>
          </a:p>
        </p:txBody>
      </p:sp>
      <p:sp>
        <p:nvSpPr>
          <p:cNvPr id="9" name="Shape 7"/>
          <p:cNvSpPr/>
          <p:nvPr/>
        </p:nvSpPr>
        <p:spPr>
          <a:xfrm>
            <a:off x="502920" y="3200400"/>
            <a:ext cx="164592" cy="274320"/>
          </a:xfrm>
          <a:prstGeom prst="roundRect">
            <a:avLst>
              <a:gd name="adj" fmla="val 22222"/>
            </a:avLst>
          </a:prstGeom>
          <a:solidFill>
            <a:srgbClr val="3FBFAE"/>
          </a:solidFill>
          <a:ln/>
        </p:spPr>
      </p:sp>
      <p:sp>
        <p:nvSpPr>
          <p:cNvPr id="10" name="Text 8"/>
          <p:cNvSpPr/>
          <p:nvPr/>
        </p:nvSpPr>
        <p:spPr>
          <a:xfrm>
            <a:off x="758952" y="3172968"/>
            <a:ext cx="4315968" cy="329184"/>
          </a:xfrm>
          <a:prstGeom prst="rect">
            <a:avLst/>
          </a:prstGeom>
          <a:noFill/>
          <a:ln/>
        </p:spPr>
        <p:txBody>
          <a:bodyPr wrap="square" rtlCol="0" anchor="ctr"/>
          <a:lstStyle/>
          <a:p>
            <a:pPr marL="0" indent="0">
              <a:buNone/>
            </a:pPr>
            <a:r>
              <a:rPr lang="en-US" sz="1300" b="1" kern="0" spc="50" dirty="0">
                <a:solidFill>
                  <a:srgbClr val="1B2340"/>
                </a:solidFill>
                <a:latin typeface="Calibri" pitchFamily="34" charset="0"/>
                <a:ea typeface="Calibri" pitchFamily="34" charset="-122"/>
                <a:cs typeface="Calibri" pitchFamily="34" charset="-120"/>
              </a:rPr>
              <a:t>EXPLANATION</a:t>
            </a:r>
            <a:endParaRPr lang="en-US" sz="1300" dirty="0"/>
          </a:p>
        </p:txBody>
      </p:sp>
      <p:sp>
        <p:nvSpPr>
          <p:cNvPr id="11" name="Text 9"/>
          <p:cNvSpPr/>
          <p:nvPr/>
        </p:nvSpPr>
        <p:spPr>
          <a:xfrm>
            <a:off x="502920" y="3529584"/>
            <a:ext cx="6858000" cy="2331720"/>
          </a:xfrm>
          <a:prstGeom prst="rect">
            <a:avLst/>
          </a:prstGeom>
          <a:noFill/>
          <a:ln/>
        </p:spPr>
        <p:txBody>
          <a:bodyPr wrap="square" lIns="0" tIns="0" rIns="0" bIns="0" rtlCol="0" anchor="t"/>
          <a:lstStyle/>
          <a:p>
            <a:pPr marL="177800" indent="-177800">
              <a:spcAft>
                <a:spcPts val="800"/>
              </a:spcAft>
              <a:buSzPct val="100000"/>
              <a:buChar char="•"/>
            </a:pPr>
            <a:r>
              <a:rPr lang="en-US" sz="1300" dirty="0">
                <a:solidFill>
                  <a:srgbClr val="1B2340"/>
                </a:solidFill>
                <a:latin typeface="Calibri" pitchFamily="34" charset="0"/>
                <a:ea typeface="Calibri" pitchFamily="34" charset="-122"/>
                <a:cs typeface="Calibri" pitchFamily="34" charset="-120"/>
              </a:rPr>
              <a:t>ArrayList uses a dynamic array - fast random access (get by index) but slow insert/delete in the middle</a:t>
            </a:r>
            <a:endParaRPr lang="en-US" sz="1300" dirty="0"/>
          </a:p>
          <a:p>
            <a:pPr marL="177800" indent="-177800">
              <a:spcAft>
                <a:spcPts val="800"/>
              </a:spcAft>
              <a:buSzPct val="100000"/>
              <a:buChar char="•"/>
            </a:pPr>
            <a:r>
              <a:rPr lang="en-US" sz="1300" dirty="0">
                <a:solidFill>
                  <a:srgbClr val="1B2340"/>
                </a:solidFill>
                <a:latin typeface="Calibri" pitchFamily="34" charset="0"/>
                <a:ea typeface="Calibri" pitchFamily="34" charset="-122"/>
                <a:cs typeface="Calibri" pitchFamily="34" charset="-120"/>
              </a:rPr>
              <a:t>LinkedList uses a doubly linked list - fast insert/delete anywhere but slower random access</a:t>
            </a:r>
            <a:endParaRPr lang="en-US" sz="1300" dirty="0"/>
          </a:p>
          <a:p>
            <a:pPr marL="177800" indent="-177800">
              <a:spcAft>
                <a:spcPts val="800"/>
              </a:spcAft>
              <a:buSzPct val="100000"/>
              <a:buChar char="•"/>
            </a:pPr>
            <a:r>
              <a:rPr lang="en-US" sz="1300" dirty="0">
                <a:solidFill>
                  <a:srgbClr val="1B2340"/>
                </a:solidFill>
                <a:latin typeface="Calibri" pitchFamily="34" charset="0"/>
                <a:ea typeface="Calibri" pitchFamily="34" charset="-122"/>
                <a:cs typeface="Calibri" pitchFamily="34" charset="-120"/>
              </a:rPr>
              <a:t>Use ArrayList when you read data often; use LinkedList when you insert/delete often</a:t>
            </a:r>
            <a:endParaRPr lang="en-US" sz="1300" dirty="0"/>
          </a:p>
          <a:p>
            <a:pPr marL="177800" indent="-177800">
              <a:spcAft>
                <a:spcPts val="800"/>
              </a:spcAft>
              <a:buSzPct val="100000"/>
              <a:buChar char="•"/>
            </a:pPr>
            <a:r>
              <a:rPr lang="en-US" sz="1300" dirty="0">
                <a:solidFill>
                  <a:srgbClr val="1B2340"/>
                </a:solidFill>
                <a:latin typeface="Calibri" pitchFamily="34" charset="0"/>
                <a:ea typeface="Calibri" pitchFamily="34" charset="-122"/>
                <a:cs typeface="Calibri" pitchFamily="34" charset="-120"/>
              </a:rPr>
              <a:t>Both allow duplicate elements and maintain insertion order</a:t>
            </a:r>
            <a:endParaRPr lang="en-US" sz="1300" dirty="0"/>
          </a:p>
        </p:txBody>
      </p:sp>
      <p:sp>
        <p:nvSpPr>
          <p:cNvPr id="12" name="Shape 10"/>
          <p:cNvSpPr/>
          <p:nvPr/>
        </p:nvSpPr>
        <p:spPr>
          <a:xfrm>
            <a:off x="7589520" y="3200400"/>
            <a:ext cx="4114800" cy="2194560"/>
          </a:xfrm>
          <a:prstGeom prst="roundRect">
            <a:avLst>
              <a:gd name="adj" fmla="val 3333"/>
            </a:avLst>
          </a:prstGeom>
          <a:solidFill>
            <a:srgbClr val="FDF3E3"/>
          </a:solidFill>
          <a:ln/>
        </p:spPr>
      </p:sp>
      <p:sp>
        <p:nvSpPr>
          <p:cNvPr id="13" name="Text 11"/>
          <p:cNvSpPr/>
          <p:nvPr/>
        </p:nvSpPr>
        <p:spPr>
          <a:xfrm>
            <a:off x="7790688" y="3310128"/>
            <a:ext cx="3712464" cy="274320"/>
          </a:xfrm>
          <a:prstGeom prst="rect">
            <a:avLst/>
          </a:prstGeom>
          <a:noFill/>
          <a:ln/>
        </p:spPr>
        <p:txBody>
          <a:bodyPr wrap="square" rtlCol="0" anchor="ctr"/>
          <a:lstStyle/>
          <a:p>
            <a:pPr marL="0" indent="0">
              <a:buNone/>
            </a:pPr>
            <a:r>
              <a:rPr lang="en-US" sz="1100" b="1" kern="0" spc="50" dirty="0">
                <a:solidFill>
                  <a:srgbClr val="C9862A"/>
                </a:solidFill>
                <a:latin typeface="Calibri" pitchFamily="34" charset="0"/>
                <a:ea typeface="Calibri" pitchFamily="34" charset="-122"/>
                <a:cs typeface="Calibri" pitchFamily="34" charset="-120"/>
              </a:rPr>
              <a:t>💡 REAL-LIFE ANALOGY</a:t>
            </a:r>
            <a:endParaRPr lang="en-US" sz="1100" dirty="0"/>
          </a:p>
        </p:txBody>
      </p:sp>
      <p:sp>
        <p:nvSpPr>
          <p:cNvPr id="14" name="Text 12"/>
          <p:cNvSpPr/>
          <p:nvPr/>
        </p:nvSpPr>
        <p:spPr>
          <a:xfrm>
            <a:off x="7790688" y="3602736"/>
            <a:ext cx="3712464" cy="1664208"/>
          </a:xfrm>
          <a:prstGeom prst="rect">
            <a:avLst/>
          </a:prstGeom>
          <a:noFill/>
          <a:ln/>
        </p:spPr>
        <p:txBody>
          <a:bodyPr wrap="square" lIns="0" tIns="0" rIns="0" bIns="0" rtlCol="0" anchor="t"/>
          <a:lstStyle/>
          <a:p>
            <a:pPr marL="0" indent="0">
              <a:lnSpc>
                <a:spcPct val="110000"/>
              </a:lnSpc>
              <a:buNone/>
            </a:pPr>
            <a:r>
              <a:rPr lang="en-US" sz="1250" i="1" dirty="0">
                <a:solidFill>
                  <a:srgbClr val="1B2340"/>
                </a:solidFill>
                <a:latin typeface="Calibri" pitchFamily="34" charset="0"/>
                <a:ea typeface="Calibri" pitchFamily="34" charset="-122"/>
                <a:cs typeface="Calibri" pitchFamily="34" charset="-120"/>
              </a:rPr>
              <a:t>ArrayList is like a row of numbered lockers - you can jump straight to locker #50, but inserting a new locker in the middle means shifting everyone. LinkedList is like a treasure hunt chain - easy to add a new clue anywhere, but you must follow the chain from the start to reach clue #50.</a:t>
            </a:r>
            <a:endParaRPr lang="en-US" sz="1250" dirty="0"/>
          </a:p>
        </p:txBody>
      </p:sp>
      <p:sp>
        <p:nvSpPr>
          <p:cNvPr id="15" name="Shape 13"/>
          <p:cNvSpPr/>
          <p:nvPr/>
        </p:nvSpPr>
        <p:spPr>
          <a:xfrm>
            <a:off x="502920" y="5870448"/>
            <a:ext cx="11201400" cy="603504"/>
          </a:xfrm>
          <a:prstGeom prst="roundRect">
            <a:avLst>
              <a:gd name="adj" fmla="val 12121"/>
            </a:avLst>
          </a:prstGeom>
          <a:solidFill>
            <a:srgbClr val="1B2340"/>
          </a:solidFill>
          <a:ln/>
        </p:spPr>
      </p:sp>
      <p:sp>
        <p:nvSpPr>
          <p:cNvPr id="16" name="Text 14"/>
          <p:cNvSpPr/>
          <p:nvPr/>
        </p:nvSpPr>
        <p:spPr>
          <a:xfrm>
            <a:off x="731520" y="5961888"/>
            <a:ext cx="10744200" cy="256032"/>
          </a:xfrm>
          <a:prstGeom prst="rect">
            <a:avLst/>
          </a:prstGeom>
          <a:noFill/>
          <a:ln/>
        </p:spPr>
        <p:txBody>
          <a:bodyPr wrap="square" rtlCol="0" anchor="ctr"/>
          <a:lstStyle/>
          <a:p>
            <a:pPr marL="0" indent="0">
              <a:buNone/>
            </a:pPr>
            <a:r>
              <a:rPr lang="en-US" sz="1050" b="1" kern="0" spc="80" dirty="0">
                <a:solidFill>
                  <a:srgbClr val="E8A33D"/>
                </a:solidFill>
                <a:latin typeface="Calibri" pitchFamily="34" charset="0"/>
                <a:ea typeface="Calibri" pitchFamily="34" charset="-122"/>
                <a:cs typeface="Calibri" pitchFamily="34" charset="-120"/>
              </a:rPr>
              <a:t>ONE-LINE INTERVIEW ANSWER</a:t>
            </a:r>
            <a:endParaRPr lang="en-US" sz="1050" dirty="0"/>
          </a:p>
        </p:txBody>
      </p:sp>
      <p:sp>
        <p:nvSpPr>
          <p:cNvPr id="17" name="Text 15"/>
          <p:cNvSpPr/>
          <p:nvPr/>
        </p:nvSpPr>
        <p:spPr>
          <a:xfrm>
            <a:off x="731520" y="6217920"/>
            <a:ext cx="10744200" cy="146304"/>
          </a:xfrm>
          <a:prstGeom prst="rect">
            <a:avLst/>
          </a:prstGeom>
          <a:noFill/>
          <a:ln/>
        </p:spPr>
        <p:txBody>
          <a:bodyPr wrap="square" lIns="0" tIns="0" rIns="0" bIns="0" rtlCol="0" anchor="t"/>
          <a:lstStyle/>
          <a:p>
            <a:pPr marL="0" indent="0">
              <a:lnSpc>
                <a:spcPct val="105000"/>
              </a:lnSpc>
              <a:buNone/>
            </a:pPr>
            <a:r>
              <a:rPr lang="en-US" sz="1250" dirty="0">
                <a:solidFill>
                  <a:srgbClr val="FFFFFF"/>
                </a:solidFill>
                <a:latin typeface="Calibri" pitchFamily="34" charset="0"/>
                <a:ea typeface="Calibri" pitchFamily="34" charset="-122"/>
                <a:cs typeface="Calibri" pitchFamily="34" charset="-120"/>
              </a:rPr>
              <a:t>ArrayList offers fast random access using an array, while LinkedList offers fast insertion/deletion using linked nodes.</a:t>
            </a:r>
            <a:endParaRPr lang="en-US" sz="1250" dirty="0"/>
          </a:p>
        </p:txBody>
      </p:sp>
      <p:sp>
        <p:nvSpPr>
          <p:cNvPr id="18" name="Text 16"/>
          <p:cNvSpPr/>
          <p:nvPr/>
        </p:nvSpPr>
        <p:spPr>
          <a:xfrm>
            <a:off x="457200" y="6583680"/>
            <a:ext cx="5486400" cy="228600"/>
          </a:xfrm>
          <a:prstGeom prst="rect">
            <a:avLst/>
          </a:prstGeom>
          <a:noFill/>
          <a:ln/>
        </p:spPr>
        <p:txBody>
          <a:bodyPr wrap="square" rtlCol="0" anchor="ctr"/>
          <a:lstStyle/>
          <a:p>
            <a:pPr marL="0" indent="0" algn="l">
              <a:buNone/>
            </a:pPr>
            <a:r>
              <a:rPr lang="en-US" sz="850" dirty="0">
                <a:solidFill>
                  <a:srgbClr val="5B6178"/>
                </a:solidFill>
                <a:latin typeface="Calibri" pitchFamily="34" charset="0"/>
                <a:ea typeface="Calibri" pitchFamily="34" charset="-122"/>
                <a:cs typeface="Calibri" pitchFamily="34" charset="-120"/>
              </a:rPr>
              <a:t>Java &amp; Full-Stack Interview Prep</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Shape 0"/>
          <p:cNvSpPr/>
          <p:nvPr/>
        </p:nvSpPr>
        <p:spPr>
          <a:xfrm>
            <a:off x="502920" y="384048"/>
            <a:ext cx="5888736" cy="310896"/>
          </a:xfrm>
          <a:prstGeom prst="roundRect">
            <a:avLst>
              <a:gd name="adj" fmla="val 23529"/>
            </a:avLst>
          </a:prstGeom>
          <a:solidFill>
            <a:srgbClr val="E8A33D"/>
          </a:solidFill>
          <a:ln/>
        </p:spPr>
      </p:sp>
      <p:sp>
        <p:nvSpPr>
          <p:cNvPr id="3" name="Text 1"/>
          <p:cNvSpPr/>
          <p:nvPr/>
        </p:nvSpPr>
        <p:spPr>
          <a:xfrm>
            <a:off x="502920" y="384048"/>
            <a:ext cx="5888736" cy="310896"/>
          </a:xfrm>
          <a:prstGeom prst="rect">
            <a:avLst/>
          </a:prstGeom>
          <a:noFill/>
          <a:ln/>
        </p:spPr>
        <p:txBody>
          <a:bodyPr wrap="square" rtlCol="0" anchor="ctr"/>
          <a:lstStyle/>
          <a:p>
            <a:pPr marL="0" indent="0" algn="ctr">
              <a:buNone/>
            </a:pPr>
            <a:r>
              <a:rPr lang="en-US" sz="1100" b="1" kern="0" spc="100" dirty="0">
                <a:solidFill>
                  <a:srgbClr val="1B2340"/>
                </a:solidFill>
                <a:latin typeface="Calibri" pitchFamily="34" charset="0"/>
                <a:ea typeface="Calibri" pitchFamily="34" charset="-122"/>
                <a:cs typeface="Calibri" pitchFamily="34" charset="-120"/>
              </a:rPr>
              <a:t>COLLECTIONS &amp; ADVANCED JAVA</a:t>
            </a:r>
            <a:endParaRPr lang="en-US" sz="1100" dirty="0"/>
          </a:p>
        </p:txBody>
      </p:sp>
      <p:sp>
        <p:nvSpPr>
          <p:cNvPr id="4" name="Text 2"/>
          <p:cNvSpPr/>
          <p:nvPr/>
        </p:nvSpPr>
        <p:spPr>
          <a:xfrm>
            <a:off x="502920" y="786384"/>
            <a:ext cx="11155680" cy="868680"/>
          </a:xfrm>
          <a:prstGeom prst="rect">
            <a:avLst/>
          </a:prstGeom>
          <a:noFill/>
          <a:ln/>
        </p:spPr>
        <p:txBody>
          <a:bodyPr wrap="square" rtlCol="0" anchor="t"/>
          <a:lstStyle/>
          <a:p>
            <a:pPr marL="0" indent="0">
              <a:lnSpc>
                <a:spcPct val="102000"/>
              </a:lnSpc>
              <a:buNone/>
            </a:pPr>
            <a:r>
              <a:rPr lang="en-US" sz="2500" b="1" dirty="0">
                <a:solidFill>
                  <a:srgbClr val="1B2340"/>
                </a:solidFill>
                <a:latin typeface="Century Schoolbook" pitchFamily="34" charset="0"/>
                <a:ea typeface="Century Schoolbook" pitchFamily="34" charset="-122"/>
                <a:cs typeface="Century Schoolbook" pitchFamily="34" charset="-120"/>
              </a:rPr>
              <a:t>Difference between List, Set, and Map.</a:t>
            </a:r>
            <a:endParaRPr lang="en-US" sz="2500" dirty="0"/>
          </a:p>
        </p:txBody>
      </p:sp>
      <p:sp>
        <p:nvSpPr>
          <p:cNvPr id="5" name="Shape 3"/>
          <p:cNvSpPr/>
          <p:nvPr/>
        </p:nvSpPr>
        <p:spPr>
          <a:xfrm>
            <a:off x="502920" y="1810512"/>
            <a:ext cx="164592" cy="274320"/>
          </a:xfrm>
          <a:prstGeom prst="roundRect">
            <a:avLst>
              <a:gd name="adj" fmla="val 22222"/>
            </a:avLst>
          </a:prstGeom>
          <a:solidFill>
            <a:srgbClr val="E8A33D"/>
          </a:solidFill>
          <a:ln/>
        </p:spPr>
      </p:sp>
      <p:sp>
        <p:nvSpPr>
          <p:cNvPr id="6" name="Text 4"/>
          <p:cNvSpPr/>
          <p:nvPr/>
        </p:nvSpPr>
        <p:spPr>
          <a:xfrm>
            <a:off x="758952" y="1783080"/>
            <a:ext cx="4315968" cy="329184"/>
          </a:xfrm>
          <a:prstGeom prst="rect">
            <a:avLst/>
          </a:prstGeom>
          <a:noFill/>
          <a:ln/>
        </p:spPr>
        <p:txBody>
          <a:bodyPr wrap="square" rtlCol="0" anchor="ctr"/>
          <a:lstStyle/>
          <a:p>
            <a:pPr marL="0" indent="0">
              <a:buNone/>
            </a:pPr>
            <a:r>
              <a:rPr lang="en-US" sz="1300" b="1" kern="0" spc="50" dirty="0">
                <a:solidFill>
                  <a:srgbClr val="1B2340"/>
                </a:solidFill>
                <a:latin typeface="Calibri" pitchFamily="34" charset="0"/>
                <a:ea typeface="Calibri" pitchFamily="34" charset="-122"/>
                <a:cs typeface="Calibri" pitchFamily="34" charset="-120"/>
              </a:rPr>
              <a:t>DEFINITION / CONCEPT</a:t>
            </a:r>
            <a:endParaRPr lang="en-US" sz="1300" dirty="0"/>
          </a:p>
        </p:txBody>
      </p:sp>
      <p:sp>
        <p:nvSpPr>
          <p:cNvPr id="7" name="Shape 5"/>
          <p:cNvSpPr/>
          <p:nvPr/>
        </p:nvSpPr>
        <p:spPr>
          <a:xfrm>
            <a:off x="502920" y="2121408"/>
            <a:ext cx="11201400" cy="914400"/>
          </a:xfrm>
          <a:prstGeom prst="roundRect">
            <a:avLst>
              <a:gd name="adj" fmla="val 8000"/>
            </a:avLst>
          </a:prstGeom>
          <a:solidFill>
            <a:srgbClr val="F7F7FA"/>
          </a:solidFill>
          <a:ln w="12700">
            <a:solidFill>
              <a:srgbClr val="E4E6EF"/>
            </a:solidFill>
            <a:prstDash val="solid"/>
          </a:ln>
        </p:spPr>
      </p:sp>
      <p:sp>
        <p:nvSpPr>
          <p:cNvPr id="8" name="Text 6"/>
          <p:cNvSpPr/>
          <p:nvPr/>
        </p:nvSpPr>
        <p:spPr>
          <a:xfrm>
            <a:off x="758952" y="2304288"/>
            <a:ext cx="10689336" cy="548640"/>
          </a:xfrm>
          <a:prstGeom prst="rect">
            <a:avLst/>
          </a:prstGeom>
          <a:noFill/>
          <a:ln/>
        </p:spPr>
        <p:txBody>
          <a:bodyPr wrap="square" lIns="0" tIns="0" rIns="0" bIns="0" rtlCol="0" anchor="t"/>
          <a:lstStyle/>
          <a:p>
            <a:pPr marL="0" indent="0">
              <a:lnSpc>
                <a:spcPct val="115000"/>
              </a:lnSpc>
              <a:buNone/>
            </a:pPr>
            <a:r>
              <a:rPr lang="en-US" sz="1450" dirty="0">
                <a:solidFill>
                  <a:srgbClr val="1B2340"/>
                </a:solidFill>
                <a:latin typeface="Calibri" pitchFamily="34" charset="0"/>
                <a:ea typeface="Calibri" pitchFamily="34" charset="-122"/>
                <a:cs typeface="Calibri" pitchFamily="34" charset="-120"/>
              </a:rPr>
              <a:t>These are the three core types of Java Collections, each suited to a different kind of data storage need.</a:t>
            </a:r>
            <a:endParaRPr lang="en-US" sz="1450" dirty="0"/>
          </a:p>
        </p:txBody>
      </p:sp>
      <p:sp>
        <p:nvSpPr>
          <p:cNvPr id="9" name="Shape 7"/>
          <p:cNvSpPr/>
          <p:nvPr/>
        </p:nvSpPr>
        <p:spPr>
          <a:xfrm>
            <a:off x="502920" y="3200400"/>
            <a:ext cx="164592" cy="274320"/>
          </a:xfrm>
          <a:prstGeom prst="roundRect">
            <a:avLst>
              <a:gd name="adj" fmla="val 22222"/>
            </a:avLst>
          </a:prstGeom>
          <a:solidFill>
            <a:srgbClr val="3FBFAE"/>
          </a:solidFill>
          <a:ln/>
        </p:spPr>
      </p:sp>
      <p:sp>
        <p:nvSpPr>
          <p:cNvPr id="10" name="Text 8"/>
          <p:cNvSpPr/>
          <p:nvPr/>
        </p:nvSpPr>
        <p:spPr>
          <a:xfrm>
            <a:off x="758952" y="3172968"/>
            <a:ext cx="4315968" cy="329184"/>
          </a:xfrm>
          <a:prstGeom prst="rect">
            <a:avLst/>
          </a:prstGeom>
          <a:noFill/>
          <a:ln/>
        </p:spPr>
        <p:txBody>
          <a:bodyPr wrap="square" rtlCol="0" anchor="ctr"/>
          <a:lstStyle/>
          <a:p>
            <a:pPr marL="0" indent="0">
              <a:buNone/>
            </a:pPr>
            <a:r>
              <a:rPr lang="en-US" sz="1300" b="1" kern="0" spc="50" dirty="0">
                <a:solidFill>
                  <a:srgbClr val="1B2340"/>
                </a:solidFill>
                <a:latin typeface="Calibri" pitchFamily="34" charset="0"/>
                <a:ea typeface="Calibri" pitchFamily="34" charset="-122"/>
                <a:cs typeface="Calibri" pitchFamily="34" charset="-120"/>
              </a:rPr>
              <a:t>EXPLANATION</a:t>
            </a:r>
            <a:endParaRPr lang="en-US" sz="1300" dirty="0"/>
          </a:p>
        </p:txBody>
      </p:sp>
      <p:sp>
        <p:nvSpPr>
          <p:cNvPr id="11" name="Text 9"/>
          <p:cNvSpPr/>
          <p:nvPr/>
        </p:nvSpPr>
        <p:spPr>
          <a:xfrm>
            <a:off x="502920" y="3529584"/>
            <a:ext cx="6858000" cy="2331720"/>
          </a:xfrm>
          <a:prstGeom prst="rect">
            <a:avLst/>
          </a:prstGeom>
          <a:noFill/>
          <a:ln/>
        </p:spPr>
        <p:txBody>
          <a:bodyPr wrap="square" lIns="0" tIns="0" rIns="0" bIns="0" rtlCol="0" anchor="t"/>
          <a:lstStyle/>
          <a:p>
            <a:pPr marL="177800" indent="-177800">
              <a:spcAft>
                <a:spcPts val="800"/>
              </a:spcAft>
              <a:buSzPct val="100000"/>
              <a:buChar char="•"/>
            </a:pPr>
            <a:r>
              <a:rPr lang="en-US" sz="1300" dirty="0">
                <a:solidFill>
                  <a:srgbClr val="1B2340"/>
                </a:solidFill>
                <a:latin typeface="Calibri" pitchFamily="34" charset="0"/>
                <a:ea typeface="Calibri" pitchFamily="34" charset="-122"/>
                <a:cs typeface="Calibri" pitchFamily="34" charset="-120"/>
              </a:rPr>
              <a:t>List - ordered collection, allows duplicates (e.g. ArrayList, LinkedList)</a:t>
            </a:r>
            <a:endParaRPr lang="en-US" sz="1300" dirty="0"/>
          </a:p>
          <a:p>
            <a:pPr marL="177800" indent="-177800">
              <a:spcAft>
                <a:spcPts val="800"/>
              </a:spcAft>
              <a:buSzPct val="100000"/>
              <a:buChar char="•"/>
            </a:pPr>
            <a:r>
              <a:rPr lang="en-US" sz="1300" dirty="0">
                <a:solidFill>
                  <a:srgbClr val="1B2340"/>
                </a:solidFill>
                <a:latin typeface="Calibri" pitchFamily="34" charset="0"/>
                <a:ea typeface="Calibri" pitchFamily="34" charset="-122"/>
                <a:cs typeface="Calibri" pitchFamily="34" charset="-120"/>
              </a:rPr>
              <a:t>Set - unordered collection, does NOT allow duplicates (e.g. HashSet, TreeSet)</a:t>
            </a:r>
            <a:endParaRPr lang="en-US" sz="1300" dirty="0"/>
          </a:p>
          <a:p>
            <a:pPr marL="177800" indent="-177800">
              <a:spcAft>
                <a:spcPts val="800"/>
              </a:spcAft>
              <a:buSzPct val="100000"/>
              <a:buChar char="•"/>
            </a:pPr>
            <a:r>
              <a:rPr lang="en-US" sz="1300" dirty="0">
                <a:solidFill>
                  <a:srgbClr val="1B2340"/>
                </a:solidFill>
                <a:latin typeface="Calibri" pitchFamily="34" charset="0"/>
                <a:ea typeface="Calibri" pitchFamily="34" charset="-122"/>
                <a:cs typeface="Calibri" pitchFamily="34" charset="-120"/>
              </a:rPr>
              <a:t>Map - stores data as key-value pairs, keys must be unique (e.g. HashMap, TreeMap)</a:t>
            </a:r>
            <a:endParaRPr lang="en-US" sz="1300" dirty="0"/>
          </a:p>
          <a:p>
            <a:pPr marL="177800" indent="-177800">
              <a:spcAft>
                <a:spcPts val="800"/>
              </a:spcAft>
              <a:buSzPct val="100000"/>
              <a:buChar char="•"/>
            </a:pPr>
            <a:r>
              <a:rPr lang="en-US" sz="1300" dirty="0">
                <a:solidFill>
                  <a:srgbClr val="1B2340"/>
                </a:solidFill>
                <a:latin typeface="Calibri" pitchFamily="34" charset="0"/>
                <a:ea typeface="Calibri" pitchFamily="34" charset="-122"/>
                <a:cs typeface="Calibri" pitchFamily="34" charset="-120"/>
              </a:rPr>
              <a:t>Choose List for ordered data, Set for uniqueness, Map for fast lookup by key</a:t>
            </a:r>
            <a:endParaRPr lang="en-US" sz="1300" dirty="0"/>
          </a:p>
        </p:txBody>
      </p:sp>
      <p:sp>
        <p:nvSpPr>
          <p:cNvPr id="12" name="Shape 10"/>
          <p:cNvSpPr/>
          <p:nvPr/>
        </p:nvSpPr>
        <p:spPr>
          <a:xfrm>
            <a:off x="7589520" y="3200400"/>
            <a:ext cx="4114800" cy="2194560"/>
          </a:xfrm>
          <a:prstGeom prst="roundRect">
            <a:avLst>
              <a:gd name="adj" fmla="val 3333"/>
            </a:avLst>
          </a:prstGeom>
          <a:solidFill>
            <a:srgbClr val="FDF3E3"/>
          </a:solidFill>
          <a:ln/>
        </p:spPr>
      </p:sp>
      <p:sp>
        <p:nvSpPr>
          <p:cNvPr id="13" name="Text 11"/>
          <p:cNvSpPr/>
          <p:nvPr/>
        </p:nvSpPr>
        <p:spPr>
          <a:xfrm>
            <a:off x="7790688" y="3310128"/>
            <a:ext cx="3712464" cy="274320"/>
          </a:xfrm>
          <a:prstGeom prst="rect">
            <a:avLst/>
          </a:prstGeom>
          <a:noFill/>
          <a:ln/>
        </p:spPr>
        <p:txBody>
          <a:bodyPr wrap="square" rtlCol="0" anchor="ctr"/>
          <a:lstStyle/>
          <a:p>
            <a:pPr marL="0" indent="0">
              <a:buNone/>
            </a:pPr>
            <a:r>
              <a:rPr lang="en-US" sz="1100" b="1" kern="0" spc="50" dirty="0">
                <a:solidFill>
                  <a:srgbClr val="C9862A"/>
                </a:solidFill>
                <a:latin typeface="Calibri" pitchFamily="34" charset="0"/>
                <a:ea typeface="Calibri" pitchFamily="34" charset="-122"/>
                <a:cs typeface="Calibri" pitchFamily="34" charset="-120"/>
              </a:rPr>
              <a:t>💡 REAL-LIFE ANALOGY</a:t>
            </a:r>
            <a:endParaRPr lang="en-US" sz="1100" dirty="0"/>
          </a:p>
        </p:txBody>
      </p:sp>
      <p:sp>
        <p:nvSpPr>
          <p:cNvPr id="14" name="Text 12"/>
          <p:cNvSpPr/>
          <p:nvPr/>
        </p:nvSpPr>
        <p:spPr>
          <a:xfrm>
            <a:off x="7790688" y="3602736"/>
            <a:ext cx="3712464" cy="1664208"/>
          </a:xfrm>
          <a:prstGeom prst="rect">
            <a:avLst/>
          </a:prstGeom>
          <a:noFill/>
          <a:ln/>
        </p:spPr>
        <p:txBody>
          <a:bodyPr wrap="square" lIns="0" tIns="0" rIns="0" bIns="0" rtlCol="0" anchor="t"/>
          <a:lstStyle/>
          <a:p>
            <a:pPr marL="0" indent="0">
              <a:lnSpc>
                <a:spcPct val="110000"/>
              </a:lnSpc>
              <a:buNone/>
            </a:pPr>
            <a:r>
              <a:rPr lang="en-US" sz="1250" i="1" dirty="0">
                <a:solidFill>
                  <a:srgbClr val="1B2340"/>
                </a:solidFill>
                <a:latin typeface="Calibri" pitchFamily="34" charset="0"/>
                <a:ea typeface="Calibri" pitchFamily="34" charset="-122"/>
                <a:cs typeface="Calibri" pitchFamily="34" charset="-120"/>
              </a:rPr>
              <a:t>A List is like a shopping list where items can repeat. A Set is like a guest list where no name can appear twice. A Map is like a phonebook - each name (key) links to one phone number (value).</a:t>
            </a:r>
            <a:endParaRPr lang="en-US" sz="1250" dirty="0"/>
          </a:p>
        </p:txBody>
      </p:sp>
      <p:sp>
        <p:nvSpPr>
          <p:cNvPr id="15" name="Shape 13"/>
          <p:cNvSpPr/>
          <p:nvPr/>
        </p:nvSpPr>
        <p:spPr>
          <a:xfrm>
            <a:off x="502920" y="5870448"/>
            <a:ext cx="11201400" cy="603504"/>
          </a:xfrm>
          <a:prstGeom prst="roundRect">
            <a:avLst>
              <a:gd name="adj" fmla="val 12121"/>
            </a:avLst>
          </a:prstGeom>
          <a:solidFill>
            <a:srgbClr val="1B2340"/>
          </a:solidFill>
          <a:ln/>
        </p:spPr>
      </p:sp>
      <p:sp>
        <p:nvSpPr>
          <p:cNvPr id="16" name="Text 14"/>
          <p:cNvSpPr/>
          <p:nvPr/>
        </p:nvSpPr>
        <p:spPr>
          <a:xfrm>
            <a:off x="731520" y="5961888"/>
            <a:ext cx="10744200" cy="256032"/>
          </a:xfrm>
          <a:prstGeom prst="rect">
            <a:avLst/>
          </a:prstGeom>
          <a:noFill/>
          <a:ln/>
        </p:spPr>
        <p:txBody>
          <a:bodyPr wrap="square" rtlCol="0" anchor="ctr"/>
          <a:lstStyle/>
          <a:p>
            <a:pPr marL="0" indent="0">
              <a:buNone/>
            </a:pPr>
            <a:r>
              <a:rPr lang="en-US" sz="1050" b="1" kern="0" spc="80" dirty="0">
                <a:solidFill>
                  <a:srgbClr val="E8A33D"/>
                </a:solidFill>
                <a:latin typeface="Calibri" pitchFamily="34" charset="0"/>
                <a:ea typeface="Calibri" pitchFamily="34" charset="-122"/>
                <a:cs typeface="Calibri" pitchFamily="34" charset="-120"/>
              </a:rPr>
              <a:t>ONE-LINE INTERVIEW ANSWER</a:t>
            </a:r>
            <a:endParaRPr lang="en-US" sz="1050" dirty="0"/>
          </a:p>
        </p:txBody>
      </p:sp>
      <p:sp>
        <p:nvSpPr>
          <p:cNvPr id="17" name="Text 15"/>
          <p:cNvSpPr/>
          <p:nvPr/>
        </p:nvSpPr>
        <p:spPr>
          <a:xfrm>
            <a:off x="731520" y="6217920"/>
            <a:ext cx="10744200" cy="146304"/>
          </a:xfrm>
          <a:prstGeom prst="rect">
            <a:avLst/>
          </a:prstGeom>
          <a:noFill/>
          <a:ln/>
        </p:spPr>
        <p:txBody>
          <a:bodyPr wrap="square" lIns="0" tIns="0" rIns="0" bIns="0" rtlCol="0" anchor="t"/>
          <a:lstStyle/>
          <a:p>
            <a:pPr marL="0" indent="0">
              <a:lnSpc>
                <a:spcPct val="105000"/>
              </a:lnSpc>
              <a:buNone/>
            </a:pPr>
            <a:r>
              <a:rPr lang="en-US" sz="1250" dirty="0">
                <a:solidFill>
                  <a:srgbClr val="FFFFFF"/>
                </a:solidFill>
                <a:latin typeface="Calibri" pitchFamily="34" charset="0"/>
                <a:ea typeface="Calibri" pitchFamily="34" charset="-122"/>
                <a:cs typeface="Calibri" pitchFamily="34" charset="-120"/>
              </a:rPr>
              <a:t>List keeps ordered, duplicate-allowed data; Set enforces uniqueness; Map stores unique key-value pairs.</a:t>
            </a:r>
            <a:endParaRPr lang="en-US" sz="1250" dirty="0"/>
          </a:p>
        </p:txBody>
      </p:sp>
      <p:sp>
        <p:nvSpPr>
          <p:cNvPr id="18" name="Text 16"/>
          <p:cNvSpPr/>
          <p:nvPr/>
        </p:nvSpPr>
        <p:spPr>
          <a:xfrm>
            <a:off x="457200" y="6583680"/>
            <a:ext cx="5486400" cy="228600"/>
          </a:xfrm>
          <a:prstGeom prst="rect">
            <a:avLst/>
          </a:prstGeom>
          <a:noFill/>
          <a:ln/>
        </p:spPr>
        <p:txBody>
          <a:bodyPr wrap="square" rtlCol="0" anchor="ctr"/>
          <a:lstStyle/>
          <a:p>
            <a:pPr marL="0" indent="0" algn="l">
              <a:buNone/>
            </a:pPr>
            <a:r>
              <a:rPr lang="en-US" sz="850" dirty="0">
                <a:solidFill>
                  <a:srgbClr val="5B6178"/>
                </a:solidFill>
                <a:latin typeface="Calibri" pitchFamily="34" charset="0"/>
                <a:ea typeface="Calibri" pitchFamily="34" charset="-122"/>
                <a:cs typeface="Calibri" pitchFamily="34" charset="-120"/>
              </a:rPr>
              <a:t>Java &amp; Full-Stack Interview Prep</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Shape 0"/>
          <p:cNvSpPr/>
          <p:nvPr/>
        </p:nvSpPr>
        <p:spPr>
          <a:xfrm>
            <a:off x="502920" y="384048"/>
            <a:ext cx="5888736" cy="310896"/>
          </a:xfrm>
          <a:prstGeom prst="roundRect">
            <a:avLst>
              <a:gd name="adj" fmla="val 23529"/>
            </a:avLst>
          </a:prstGeom>
          <a:solidFill>
            <a:srgbClr val="E8A33D"/>
          </a:solidFill>
          <a:ln/>
        </p:spPr>
      </p:sp>
      <p:sp>
        <p:nvSpPr>
          <p:cNvPr id="3" name="Text 1"/>
          <p:cNvSpPr/>
          <p:nvPr/>
        </p:nvSpPr>
        <p:spPr>
          <a:xfrm>
            <a:off x="502920" y="384048"/>
            <a:ext cx="5888736" cy="310896"/>
          </a:xfrm>
          <a:prstGeom prst="rect">
            <a:avLst/>
          </a:prstGeom>
          <a:noFill/>
          <a:ln/>
        </p:spPr>
        <p:txBody>
          <a:bodyPr wrap="square" rtlCol="0" anchor="ctr"/>
          <a:lstStyle/>
          <a:p>
            <a:pPr marL="0" indent="0" algn="ctr">
              <a:buNone/>
            </a:pPr>
            <a:r>
              <a:rPr lang="en-US" sz="1100" b="1" kern="0" spc="100" dirty="0">
                <a:solidFill>
                  <a:srgbClr val="1B2340"/>
                </a:solidFill>
                <a:latin typeface="Calibri" pitchFamily="34" charset="0"/>
                <a:ea typeface="Calibri" pitchFamily="34" charset="-122"/>
                <a:cs typeface="Calibri" pitchFamily="34" charset="-120"/>
              </a:rPr>
              <a:t>COLLECTIONS &amp; ADVANCED JAVA</a:t>
            </a:r>
            <a:endParaRPr lang="en-US" sz="1100" dirty="0"/>
          </a:p>
        </p:txBody>
      </p:sp>
      <p:sp>
        <p:nvSpPr>
          <p:cNvPr id="4" name="Text 2"/>
          <p:cNvSpPr/>
          <p:nvPr/>
        </p:nvSpPr>
        <p:spPr>
          <a:xfrm>
            <a:off x="502920" y="786384"/>
            <a:ext cx="11155680" cy="868680"/>
          </a:xfrm>
          <a:prstGeom prst="rect">
            <a:avLst/>
          </a:prstGeom>
          <a:noFill/>
          <a:ln/>
        </p:spPr>
        <p:txBody>
          <a:bodyPr wrap="square" rtlCol="0" anchor="t"/>
          <a:lstStyle/>
          <a:p>
            <a:pPr marL="0" indent="0">
              <a:lnSpc>
                <a:spcPct val="102000"/>
              </a:lnSpc>
              <a:buNone/>
            </a:pPr>
            <a:r>
              <a:rPr lang="en-US" sz="2500" b="1" dirty="0">
                <a:solidFill>
                  <a:srgbClr val="1B2340"/>
                </a:solidFill>
                <a:latin typeface="Century Schoolbook" pitchFamily="34" charset="0"/>
                <a:ea typeface="Century Schoolbook" pitchFamily="34" charset="-122"/>
                <a:cs typeface="Century Schoolbook" pitchFamily="34" charset="-120"/>
              </a:rPr>
              <a:t>What is a Functional Interface and a Lambda Expression?</a:t>
            </a:r>
            <a:endParaRPr lang="en-US" sz="2500" dirty="0"/>
          </a:p>
        </p:txBody>
      </p:sp>
      <p:sp>
        <p:nvSpPr>
          <p:cNvPr id="5" name="Shape 3"/>
          <p:cNvSpPr/>
          <p:nvPr/>
        </p:nvSpPr>
        <p:spPr>
          <a:xfrm>
            <a:off x="502920" y="1810512"/>
            <a:ext cx="164592" cy="274320"/>
          </a:xfrm>
          <a:prstGeom prst="roundRect">
            <a:avLst>
              <a:gd name="adj" fmla="val 22222"/>
            </a:avLst>
          </a:prstGeom>
          <a:solidFill>
            <a:srgbClr val="E8A33D"/>
          </a:solidFill>
          <a:ln/>
        </p:spPr>
      </p:sp>
      <p:sp>
        <p:nvSpPr>
          <p:cNvPr id="6" name="Text 4"/>
          <p:cNvSpPr/>
          <p:nvPr/>
        </p:nvSpPr>
        <p:spPr>
          <a:xfrm>
            <a:off x="758952" y="1783080"/>
            <a:ext cx="4681728" cy="329184"/>
          </a:xfrm>
          <a:prstGeom prst="rect">
            <a:avLst/>
          </a:prstGeom>
          <a:noFill/>
          <a:ln/>
        </p:spPr>
        <p:txBody>
          <a:bodyPr wrap="square" rtlCol="0" anchor="ctr"/>
          <a:lstStyle/>
          <a:p>
            <a:pPr marL="0" indent="0">
              <a:buNone/>
            </a:pPr>
            <a:r>
              <a:rPr lang="en-US" sz="1300" b="1" kern="0" spc="50" dirty="0">
                <a:solidFill>
                  <a:srgbClr val="1B2340"/>
                </a:solidFill>
                <a:latin typeface="Calibri" pitchFamily="34" charset="0"/>
                <a:ea typeface="Calibri" pitchFamily="34" charset="-122"/>
                <a:cs typeface="Calibri" pitchFamily="34" charset="-120"/>
              </a:rPr>
              <a:t>DEFINITION / CONCEPT</a:t>
            </a:r>
            <a:endParaRPr lang="en-US" sz="1300" dirty="0"/>
          </a:p>
        </p:txBody>
      </p:sp>
      <p:sp>
        <p:nvSpPr>
          <p:cNvPr id="7" name="Shape 5"/>
          <p:cNvSpPr/>
          <p:nvPr/>
        </p:nvSpPr>
        <p:spPr>
          <a:xfrm>
            <a:off x="502920" y="2121408"/>
            <a:ext cx="4937760" cy="1234440"/>
          </a:xfrm>
          <a:prstGeom prst="roundRect">
            <a:avLst>
              <a:gd name="adj" fmla="val 5926"/>
            </a:avLst>
          </a:prstGeom>
          <a:solidFill>
            <a:srgbClr val="F7F7FA"/>
          </a:solidFill>
          <a:ln w="12700">
            <a:solidFill>
              <a:srgbClr val="E4E6EF"/>
            </a:solidFill>
            <a:prstDash val="solid"/>
          </a:ln>
        </p:spPr>
      </p:sp>
      <p:sp>
        <p:nvSpPr>
          <p:cNvPr id="8" name="Text 6"/>
          <p:cNvSpPr/>
          <p:nvPr/>
        </p:nvSpPr>
        <p:spPr>
          <a:xfrm>
            <a:off x="758952" y="2304288"/>
            <a:ext cx="4425696" cy="868680"/>
          </a:xfrm>
          <a:prstGeom prst="rect">
            <a:avLst/>
          </a:prstGeom>
          <a:noFill/>
          <a:ln/>
        </p:spPr>
        <p:txBody>
          <a:bodyPr wrap="square" lIns="0" tIns="0" rIns="0" bIns="0" rtlCol="0" anchor="t"/>
          <a:lstStyle/>
          <a:p>
            <a:pPr marL="0" indent="0">
              <a:lnSpc>
                <a:spcPct val="115000"/>
              </a:lnSpc>
              <a:buNone/>
            </a:pPr>
            <a:r>
              <a:rPr lang="en-US" sz="1450" dirty="0">
                <a:solidFill>
                  <a:srgbClr val="1B2340"/>
                </a:solidFill>
                <a:latin typeface="Calibri" pitchFamily="34" charset="0"/>
                <a:ea typeface="Calibri" pitchFamily="34" charset="-122"/>
                <a:cs typeface="Calibri" pitchFamily="34" charset="-120"/>
              </a:rPr>
              <a:t>A functional interface is an interface with exactly one abstract method. Lambda expressions provide a short, clean way to implement such interfaces without writing a full class.</a:t>
            </a:r>
            <a:endParaRPr lang="en-US" sz="1450" dirty="0"/>
          </a:p>
        </p:txBody>
      </p:sp>
      <p:sp>
        <p:nvSpPr>
          <p:cNvPr id="9" name="Shape 7"/>
          <p:cNvSpPr/>
          <p:nvPr/>
        </p:nvSpPr>
        <p:spPr>
          <a:xfrm>
            <a:off x="502920" y="3493008"/>
            <a:ext cx="4937760" cy="1554480"/>
          </a:xfrm>
          <a:prstGeom prst="roundRect">
            <a:avLst>
              <a:gd name="adj" fmla="val 4706"/>
            </a:avLst>
          </a:prstGeom>
          <a:solidFill>
            <a:srgbClr val="FDF3E3"/>
          </a:solidFill>
          <a:ln/>
        </p:spPr>
      </p:sp>
      <p:sp>
        <p:nvSpPr>
          <p:cNvPr id="10" name="Text 8"/>
          <p:cNvSpPr/>
          <p:nvPr/>
        </p:nvSpPr>
        <p:spPr>
          <a:xfrm>
            <a:off x="704088" y="3602736"/>
            <a:ext cx="4535424" cy="274320"/>
          </a:xfrm>
          <a:prstGeom prst="rect">
            <a:avLst/>
          </a:prstGeom>
          <a:noFill/>
          <a:ln/>
        </p:spPr>
        <p:txBody>
          <a:bodyPr wrap="square" rtlCol="0" anchor="ctr"/>
          <a:lstStyle/>
          <a:p>
            <a:pPr marL="0" indent="0">
              <a:buNone/>
            </a:pPr>
            <a:r>
              <a:rPr lang="en-US" sz="1100" b="1" kern="0" spc="50" dirty="0">
                <a:solidFill>
                  <a:srgbClr val="C9862A"/>
                </a:solidFill>
                <a:latin typeface="Calibri" pitchFamily="34" charset="0"/>
                <a:ea typeface="Calibri" pitchFamily="34" charset="-122"/>
                <a:cs typeface="Calibri" pitchFamily="34" charset="-120"/>
              </a:rPr>
              <a:t>💡 REAL-LIFE ANALOGY</a:t>
            </a:r>
            <a:endParaRPr lang="en-US" sz="1100" dirty="0"/>
          </a:p>
        </p:txBody>
      </p:sp>
      <p:sp>
        <p:nvSpPr>
          <p:cNvPr id="11" name="Text 9"/>
          <p:cNvSpPr/>
          <p:nvPr/>
        </p:nvSpPr>
        <p:spPr>
          <a:xfrm>
            <a:off x="704088" y="3895344"/>
            <a:ext cx="4535424" cy="1024128"/>
          </a:xfrm>
          <a:prstGeom prst="rect">
            <a:avLst/>
          </a:prstGeom>
          <a:noFill/>
          <a:ln/>
        </p:spPr>
        <p:txBody>
          <a:bodyPr wrap="square" lIns="0" tIns="0" rIns="0" bIns="0" rtlCol="0" anchor="t"/>
          <a:lstStyle/>
          <a:p>
            <a:pPr marL="0" indent="0">
              <a:lnSpc>
                <a:spcPct val="110000"/>
              </a:lnSpc>
              <a:buNone/>
            </a:pPr>
            <a:r>
              <a:rPr lang="en-US" sz="1250" i="1" dirty="0">
                <a:solidFill>
                  <a:srgbClr val="1B2340"/>
                </a:solidFill>
                <a:latin typeface="Calibri" pitchFamily="34" charset="0"/>
                <a:ea typeface="Calibri" pitchFamily="34" charset="-122"/>
                <a:cs typeface="Calibri" pitchFamily="34" charset="-120"/>
              </a:rPr>
              <a:t>It's like leaving a short sticky note instead of writing a full letter - a lambda expresses the same instruction in the fewest possible words.</a:t>
            </a:r>
            <a:endParaRPr lang="en-US" sz="1250" dirty="0"/>
          </a:p>
        </p:txBody>
      </p:sp>
      <p:sp>
        <p:nvSpPr>
          <p:cNvPr id="12" name="Shape 10"/>
          <p:cNvSpPr/>
          <p:nvPr/>
        </p:nvSpPr>
        <p:spPr>
          <a:xfrm>
            <a:off x="502920" y="5193792"/>
            <a:ext cx="4937760" cy="1051560"/>
          </a:xfrm>
          <a:prstGeom prst="roundRect">
            <a:avLst>
              <a:gd name="adj" fmla="val 6957"/>
            </a:avLst>
          </a:prstGeom>
          <a:solidFill>
            <a:srgbClr val="1B2340"/>
          </a:solidFill>
          <a:ln/>
        </p:spPr>
      </p:sp>
      <p:sp>
        <p:nvSpPr>
          <p:cNvPr id="13" name="Text 11"/>
          <p:cNvSpPr/>
          <p:nvPr/>
        </p:nvSpPr>
        <p:spPr>
          <a:xfrm>
            <a:off x="731520" y="5285232"/>
            <a:ext cx="4480560" cy="256032"/>
          </a:xfrm>
          <a:prstGeom prst="rect">
            <a:avLst/>
          </a:prstGeom>
          <a:noFill/>
          <a:ln/>
        </p:spPr>
        <p:txBody>
          <a:bodyPr wrap="square" rtlCol="0" anchor="ctr"/>
          <a:lstStyle/>
          <a:p>
            <a:pPr marL="0" indent="0">
              <a:buNone/>
            </a:pPr>
            <a:r>
              <a:rPr lang="en-US" sz="1050" b="1" kern="0" spc="80" dirty="0">
                <a:solidFill>
                  <a:srgbClr val="E8A33D"/>
                </a:solidFill>
                <a:latin typeface="Calibri" pitchFamily="34" charset="0"/>
                <a:ea typeface="Calibri" pitchFamily="34" charset="-122"/>
                <a:cs typeface="Calibri" pitchFamily="34" charset="-120"/>
              </a:rPr>
              <a:t>ONE-LINE INTERVIEW ANSWER</a:t>
            </a:r>
            <a:endParaRPr lang="en-US" sz="1050" dirty="0"/>
          </a:p>
        </p:txBody>
      </p:sp>
      <p:sp>
        <p:nvSpPr>
          <p:cNvPr id="14" name="Text 12"/>
          <p:cNvSpPr/>
          <p:nvPr/>
        </p:nvSpPr>
        <p:spPr>
          <a:xfrm>
            <a:off x="731520" y="5541264"/>
            <a:ext cx="4480560" cy="594360"/>
          </a:xfrm>
          <a:prstGeom prst="rect">
            <a:avLst/>
          </a:prstGeom>
          <a:noFill/>
          <a:ln/>
        </p:spPr>
        <p:txBody>
          <a:bodyPr wrap="square" lIns="0" tIns="0" rIns="0" bIns="0" rtlCol="0" anchor="t"/>
          <a:lstStyle/>
          <a:p>
            <a:pPr marL="0" indent="0">
              <a:lnSpc>
                <a:spcPct val="105000"/>
              </a:lnSpc>
              <a:buNone/>
            </a:pPr>
            <a:r>
              <a:rPr lang="en-US" sz="1250" dirty="0">
                <a:solidFill>
                  <a:srgbClr val="FFFFFF"/>
                </a:solidFill>
                <a:latin typeface="Calibri" pitchFamily="34" charset="0"/>
                <a:ea typeface="Calibri" pitchFamily="34" charset="-122"/>
                <a:cs typeface="Calibri" pitchFamily="34" charset="-120"/>
              </a:rPr>
              <a:t>A functional interface has one abstract method, and a lambda expression is a concise way to implement it inline.</a:t>
            </a:r>
            <a:endParaRPr lang="en-US" sz="1250" dirty="0"/>
          </a:p>
        </p:txBody>
      </p:sp>
      <p:sp>
        <p:nvSpPr>
          <p:cNvPr id="15" name="Shape 13"/>
          <p:cNvSpPr/>
          <p:nvPr/>
        </p:nvSpPr>
        <p:spPr>
          <a:xfrm>
            <a:off x="5669280" y="1810512"/>
            <a:ext cx="164592" cy="274320"/>
          </a:xfrm>
          <a:prstGeom prst="roundRect">
            <a:avLst>
              <a:gd name="adj" fmla="val 22222"/>
            </a:avLst>
          </a:prstGeom>
          <a:solidFill>
            <a:srgbClr val="3FBFAE"/>
          </a:solidFill>
          <a:ln/>
        </p:spPr>
      </p:sp>
      <p:sp>
        <p:nvSpPr>
          <p:cNvPr id="16" name="Text 14"/>
          <p:cNvSpPr/>
          <p:nvPr/>
        </p:nvSpPr>
        <p:spPr>
          <a:xfrm>
            <a:off x="5925312" y="1783080"/>
            <a:ext cx="5779008" cy="329184"/>
          </a:xfrm>
          <a:prstGeom prst="rect">
            <a:avLst/>
          </a:prstGeom>
          <a:noFill/>
          <a:ln/>
        </p:spPr>
        <p:txBody>
          <a:bodyPr wrap="square" rtlCol="0" anchor="ctr"/>
          <a:lstStyle/>
          <a:p>
            <a:pPr marL="0" indent="0">
              <a:buNone/>
            </a:pPr>
            <a:r>
              <a:rPr lang="en-US" sz="1300" b="1" kern="0" spc="50" dirty="0">
                <a:solidFill>
                  <a:srgbClr val="1B2340"/>
                </a:solidFill>
                <a:latin typeface="Calibri" pitchFamily="34" charset="0"/>
                <a:ea typeface="Calibri" pitchFamily="34" charset="-122"/>
                <a:cs typeface="Calibri" pitchFamily="34" charset="-120"/>
              </a:rPr>
              <a:t>EXAMPLE</a:t>
            </a:r>
            <a:endParaRPr lang="en-US" sz="1300" dirty="0"/>
          </a:p>
        </p:txBody>
      </p:sp>
      <p:sp>
        <p:nvSpPr>
          <p:cNvPr id="17" name="Shape 15"/>
          <p:cNvSpPr/>
          <p:nvPr/>
        </p:nvSpPr>
        <p:spPr>
          <a:xfrm>
            <a:off x="5669280" y="2121408"/>
            <a:ext cx="6035040" cy="975360"/>
          </a:xfrm>
          <a:prstGeom prst="roundRect">
            <a:avLst>
              <a:gd name="adj" fmla="val 7500"/>
            </a:avLst>
          </a:prstGeom>
          <a:solidFill>
            <a:srgbClr val="1E1E2E"/>
          </a:solidFill>
          <a:ln/>
        </p:spPr>
      </p:sp>
      <p:sp>
        <p:nvSpPr>
          <p:cNvPr id="18" name="Shape 16"/>
          <p:cNvSpPr/>
          <p:nvPr/>
        </p:nvSpPr>
        <p:spPr>
          <a:xfrm>
            <a:off x="5806440" y="2249424"/>
            <a:ext cx="100584" cy="100584"/>
          </a:xfrm>
          <a:prstGeom prst="ellipse">
            <a:avLst/>
          </a:prstGeom>
          <a:solidFill>
            <a:srgbClr val="FF5F56"/>
          </a:solidFill>
          <a:ln/>
        </p:spPr>
      </p:sp>
      <p:sp>
        <p:nvSpPr>
          <p:cNvPr id="19" name="Shape 17"/>
          <p:cNvSpPr/>
          <p:nvPr/>
        </p:nvSpPr>
        <p:spPr>
          <a:xfrm>
            <a:off x="5961888" y="2249424"/>
            <a:ext cx="100584" cy="100584"/>
          </a:xfrm>
          <a:prstGeom prst="ellipse">
            <a:avLst/>
          </a:prstGeom>
          <a:solidFill>
            <a:srgbClr val="FFBD2E"/>
          </a:solidFill>
          <a:ln/>
        </p:spPr>
      </p:sp>
      <p:sp>
        <p:nvSpPr>
          <p:cNvPr id="20" name="Shape 18"/>
          <p:cNvSpPr/>
          <p:nvPr/>
        </p:nvSpPr>
        <p:spPr>
          <a:xfrm>
            <a:off x="6117336" y="2249424"/>
            <a:ext cx="100584" cy="100584"/>
          </a:xfrm>
          <a:prstGeom prst="ellipse">
            <a:avLst/>
          </a:prstGeom>
          <a:solidFill>
            <a:srgbClr val="27C93F"/>
          </a:solidFill>
          <a:ln/>
        </p:spPr>
      </p:sp>
      <p:sp>
        <p:nvSpPr>
          <p:cNvPr id="21" name="Text 19"/>
          <p:cNvSpPr/>
          <p:nvPr/>
        </p:nvSpPr>
        <p:spPr>
          <a:xfrm>
            <a:off x="6309360" y="2167128"/>
            <a:ext cx="5120640" cy="274320"/>
          </a:xfrm>
          <a:prstGeom prst="rect">
            <a:avLst/>
          </a:prstGeom>
          <a:noFill/>
          <a:ln/>
        </p:spPr>
        <p:txBody>
          <a:bodyPr wrap="square" rtlCol="0" anchor="ctr"/>
          <a:lstStyle/>
          <a:p>
            <a:pPr marL="0" indent="0" algn="r">
              <a:buNone/>
            </a:pPr>
            <a:r>
              <a:rPr lang="en-US" sz="1000" dirty="0">
                <a:solidFill>
                  <a:srgbClr val="8A90AC"/>
                </a:solidFill>
                <a:latin typeface="Courier New" pitchFamily="34" charset="0"/>
                <a:ea typeface="Courier New" pitchFamily="34" charset="-122"/>
                <a:cs typeface="Courier New" pitchFamily="34" charset="-120"/>
              </a:rPr>
              <a:t>Main.java</a:t>
            </a:r>
            <a:endParaRPr lang="en-US" sz="1000" dirty="0"/>
          </a:p>
        </p:txBody>
      </p:sp>
      <p:sp>
        <p:nvSpPr>
          <p:cNvPr id="22" name="Text 20"/>
          <p:cNvSpPr/>
          <p:nvPr/>
        </p:nvSpPr>
        <p:spPr>
          <a:xfrm>
            <a:off x="5897880" y="2487168"/>
            <a:ext cx="5577840" cy="518160"/>
          </a:xfrm>
          <a:prstGeom prst="rect">
            <a:avLst/>
          </a:prstGeom>
          <a:noFill/>
          <a:ln/>
        </p:spPr>
        <p:txBody>
          <a:bodyPr wrap="square" lIns="0" tIns="0" rIns="0" bIns="0" rtlCol="0" anchor="t"/>
          <a:lstStyle/>
          <a:p>
            <a:pPr marL="0" indent="0">
              <a:lnSpc>
                <a:spcPct val="120000"/>
              </a:lnSpc>
              <a:buNone/>
            </a:pPr>
            <a:r>
              <a:rPr lang="en-US" sz="1200" dirty="0">
                <a:solidFill>
                  <a:srgbClr val="D4D4E0"/>
                </a:solidFill>
                <a:latin typeface="Courier New" pitchFamily="34" charset="0"/>
                <a:ea typeface="Courier New" pitchFamily="34" charset="-122"/>
                <a:cs typeface="Courier New" pitchFamily="34" charset="-120"/>
              </a:rPr>
              <a:t>Runnable task = () -&gt; System.out.println("Running!");</a:t>
            </a:r>
            <a:endParaRPr lang="en-US" sz="1200" dirty="0"/>
          </a:p>
          <a:p>
            <a:pPr marL="0" indent="0">
              <a:lnSpc>
                <a:spcPct val="120000"/>
              </a:lnSpc>
              <a:buNone/>
            </a:pPr>
            <a:r>
              <a:rPr lang="en-US" sz="1200" dirty="0">
                <a:solidFill>
                  <a:srgbClr val="D4D4E0"/>
                </a:solidFill>
                <a:latin typeface="Courier New" pitchFamily="34" charset="0"/>
                <a:ea typeface="Courier New" pitchFamily="34" charset="-122"/>
                <a:cs typeface="Courier New" pitchFamily="34" charset="-120"/>
              </a:rPr>
              <a:t>task.run();</a:t>
            </a:r>
            <a:endParaRPr lang="en-US" sz="1200" dirty="0"/>
          </a:p>
        </p:txBody>
      </p:sp>
      <p:sp>
        <p:nvSpPr>
          <p:cNvPr id="23" name="Shape 21"/>
          <p:cNvSpPr/>
          <p:nvPr/>
        </p:nvSpPr>
        <p:spPr>
          <a:xfrm>
            <a:off x="5669280" y="3261360"/>
            <a:ext cx="164592" cy="274320"/>
          </a:xfrm>
          <a:prstGeom prst="roundRect">
            <a:avLst>
              <a:gd name="adj" fmla="val 22222"/>
            </a:avLst>
          </a:prstGeom>
          <a:solidFill>
            <a:srgbClr val="3FBFAE"/>
          </a:solidFill>
          <a:ln/>
        </p:spPr>
      </p:sp>
      <p:sp>
        <p:nvSpPr>
          <p:cNvPr id="24" name="Text 22"/>
          <p:cNvSpPr/>
          <p:nvPr/>
        </p:nvSpPr>
        <p:spPr>
          <a:xfrm>
            <a:off x="5925312" y="3233928"/>
            <a:ext cx="5779008" cy="329184"/>
          </a:xfrm>
          <a:prstGeom prst="rect">
            <a:avLst/>
          </a:prstGeom>
          <a:noFill/>
          <a:ln/>
        </p:spPr>
        <p:txBody>
          <a:bodyPr wrap="square" rtlCol="0" anchor="ctr"/>
          <a:lstStyle/>
          <a:p>
            <a:pPr marL="0" indent="0">
              <a:buNone/>
            </a:pPr>
            <a:r>
              <a:rPr lang="en-US" sz="1300" b="1" kern="0" spc="50" dirty="0">
                <a:solidFill>
                  <a:srgbClr val="1B2340"/>
                </a:solidFill>
                <a:latin typeface="Calibri" pitchFamily="34" charset="0"/>
                <a:ea typeface="Calibri" pitchFamily="34" charset="-122"/>
                <a:cs typeface="Calibri" pitchFamily="34" charset="-120"/>
              </a:rPr>
              <a:t>EXPLANATION</a:t>
            </a:r>
            <a:endParaRPr lang="en-US" sz="1300" dirty="0"/>
          </a:p>
        </p:txBody>
      </p:sp>
      <p:sp>
        <p:nvSpPr>
          <p:cNvPr id="25" name="Text 23"/>
          <p:cNvSpPr/>
          <p:nvPr/>
        </p:nvSpPr>
        <p:spPr>
          <a:xfrm>
            <a:off x="5669280" y="3590544"/>
            <a:ext cx="6035040" cy="2810256"/>
          </a:xfrm>
          <a:prstGeom prst="rect">
            <a:avLst/>
          </a:prstGeom>
          <a:noFill/>
          <a:ln/>
        </p:spPr>
        <p:txBody>
          <a:bodyPr wrap="square" lIns="0" tIns="0" rIns="0" bIns="0" rtlCol="0" anchor="t"/>
          <a:lstStyle/>
          <a:p>
            <a:pPr marL="177800" indent="-177800">
              <a:spcAft>
                <a:spcPts val="600"/>
              </a:spcAft>
              <a:buSzPct val="100000"/>
              <a:buChar char="•"/>
            </a:pPr>
            <a:r>
              <a:rPr lang="en-US" sz="1200" dirty="0">
                <a:solidFill>
                  <a:srgbClr val="1B2340"/>
                </a:solidFill>
                <a:latin typeface="Calibri" pitchFamily="34" charset="0"/>
                <a:ea typeface="Calibri" pitchFamily="34" charset="-122"/>
                <a:cs typeface="Calibri" pitchFamily="34" charset="-120"/>
              </a:rPr>
              <a:t>Runnable is a functional interface - it has one abstract method, run()</a:t>
            </a:r>
            <a:endParaRPr lang="en-US" sz="1200" dirty="0"/>
          </a:p>
          <a:p>
            <a:pPr marL="177800" indent="-177800">
              <a:spcAft>
                <a:spcPts val="600"/>
              </a:spcAft>
              <a:buSzPct val="100000"/>
              <a:buChar char="•"/>
            </a:pPr>
            <a:r>
              <a:rPr lang="en-US" sz="1200" dirty="0">
                <a:solidFill>
                  <a:srgbClr val="1B2340"/>
                </a:solidFill>
                <a:latin typeface="Calibri" pitchFamily="34" charset="0"/>
                <a:ea typeface="Calibri" pitchFamily="34" charset="-122"/>
                <a:cs typeface="Calibri" pitchFamily="34" charset="-120"/>
              </a:rPr>
              <a:t>The lambda () -&gt; System.out.println(...) is a compact implementation of that method</a:t>
            </a:r>
            <a:endParaRPr lang="en-US" sz="1200" dirty="0"/>
          </a:p>
          <a:p>
            <a:pPr marL="177800" indent="-177800">
              <a:spcAft>
                <a:spcPts val="600"/>
              </a:spcAft>
              <a:buSzPct val="100000"/>
              <a:buChar char="•"/>
            </a:pPr>
            <a:r>
              <a:rPr lang="en-US" sz="1200" dirty="0">
                <a:solidFill>
                  <a:srgbClr val="1B2340"/>
                </a:solidFill>
                <a:latin typeface="Calibri" pitchFamily="34" charset="0"/>
                <a:ea typeface="Calibri" pitchFamily="34" charset="-122"/>
                <a:cs typeface="Calibri" pitchFamily="34" charset="-120"/>
              </a:rPr>
              <a:t>Common built-in functional interfaces: Runnable, Comparator, Function, Predicate</a:t>
            </a:r>
            <a:endParaRPr lang="en-US" sz="1200" dirty="0"/>
          </a:p>
          <a:p>
            <a:pPr marL="177800" indent="-177800">
              <a:spcAft>
                <a:spcPts val="600"/>
              </a:spcAft>
              <a:buSzPct val="100000"/>
              <a:buChar char="•"/>
            </a:pPr>
            <a:r>
              <a:rPr lang="en-US" sz="1200" dirty="0">
                <a:solidFill>
                  <a:srgbClr val="1B2340"/>
                </a:solidFill>
                <a:latin typeface="Calibri" pitchFamily="34" charset="0"/>
                <a:ea typeface="Calibri" pitchFamily="34" charset="-122"/>
                <a:cs typeface="Calibri" pitchFamily="34" charset="-120"/>
              </a:rPr>
              <a:t>Lambdas make code shorter and are widely used with Java Streams</a:t>
            </a:r>
            <a:endParaRPr lang="en-US" sz="1200" dirty="0"/>
          </a:p>
        </p:txBody>
      </p:sp>
      <p:sp>
        <p:nvSpPr>
          <p:cNvPr id="26" name="Text 24"/>
          <p:cNvSpPr/>
          <p:nvPr/>
        </p:nvSpPr>
        <p:spPr>
          <a:xfrm>
            <a:off x="457200" y="6583680"/>
            <a:ext cx="5486400" cy="228600"/>
          </a:xfrm>
          <a:prstGeom prst="rect">
            <a:avLst/>
          </a:prstGeom>
          <a:noFill/>
          <a:ln/>
        </p:spPr>
        <p:txBody>
          <a:bodyPr wrap="square" rtlCol="0" anchor="ctr"/>
          <a:lstStyle/>
          <a:p>
            <a:pPr marL="0" indent="0" algn="l">
              <a:buNone/>
            </a:pPr>
            <a:r>
              <a:rPr lang="en-US" sz="850" dirty="0">
                <a:solidFill>
                  <a:srgbClr val="5B6178"/>
                </a:solidFill>
                <a:latin typeface="Calibri" pitchFamily="34" charset="0"/>
                <a:ea typeface="Calibri" pitchFamily="34" charset="-122"/>
                <a:cs typeface="Calibri" pitchFamily="34" charset="-120"/>
              </a:rPr>
              <a:t>Java &amp; Full-Stack Interview Prep</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Shape 0"/>
          <p:cNvSpPr/>
          <p:nvPr/>
        </p:nvSpPr>
        <p:spPr>
          <a:xfrm>
            <a:off x="502920" y="384048"/>
            <a:ext cx="5888736" cy="310896"/>
          </a:xfrm>
          <a:prstGeom prst="roundRect">
            <a:avLst>
              <a:gd name="adj" fmla="val 23529"/>
            </a:avLst>
          </a:prstGeom>
          <a:solidFill>
            <a:srgbClr val="E8A33D"/>
          </a:solidFill>
          <a:ln/>
        </p:spPr>
      </p:sp>
      <p:sp>
        <p:nvSpPr>
          <p:cNvPr id="3" name="Text 1"/>
          <p:cNvSpPr/>
          <p:nvPr/>
        </p:nvSpPr>
        <p:spPr>
          <a:xfrm>
            <a:off x="502920" y="384048"/>
            <a:ext cx="5888736" cy="310896"/>
          </a:xfrm>
          <a:prstGeom prst="rect">
            <a:avLst/>
          </a:prstGeom>
          <a:noFill/>
          <a:ln/>
        </p:spPr>
        <p:txBody>
          <a:bodyPr wrap="square" rtlCol="0" anchor="ctr"/>
          <a:lstStyle/>
          <a:p>
            <a:pPr marL="0" indent="0" algn="ctr">
              <a:buNone/>
            </a:pPr>
            <a:r>
              <a:rPr lang="en-US" sz="1100" b="1" kern="0" spc="100" dirty="0">
                <a:solidFill>
                  <a:srgbClr val="1B2340"/>
                </a:solidFill>
                <a:latin typeface="Calibri" pitchFamily="34" charset="0"/>
                <a:ea typeface="Calibri" pitchFamily="34" charset="-122"/>
                <a:cs typeface="Calibri" pitchFamily="34" charset="-120"/>
              </a:rPr>
              <a:t>COLLECTIONS &amp; ADVANCED JAVA</a:t>
            </a:r>
            <a:endParaRPr lang="en-US" sz="1100" dirty="0"/>
          </a:p>
        </p:txBody>
      </p:sp>
      <p:sp>
        <p:nvSpPr>
          <p:cNvPr id="4" name="Text 2"/>
          <p:cNvSpPr/>
          <p:nvPr/>
        </p:nvSpPr>
        <p:spPr>
          <a:xfrm>
            <a:off x="502920" y="786384"/>
            <a:ext cx="11155680" cy="868680"/>
          </a:xfrm>
          <a:prstGeom prst="rect">
            <a:avLst/>
          </a:prstGeom>
          <a:noFill/>
          <a:ln/>
        </p:spPr>
        <p:txBody>
          <a:bodyPr wrap="square" rtlCol="0" anchor="t"/>
          <a:lstStyle/>
          <a:p>
            <a:pPr marL="0" indent="0">
              <a:lnSpc>
                <a:spcPct val="102000"/>
              </a:lnSpc>
              <a:buNone/>
            </a:pPr>
            <a:r>
              <a:rPr lang="en-US" sz="2500" b="1" dirty="0">
                <a:solidFill>
                  <a:srgbClr val="1B2340"/>
                </a:solidFill>
                <a:latin typeface="Century Schoolbook" pitchFamily="34" charset="0"/>
                <a:ea typeface="Century Schoolbook" pitchFamily="34" charset="-122"/>
                <a:cs typeface="Century Schoolbook" pitchFamily="34" charset="-120"/>
              </a:rPr>
              <a:t>What is Multithreading? Explain the Thread Lifecycle.</a:t>
            </a:r>
            <a:endParaRPr lang="en-US" sz="2500" dirty="0"/>
          </a:p>
        </p:txBody>
      </p:sp>
      <p:sp>
        <p:nvSpPr>
          <p:cNvPr id="5" name="Shape 3"/>
          <p:cNvSpPr/>
          <p:nvPr/>
        </p:nvSpPr>
        <p:spPr>
          <a:xfrm>
            <a:off x="502920" y="1810512"/>
            <a:ext cx="164592" cy="274320"/>
          </a:xfrm>
          <a:prstGeom prst="roundRect">
            <a:avLst>
              <a:gd name="adj" fmla="val 22222"/>
            </a:avLst>
          </a:prstGeom>
          <a:solidFill>
            <a:srgbClr val="E8A33D"/>
          </a:solidFill>
          <a:ln/>
        </p:spPr>
      </p:sp>
      <p:sp>
        <p:nvSpPr>
          <p:cNvPr id="6" name="Text 4"/>
          <p:cNvSpPr/>
          <p:nvPr/>
        </p:nvSpPr>
        <p:spPr>
          <a:xfrm>
            <a:off x="758952" y="1783080"/>
            <a:ext cx="4315968" cy="329184"/>
          </a:xfrm>
          <a:prstGeom prst="rect">
            <a:avLst/>
          </a:prstGeom>
          <a:noFill/>
          <a:ln/>
        </p:spPr>
        <p:txBody>
          <a:bodyPr wrap="square" rtlCol="0" anchor="ctr"/>
          <a:lstStyle/>
          <a:p>
            <a:pPr marL="0" indent="0">
              <a:buNone/>
            </a:pPr>
            <a:r>
              <a:rPr lang="en-US" sz="1300" b="1" kern="0" spc="50" dirty="0">
                <a:solidFill>
                  <a:srgbClr val="1B2340"/>
                </a:solidFill>
                <a:latin typeface="Calibri" pitchFamily="34" charset="0"/>
                <a:ea typeface="Calibri" pitchFamily="34" charset="-122"/>
                <a:cs typeface="Calibri" pitchFamily="34" charset="-120"/>
              </a:rPr>
              <a:t>DEFINITION / CONCEPT</a:t>
            </a:r>
            <a:endParaRPr lang="en-US" sz="1300" dirty="0"/>
          </a:p>
        </p:txBody>
      </p:sp>
      <p:sp>
        <p:nvSpPr>
          <p:cNvPr id="7" name="Shape 5"/>
          <p:cNvSpPr/>
          <p:nvPr/>
        </p:nvSpPr>
        <p:spPr>
          <a:xfrm>
            <a:off x="502920" y="2121408"/>
            <a:ext cx="11201400" cy="914400"/>
          </a:xfrm>
          <a:prstGeom prst="roundRect">
            <a:avLst>
              <a:gd name="adj" fmla="val 8000"/>
            </a:avLst>
          </a:prstGeom>
          <a:solidFill>
            <a:srgbClr val="F7F7FA"/>
          </a:solidFill>
          <a:ln w="12700">
            <a:solidFill>
              <a:srgbClr val="E4E6EF"/>
            </a:solidFill>
            <a:prstDash val="solid"/>
          </a:ln>
        </p:spPr>
      </p:sp>
      <p:sp>
        <p:nvSpPr>
          <p:cNvPr id="8" name="Text 6"/>
          <p:cNvSpPr/>
          <p:nvPr/>
        </p:nvSpPr>
        <p:spPr>
          <a:xfrm>
            <a:off x="758952" y="2304288"/>
            <a:ext cx="10689336" cy="548640"/>
          </a:xfrm>
          <a:prstGeom prst="rect">
            <a:avLst/>
          </a:prstGeom>
          <a:noFill/>
          <a:ln/>
        </p:spPr>
        <p:txBody>
          <a:bodyPr wrap="square" lIns="0" tIns="0" rIns="0" bIns="0" rtlCol="0" anchor="t"/>
          <a:lstStyle/>
          <a:p>
            <a:pPr marL="0" indent="0">
              <a:lnSpc>
                <a:spcPct val="115000"/>
              </a:lnSpc>
              <a:buNone/>
            </a:pPr>
            <a:r>
              <a:rPr lang="en-US" sz="1450" dirty="0">
                <a:solidFill>
                  <a:srgbClr val="1B2340"/>
                </a:solidFill>
                <a:latin typeface="Calibri" pitchFamily="34" charset="0"/>
                <a:ea typeface="Calibri" pitchFamily="34" charset="-122"/>
                <a:cs typeface="Calibri" pitchFamily="34" charset="-120"/>
              </a:rPr>
              <a:t>Multithreading allows multiple parts of a program to run concurrently, making better use of CPU time. A thread goes through several stages during its life.</a:t>
            </a:r>
            <a:endParaRPr lang="en-US" sz="1450" dirty="0"/>
          </a:p>
        </p:txBody>
      </p:sp>
      <p:sp>
        <p:nvSpPr>
          <p:cNvPr id="9" name="Shape 7"/>
          <p:cNvSpPr/>
          <p:nvPr/>
        </p:nvSpPr>
        <p:spPr>
          <a:xfrm>
            <a:off x="502920" y="3200400"/>
            <a:ext cx="164592" cy="274320"/>
          </a:xfrm>
          <a:prstGeom prst="roundRect">
            <a:avLst>
              <a:gd name="adj" fmla="val 22222"/>
            </a:avLst>
          </a:prstGeom>
          <a:solidFill>
            <a:srgbClr val="3FBFAE"/>
          </a:solidFill>
          <a:ln/>
        </p:spPr>
      </p:sp>
      <p:sp>
        <p:nvSpPr>
          <p:cNvPr id="10" name="Text 8"/>
          <p:cNvSpPr/>
          <p:nvPr/>
        </p:nvSpPr>
        <p:spPr>
          <a:xfrm>
            <a:off x="758952" y="3172968"/>
            <a:ext cx="4315968" cy="329184"/>
          </a:xfrm>
          <a:prstGeom prst="rect">
            <a:avLst/>
          </a:prstGeom>
          <a:noFill/>
          <a:ln/>
        </p:spPr>
        <p:txBody>
          <a:bodyPr wrap="square" rtlCol="0" anchor="ctr"/>
          <a:lstStyle/>
          <a:p>
            <a:pPr marL="0" indent="0">
              <a:buNone/>
            </a:pPr>
            <a:r>
              <a:rPr lang="en-US" sz="1300" b="1" kern="0" spc="50" dirty="0">
                <a:solidFill>
                  <a:srgbClr val="1B2340"/>
                </a:solidFill>
                <a:latin typeface="Calibri" pitchFamily="34" charset="0"/>
                <a:ea typeface="Calibri" pitchFamily="34" charset="-122"/>
                <a:cs typeface="Calibri" pitchFamily="34" charset="-120"/>
              </a:rPr>
              <a:t>EXPLANATION</a:t>
            </a:r>
            <a:endParaRPr lang="en-US" sz="1300" dirty="0"/>
          </a:p>
        </p:txBody>
      </p:sp>
      <p:sp>
        <p:nvSpPr>
          <p:cNvPr id="11" name="Text 9"/>
          <p:cNvSpPr/>
          <p:nvPr/>
        </p:nvSpPr>
        <p:spPr>
          <a:xfrm>
            <a:off x="502920" y="3529584"/>
            <a:ext cx="6858000" cy="2331720"/>
          </a:xfrm>
          <a:prstGeom prst="rect">
            <a:avLst/>
          </a:prstGeom>
          <a:noFill/>
          <a:ln/>
        </p:spPr>
        <p:txBody>
          <a:bodyPr wrap="square" lIns="0" tIns="0" rIns="0" bIns="0" rtlCol="0" anchor="t"/>
          <a:lstStyle/>
          <a:p>
            <a:pPr marL="177800" indent="-177800">
              <a:spcAft>
                <a:spcPts val="800"/>
              </a:spcAft>
              <a:buSzPct val="100000"/>
              <a:buChar char="•"/>
            </a:pPr>
            <a:r>
              <a:rPr lang="en-US" sz="1300" dirty="0">
                <a:solidFill>
                  <a:srgbClr val="1B2340"/>
                </a:solidFill>
                <a:latin typeface="Calibri" pitchFamily="34" charset="0"/>
                <a:ea typeface="Calibri" pitchFamily="34" charset="-122"/>
                <a:cs typeface="Calibri" pitchFamily="34" charset="-120"/>
              </a:rPr>
              <a:t>New - thread object created but not started</a:t>
            </a:r>
            <a:endParaRPr lang="en-US" sz="1300" dirty="0"/>
          </a:p>
          <a:p>
            <a:pPr marL="177800" indent="-177800">
              <a:spcAft>
                <a:spcPts val="800"/>
              </a:spcAft>
              <a:buSzPct val="100000"/>
              <a:buChar char="•"/>
            </a:pPr>
            <a:r>
              <a:rPr lang="en-US" sz="1300" dirty="0">
                <a:solidFill>
                  <a:srgbClr val="1B2340"/>
                </a:solidFill>
                <a:latin typeface="Calibri" pitchFamily="34" charset="0"/>
                <a:ea typeface="Calibri" pitchFamily="34" charset="-122"/>
                <a:cs typeface="Calibri" pitchFamily="34" charset="-120"/>
              </a:rPr>
              <a:t>Runnable - ready to run, waiting for CPU turn</a:t>
            </a:r>
            <a:endParaRPr lang="en-US" sz="1300" dirty="0"/>
          </a:p>
          <a:p>
            <a:pPr marL="177800" indent="-177800">
              <a:spcAft>
                <a:spcPts val="800"/>
              </a:spcAft>
              <a:buSzPct val="100000"/>
              <a:buChar char="•"/>
            </a:pPr>
            <a:r>
              <a:rPr lang="en-US" sz="1300" dirty="0">
                <a:solidFill>
                  <a:srgbClr val="1B2340"/>
                </a:solidFill>
                <a:latin typeface="Calibri" pitchFamily="34" charset="0"/>
                <a:ea typeface="Calibri" pitchFamily="34" charset="-122"/>
                <a:cs typeface="Calibri" pitchFamily="34" charset="-120"/>
              </a:rPr>
              <a:t>Running - actively executing</a:t>
            </a:r>
            <a:endParaRPr lang="en-US" sz="1300" dirty="0"/>
          </a:p>
          <a:p>
            <a:pPr marL="177800" indent="-177800">
              <a:spcAft>
                <a:spcPts val="800"/>
              </a:spcAft>
              <a:buSzPct val="100000"/>
              <a:buChar char="•"/>
            </a:pPr>
            <a:r>
              <a:rPr lang="en-US" sz="1300" dirty="0">
                <a:solidFill>
                  <a:srgbClr val="1B2340"/>
                </a:solidFill>
                <a:latin typeface="Calibri" pitchFamily="34" charset="0"/>
                <a:ea typeface="Calibri" pitchFamily="34" charset="-122"/>
                <a:cs typeface="Calibri" pitchFamily="34" charset="-120"/>
              </a:rPr>
              <a:t>Blocked/Waiting - paused, waiting for a resource or signal</a:t>
            </a:r>
            <a:endParaRPr lang="en-US" sz="1300" dirty="0"/>
          </a:p>
          <a:p>
            <a:pPr marL="177800" indent="-177800">
              <a:spcAft>
                <a:spcPts val="800"/>
              </a:spcAft>
              <a:buSzPct val="100000"/>
              <a:buChar char="•"/>
            </a:pPr>
            <a:r>
              <a:rPr lang="en-US" sz="1300" dirty="0">
                <a:solidFill>
                  <a:srgbClr val="1B2340"/>
                </a:solidFill>
                <a:latin typeface="Calibri" pitchFamily="34" charset="0"/>
                <a:ea typeface="Calibri" pitchFamily="34" charset="-122"/>
                <a:cs typeface="Calibri" pitchFamily="34" charset="-120"/>
              </a:rPr>
              <a:t>Terminated - execution finished</a:t>
            </a:r>
            <a:endParaRPr lang="en-US" sz="1300" dirty="0"/>
          </a:p>
        </p:txBody>
      </p:sp>
      <p:sp>
        <p:nvSpPr>
          <p:cNvPr id="12" name="Shape 10"/>
          <p:cNvSpPr/>
          <p:nvPr/>
        </p:nvSpPr>
        <p:spPr>
          <a:xfrm>
            <a:off x="7589520" y="3200400"/>
            <a:ext cx="4114800" cy="2194560"/>
          </a:xfrm>
          <a:prstGeom prst="roundRect">
            <a:avLst>
              <a:gd name="adj" fmla="val 3333"/>
            </a:avLst>
          </a:prstGeom>
          <a:solidFill>
            <a:srgbClr val="FDF3E3"/>
          </a:solidFill>
          <a:ln/>
        </p:spPr>
      </p:sp>
      <p:sp>
        <p:nvSpPr>
          <p:cNvPr id="13" name="Text 11"/>
          <p:cNvSpPr/>
          <p:nvPr/>
        </p:nvSpPr>
        <p:spPr>
          <a:xfrm>
            <a:off x="7790688" y="3310128"/>
            <a:ext cx="3712464" cy="274320"/>
          </a:xfrm>
          <a:prstGeom prst="rect">
            <a:avLst/>
          </a:prstGeom>
          <a:noFill/>
          <a:ln/>
        </p:spPr>
        <p:txBody>
          <a:bodyPr wrap="square" rtlCol="0" anchor="ctr"/>
          <a:lstStyle/>
          <a:p>
            <a:pPr marL="0" indent="0">
              <a:buNone/>
            </a:pPr>
            <a:r>
              <a:rPr lang="en-US" sz="1100" b="1" kern="0" spc="50" dirty="0">
                <a:solidFill>
                  <a:srgbClr val="C9862A"/>
                </a:solidFill>
                <a:latin typeface="Calibri" pitchFamily="34" charset="0"/>
                <a:ea typeface="Calibri" pitchFamily="34" charset="-122"/>
                <a:cs typeface="Calibri" pitchFamily="34" charset="-120"/>
              </a:rPr>
              <a:t>💡 REAL-LIFE ANALOGY</a:t>
            </a:r>
            <a:endParaRPr lang="en-US" sz="1100" dirty="0"/>
          </a:p>
        </p:txBody>
      </p:sp>
      <p:sp>
        <p:nvSpPr>
          <p:cNvPr id="14" name="Text 12"/>
          <p:cNvSpPr/>
          <p:nvPr/>
        </p:nvSpPr>
        <p:spPr>
          <a:xfrm>
            <a:off x="7790688" y="3602736"/>
            <a:ext cx="3712464" cy="1664208"/>
          </a:xfrm>
          <a:prstGeom prst="rect">
            <a:avLst/>
          </a:prstGeom>
          <a:noFill/>
          <a:ln/>
        </p:spPr>
        <p:txBody>
          <a:bodyPr wrap="square" lIns="0" tIns="0" rIns="0" bIns="0" rtlCol="0" anchor="t"/>
          <a:lstStyle/>
          <a:p>
            <a:pPr marL="0" indent="0">
              <a:lnSpc>
                <a:spcPct val="110000"/>
              </a:lnSpc>
              <a:buNone/>
            </a:pPr>
            <a:r>
              <a:rPr lang="en-US" sz="1250" i="1" dirty="0">
                <a:solidFill>
                  <a:srgbClr val="1B2340"/>
                </a:solidFill>
                <a:latin typeface="Calibri" pitchFamily="34" charset="0"/>
                <a:ea typeface="Calibri" pitchFamily="34" charset="-122"/>
                <a:cs typeface="Calibri" pitchFamily="34" charset="-120"/>
              </a:rPr>
              <a:t>Think of a kitchen with multiple chefs (threads) working on different dishes at the same time, instead of one chef cooking everything one after another.</a:t>
            </a:r>
            <a:endParaRPr lang="en-US" sz="1250" dirty="0"/>
          </a:p>
        </p:txBody>
      </p:sp>
      <p:sp>
        <p:nvSpPr>
          <p:cNvPr id="15" name="Shape 13"/>
          <p:cNvSpPr/>
          <p:nvPr/>
        </p:nvSpPr>
        <p:spPr>
          <a:xfrm>
            <a:off x="502920" y="5870448"/>
            <a:ext cx="11201400" cy="603504"/>
          </a:xfrm>
          <a:prstGeom prst="roundRect">
            <a:avLst>
              <a:gd name="adj" fmla="val 12121"/>
            </a:avLst>
          </a:prstGeom>
          <a:solidFill>
            <a:srgbClr val="1B2340"/>
          </a:solidFill>
          <a:ln/>
        </p:spPr>
      </p:sp>
      <p:sp>
        <p:nvSpPr>
          <p:cNvPr id="16" name="Text 14"/>
          <p:cNvSpPr/>
          <p:nvPr/>
        </p:nvSpPr>
        <p:spPr>
          <a:xfrm>
            <a:off x="731520" y="5961888"/>
            <a:ext cx="10744200" cy="256032"/>
          </a:xfrm>
          <a:prstGeom prst="rect">
            <a:avLst/>
          </a:prstGeom>
          <a:noFill/>
          <a:ln/>
        </p:spPr>
        <p:txBody>
          <a:bodyPr wrap="square" rtlCol="0" anchor="ctr"/>
          <a:lstStyle/>
          <a:p>
            <a:pPr marL="0" indent="0">
              <a:buNone/>
            </a:pPr>
            <a:r>
              <a:rPr lang="en-US" sz="1050" b="1" kern="0" spc="80" dirty="0">
                <a:solidFill>
                  <a:srgbClr val="E8A33D"/>
                </a:solidFill>
                <a:latin typeface="Calibri" pitchFamily="34" charset="0"/>
                <a:ea typeface="Calibri" pitchFamily="34" charset="-122"/>
                <a:cs typeface="Calibri" pitchFamily="34" charset="-120"/>
              </a:rPr>
              <a:t>ONE-LINE INTERVIEW ANSWER</a:t>
            </a:r>
            <a:endParaRPr lang="en-US" sz="1050" dirty="0"/>
          </a:p>
        </p:txBody>
      </p:sp>
      <p:sp>
        <p:nvSpPr>
          <p:cNvPr id="17" name="Text 15"/>
          <p:cNvSpPr/>
          <p:nvPr/>
        </p:nvSpPr>
        <p:spPr>
          <a:xfrm>
            <a:off x="731520" y="6217920"/>
            <a:ext cx="10744200" cy="146304"/>
          </a:xfrm>
          <a:prstGeom prst="rect">
            <a:avLst/>
          </a:prstGeom>
          <a:noFill/>
          <a:ln/>
        </p:spPr>
        <p:txBody>
          <a:bodyPr wrap="square" lIns="0" tIns="0" rIns="0" bIns="0" rtlCol="0" anchor="t"/>
          <a:lstStyle/>
          <a:p>
            <a:pPr marL="0" indent="0">
              <a:lnSpc>
                <a:spcPct val="105000"/>
              </a:lnSpc>
              <a:buNone/>
            </a:pPr>
            <a:r>
              <a:rPr lang="en-US" sz="1250" dirty="0">
                <a:solidFill>
                  <a:srgbClr val="FFFFFF"/>
                </a:solidFill>
                <a:latin typeface="Calibri" pitchFamily="34" charset="0"/>
                <a:ea typeface="Calibri" pitchFamily="34" charset="-122"/>
                <a:cs typeface="Calibri" pitchFamily="34" charset="-120"/>
              </a:rPr>
              <a:t>Multithreading runs multiple tasks concurrently; a thread moves through New, Runnable, Running, Waiting, and Terminated states.</a:t>
            </a:r>
            <a:endParaRPr lang="en-US" sz="1250" dirty="0"/>
          </a:p>
        </p:txBody>
      </p:sp>
      <p:sp>
        <p:nvSpPr>
          <p:cNvPr id="18" name="Text 16"/>
          <p:cNvSpPr/>
          <p:nvPr/>
        </p:nvSpPr>
        <p:spPr>
          <a:xfrm>
            <a:off x="457200" y="6583680"/>
            <a:ext cx="5486400" cy="228600"/>
          </a:xfrm>
          <a:prstGeom prst="rect">
            <a:avLst/>
          </a:prstGeom>
          <a:noFill/>
          <a:ln/>
        </p:spPr>
        <p:txBody>
          <a:bodyPr wrap="square" rtlCol="0" anchor="ctr"/>
          <a:lstStyle/>
          <a:p>
            <a:pPr marL="0" indent="0" algn="l">
              <a:buNone/>
            </a:pPr>
            <a:r>
              <a:rPr lang="en-US" sz="850" dirty="0">
                <a:solidFill>
                  <a:srgbClr val="5B6178"/>
                </a:solidFill>
                <a:latin typeface="Calibri" pitchFamily="34" charset="0"/>
                <a:ea typeface="Calibri" pitchFamily="34" charset="-122"/>
                <a:cs typeface="Calibri" pitchFamily="34" charset="-120"/>
              </a:rPr>
              <a:t>Java &amp; Full-Stack Interview Prep</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Shape 0"/>
          <p:cNvSpPr/>
          <p:nvPr/>
        </p:nvSpPr>
        <p:spPr>
          <a:xfrm>
            <a:off x="502920" y="384048"/>
            <a:ext cx="5888736" cy="310896"/>
          </a:xfrm>
          <a:prstGeom prst="roundRect">
            <a:avLst>
              <a:gd name="adj" fmla="val 23529"/>
            </a:avLst>
          </a:prstGeom>
          <a:solidFill>
            <a:srgbClr val="E8A33D"/>
          </a:solidFill>
          <a:ln/>
        </p:spPr>
      </p:sp>
      <p:sp>
        <p:nvSpPr>
          <p:cNvPr id="3" name="Text 1"/>
          <p:cNvSpPr/>
          <p:nvPr/>
        </p:nvSpPr>
        <p:spPr>
          <a:xfrm>
            <a:off x="502920" y="384048"/>
            <a:ext cx="5888736" cy="310896"/>
          </a:xfrm>
          <a:prstGeom prst="rect">
            <a:avLst/>
          </a:prstGeom>
          <a:noFill/>
          <a:ln/>
        </p:spPr>
        <p:txBody>
          <a:bodyPr wrap="square" rtlCol="0" anchor="ctr"/>
          <a:lstStyle/>
          <a:p>
            <a:pPr marL="0" indent="0" algn="ctr">
              <a:buNone/>
            </a:pPr>
            <a:r>
              <a:rPr lang="en-US" sz="1100" b="1" kern="0" spc="100" dirty="0">
                <a:solidFill>
                  <a:srgbClr val="1B2340"/>
                </a:solidFill>
                <a:latin typeface="Calibri" pitchFamily="34" charset="0"/>
                <a:ea typeface="Calibri" pitchFamily="34" charset="-122"/>
                <a:cs typeface="Calibri" pitchFamily="34" charset="-120"/>
              </a:rPr>
              <a:t>COLLECTIONS &amp; ADVANCED JAVA</a:t>
            </a:r>
            <a:endParaRPr lang="en-US" sz="1100" dirty="0"/>
          </a:p>
        </p:txBody>
      </p:sp>
      <p:sp>
        <p:nvSpPr>
          <p:cNvPr id="4" name="Text 2"/>
          <p:cNvSpPr/>
          <p:nvPr/>
        </p:nvSpPr>
        <p:spPr>
          <a:xfrm>
            <a:off x="502920" y="786384"/>
            <a:ext cx="11155680" cy="868680"/>
          </a:xfrm>
          <a:prstGeom prst="rect">
            <a:avLst/>
          </a:prstGeom>
          <a:noFill/>
          <a:ln/>
        </p:spPr>
        <p:txBody>
          <a:bodyPr wrap="square" rtlCol="0" anchor="t"/>
          <a:lstStyle/>
          <a:p>
            <a:pPr marL="0" indent="0">
              <a:lnSpc>
                <a:spcPct val="102000"/>
              </a:lnSpc>
              <a:buNone/>
            </a:pPr>
            <a:r>
              <a:rPr lang="en-US" sz="2500" b="1" dirty="0">
                <a:solidFill>
                  <a:srgbClr val="1B2340"/>
                </a:solidFill>
                <a:latin typeface="Century Schoolbook" pitchFamily="34" charset="0"/>
                <a:ea typeface="Century Schoolbook" pitchFamily="34" charset="-122"/>
                <a:cs typeface="Century Schoolbook" pitchFamily="34" charset="-120"/>
              </a:rPr>
              <a:t>What is Garbage Collection in Java?</a:t>
            </a:r>
            <a:endParaRPr lang="en-US" sz="2500" dirty="0"/>
          </a:p>
        </p:txBody>
      </p:sp>
      <p:sp>
        <p:nvSpPr>
          <p:cNvPr id="5" name="Shape 3"/>
          <p:cNvSpPr/>
          <p:nvPr/>
        </p:nvSpPr>
        <p:spPr>
          <a:xfrm>
            <a:off x="502920" y="1810512"/>
            <a:ext cx="164592" cy="274320"/>
          </a:xfrm>
          <a:prstGeom prst="roundRect">
            <a:avLst>
              <a:gd name="adj" fmla="val 22222"/>
            </a:avLst>
          </a:prstGeom>
          <a:solidFill>
            <a:srgbClr val="E8A33D"/>
          </a:solidFill>
          <a:ln/>
        </p:spPr>
      </p:sp>
      <p:sp>
        <p:nvSpPr>
          <p:cNvPr id="6" name="Text 4"/>
          <p:cNvSpPr/>
          <p:nvPr/>
        </p:nvSpPr>
        <p:spPr>
          <a:xfrm>
            <a:off x="758952" y="1783080"/>
            <a:ext cx="4315968" cy="329184"/>
          </a:xfrm>
          <a:prstGeom prst="rect">
            <a:avLst/>
          </a:prstGeom>
          <a:noFill/>
          <a:ln/>
        </p:spPr>
        <p:txBody>
          <a:bodyPr wrap="square" rtlCol="0" anchor="ctr"/>
          <a:lstStyle/>
          <a:p>
            <a:pPr marL="0" indent="0">
              <a:buNone/>
            </a:pPr>
            <a:r>
              <a:rPr lang="en-US" sz="1300" b="1" kern="0" spc="50" dirty="0">
                <a:solidFill>
                  <a:srgbClr val="1B2340"/>
                </a:solidFill>
                <a:latin typeface="Calibri" pitchFamily="34" charset="0"/>
                <a:ea typeface="Calibri" pitchFamily="34" charset="-122"/>
                <a:cs typeface="Calibri" pitchFamily="34" charset="-120"/>
              </a:rPr>
              <a:t>DEFINITION / CONCEPT</a:t>
            </a:r>
            <a:endParaRPr lang="en-US" sz="1300" dirty="0"/>
          </a:p>
        </p:txBody>
      </p:sp>
      <p:sp>
        <p:nvSpPr>
          <p:cNvPr id="7" name="Shape 5"/>
          <p:cNvSpPr/>
          <p:nvPr/>
        </p:nvSpPr>
        <p:spPr>
          <a:xfrm>
            <a:off x="502920" y="2121408"/>
            <a:ext cx="11201400" cy="914400"/>
          </a:xfrm>
          <a:prstGeom prst="roundRect">
            <a:avLst>
              <a:gd name="adj" fmla="val 8000"/>
            </a:avLst>
          </a:prstGeom>
          <a:solidFill>
            <a:srgbClr val="F7F7FA"/>
          </a:solidFill>
          <a:ln w="12700">
            <a:solidFill>
              <a:srgbClr val="E4E6EF"/>
            </a:solidFill>
            <a:prstDash val="solid"/>
          </a:ln>
        </p:spPr>
      </p:sp>
      <p:sp>
        <p:nvSpPr>
          <p:cNvPr id="8" name="Text 6"/>
          <p:cNvSpPr/>
          <p:nvPr/>
        </p:nvSpPr>
        <p:spPr>
          <a:xfrm>
            <a:off x="758952" y="2304288"/>
            <a:ext cx="10689336" cy="548640"/>
          </a:xfrm>
          <a:prstGeom prst="rect">
            <a:avLst/>
          </a:prstGeom>
          <a:noFill/>
          <a:ln/>
        </p:spPr>
        <p:txBody>
          <a:bodyPr wrap="square" lIns="0" tIns="0" rIns="0" bIns="0" rtlCol="0" anchor="t"/>
          <a:lstStyle/>
          <a:p>
            <a:pPr marL="0" indent="0">
              <a:lnSpc>
                <a:spcPct val="115000"/>
              </a:lnSpc>
              <a:buNone/>
            </a:pPr>
            <a:r>
              <a:rPr lang="en-US" sz="1450" dirty="0">
                <a:solidFill>
                  <a:srgbClr val="1B2340"/>
                </a:solidFill>
                <a:latin typeface="Calibri" pitchFamily="34" charset="0"/>
                <a:ea typeface="Calibri" pitchFamily="34" charset="-122"/>
                <a:cs typeface="Calibri" pitchFamily="34" charset="-120"/>
              </a:rPr>
              <a:t>Garbage Collection is the automatic process by which Java reclaims memory used by objects that are no longer reachable/needed by the program.</a:t>
            </a:r>
            <a:endParaRPr lang="en-US" sz="1450" dirty="0"/>
          </a:p>
        </p:txBody>
      </p:sp>
      <p:sp>
        <p:nvSpPr>
          <p:cNvPr id="9" name="Shape 7"/>
          <p:cNvSpPr/>
          <p:nvPr/>
        </p:nvSpPr>
        <p:spPr>
          <a:xfrm>
            <a:off x="502920" y="3200400"/>
            <a:ext cx="164592" cy="274320"/>
          </a:xfrm>
          <a:prstGeom prst="roundRect">
            <a:avLst>
              <a:gd name="adj" fmla="val 22222"/>
            </a:avLst>
          </a:prstGeom>
          <a:solidFill>
            <a:srgbClr val="3FBFAE"/>
          </a:solidFill>
          <a:ln/>
        </p:spPr>
      </p:sp>
      <p:sp>
        <p:nvSpPr>
          <p:cNvPr id="10" name="Text 8"/>
          <p:cNvSpPr/>
          <p:nvPr/>
        </p:nvSpPr>
        <p:spPr>
          <a:xfrm>
            <a:off x="758952" y="3172968"/>
            <a:ext cx="4315968" cy="329184"/>
          </a:xfrm>
          <a:prstGeom prst="rect">
            <a:avLst/>
          </a:prstGeom>
          <a:noFill/>
          <a:ln/>
        </p:spPr>
        <p:txBody>
          <a:bodyPr wrap="square" rtlCol="0" anchor="ctr"/>
          <a:lstStyle/>
          <a:p>
            <a:pPr marL="0" indent="0">
              <a:buNone/>
            </a:pPr>
            <a:r>
              <a:rPr lang="en-US" sz="1300" b="1" kern="0" spc="50" dirty="0">
                <a:solidFill>
                  <a:srgbClr val="1B2340"/>
                </a:solidFill>
                <a:latin typeface="Calibri" pitchFamily="34" charset="0"/>
                <a:ea typeface="Calibri" pitchFamily="34" charset="-122"/>
                <a:cs typeface="Calibri" pitchFamily="34" charset="-120"/>
              </a:rPr>
              <a:t>EXPLANATION</a:t>
            </a:r>
            <a:endParaRPr lang="en-US" sz="1300" dirty="0"/>
          </a:p>
        </p:txBody>
      </p:sp>
      <p:sp>
        <p:nvSpPr>
          <p:cNvPr id="11" name="Text 9"/>
          <p:cNvSpPr/>
          <p:nvPr/>
        </p:nvSpPr>
        <p:spPr>
          <a:xfrm>
            <a:off x="502920" y="3529584"/>
            <a:ext cx="6858000" cy="2331720"/>
          </a:xfrm>
          <a:prstGeom prst="rect">
            <a:avLst/>
          </a:prstGeom>
          <a:noFill/>
          <a:ln/>
        </p:spPr>
        <p:txBody>
          <a:bodyPr wrap="square" lIns="0" tIns="0" rIns="0" bIns="0" rtlCol="0" anchor="t"/>
          <a:lstStyle/>
          <a:p>
            <a:pPr marL="177800" indent="-177800">
              <a:spcAft>
                <a:spcPts val="800"/>
              </a:spcAft>
              <a:buSzPct val="100000"/>
              <a:buChar char="•"/>
            </a:pPr>
            <a:r>
              <a:rPr lang="en-US" sz="1300" dirty="0">
                <a:solidFill>
                  <a:srgbClr val="1B2340"/>
                </a:solidFill>
                <a:latin typeface="Calibri" pitchFamily="34" charset="0"/>
                <a:ea typeface="Calibri" pitchFamily="34" charset="-122"/>
                <a:cs typeface="Calibri" pitchFamily="34" charset="-120"/>
              </a:rPr>
              <a:t>Developers don't need to manually free memory like in C/C++</a:t>
            </a:r>
            <a:endParaRPr lang="en-US" sz="1300" dirty="0"/>
          </a:p>
          <a:p>
            <a:pPr marL="177800" indent="-177800">
              <a:spcAft>
                <a:spcPts val="800"/>
              </a:spcAft>
              <a:buSzPct val="100000"/>
              <a:buChar char="•"/>
            </a:pPr>
            <a:r>
              <a:rPr lang="en-US" sz="1300" dirty="0">
                <a:solidFill>
                  <a:srgbClr val="1B2340"/>
                </a:solidFill>
                <a:latin typeface="Calibri" pitchFamily="34" charset="0"/>
                <a:ea typeface="Calibri" pitchFamily="34" charset="-122"/>
                <a:cs typeface="Calibri" pitchFamily="34" charset="-120"/>
              </a:rPr>
              <a:t>The JVM's Garbage Collector periodically scans for unreachable objects and removes them</a:t>
            </a:r>
            <a:endParaRPr lang="en-US" sz="1300" dirty="0"/>
          </a:p>
          <a:p>
            <a:pPr marL="177800" indent="-177800">
              <a:spcAft>
                <a:spcPts val="800"/>
              </a:spcAft>
              <a:buSzPct val="100000"/>
              <a:buChar char="•"/>
            </a:pPr>
            <a:r>
              <a:rPr lang="en-US" sz="1300" dirty="0">
                <a:solidFill>
                  <a:srgbClr val="1B2340"/>
                </a:solidFill>
                <a:latin typeface="Calibri" pitchFamily="34" charset="0"/>
                <a:ea typeface="Calibri" pitchFamily="34" charset="-122"/>
                <a:cs typeface="Calibri" pitchFamily="34" charset="-120"/>
              </a:rPr>
              <a:t>This helps prevent memory leaks, but doesn't guarantee an exact time of collection</a:t>
            </a:r>
            <a:endParaRPr lang="en-US" sz="1300" dirty="0"/>
          </a:p>
          <a:p>
            <a:pPr marL="177800" indent="-177800">
              <a:spcAft>
                <a:spcPts val="800"/>
              </a:spcAft>
              <a:buSzPct val="100000"/>
              <a:buChar char="•"/>
            </a:pPr>
            <a:r>
              <a:rPr lang="en-US" sz="1300" dirty="0">
                <a:solidFill>
                  <a:srgbClr val="1B2340"/>
                </a:solidFill>
                <a:latin typeface="Calibri" pitchFamily="34" charset="0"/>
                <a:ea typeface="Calibri" pitchFamily="34" charset="-122"/>
                <a:cs typeface="Calibri" pitchFamily="34" charset="-120"/>
              </a:rPr>
              <a:t>System.gc() can request garbage collection, but the JVM decides when it actually runs</a:t>
            </a:r>
            <a:endParaRPr lang="en-US" sz="1300" dirty="0"/>
          </a:p>
        </p:txBody>
      </p:sp>
      <p:sp>
        <p:nvSpPr>
          <p:cNvPr id="12" name="Shape 10"/>
          <p:cNvSpPr/>
          <p:nvPr/>
        </p:nvSpPr>
        <p:spPr>
          <a:xfrm>
            <a:off x="7589520" y="3200400"/>
            <a:ext cx="4114800" cy="2194560"/>
          </a:xfrm>
          <a:prstGeom prst="roundRect">
            <a:avLst>
              <a:gd name="adj" fmla="val 3333"/>
            </a:avLst>
          </a:prstGeom>
          <a:solidFill>
            <a:srgbClr val="FDF3E3"/>
          </a:solidFill>
          <a:ln/>
        </p:spPr>
      </p:sp>
      <p:sp>
        <p:nvSpPr>
          <p:cNvPr id="13" name="Text 11"/>
          <p:cNvSpPr/>
          <p:nvPr/>
        </p:nvSpPr>
        <p:spPr>
          <a:xfrm>
            <a:off x="7790688" y="3310128"/>
            <a:ext cx="3712464" cy="274320"/>
          </a:xfrm>
          <a:prstGeom prst="rect">
            <a:avLst/>
          </a:prstGeom>
          <a:noFill/>
          <a:ln/>
        </p:spPr>
        <p:txBody>
          <a:bodyPr wrap="square" rtlCol="0" anchor="ctr"/>
          <a:lstStyle/>
          <a:p>
            <a:pPr marL="0" indent="0">
              <a:buNone/>
            </a:pPr>
            <a:r>
              <a:rPr lang="en-US" sz="1100" b="1" kern="0" spc="50" dirty="0">
                <a:solidFill>
                  <a:srgbClr val="C9862A"/>
                </a:solidFill>
                <a:latin typeface="Calibri" pitchFamily="34" charset="0"/>
                <a:ea typeface="Calibri" pitchFamily="34" charset="-122"/>
                <a:cs typeface="Calibri" pitchFamily="34" charset="-120"/>
              </a:rPr>
              <a:t>💡 REAL-LIFE ANALOGY</a:t>
            </a:r>
            <a:endParaRPr lang="en-US" sz="1100" dirty="0"/>
          </a:p>
        </p:txBody>
      </p:sp>
      <p:sp>
        <p:nvSpPr>
          <p:cNvPr id="14" name="Text 12"/>
          <p:cNvSpPr/>
          <p:nvPr/>
        </p:nvSpPr>
        <p:spPr>
          <a:xfrm>
            <a:off x="7790688" y="3602736"/>
            <a:ext cx="3712464" cy="1664208"/>
          </a:xfrm>
          <a:prstGeom prst="rect">
            <a:avLst/>
          </a:prstGeom>
          <a:noFill/>
          <a:ln/>
        </p:spPr>
        <p:txBody>
          <a:bodyPr wrap="square" lIns="0" tIns="0" rIns="0" bIns="0" rtlCol="0" anchor="t"/>
          <a:lstStyle/>
          <a:p>
            <a:pPr marL="0" indent="0">
              <a:lnSpc>
                <a:spcPct val="110000"/>
              </a:lnSpc>
              <a:buNone/>
            </a:pPr>
            <a:r>
              <a:rPr lang="en-US" sz="1250" i="1" dirty="0">
                <a:solidFill>
                  <a:srgbClr val="1B2340"/>
                </a:solidFill>
                <a:latin typeface="Calibri" pitchFamily="34" charset="0"/>
                <a:ea typeface="Calibri" pitchFamily="34" charset="-122"/>
                <a:cs typeface="Calibri" pitchFamily="34" charset="-120"/>
              </a:rPr>
              <a:t>It's like an automatic cleaning service in an apartment building that quietly removes trash nobody needs anymore, so residents don't have to worry about taking it out themselves.</a:t>
            </a:r>
            <a:endParaRPr lang="en-US" sz="1250" dirty="0"/>
          </a:p>
        </p:txBody>
      </p:sp>
      <p:sp>
        <p:nvSpPr>
          <p:cNvPr id="15" name="Shape 13"/>
          <p:cNvSpPr/>
          <p:nvPr/>
        </p:nvSpPr>
        <p:spPr>
          <a:xfrm>
            <a:off x="502920" y="5870448"/>
            <a:ext cx="11201400" cy="603504"/>
          </a:xfrm>
          <a:prstGeom prst="roundRect">
            <a:avLst>
              <a:gd name="adj" fmla="val 12121"/>
            </a:avLst>
          </a:prstGeom>
          <a:solidFill>
            <a:srgbClr val="1B2340"/>
          </a:solidFill>
          <a:ln/>
        </p:spPr>
      </p:sp>
      <p:sp>
        <p:nvSpPr>
          <p:cNvPr id="16" name="Text 14"/>
          <p:cNvSpPr/>
          <p:nvPr/>
        </p:nvSpPr>
        <p:spPr>
          <a:xfrm>
            <a:off x="731520" y="5961888"/>
            <a:ext cx="10744200" cy="256032"/>
          </a:xfrm>
          <a:prstGeom prst="rect">
            <a:avLst/>
          </a:prstGeom>
          <a:noFill/>
          <a:ln/>
        </p:spPr>
        <p:txBody>
          <a:bodyPr wrap="square" rtlCol="0" anchor="ctr"/>
          <a:lstStyle/>
          <a:p>
            <a:pPr marL="0" indent="0">
              <a:buNone/>
            </a:pPr>
            <a:r>
              <a:rPr lang="en-US" sz="1050" b="1" kern="0" spc="80" dirty="0">
                <a:solidFill>
                  <a:srgbClr val="E8A33D"/>
                </a:solidFill>
                <a:latin typeface="Calibri" pitchFamily="34" charset="0"/>
                <a:ea typeface="Calibri" pitchFamily="34" charset="-122"/>
                <a:cs typeface="Calibri" pitchFamily="34" charset="-120"/>
              </a:rPr>
              <a:t>ONE-LINE INTERVIEW ANSWER</a:t>
            </a:r>
            <a:endParaRPr lang="en-US" sz="1050" dirty="0"/>
          </a:p>
        </p:txBody>
      </p:sp>
      <p:sp>
        <p:nvSpPr>
          <p:cNvPr id="17" name="Text 15"/>
          <p:cNvSpPr/>
          <p:nvPr/>
        </p:nvSpPr>
        <p:spPr>
          <a:xfrm>
            <a:off x="731520" y="6217920"/>
            <a:ext cx="10744200" cy="146304"/>
          </a:xfrm>
          <a:prstGeom prst="rect">
            <a:avLst/>
          </a:prstGeom>
          <a:noFill/>
          <a:ln/>
        </p:spPr>
        <p:txBody>
          <a:bodyPr wrap="square" lIns="0" tIns="0" rIns="0" bIns="0" rtlCol="0" anchor="t"/>
          <a:lstStyle/>
          <a:p>
            <a:pPr marL="0" indent="0">
              <a:lnSpc>
                <a:spcPct val="105000"/>
              </a:lnSpc>
              <a:buNone/>
            </a:pPr>
            <a:r>
              <a:rPr lang="en-US" sz="1250" dirty="0">
                <a:solidFill>
                  <a:srgbClr val="FFFFFF"/>
                </a:solidFill>
                <a:latin typeface="Calibri" pitchFamily="34" charset="0"/>
                <a:ea typeface="Calibri" pitchFamily="34" charset="-122"/>
                <a:cs typeface="Calibri" pitchFamily="34" charset="-120"/>
              </a:rPr>
              <a:t>Garbage Collection is Java's automatic process of freeing memory occupied by objects that are no longer in use.</a:t>
            </a:r>
            <a:endParaRPr lang="en-US" sz="1250" dirty="0"/>
          </a:p>
        </p:txBody>
      </p:sp>
      <p:sp>
        <p:nvSpPr>
          <p:cNvPr id="18" name="Text 16"/>
          <p:cNvSpPr/>
          <p:nvPr/>
        </p:nvSpPr>
        <p:spPr>
          <a:xfrm>
            <a:off x="457200" y="6583680"/>
            <a:ext cx="5486400" cy="228600"/>
          </a:xfrm>
          <a:prstGeom prst="rect">
            <a:avLst/>
          </a:prstGeom>
          <a:noFill/>
          <a:ln/>
        </p:spPr>
        <p:txBody>
          <a:bodyPr wrap="square" rtlCol="0" anchor="ctr"/>
          <a:lstStyle/>
          <a:p>
            <a:pPr marL="0" indent="0" algn="l">
              <a:buNone/>
            </a:pPr>
            <a:r>
              <a:rPr lang="en-US" sz="850" dirty="0">
                <a:solidFill>
                  <a:srgbClr val="5B6178"/>
                </a:solidFill>
                <a:latin typeface="Calibri" pitchFamily="34" charset="0"/>
                <a:ea typeface="Calibri" pitchFamily="34" charset="-122"/>
                <a:cs typeface="Calibri" pitchFamily="34" charset="-120"/>
              </a:rPr>
              <a:t>Java &amp; Full-Stack Interview Prep</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1B2340"/>
        </a:solidFill>
        <a:effectLst/>
      </p:bgPr>
    </p:bg>
    <p:spTree>
      <p:nvGrpSpPr>
        <p:cNvPr id="1" name=""/>
        <p:cNvGrpSpPr/>
        <p:nvPr/>
      </p:nvGrpSpPr>
      <p:grpSpPr>
        <a:xfrm>
          <a:off x="0" y="0"/>
          <a:ext cx="0" cy="0"/>
          <a:chOff x="0" y="0"/>
          <a:chExt cx="0" cy="0"/>
        </a:xfrm>
      </p:grpSpPr>
      <p:sp>
        <p:nvSpPr>
          <p:cNvPr id="2" name="Shape 0"/>
          <p:cNvSpPr/>
          <p:nvPr/>
        </p:nvSpPr>
        <p:spPr>
          <a:xfrm>
            <a:off x="9692640" y="-1463040"/>
            <a:ext cx="4206240" cy="4206240"/>
          </a:xfrm>
          <a:prstGeom prst="ellipse">
            <a:avLst/>
          </a:prstGeom>
          <a:solidFill>
            <a:srgbClr val="232B4D"/>
          </a:solidFill>
          <a:ln/>
        </p:spPr>
      </p:sp>
      <p:sp>
        <p:nvSpPr>
          <p:cNvPr id="3" name="Text 1"/>
          <p:cNvSpPr/>
          <p:nvPr/>
        </p:nvSpPr>
        <p:spPr>
          <a:xfrm>
            <a:off x="822960" y="1920240"/>
            <a:ext cx="2743200" cy="1463040"/>
          </a:xfrm>
          <a:prstGeom prst="rect">
            <a:avLst/>
          </a:prstGeom>
          <a:noFill/>
          <a:ln/>
        </p:spPr>
        <p:txBody>
          <a:bodyPr wrap="square" rtlCol="0" anchor="ctr"/>
          <a:lstStyle/>
          <a:p>
            <a:pPr marL="0" indent="0">
              <a:buNone/>
            </a:pPr>
            <a:r>
              <a:rPr lang="en-US" sz="6400" b="1" dirty="0">
                <a:solidFill>
                  <a:srgbClr val="232B4D"/>
                </a:solidFill>
                <a:latin typeface="Century Schoolbook" pitchFamily="34" charset="0"/>
                <a:ea typeface="Century Schoolbook" pitchFamily="34" charset="-122"/>
                <a:cs typeface="Century Schoolbook" pitchFamily="34" charset="-120"/>
              </a:rPr>
              <a:t>03</a:t>
            </a:r>
            <a:endParaRPr lang="en-US" sz="6400" dirty="0"/>
          </a:p>
        </p:txBody>
      </p:sp>
      <p:sp>
        <p:nvSpPr>
          <p:cNvPr id="4" name="Shape 2"/>
          <p:cNvSpPr/>
          <p:nvPr/>
        </p:nvSpPr>
        <p:spPr>
          <a:xfrm>
            <a:off x="868680" y="3383280"/>
            <a:ext cx="1005840" cy="82296"/>
          </a:xfrm>
          <a:prstGeom prst="rect">
            <a:avLst/>
          </a:prstGeom>
          <a:solidFill>
            <a:srgbClr val="E8A33D"/>
          </a:solidFill>
          <a:ln/>
        </p:spPr>
      </p:sp>
      <p:sp>
        <p:nvSpPr>
          <p:cNvPr id="5" name="Text 3"/>
          <p:cNvSpPr/>
          <p:nvPr/>
        </p:nvSpPr>
        <p:spPr>
          <a:xfrm>
            <a:off x="822960" y="3520440"/>
            <a:ext cx="9601200" cy="1005840"/>
          </a:xfrm>
          <a:prstGeom prst="rect">
            <a:avLst/>
          </a:prstGeom>
          <a:noFill/>
          <a:ln/>
        </p:spPr>
        <p:txBody>
          <a:bodyPr wrap="square" rtlCol="0" anchor="ctr"/>
          <a:lstStyle/>
          <a:p>
            <a:pPr marL="0" indent="0">
              <a:buNone/>
            </a:pPr>
            <a:r>
              <a:rPr lang="en-US" sz="3800" b="1" dirty="0">
                <a:solidFill>
                  <a:srgbClr val="FFFFFF"/>
                </a:solidFill>
                <a:latin typeface="Century Schoolbook" pitchFamily="34" charset="0"/>
                <a:ea typeface="Century Schoolbook" pitchFamily="34" charset="-122"/>
                <a:cs typeface="Century Schoolbook" pitchFamily="34" charset="-120"/>
              </a:rPr>
              <a:t>Spring Boot &amp; REST APIs</a:t>
            </a:r>
            <a:endParaRPr lang="en-US" sz="3800" dirty="0"/>
          </a:p>
        </p:txBody>
      </p:sp>
      <p:sp>
        <p:nvSpPr>
          <p:cNvPr id="6" name="Text 4"/>
          <p:cNvSpPr/>
          <p:nvPr/>
        </p:nvSpPr>
        <p:spPr>
          <a:xfrm>
            <a:off x="822960" y="4434840"/>
            <a:ext cx="8229600" cy="457200"/>
          </a:xfrm>
          <a:prstGeom prst="rect">
            <a:avLst/>
          </a:prstGeom>
          <a:noFill/>
          <a:ln/>
        </p:spPr>
        <p:txBody>
          <a:bodyPr wrap="square" rtlCol="0" anchor="ctr"/>
          <a:lstStyle/>
          <a:p>
            <a:pPr marL="0" indent="0">
              <a:buNone/>
            </a:pPr>
            <a:r>
              <a:rPr lang="en-US" sz="1400" i="1" dirty="0">
                <a:solidFill>
                  <a:srgbClr val="C3C8DC"/>
                </a:solidFill>
                <a:latin typeface="Calibri" pitchFamily="34" charset="0"/>
                <a:ea typeface="Calibri" pitchFamily="34" charset="-122"/>
                <a:cs typeface="Calibri" pitchFamily="34" charset="-120"/>
              </a:rPr>
              <a:t>5 slides covering commonly asked interview questions</a:t>
            </a:r>
            <a:endParaRPr lang="en-US" sz="1400" dirty="0"/>
          </a:p>
        </p:txBody>
      </p:sp>
      <p:sp>
        <p:nvSpPr>
          <p:cNvPr id="7" name="Text 5"/>
          <p:cNvSpPr/>
          <p:nvPr/>
        </p:nvSpPr>
        <p:spPr>
          <a:xfrm>
            <a:off x="457200" y="6583680"/>
            <a:ext cx="5486400" cy="228600"/>
          </a:xfrm>
          <a:prstGeom prst="rect">
            <a:avLst/>
          </a:prstGeom>
          <a:noFill/>
          <a:ln/>
        </p:spPr>
        <p:txBody>
          <a:bodyPr wrap="square" rtlCol="0" anchor="ctr"/>
          <a:lstStyle/>
          <a:p>
            <a:pPr marL="0" indent="0" algn="l">
              <a:buNone/>
            </a:pPr>
            <a:r>
              <a:rPr lang="en-US" sz="850" dirty="0">
                <a:solidFill>
                  <a:srgbClr val="5B6178"/>
                </a:solidFill>
                <a:latin typeface="Calibri" pitchFamily="34" charset="0"/>
                <a:ea typeface="Calibri" pitchFamily="34" charset="-122"/>
                <a:cs typeface="Calibri" pitchFamily="34" charset="-120"/>
              </a:rPr>
              <a:t>Java &amp; Full-Stack Interview Prep</a:t>
            </a:r>
            <a:endParaRPr lang="en-US" sz="8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Shape 0"/>
          <p:cNvSpPr/>
          <p:nvPr/>
        </p:nvSpPr>
        <p:spPr>
          <a:xfrm>
            <a:off x="502920" y="384048"/>
            <a:ext cx="5084064" cy="310896"/>
          </a:xfrm>
          <a:prstGeom prst="roundRect">
            <a:avLst>
              <a:gd name="adj" fmla="val 23529"/>
            </a:avLst>
          </a:prstGeom>
          <a:solidFill>
            <a:srgbClr val="E8A33D"/>
          </a:solidFill>
          <a:ln/>
        </p:spPr>
      </p:sp>
      <p:sp>
        <p:nvSpPr>
          <p:cNvPr id="3" name="Text 1"/>
          <p:cNvSpPr/>
          <p:nvPr/>
        </p:nvSpPr>
        <p:spPr>
          <a:xfrm>
            <a:off x="502920" y="384048"/>
            <a:ext cx="5084064" cy="310896"/>
          </a:xfrm>
          <a:prstGeom prst="rect">
            <a:avLst/>
          </a:prstGeom>
          <a:noFill/>
          <a:ln/>
        </p:spPr>
        <p:txBody>
          <a:bodyPr wrap="square" rtlCol="0" anchor="ctr"/>
          <a:lstStyle/>
          <a:p>
            <a:pPr marL="0" indent="0" algn="ctr">
              <a:buNone/>
            </a:pPr>
            <a:r>
              <a:rPr lang="en-US" sz="1100" b="1" kern="0" spc="100" dirty="0">
                <a:solidFill>
                  <a:srgbClr val="1B2340"/>
                </a:solidFill>
                <a:latin typeface="Calibri" pitchFamily="34" charset="0"/>
                <a:ea typeface="Calibri" pitchFamily="34" charset="-122"/>
                <a:cs typeface="Calibri" pitchFamily="34" charset="-120"/>
              </a:rPr>
              <a:t>SPRING BOOT &amp; REST APIS</a:t>
            </a:r>
            <a:endParaRPr lang="en-US" sz="1100" dirty="0"/>
          </a:p>
        </p:txBody>
      </p:sp>
      <p:sp>
        <p:nvSpPr>
          <p:cNvPr id="4" name="Text 2"/>
          <p:cNvSpPr/>
          <p:nvPr/>
        </p:nvSpPr>
        <p:spPr>
          <a:xfrm>
            <a:off x="502920" y="786384"/>
            <a:ext cx="11155680" cy="868680"/>
          </a:xfrm>
          <a:prstGeom prst="rect">
            <a:avLst/>
          </a:prstGeom>
          <a:noFill/>
          <a:ln/>
        </p:spPr>
        <p:txBody>
          <a:bodyPr wrap="square" rtlCol="0" anchor="t"/>
          <a:lstStyle/>
          <a:p>
            <a:pPr marL="0" indent="0">
              <a:lnSpc>
                <a:spcPct val="102000"/>
              </a:lnSpc>
              <a:buNone/>
            </a:pPr>
            <a:r>
              <a:rPr lang="en-US" sz="2500" b="1" dirty="0">
                <a:solidFill>
                  <a:srgbClr val="1B2340"/>
                </a:solidFill>
                <a:latin typeface="Century Schoolbook" pitchFamily="34" charset="0"/>
                <a:ea typeface="Century Schoolbook" pitchFamily="34" charset="-122"/>
                <a:cs typeface="Century Schoolbook" pitchFamily="34" charset="-120"/>
              </a:rPr>
              <a:t>What is Spring Boot? How is it different from Spring MVC?</a:t>
            </a:r>
            <a:endParaRPr lang="en-US" sz="2500" dirty="0"/>
          </a:p>
        </p:txBody>
      </p:sp>
      <p:sp>
        <p:nvSpPr>
          <p:cNvPr id="5" name="Shape 3"/>
          <p:cNvSpPr/>
          <p:nvPr/>
        </p:nvSpPr>
        <p:spPr>
          <a:xfrm>
            <a:off x="502920" y="1810512"/>
            <a:ext cx="164592" cy="274320"/>
          </a:xfrm>
          <a:prstGeom prst="roundRect">
            <a:avLst>
              <a:gd name="adj" fmla="val 22222"/>
            </a:avLst>
          </a:prstGeom>
          <a:solidFill>
            <a:srgbClr val="E8A33D"/>
          </a:solidFill>
          <a:ln/>
        </p:spPr>
      </p:sp>
      <p:sp>
        <p:nvSpPr>
          <p:cNvPr id="6" name="Text 4"/>
          <p:cNvSpPr/>
          <p:nvPr/>
        </p:nvSpPr>
        <p:spPr>
          <a:xfrm>
            <a:off x="758952" y="1783080"/>
            <a:ext cx="4315968" cy="329184"/>
          </a:xfrm>
          <a:prstGeom prst="rect">
            <a:avLst/>
          </a:prstGeom>
          <a:noFill/>
          <a:ln/>
        </p:spPr>
        <p:txBody>
          <a:bodyPr wrap="square" rtlCol="0" anchor="ctr"/>
          <a:lstStyle/>
          <a:p>
            <a:pPr marL="0" indent="0">
              <a:buNone/>
            </a:pPr>
            <a:r>
              <a:rPr lang="en-US" sz="1300" b="1" kern="0" spc="50" dirty="0">
                <a:solidFill>
                  <a:srgbClr val="1B2340"/>
                </a:solidFill>
                <a:latin typeface="Calibri" pitchFamily="34" charset="0"/>
                <a:ea typeface="Calibri" pitchFamily="34" charset="-122"/>
                <a:cs typeface="Calibri" pitchFamily="34" charset="-120"/>
              </a:rPr>
              <a:t>DEFINITION / CONCEPT</a:t>
            </a:r>
            <a:endParaRPr lang="en-US" sz="1300" dirty="0"/>
          </a:p>
        </p:txBody>
      </p:sp>
      <p:sp>
        <p:nvSpPr>
          <p:cNvPr id="7" name="Shape 5"/>
          <p:cNvSpPr/>
          <p:nvPr/>
        </p:nvSpPr>
        <p:spPr>
          <a:xfrm>
            <a:off x="502920" y="2121408"/>
            <a:ext cx="11201400" cy="914400"/>
          </a:xfrm>
          <a:prstGeom prst="roundRect">
            <a:avLst>
              <a:gd name="adj" fmla="val 8000"/>
            </a:avLst>
          </a:prstGeom>
          <a:solidFill>
            <a:srgbClr val="F7F7FA"/>
          </a:solidFill>
          <a:ln w="12700">
            <a:solidFill>
              <a:srgbClr val="E4E6EF"/>
            </a:solidFill>
            <a:prstDash val="solid"/>
          </a:ln>
        </p:spPr>
      </p:sp>
      <p:sp>
        <p:nvSpPr>
          <p:cNvPr id="8" name="Text 6"/>
          <p:cNvSpPr/>
          <p:nvPr/>
        </p:nvSpPr>
        <p:spPr>
          <a:xfrm>
            <a:off x="758952" y="2304288"/>
            <a:ext cx="10689336" cy="548640"/>
          </a:xfrm>
          <a:prstGeom prst="rect">
            <a:avLst/>
          </a:prstGeom>
          <a:noFill/>
          <a:ln/>
        </p:spPr>
        <p:txBody>
          <a:bodyPr wrap="square" lIns="0" tIns="0" rIns="0" bIns="0" rtlCol="0" anchor="t"/>
          <a:lstStyle/>
          <a:p>
            <a:pPr marL="0" indent="0">
              <a:lnSpc>
                <a:spcPct val="115000"/>
              </a:lnSpc>
              <a:buNone/>
            </a:pPr>
            <a:r>
              <a:rPr lang="en-US" sz="1450" dirty="0">
                <a:solidFill>
                  <a:srgbClr val="1B2340"/>
                </a:solidFill>
                <a:latin typeface="Calibri" pitchFamily="34" charset="0"/>
                <a:ea typeface="Calibri" pitchFamily="34" charset="-122"/>
                <a:cs typeface="Calibri" pitchFamily="34" charset="-120"/>
              </a:rPr>
              <a:t>Spring Boot is a framework built on top of Spring that simplifies application setup with auto-configuration, an embedded server, and minimal manual configuration.</a:t>
            </a:r>
            <a:endParaRPr lang="en-US" sz="1450" dirty="0"/>
          </a:p>
        </p:txBody>
      </p:sp>
      <p:sp>
        <p:nvSpPr>
          <p:cNvPr id="9" name="Shape 7"/>
          <p:cNvSpPr/>
          <p:nvPr/>
        </p:nvSpPr>
        <p:spPr>
          <a:xfrm>
            <a:off x="502920" y="3200400"/>
            <a:ext cx="164592" cy="274320"/>
          </a:xfrm>
          <a:prstGeom prst="roundRect">
            <a:avLst>
              <a:gd name="adj" fmla="val 22222"/>
            </a:avLst>
          </a:prstGeom>
          <a:solidFill>
            <a:srgbClr val="3FBFAE"/>
          </a:solidFill>
          <a:ln/>
        </p:spPr>
      </p:sp>
      <p:sp>
        <p:nvSpPr>
          <p:cNvPr id="10" name="Text 8"/>
          <p:cNvSpPr/>
          <p:nvPr/>
        </p:nvSpPr>
        <p:spPr>
          <a:xfrm>
            <a:off x="758952" y="3172968"/>
            <a:ext cx="4315968" cy="329184"/>
          </a:xfrm>
          <a:prstGeom prst="rect">
            <a:avLst/>
          </a:prstGeom>
          <a:noFill/>
          <a:ln/>
        </p:spPr>
        <p:txBody>
          <a:bodyPr wrap="square" rtlCol="0" anchor="ctr"/>
          <a:lstStyle/>
          <a:p>
            <a:pPr marL="0" indent="0">
              <a:buNone/>
            </a:pPr>
            <a:r>
              <a:rPr lang="en-US" sz="1300" b="1" kern="0" spc="50" dirty="0">
                <a:solidFill>
                  <a:srgbClr val="1B2340"/>
                </a:solidFill>
                <a:latin typeface="Calibri" pitchFamily="34" charset="0"/>
                <a:ea typeface="Calibri" pitchFamily="34" charset="-122"/>
                <a:cs typeface="Calibri" pitchFamily="34" charset="-120"/>
              </a:rPr>
              <a:t>EXPLANATION</a:t>
            </a:r>
            <a:endParaRPr lang="en-US" sz="1300" dirty="0"/>
          </a:p>
        </p:txBody>
      </p:sp>
      <p:sp>
        <p:nvSpPr>
          <p:cNvPr id="11" name="Text 9"/>
          <p:cNvSpPr/>
          <p:nvPr/>
        </p:nvSpPr>
        <p:spPr>
          <a:xfrm>
            <a:off x="502920" y="3529584"/>
            <a:ext cx="6858000" cy="2331720"/>
          </a:xfrm>
          <a:prstGeom prst="rect">
            <a:avLst/>
          </a:prstGeom>
          <a:noFill/>
          <a:ln/>
        </p:spPr>
        <p:txBody>
          <a:bodyPr wrap="square" lIns="0" tIns="0" rIns="0" bIns="0" rtlCol="0" anchor="t"/>
          <a:lstStyle/>
          <a:p>
            <a:pPr marL="177800" indent="-177800">
              <a:spcAft>
                <a:spcPts val="800"/>
              </a:spcAft>
              <a:buSzPct val="100000"/>
              <a:buChar char="•"/>
            </a:pPr>
            <a:r>
              <a:rPr lang="en-US" sz="1300" dirty="0">
                <a:solidFill>
                  <a:srgbClr val="1B2340"/>
                </a:solidFill>
                <a:latin typeface="Calibri" pitchFamily="34" charset="0"/>
                <a:ea typeface="Calibri" pitchFamily="34" charset="-122"/>
                <a:cs typeface="Calibri" pitchFamily="34" charset="-120"/>
              </a:rPr>
              <a:t>Spring MVC needs manual configuration of servers, dependencies, and XML files</a:t>
            </a:r>
            <a:endParaRPr lang="en-US" sz="1300" dirty="0"/>
          </a:p>
          <a:p>
            <a:pPr marL="177800" indent="-177800">
              <a:spcAft>
                <a:spcPts val="800"/>
              </a:spcAft>
              <a:buSzPct val="100000"/>
              <a:buChar char="•"/>
            </a:pPr>
            <a:r>
              <a:rPr lang="en-US" sz="1300" dirty="0">
                <a:solidFill>
                  <a:srgbClr val="1B2340"/>
                </a:solidFill>
                <a:latin typeface="Calibri" pitchFamily="34" charset="0"/>
                <a:ea typeface="Calibri" pitchFamily="34" charset="-122"/>
                <a:cs typeface="Calibri" pitchFamily="34" charset="-120"/>
              </a:rPr>
              <a:t>Spring Boot auto-configures most of this and ships with an embedded server (like Tomcat)</a:t>
            </a:r>
            <a:endParaRPr lang="en-US" sz="1300" dirty="0"/>
          </a:p>
          <a:p>
            <a:pPr marL="177800" indent="-177800">
              <a:spcAft>
                <a:spcPts val="800"/>
              </a:spcAft>
              <a:buSzPct val="100000"/>
              <a:buChar char="•"/>
            </a:pPr>
            <a:r>
              <a:rPr lang="en-US" sz="1300" dirty="0">
                <a:solidFill>
                  <a:srgbClr val="1B2340"/>
                </a:solidFill>
                <a:latin typeface="Calibri" pitchFamily="34" charset="0"/>
                <a:ea typeface="Calibri" pitchFamily="34" charset="-122"/>
                <a:cs typeface="Calibri" pitchFamily="34" charset="-120"/>
              </a:rPr>
              <a:t>Spring Boot follows 'convention over configuration' for faster development</a:t>
            </a:r>
            <a:endParaRPr lang="en-US" sz="1300" dirty="0"/>
          </a:p>
          <a:p>
            <a:pPr marL="177800" indent="-177800">
              <a:spcAft>
                <a:spcPts val="800"/>
              </a:spcAft>
              <a:buSzPct val="100000"/>
              <a:buChar char="•"/>
            </a:pPr>
            <a:r>
              <a:rPr lang="en-US" sz="1300" dirty="0">
                <a:solidFill>
                  <a:srgbClr val="1B2340"/>
                </a:solidFill>
                <a:latin typeface="Calibri" pitchFamily="34" charset="0"/>
                <a:ea typeface="Calibri" pitchFamily="34" charset="-122"/>
                <a:cs typeface="Calibri" pitchFamily="34" charset="-120"/>
              </a:rPr>
              <a:t>Spring Boot is ideal for building microservices quickly</a:t>
            </a:r>
            <a:endParaRPr lang="en-US" sz="1300" dirty="0"/>
          </a:p>
        </p:txBody>
      </p:sp>
      <p:sp>
        <p:nvSpPr>
          <p:cNvPr id="12" name="Shape 10"/>
          <p:cNvSpPr/>
          <p:nvPr/>
        </p:nvSpPr>
        <p:spPr>
          <a:xfrm>
            <a:off x="7589520" y="3200400"/>
            <a:ext cx="4114800" cy="2194560"/>
          </a:xfrm>
          <a:prstGeom prst="roundRect">
            <a:avLst>
              <a:gd name="adj" fmla="val 3333"/>
            </a:avLst>
          </a:prstGeom>
          <a:solidFill>
            <a:srgbClr val="FDF3E3"/>
          </a:solidFill>
          <a:ln/>
        </p:spPr>
      </p:sp>
      <p:sp>
        <p:nvSpPr>
          <p:cNvPr id="13" name="Text 11"/>
          <p:cNvSpPr/>
          <p:nvPr/>
        </p:nvSpPr>
        <p:spPr>
          <a:xfrm>
            <a:off x="7790688" y="3310128"/>
            <a:ext cx="3712464" cy="274320"/>
          </a:xfrm>
          <a:prstGeom prst="rect">
            <a:avLst/>
          </a:prstGeom>
          <a:noFill/>
          <a:ln/>
        </p:spPr>
        <p:txBody>
          <a:bodyPr wrap="square" rtlCol="0" anchor="ctr"/>
          <a:lstStyle/>
          <a:p>
            <a:pPr marL="0" indent="0">
              <a:buNone/>
            </a:pPr>
            <a:r>
              <a:rPr lang="en-US" sz="1100" b="1" kern="0" spc="50" dirty="0">
                <a:solidFill>
                  <a:srgbClr val="C9862A"/>
                </a:solidFill>
                <a:latin typeface="Calibri" pitchFamily="34" charset="0"/>
                <a:ea typeface="Calibri" pitchFamily="34" charset="-122"/>
                <a:cs typeface="Calibri" pitchFamily="34" charset="-120"/>
              </a:rPr>
              <a:t>💡 REAL-LIFE ANALOGY</a:t>
            </a:r>
            <a:endParaRPr lang="en-US" sz="1100" dirty="0"/>
          </a:p>
        </p:txBody>
      </p:sp>
      <p:sp>
        <p:nvSpPr>
          <p:cNvPr id="14" name="Text 12"/>
          <p:cNvSpPr/>
          <p:nvPr/>
        </p:nvSpPr>
        <p:spPr>
          <a:xfrm>
            <a:off x="7790688" y="3602736"/>
            <a:ext cx="3712464" cy="1664208"/>
          </a:xfrm>
          <a:prstGeom prst="rect">
            <a:avLst/>
          </a:prstGeom>
          <a:noFill/>
          <a:ln/>
        </p:spPr>
        <p:txBody>
          <a:bodyPr wrap="square" lIns="0" tIns="0" rIns="0" bIns="0" rtlCol="0" anchor="t"/>
          <a:lstStyle/>
          <a:p>
            <a:pPr marL="0" indent="0">
              <a:lnSpc>
                <a:spcPct val="110000"/>
              </a:lnSpc>
              <a:buNone/>
            </a:pPr>
            <a:r>
              <a:rPr lang="en-US" sz="1250" i="1" dirty="0">
                <a:solidFill>
                  <a:srgbClr val="1B2340"/>
                </a:solidFill>
                <a:latin typeface="Calibri" pitchFamily="34" charset="0"/>
                <a:ea typeface="Calibri" pitchFamily="34" charset="-122"/>
                <a:cs typeface="Calibri" pitchFamily="34" charset="-120"/>
              </a:rPr>
              <a:t>Traditional Spring MVC is like building a house brick by brick, deciding every wire and pipe yourself. Spring Boot is like moving into a fully furnished, pre-wired smart home - you just customize what you need.</a:t>
            </a:r>
            <a:endParaRPr lang="en-US" sz="1250" dirty="0"/>
          </a:p>
        </p:txBody>
      </p:sp>
      <p:sp>
        <p:nvSpPr>
          <p:cNvPr id="15" name="Shape 13"/>
          <p:cNvSpPr/>
          <p:nvPr/>
        </p:nvSpPr>
        <p:spPr>
          <a:xfrm>
            <a:off x="502920" y="5870448"/>
            <a:ext cx="11201400" cy="603504"/>
          </a:xfrm>
          <a:prstGeom prst="roundRect">
            <a:avLst>
              <a:gd name="adj" fmla="val 12121"/>
            </a:avLst>
          </a:prstGeom>
          <a:solidFill>
            <a:srgbClr val="1B2340"/>
          </a:solidFill>
          <a:ln/>
        </p:spPr>
      </p:sp>
      <p:sp>
        <p:nvSpPr>
          <p:cNvPr id="16" name="Text 14"/>
          <p:cNvSpPr/>
          <p:nvPr/>
        </p:nvSpPr>
        <p:spPr>
          <a:xfrm>
            <a:off x="731520" y="5961888"/>
            <a:ext cx="10744200" cy="256032"/>
          </a:xfrm>
          <a:prstGeom prst="rect">
            <a:avLst/>
          </a:prstGeom>
          <a:noFill/>
          <a:ln/>
        </p:spPr>
        <p:txBody>
          <a:bodyPr wrap="square" rtlCol="0" anchor="ctr"/>
          <a:lstStyle/>
          <a:p>
            <a:pPr marL="0" indent="0">
              <a:buNone/>
            </a:pPr>
            <a:r>
              <a:rPr lang="en-US" sz="1050" b="1" kern="0" spc="80" dirty="0">
                <a:solidFill>
                  <a:srgbClr val="E8A33D"/>
                </a:solidFill>
                <a:latin typeface="Calibri" pitchFamily="34" charset="0"/>
                <a:ea typeface="Calibri" pitchFamily="34" charset="-122"/>
                <a:cs typeface="Calibri" pitchFamily="34" charset="-120"/>
              </a:rPr>
              <a:t>ONE-LINE INTERVIEW ANSWER</a:t>
            </a:r>
            <a:endParaRPr lang="en-US" sz="1050" dirty="0"/>
          </a:p>
        </p:txBody>
      </p:sp>
      <p:sp>
        <p:nvSpPr>
          <p:cNvPr id="17" name="Text 15"/>
          <p:cNvSpPr/>
          <p:nvPr/>
        </p:nvSpPr>
        <p:spPr>
          <a:xfrm>
            <a:off x="731520" y="6217920"/>
            <a:ext cx="10744200" cy="146304"/>
          </a:xfrm>
          <a:prstGeom prst="rect">
            <a:avLst/>
          </a:prstGeom>
          <a:noFill/>
          <a:ln/>
        </p:spPr>
        <p:txBody>
          <a:bodyPr wrap="square" lIns="0" tIns="0" rIns="0" bIns="0" rtlCol="0" anchor="t"/>
          <a:lstStyle/>
          <a:p>
            <a:pPr marL="0" indent="0">
              <a:lnSpc>
                <a:spcPct val="105000"/>
              </a:lnSpc>
              <a:buNone/>
            </a:pPr>
            <a:r>
              <a:rPr lang="en-US" sz="1250" dirty="0">
                <a:solidFill>
                  <a:srgbClr val="FFFFFF"/>
                </a:solidFill>
                <a:latin typeface="Calibri" pitchFamily="34" charset="0"/>
                <a:ea typeface="Calibri" pitchFamily="34" charset="-122"/>
                <a:cs typeface="Calibri" pitchFamily="34" charset="-120"/>
              </a:rPr>
              <a:t>Spring Boot simplifies Spring MVC development with auto-configuration and an embedded server, letting developers focus on business logic.</a:t>
            </a:r>
            <a:endParaRPr lang="en-US" sz="1250" dirty="0"/>
          </a:p>
        </p:txBody>
      </p:sp>
      <p:sp>
        <p:nvSpPr>
          <p:cNvPr id="18" name="Text 16"/>
          <p:cNvSpPr/>
          <p:nvPr/>
        </p:nvSpPr>
        <p:spPr>
          <a:xfrm>
            <a:off x="457200" y="6583680"/>
            <a:ext cx="5486400" cy="228600"/>
          </a:xfrm>
          <a:prstGeom prst="rect">
            <a:avLst/>
          </a:prstGeom>
          <a:noFill/>
          <a:ln/>
        </p:spPr>
        <p:txBody>
          <a:bodyPr wrap="square" rtlCol="0" anchor="ctr"/>
          <a:lstStyle/>
          <a:p>
            <a:pPr marL="0" indent="0" algn="l">
              <a:buNone/>
            </a:pPr>
            <a:r>
              <a:rPr lang="en-US" sz="850" dirty="0">
                <a:solidFill>
                  <a:srgbClr val="5B6178"/>
                </a:solidFill>
                <a:latin typeface="Calibri" pitchFamily="34" charset="0"/>
                <a:ea typeface="Calibri" pitchFamily="34" charset="-122"/>
                <a:cs typeface="Calibri" pitchFamily="34" charset="-120"/>
              </a:rPr>
              <a:t>Java &amp; Full-Stack Interview Prep</a:t>
            </a:r>
            <a:endParaRPr lang="en-US" sz="8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Shape 0"/>
          <p:cNvSpPr/>
          <p:nvPr/>
        </p:nvSpPr>
        <p:spPr>
          <a:xfrm>
            <a:off x="502920" y="384048"/>
            <a:ext cx="5084064" cy="310896"/>
          </a:xfrm>
          <a:prstGeom prst="roundRect">
            <a:avLst>
              <a:gd name="adj" fmla="val 23529"/>
            </a:avLst>
          </a:prstGeom>
          <a:solidFill>
            <a:srgbClr val="E8A33D"/>
          </a:solidFill>
          <a:ln/>
        </p:spPr>
      </p:sp>
      <p:sp>
        <p:nvSpPr>
          <p:cNvPr id="3" name="Text 1"/>
          <p:cNvSpPr/>
          <p:nvPr/>
        </p:nvSpPr>
        <p:spPr>
          <a:xfrm>
            <a:off x="502920" y="384048"/>
            <a:ext cx="5084064" cy="310896"/>
          </a:xfrm>
          <a:prstGeom prst="rect">
            <a:avLst/>
          </a:prstGeom>
          <a:noFill/>
          <a:ln/>
        </p:spPr>
        <p:txBody>
          <a:bodyPr wrap="square" rtlCol="0" anchor="ctr"/>
          <a:lstStyle/>
          <a:p>
            <a:pPr marL="0" indent="0" algn="ctr">
              <a:buNone/>
            </a:pPr>
            <a:r>
              <a:rPr lang="en-US" sz="1100" b="1" kern="0" spc="100" dirty="0">
                <a:solidFill>
                  <a:srgbClr val="1B2340"/>
                </a:solidFill>
                <a:latin typeface="Calibri" pitchFamily="34" charset="0"/>
                <a:ea typeface="Calibri" pitchFamily="34" charset="-122"/>
                <a:cs typeface="Calibri" pitchFamily="34" charset="-120"/>
              </a:rPr>
              <a:t>SPRING BOOT &amp; REST APIS</a:t>
            </a:r>
            <a:endParaRPr lang="en-US" sz="1100" dirty="0"/>
          </a:p>
        </p:txBody>
      </p:sp>
      <p:sp>
        <p:nvSpPr>
          <p:cNvPr id="4" name="Text 2"/>
          <p:cNvSpPr/>
          <p:nvPr/>
        </p:nvSpPr>
        <p:spPr>
          <a:xfrm>
            <a:off x="502920" y="786384"/>
            <a:ext cx="11155680" cy="868680"/>
          </a:xfrm>
          <a:prstGeom prst="rect">
            <a:avLst/>
          </a:prstGeom>
          <a:noFill/>
          <a:ln/>
        </p:spPr>
        <p:txBody>
          <a:bodyPr wrap="square" rtlCol="0" anchor="t"/>
          <a:lstStyle/>
          <a:p>
            <a:pPr marL="0" indent="0">
              <a:lnSpc>
                <a:spcPct val="102000"/>
              </a:lnSpc>
              <a:buNone/>
            </a:pPr>
            <a:r>
              <a:rPr lang="en-US" sz="2500" b="1" dirty="0">
                <a:solidFill>
                  <a:srgbClr val="1B2340"/>
                </a:solidFill>
                <a:latin typeface="Century Schoolbook" pitchFamily="34" charset="0"/>
                <a:ea typeface="Century Schoolbook" pitchFamily="34" charset="-122"/>
                <a:cs typeface="Century Schoolbook" pitchFamily="34" charset="-120"/>
              </a:rPr>
              <a:t>Difference between @Controller and @RestController.</a:t>
            </a:r>
            <a:endParaRPr lang="en-US" sz="2500" dirty="0"/>
          </a:p>
        </p:txBody>
      </p:sp>
      <p:sp>
        <p:nvSpPr>
          <p:cNvPr id="5" name="Shape 3"/>
          <p:cNvSpPr/>
          <p:nvPr/>
        </p:nvSpPr>
        <p:spPr>
          <a:xfrm>
            <a:off x="502920" y="1810512"/>
            <a:ext cx="164592" cy="274320"/>
          </a:xfrm>
          <a:prstGeom prst="roundRect">
            <a:avLst>
              <a:gd name="adj" fmla="val 22222"/>
            </a:avLst>
          </a:prstGeom>
          <a:solidFill>
            <a:srgbClr val="E8A33D"/>
          </a:solidFill>
          <a:ln/>
        </p:spPr>
      </p:sp>
      <p:sp>
        <p:nvSpPr>
          <p:cNvPr id="6" name="Text 4"/>
          <p:cNvSpPr/>
          <p:nvPr/>
        </p:nvSpPr>
        <p:spPr>
          <a:xfrm>
            <a:off x="758952" y="1783080"/>
            <a:ext cx="4681728" cy="329184"/>
          </a:xfrm>
          <a:prstGeom prst="rect">
            <a:avLst/>
          </a:prstGeom>
          <a:noFill/>
          <a:ln/>
        </p:spPr>
        <p:txBody>
          <a:bodyPr wrap="square" rtlCol="0" anchor="ctr"/>
          <a:lstStyle/>
          <a:p>
            <a:pPr marL="0" indent="0">
              <a:buNone/>
            </a:pPr>
            <a:r>
              <a:rPr lang="en-US" sz="1300" b="1" kern="0" spc="50" dirty="0">
                <a:solidFill>
                  <a:srgbClr val="1B2340"/>
                </a:solidFill>
                <a:latin typeface="Calibri" pitchFamily="34" charset="0"/>
                <a:ea typeface="Calibri" pitchFamily="34" charset="-122"/>
                <a:cs typeface="Calibri" pitchFamily="34" charset="-120"/>
              </a:rPr>
              <a:t>DEFINITION / CONCEPT</a:t>
            </a:r>
            <a:endParaRPr lang="en-US" sz="1300" dirty="0"/>
          </a:p>
        </p:txBody>
      </p:sp>
      <p:sp>
        <p:nvSpPr>
          <p:cNvPr id="7" name="Shape 5"/>
          <p:cNvSpPr/>
          <p:nvPr/>
        </p:nvSpPr>
        <p:spPr>
          <a:xfrm>
            <a:off x="502920" y="2121408"/>
            <a:ext cx="4937760" cy="1234440"/>
          </a:xfrm>
          <a:prstGeom prst="roundRect">
            <a:avLst>
              <a:gd name="adj" fmla="val 5926"/>
            </a:avLst>
          </a:prstGeom>
          <a:solidFill>
            <a:srgbClr val="F7F7FA"/>
          </a:solidFill>
          <a:ln w="12700">
            <a:solidFill>
              <a:srgbClr val="E4E6EF"/>
            </a:solidFill>
            <a:prstDash val="solid"/>
          </a:ln>
        </p:spPr>
      </p:sp>
      <p:sp>
        <p:nvSpPr>
          <p:cNvPr id="8" name="Text 6"/>
          <p:cNvSpPr/>
          <p:nvPr/>
        </p:nvSpPr>
        <p:spPr>
          <a:xfrm>
            <a:off x="758952" y="2304288"/>
            <a:ext cx="4425696" cy="868680"/>
          </a:xfrm>
          <a:prstGeom prst="rect">
            <a:avLst/>
          </a:prstGeom>
          <a:noFill/>
          <a:ln/>
        </p:spPr>
        <p:txBody>
          <a:bodyPr wrap="square" lIns="0" tIns="0" rIns="0" bIns="0" rtlCol="0" anchor="t"/>
          <a:lstStyle/>
          <a:p>
            <a:pPr marL="0" indent="0">
              <a:lnSpc>
                <a:spcPct val="115000"/>
              </a:lnSpc>
              <a:buNone/>
            </a:pPr>
            <a:r>
              <a:rPr lang="en-US" sz="1450" dirty="0">
                <a:solidFill>
                  <a:srgbClr val="1B2340"/>
                </a:solidFill>
                <a:latin typeface="Calibri" pitchFamily="34" charset="0"/>
                <a:ea typeface="Calibri" pitchFamily="34" charset="-122"/>
                <a:cs typeface="Calibri" pitchFamily="34" charset="-120"/>
              </a:rPr>
              <a:t>Both are Spring annotations used to mark a class as handling web requests, but they return different kinds of responses.</a:t>
            </a:r>
            <a:endParaRPr lang="en-US" sz="1450" dirty="0"/>
          </a:p>
        </p:txBody>
      </p:sp>
      <p:sp>
        <p:nvSpPr>
          <p:cNvPr id="9" name="Shape 7"/>
          <p:cNvSpPr/>
          <p:nvPr/>
        </p:nvSpPr>
        <p:spPr>
          <a:xfrm>
            <a:off x="502920" y="3493008"/>
            <a:ext cx="4937760" cy="1554480"/>
          </a:xfrm>
          <a:prstGeom prst="roundRect">
            <a:avLst>
              <a:gd name="adj" fmla="val 4706"/>
            </a:avLst>
          </a:prstGeom>
          <a:solidFill>
            <a:srgbClr val="FDF3E3"/>
          </a:solidFill>
          <a:ln/>
        </p:spPr>
      </p:sp>
      <p:sp>
        <p:nvSpPr>
          <p:cNvPr id="10" name="Text 8"/>
          <p:cNvSpPr/>
          <p:nvPr/>
        </p:nvSpPr>
        <p:spPr>
          <a:xfrm>
            <a:off x="704088" y="3602736"/>
            <a:ext cx="4535424" cy="274320"/>
          </a:xfrm>
          <a:prstGeom prst="rect">
            <a:avLst/>
          </a:prstGeom>
          <a:noFill/>
          <a:ln/>
        </p:spPr>
        <p:txBody>
          <a:bodyPr wrap="square" rtlCol="0" anchor="ctr"/>
          <a:lstStyle/>
          <a:p>
            <a:pPr marL="0" indent="0">
              <a:buNone/>
            </a:pPr>
            <a:r>
              <a:rPr lang="en-US" sz="1100" b="1" kern="0" spc="50" dirty="0">
                <a:solidFill>
                  <a:srgbClr val="C9862A"/>
                </a:solidFill>
                <a:latin typeface="Calibri" pitchFamily="34" charset="0"/>
                <a:ea typeface="Calibri" pitchFamily="34" charset="-122"/>
                <a:cs typeface="Calibri" pitchFamily="34" charset="-120"/>
              </a:rPr>
              <a:t>💡 REAL-LIFE ANALOGY</a:t>
            </a:r>
            <a:endParaRPr lang="en-US" sz="1100" dirty="0"/>
          </a:p>
        </p:txBody>
      </p:sp>
      <p:sp>
        <p:nvSpPr>
          <p:cNvPr id="11" name="Text 9"/>
          <p:cNvSpPr/>
          <p:nvPr/>
        </p:nvSpPr>
        <p:spPr>
          <a:xfrm>
            <a:off x="704088" y="3895344"/>
            <a:ext cx="4535424" cy="1024128"/>
          </a:xfrm>
          <a:prstGeom prst="rect">
            <a:avLst/>
          </a:prstGeom>
          <a:noFill/>
          <a:ln/>
        </p:spPr>
        <p:txBody>
          <a:bodyPr wrap="square" lIns="0" tIns="0" rIns="0" bIns="0" rtlCol="0" anchor="t"/>
          <a:lstStyle/>
          <a:p>
            <a:pPr marL="0" indent="0">
              <a:lnSpc>
                <a:spcPct val="110000"/>
              </a:lnSpc>
              <a:buNone/>
            </a:pPr>
            <a:r>
              <a:rPr lang="en-US" sz="1250" i="1" dirty="0">
                <a:solidFill>
                  <a:srgbClr val="1B2340"/>
                </a:solidFill>
                <a:latin typeface="Calibri" pitchFamily="34" charset="0"/>
                <a:ea typeface="Calibri" pitchFamily="34" charset="-122"/>
                <a:cs typeface="Calibri" pitchFamily="34" charset="-120"/>
              </a:rPr>
              <a:t>@Controller is like a waiter handing you a full plated dish (an HTML page). @RestController is like a waiter directly handing you the raw ingredients (JSON data) for you to use as needed.</a:t>
            </a:r>
            <a:endParaRPr lang="en-US" sz="1250" dirty="0"/>
          </a:p>
        </p:txBody>
      </p:sp>
      <p:sp>
        <p:nvSpPr>
          <p:cNvPr id="12" name="Shape 10"/>
          <p:cNvSpPr/>
          <p:nvPr/>
        </p:nvSpPr>
        <p:spPr>
          <a:xfrm>
            <a:off x="502920" y="5193792"/>
            <a:ext cx="4937760" cy="1051560"/>
          </a:xfrm>
          <a:prstGeom prst="roundRect">
            <a:avLst>
              <a:gd name="adj" fmla="val 6957"/>
            </a:avLst>
          </a:prstGeom>
          <a:solidFill>
            <a:srgbClr val="1B2340"/>
          </a:solidFill>
          <a:ln/>
        </p:spPr>
      </p:sp>
      <p:sp>
        <p:nvSpPr>
          <p:cNvPr id="13" name="Text 11"/>
          <p:cNvSpPr/>
          <p:nvPr/>
        </p:nvSpPr>
        <p:spPr>
          <a:xfrm>
            <a:off x="731520" y="5285232"/>
            <a:ext cx="4480560" cy="256032"/>
          </a:xfrm>
          <a:prstGeom prst="rect">
            <a:avLst/>
          </a:prstGeom>
          <a:noFill/>
          <a:ln/>
        </p:spPr>
        <p:txBody>
          <a:bodyPr wrap="square" rtlCol="0" anchor="ctr"/>
          <a:lstStyle/>
          <a:p>
            <a:pPr marL="0" indent="0">
              <a:buNone/>
            </a:pPr>
            <a:r>
              <a:rPr lang="en-US" sz="1050" b="1" kern="0" spc="80" dirty="0">
                <a:solidFill>
                  <a:srgbClr val="E8A33D"/>
                </a:solidFill>
                <a:latin typeface="Calibri" pitchFamily="34" charset="0"/>
                <a:ea typeface="Calibri" pitchFamily="34" charset="-122"/>
                <a:cs typeface="Calibri" pitchFamily="34" charset="-120"/>
              </a:rPr>
              <a:t>ONE-LINE INTERVIEW ANSWER</a:t>
            </a:r>
            <a:endParaRPr lang="en-US" sz="1050" dirty="0"/>
          </a:p>
        </p:txBody>
      </p:sp>
      <p:sp>
        <p:nvSpPr>
          <p:cNvPr id="14" name="Text 12"/>
          <p:cNvSpPr/>
          <p:nvPr/>
        </p:nvSpPr>
        <p:spPr>
          <a:xfrm>
            <a:off x="731520" y="5541264"/>
            <a:ext cx="4480560" cy="594360"/>
          </a:xfrm>
          <a:prstGeom prst="rect">
            <a:avLst/>
          </a:prstGeom>
          <a:noFill/>
          <a:ln/>
        </p:spPr>
        <p:txBody>
          <a:bodyPr wrap="square" lIns="0" tIns="0" rIns="0" bIns="0" rtlCol="0" anchor="t"/>
          <a:lstStyle/>
          <a:p>
            <a:pPr marL="0" indent="0">
              <a:lnSpc>
                <a:spcPct val="105000"/>
              </a:lnSpc>
              <a:buNone/>
            </a:pPr>
            <a:r>
              <a:rPr lang="en-US" sz="1250" dirty="0">
                <a:solidFill>
                  <a:srgbClr val="FFFFFF"/>
                </a:solidFill>
                <a:latin typeface="Calibri" pitchFamily="34" charset="0"/>
                <a:ea typeface="Calibri" pitchFamily="34" charset="-122"/>
                <a:cs typeface="Calibri" pitchFamily="34" charset="-120"/>
              </a:rPr>
              <a:t>@Controller returns view pages, while @RestController directly returns data (JSON) - it combines @Controller and @ResponseBody.</a:t>
            </a:r>
            <a:endParaRPr lang="en-US" sz="1250" dirty="0"/>
          </a:p>
        </p:txBody>
      </p:sp>
      <p:sp>
        <p:nvSpPr>
          <p:cNvPr id="15" name="Shape 13"/>
          <p:cNvSpPr/>
          <p:nvPr/>
        </p:nvSpPr>
        <p:spPr>
          <a:xfrm>
            <a:off x="5669280" y="1810512"/>
            <a:ext cx="164592" cy="274320"/>
          </a:xfrm>
          <a:prstGeom prst="roundRect">
            <a:avLst>
              <a:gd name="adj" fmla="val 22222"/>
            </a:avLst>
          </a:prstGeom>
          <a:solidFill>
            <a:srgbClr val="3FBFAE"/>
          </a:solidFill>
          <a:ln/>
        </p:spPr>
      </p:sp>
      <p:sp>
        <p:nvSpPr>
          <p:cNvPr id="16" name="Text 14"/>
          <p:cNvSpPr/>
          <p:nvPr/>
        </p:nvSpPr>
        <p:spPr>
          <a:xfrm>
            <a:off x="5925312" y="1783080"/>
            <a:ext cx="5779008" cy="329184"/>
          </a:xfrm>
          <a:prstGeom prst="rect">
            <a:avLst/>
          </a:prstGeom>
          <a:noFill/>
          <a:ln/>
        </p:spPr>
        <p:txBody>
          <a:bodyPr wrap="square" rtlCol="0" anchor="ctr"/>
          <a:lstStyle/>
          <a:p>
            <a:pPr marL="0" indent="0">
              <a:buNone/>
            </a:pPr>
            <a:r>
              <a:rPr lang="en-US" sz="1300" b="1" kern="0" spc="50" dirty="0">
                <a:solidFill>
                  <a:srgbClr val="1B2340"/>
                </a:solidFill>
                <a:latin typeface="Calibri" pitchFamily="34" charset="0"/>
                <a:ea typeface="Calibri" pitchFamily="34" charset="-122"/>
                <a:cs typeface="Calibri" pitchFamily="34" charset="-120"/>
              </a:rPr>
              <a:t>EXAMPLE</a:t>
            </a:r>
            <a:endParaRPr lang="en-US" sz="1300" dirty="0"/>
          </a:p>
        </p:txBody>
      </p:sp>
      <p:sp>
        <p:nvSpPr>
          <p:cNvPr id="17" name="Shape 15"/>
          <p:cNvSpPr/>
          <p:nvPr/>
        </p:nvSpPr>
        <p:spPr>
          <a:xfrm>
            <a:off x="5669280" y="2121408"/>
            <a:ext cx="6035040" cy="2156460"/>
          </a:xfrm>
          <a:prstGeom prst="roundRect">
            <a:avLst>
              <a:gd name="adj" fmla="val 3392"/>
            </a:avLst>
          </a:prstGeom>
          <a:solidFill>
            <a:srgbClr val="1E1E2E"/>
          </a:solidFill>
          <a:ln/>
        </p:spPr>
      </p:sp>
      <p:sp>
        <p:nvSpPr>
          <p:cNvPr id="18" name="Shape 16"/>
          <p:cNvSpPr/>
          <p:nvPr/>
        </p:nvSpPr>
        <p:spPr>
          <a:xfrm>
            <a:off x="5806440" y="2249424"/>
            <a:ext cx="100584" cy="100584"/>
          </a:xfrm>
          <a:prstGeom prst="ellipse">
            <a:avLst/>
          </a:prstGeom>
          <a:solidFill>
            <a:srgbClr val="FF5F56"/>
          </a:solidFill>
          <a:ln/>
        </p:spPr>
      </p:sp>
      <p:sp>
        <p:nvSpPr>
          <p:cNvPr id="19" name="Shape 17"/>
          <p:cNvSpPr/>
          <p:nvPr/>
        </p:nvSpPr>
        <p:spPr>
          <a:xfrm>
            <a:off x="5961888" y="2249424"/>
            <a:ext cx="100584" cy="100584"/>
          </a:xfrm>
          <a:prstGeom prst="ellipse">
            <a:avLst/>
          </a:prstGeom>
          <a:solidFill>
            <a:srgbClr val="FFBD2E"/>
          </a:solidFill>
          <a:ln/>
        </p:spPr>
      </p:sp>
      <p:sp>
        <p:nvSpPr>
          <p:cNvPr id="20" name="Shape 18"/>
          <p:cNvSpPr/>
          <p:nvPr/>
        </p:nvSpPr>
        <p:spPr>
          <a:xfrm>
            <a:off x="6117336" y="2249424"/>
            <a:ext cx="100584" cy="100584"/>
          </a:xfrm>
          <a:prstGeom prst="ellipse">
            <a:avLst/>
          </a:prstGeom>
          <a:solidFill>
            <a:srgbClr val="27C93F"/>
          </a:solidFill>
          <a:ln/>
        </p:spPr>
      </p:sp>
      <p:sp>
        <p:nvSpPr>
          <p:cNvPr id="21" name="Text 19"/>
          <p:cNvSpPr/>
          <p:nvPr/>
        </p:nvSpPr>
        <p:spPr>
          <a:xfrm>
            <a:off x="6309360" y="2167128"/>
            <a:ext cx="5120640" cy="274320"/>
          </a:xfrm>
          <a:prstGeom prst="rect">
            <a:avLst/>
          </a:prstGeom>
          <a:noFill/>
          <a:ln/>
        </p:spPr>
        <p:txBody>
          <a:bodyPr wrap="square" rtlCol="0" anchor="ctr"/>
          <a:lstStyle/>
          <a:p>
            <a:pPr marL="0" indent="0" algn="r">
              <a:buNone/>
            </a:pPr>
            <a:r>
              <a:rPr lang="en-US" sz="1000" dirty="0">
                <a:solidFill>
                  <a:srgbClr val="8A90AC"/>
                </a:solidFill>
                <a:latin typeface="Courier New" pitchFamily="34" charset="0"/>
                <a:ea typeface="Courier New" pitchFamily="34" charset="-122"/>
                <a:cs typeface="Courier New" pitchFamily="34" charset="-120"/>
              </a:rPr>
              <a:t>Main.java</a:t>
            </a:r>
            <a:endParaRPr lang="en-US" sz="1000" dirty="0"/>
          </a:p>
        </p:txBody>
      </p:sp>
      <p:sp>
        <p:nvSpPr>
          <p:cNvPr id="22" name="Text 20"/>
          <p:cNvSpPr/>
          <p:nvPr/>
        </p:nvSpPr>
        <p:spPr>
          <a:xfrm>
            <a:off x="5897880" y="2487168"/>
            <a:ext cx="5577840" cy="1699260"/>
          </a:xfrm>
          <a:prstGeom prst="rect">
            <a:avLst/>
          </a:prstGeom>
          <a:noFill/>
          <a:ln/>
        </p:spPr>
        <p:txBody>
          <a:bodyPr wrap="square" lIns="0" tIns="0" rIns="0" bIns="0" rtlCol="0" anchor="t"/>
          <a:lstStyle/>
          <a:p>
            <a:pPr marL="0" indent="0">
              <a:lnSpc>
                <a:spcPct val="120000"/>
              </a:lnSpc>
              <a:buNone/>
            </a:pPr>
            <a:r>
              <a:rPr lang="en-US" sz="1200" dirty="0">
                <a:solidFill>
                  <a:srgbClr val="D4D4E0"/>
                </a:solidFill>
                <a:latin typeface="Courier New" pitchFamily="34" charset="0"/>
                <a:ea typeface="Courier New" pitchFamily="34" charset="-122"/>
                <a:cs typeface="Courier New" pitchFamily="34" charset="-120"/>
              </a:rPr>
              <a:t>@RestController</a:t>
            </a:r>
            <a:endParaRPr lang="en-US" sz="1200" dirty="0"/>
          </a:p>
          <a:p>
            <a:pPr marL="0" indent="0">
              <a:lnSpc>
                <a:spcPct val="120000"/>
              </a:lnSpc>
              <a:buNone/>
            </a:pPr>
            <a:r>
              <a:rPr lang="en-US" sz="1200" dirty="0">
                <a:solidFill>
                  <a:srgbClr val="D4D4E0"/>
                </a:solidFill>
                <a:latin typeface="Courier New" pitchFamily="34" charset="0"/>
                <a:ea typeface="Courier New" pitchFamily="34" charset="-122"/>
                <a:cs typeface="Courier New" pitchFamily="34" charset="-120"/>
              </a:rPr>
              <a:t>public class UserController {</a:t>
            </a:r>
            <a:endParaRPr lang="en-US" sz="1200" dirty="0"/>
          </a:p>
          <a:p>
            <a:pPr marL="0" indent="0">
              <a:lnSpc>
                <a:spcPct val="120000"/>
              </a:lnSpc>
              <a:buNone/>
            </a:pPr>
            <a:r>
              <a:rPr lang="en-US" sz="1200" dirty="0">
                <a:solidFill>
                  <a:srgbClr val="D4D4E0"/>
                </a:solidFill>
                <a:latin typeface="Courier New" pitchFamily="34" charset="0"/>
                <a:ea typeface="Courier New" pitchFamily="34" charset="-122"/>
                <a:cs typeface="Courier New" pitchFamily="34" charset="-120"/>
              </a:rPr>
              <a:t>    @GetMapping("/users")</a:t>
            </a:r>
            <a:endParaRPr lang="en-US" sz="1200" dirty="0"/>
          </a:p>
          <a:p>
            <a:pPr marL="0" indent="0">
              <a:lnSpc>
                <a:spcPct val="120000"/>
              </a:lnSpc>
              <a:buNone/>
            </a:pPr>
            <a:r>
              <a:rPr lang="en-US" sz="1200" dirty="0">
                <a:solidFill>
                  <a:srgbClr val="D4D4E0"/>
                </a:solidFill>
                <a:latin typeface="Courier New" pitchFamily="34" charset="0"/>
                <a:ea typeface="Courier New" pitchFamily="34" charset="-122"/>
                <a:cs typeface="Courier New" pitchFamily="34" charset="-120"/>
              </a:rPr>
              <a:t>    public List&lt;User&gt; getUsers() {</a:t>
            </a:r>
            <a:endParaRPr lang="en-US" sz="1200" dirty="0"/>
          </a:p>
          <a:p>
            <a:pPr marL="0" indent="0">
              <a:lnSpc>
                <a:spcPct val="120000"/>
              </a:lnSpc>
              <a:buNone/>
            </a:pPr>
            <a:r>
              <a:rPr lang="en-US" sz="1200" dirty="0">
                <a:solidFill>
                  <a:srgbClr val="D4D4E0"/>
                </a:solidFill>
                <a:latin typeface="Courier New" pitchFamily="34" charset="0"/>
                <a:ea typeface="Courier New" pitchFamily="34" charset="-122"/>
                <a:cs typeface="Courier New" pitchFamily="34" charset="-120"/>
              </a:rPr>
              <a:t>        return userService.getAllUsers();</a:t>
            </a:r>
            <a:endParaRPr lang="en-US" sz="1200" dirty="0"/>
          </a:p>
          <a:p>
            <a:pPr marL="0" indent="0">
              <a:lnSpc>
                <a:spcPct val="120000"/>
              </a:lnSpc>
              <a:buNone/>
            </a:pPr>
            <a:r>
              <a:rPr lang="en-US" sz="1200" dirty="0">
                <a:solidFill>
                  <a:srgbClr val="D4D4E0"/>
                </a:solidFill>
                <a:latin typeface="Courier New" pitchFamily="34" charset="0"/>
                <a:ea typeface="Courier New" pitchFamily="34" charset="-122"/>
                <a:cs typeface="Courier New" pitchFamily="34" charset="-120"/>
              </a:rPr>
              <a:t>    }</a:t>
            </a:r>
            <a:endParaRPr lang="en-US" sz="1200" dirty="0"/>
          </a:p>
          <a:p>
            <a:pPr marL="0" indent="0">
              <a:lnSpc>
                <a:spcPct val="120000"/>
              </a:lnSpc>
              <a:buNone/>
            </a:pPr>
            <a:r>
              <a:rPr lang="en-US" sz="1200" dirty="0">
                <a:solidFill>
                  <a:srgbClr val="D4D4E0"/>
                </a:solidFill>
                <a:latin typeface="Courier New" pitchFamily="34" charset="0"/>
                <a:ea typeface="Courier New" pitchFamily="34" charset="-122"/>
                <a:cs typeface="Courier New" pitchFamily="34" charset="-120"/>
              </a:rPr>
              <a:t>}</a:t>
            </a:r>
            <a:endParaRPr lang="en-US" sz="1200" dirty="0"/>
          </a:p>
        </p:txBody>
      </p:sp>
      <p:sp>
        <p:nvSpPr>
          <p:cNvPr id="23" name="Shape 21"/>
          <p:cNvSpPr/>
          <p:nvPr/>
        </p:nvSpPr>
        <p:spPr>
          <a:xfrm>
            <a:off x="5669280" y="4442460"/>
            <a:ext cx="164592" cy="274320"/>
          </a:xfrm>
          <a:prstGeom prst="roundRect">
            <a:avLst>
              <a:gd name="adj" fmla="val 22222"/>
            </a:avLst>
          </a:prstGeom>
          <a:solidFill>
            <a:srgbClr val="3FBFAE"/>
          </a:solidFill>
          <a:ln/>
        </p:spPr>
      </p:sp>
      <p:sp>
        <p:nvSpPr>
          <p:cNvPr id="24" name="Text 22"/>
          <p:cNvSpPr/>
          <p:nvPr/>
        </p:nvSpPr>
        <p:spPr>
          <a:xfrm>
            <a:off x="5925312" y="4415028"/>
            <a:ext cx="5779008" cy="329184"/>
          </a:xfrm>
          <a:prstGeom prst="rect">
            <a:avLst/>
          </a:prstGeom>
          <a:noFill/>
          <a:ln/>
        </p:spPr>
        <p:txBody>
          <a:bodyPr wrap="square" rtlCol="0" anchor="ctr"/>
          <a:lstStyle/>
          <a:p>
            <a:pPr marL="0" indent="0">
              <a:buNone/>
            </a:pPr>
            <a:r>
              <a:rPr lang="en-US" sz="1300" b="1" kern="0" spc="50" dirty="0">
                <a:solidFill>
                  <a:srgbClr val="1B2340"/>
                </a:solidFill>
                <a:latin typeface="Calibri" pitchFamily="34" charset="0"/>
                <a:ea typeface="Calibri" pitchFamily="34" charset="-122"/>
                <a:cs typeface="Calibri" pitchFamily="34" charset="-120"/>
              </a:rPr>
              <a:t>EXPLANATION</a:t>
            </a:r>
            <a:endParaRPr lang="en-US" sz="1300" dirty="0"/>
          </a:p>
        </p:txBody>
      </p:sp>
      <p:sp>
        <p:nvSpPr>
          <p:cNvPr id="25" name="Text 23"/>
          <p:cNvSpPr/>
          <p:nvPr/>
        </p:nvSpPr>
        <p:spPr>
          <a:xfrm>
            <a:off x="5669280" y="4771644"/>
            <a:ext cx="6035040" cy="1629156"/>
          </a:xfrm>
          <a:prstGeom prst="rect">
            <a:avLst/>
          </a:prstGeom>
          <a:noFill/>
          <a:ln/>
        </p:spPr>
        <p:txBody>
          <a:bodyPr wrap="square" lIns="0" tIns="0" rIns="0" bIns="0" rtlCol="0" anchor="t"/>
          <a:lstStyle/>
          <a:p>
            <a:pPr marL="177800" indent="-177800">
              <a:spcAft>
                <a:spcPts val="600"/>
              </a:spcAft>
              <a:buSzPct val="100000"/>
              <a:buChar char="•"/>
            </a:pPr>
            <a:r>
              <a:rPr lang="en-US" sz="1200" dirty="0">
                <a:solidFill>
                  <a:srgbClr val="1B2340"/>
                </a:solidFill>
                <a:latin typeface="Calibri" pitchFamily="34" charset="0"/>
                <a:ea typeface="Calibri" pitchFamily="34" charset="-122"/>
                <a:cs typeface="Calibri" pitchFamily="34" charset="-120"/>
              </a:rPr>
              <a:t>@Controller is used for traditional web apps that return HTML views (like JSP/Thymeleaf pages)</a:t>
            </a:r>
            <a:endParaRPr lang="en-US" sz="1200" dirty="0"/>
          </a:p>
          <a:p>
            <a:pPr marL="177800" indent="-177800">
              <a:spcAft>
                <a:spcPts val="600"/>
              </a:spcAft>
              <a:buSzPct val="100000"/>
              <a:buChar char="•"/>
            </a:pPr>
            <a:r>
              <a:rPr lang="en-US" sz="1200" dirty="0">
                <a:solidFill>
                  <a:srgbClr val="1B2340"/>
                </a:solidFill>
                <a:latin typeface="Calibri" pitchFamily="34" charset="0"/>
                <a:ea typeface="Calibri" pitchFamily="34" charset="-122"/>
                <a:cs typeface="Calibri" pitchFamily="34" charset="-120"/>
              </a:rPr>
              <a:t>@RestController is used for REST APIs and returns data directly (usually JSON), not a view</a:t>
            </a:r>
            <a:endParaRPr lang="en-US" sz="1200" dirty="0"/>
          </a:p>
          <a:p>
            <a:pPr marL="177800" indent="-177800">
              <a:spcAft>
                <a:spcPts val="600"/>
              </a:spcAft>
              <a:buSzPct val="100000"/>
              <a:buChar char="•"/>
            </a:pPr>
            <a:r>
              <a:rPr lang="en-US" sz="1200" dirty="0">
                <a:solidFill>
                  <a:srgbClr val="1B2340"/>
                </a:solidFill>
                <a:latin typeface="Calibri" pitchFamily="34" charset="0"/>
                <a:ea typeface="Calibri" pitchFamily="34" charset="-122"/>
                <a:cs typeface="Calibri" pitchFamily="34" charset="-120"/>
              </a:rPr>
              <a:t>@RestController = @Controller + @ResponseBody applied to every method automatically</a:t>
            </a:r>
            <a:endParaRPr lang="en-US" sz="1200" dirty="0"/>
          </a:p>
          <a:p>
            <a:pPr marL="177800" indent="-177800">
              <a:spcAft>
                <a:spcPts val="600"/>
              </a:spcAft>
              <a:buSzPct val="100000"/>
              <a:buChar char="•"/>
            </a:pPr>
            <a:r>
              <a:rPr lang="en-US" sz="1200" dirty="0">
                <a:solidFill>
                  <a:srgbClr val="1B2340"/>
                </a:solidFill>
                <a:latin typeface="Calibri" pitchFamily="34" charset="0"/>
                <a:ea typeface="Calibri" pitchFamily="34" charset="-122"/>
                <a:cs typeface="Calibri" pitchFamily="34" charset="-120"/>
              </a:rPr>
              <a:t>Most modern backend APIs use @RestController</a:t>
            </a:r>
            <a:endParaRPr lang="en-US" sz="1200" dirty="0"/>
          </a:p>
        </p:txBody>
      </p:sp>
      <p:sp>
        <p:nvSpPr>
          <p:cNvPr id="26" name="Text 24"/>
          <p:cNvSpPr/>
          <p:nvPr/>
        </p:nvSpPr>
        <p:spPr>
          <a:xfrm>
            <a:off x="457200" y="6583680"/>
            <a:ext cx="5486400" cy="228600"/>
          </a:xfrm>
          <a:prstGeom prst="rect">
            <a:avLst/>
          </a:prstGeom>
          <a:noFill/>
          <a:ln/>
        </p:spPr>
        <p:txBody>
          <a:bodyPr wrap="square" rtlCol="0" anchor="ctr"/>
          <a:lstStyle/>
          <a:p>
            <a:pPr marL="0" indent="0" algn="l">
              <a:buNone/>
            </a:pPr>
            <a:r>
              <a:rPr lang="en-US" sz="850" dirty="0">
                <a:solidFill>
                  <a:srgbClr val="5B6178"/>
                </a:solidFill>
                <a:latin typeface="Calibri" pitchFamily="34" charset="0"/>
                <a:ea typeface="Calibri" pitchFamily="34" charset="-122"/>
                <a:cs typeface="Calibri" pitchFamily="34" charset="-120"/>
              </a:rPr>
              <a:t>Java &amp; Full-Stack Interview Prep</a:t>
            </a:r>
            <a:endParaRPr lang="en-US" sz="8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Shape 0"/>
          <p:cNvSpPr/>
          <p:nvPr/>
        </p:nvSpPr>
        <p:spPr>
          <a:xfrm>
            <a:off x="502920" y="384048"/>
            <a:ext cx="5084064" cy="310896"/>
          </a:xfrm>
          <a:prstGeom prst="roundRect">
            <a:avLst>
              <a:gd name="adj" fmla="val 23529"/>
            </a:avLst>
          </a:prstGeom>
          <a:solidFill>
            <a:srgbClr val="E8A33D"/>
          </a:solidFill>
          <a:ln/>
        </p:spPr>
      </p:sp>
      <p:sp>
        <p:nvSpPr>
          <p:cNvPr id="3" name="Text 1"/>
          <p:cNvSpPr/>
          <p:nvPr/>
        </p:nvSpPr>
        <p:spPr>
          <a:xfrm>
            <a:off x="502920" y="384048"/>
            <a:ext cx="5084064" cy="310896"/>
          </a:xfrm>
          <a:prstGeom prst="rect">
            <a:avLst/>
          </a:prstGeom>
          <a:noFill/>
          <a:ln/>
        </p:spPr>
        <p:txBody>
          <a:bodyPr wrap="square" rtlCol="0" anchor="ctr"/>
          <a:lstStyle/>
          <a:p>
            <a:pPr marL="0" indent="0" algn="ctr">
              <a:buNone/>
            </a:pPr>
            <a:r>
              <a:rPr lang="en-US" sz="1100" b="1" kern="0" spc="100" dirty="0">
                <a:solidFill>
                  <a:srgbClr val="1B2340"/>
                </a:solidFill>
                <a:latin typeface="Calibri" pitchFamily="34" charset="0"/>
                <a:ea typeface="Calibri" pitchFamily="34" charset="-122"/>
                <a:cs typeface="Calibri" pitchFamily="34" charset="-120"/>
              </a:rPr>
              <a:t>SPRING BOOT &amp; REST APIS</a:t>
            </a:r>
            <a:endParaRPr lang="en-US" sz="1100" dirty="0"/>
          </a:p>
        </p:txBody>
      </p:sp>
      <p:sp>
        <p:nvSpPr>
          <p:cNvPr id="4" name="Text 2"/>
          <p:cNvSpPr/>
          <p:nvPr/>
        </p:nvSpPr>
        <p:spPr>
          <a:xfrm>
            <a:off x="502920" y="786384"/>
            <a:ext cx="11155680" cy="868680"/>
          </a:xfrm>
          <a:prstGeom prst="rect">
            <a:avLst/>
          </a:prstGeom>
          <a:noFill/>
          <a:ln/>
        </p:spPr>
        <p:txBody>
          <a:bodyPr wrap="square" rtlCol="0" anchor="t"/>
          <a:lstStyle/>
          <a:p>
            <a:pPr marL="0" indent="0">
              <a:lnSpc>
                <a:spcPct val="102000"/>
              </a:lnSpc>
              <a:buNone/>
            </a:pPr>
            <a:r>
              <a:rPr lang="en-US" sz="2500" b="1" dirty="0">
                <a:solidFill>
                  <a:srgbClr val="1B2340"/>
                </a:solidFill>
                <a:latin typeface="Century Schoolbook" pitchFamily="34" charset="0"/>
                <a:ea typeface="Century Schoolbook" pitchFamily="34" charset="-122"/>
                <a:cs typeface="Century Schoolbook" pitchFamily="34" charset="-120"/>
              </a:rPr>
              <a:t>What are some common Spring Boot annotations?</a:t>
            </a:r>
            <a:endParaRPr lang="en-US" sz="2500" dirty="0"/>
          </a:p>
        </p:txBody>
      </p:sp>
      <p:sp>
        <p:nvSpPr>
          <p:cNvPr id="5" name="Shape 3"/>
          <p:cNvSpPr/>
          <p:nvPr/>
        </p:nvSpPr>
        <p:spPr>
          <a:xfrm>
            <a:off x="502920" y="1810512"/>
            <a:ext cx="164592" cy="274320"/>
          </a:xfrm>
          <a:prstGeom prst="roundRect">
            <a:avLst>
              <a:gd name="adj" fmla="val 22222"/>
            </a:avLst>
          </a:prstGeom>
          <a:solidFill>
            <a:srgbClr val="E8A33D"/>
          </a:solidFill>
          <a:ln/>
        </p:spPr>
      </p:sp>
      <p:sp>
        <p:nvSpPr>
          <p:cNvPr id="6" name="Text 4"/>
          <p:cNvSpPr/>
          <p:nvPr/>
        </p:nvSpPr>
        <p:spPr>
          <a:xfrm>
            <a:off x="758952" y="1783080"/>
            <a:ext cx="4315968" cy="329184"/>
          </a:xfrm>
          <a:prstGeom prst="rect">
            <a:avLst/>
          </a:prstGeom>
          <a:noFill/>
          <a:ln/>
        </p:spPr>
        <p:txBody>
          <a:bodyPr wrap="square" rtlCol="0" anchor="ctr"/>
          <a:lstStyle/>
          <a:p>
            <a:pPr marL="0" indent="0">
              <a:buNone/>
            </a:pPr>
            <a:r>
              <a:rPr lang="en-US" sz="1300" b="1" kern="0" spc="50" dirty="0">
                <a:solidFill>
                  <a:srgbClr val="1B2340"/>
                </a:solidFill>
                <a:latin typeface="Calibri" pitchFamily="34" charset="0"/>
                <a:ea typeface="Calibri" pitchFamily="34" charset="-122"/>
                <a:cs typeface="Calibri" pitchFamily="34" charset="-120"/>
              </a:rPr>
              <a:t>DEFINITION / CONCEPT</a:t>
            </a:r>
            <a:endParaRPr lang="en-US" sz="1300" dirty="0"/>
          </a:p>
        </p:txBody>
      </p:sp>
      <p:sp>
        <p:nvSpPr>
          <p:cNvPr id="7" name="Shape 5"/>
          <p:cNvSpPr/>
          <p:nvPr/>
        </p:nvSpPr>
        <p:spPr>
          <a:xfrm>
            <a:off x="502920" y="2121408"/>
            <a:ext cx="11201400" cy="914400"/>
          </a:xfrm>
          <a:prstGeom prst="roundRect">
            <a:avLst>
              <a:gd name="adj" fmla="val 8000"/>
            </a:avLst>
          </a:prstGeom>
          <a:solidFill>
            <a:srgbClr val="F7F7FA"/>
          </a:solidFill>
          <a:ln w="12700">
            <a:solidFill>
              <a:srgbClr val="E4E6EF"/>
            </a:solidFill>
            <a:prstDash val="solid"/>
          </a:ln>
        </p:spPr>
      </p:sp>
      <p:sp>
        <p:nvSpPr>
          <p:cNvPr id="8" name="Text 6"/>
          <p:cNvSpPr/>
          <p:nvPr/>
        </p:nvSpPr>
        <p:spPr>
          <a:xfrm>
            <a:off x="758952" y="2304288"/>
            <a:ext cx="10689336" cy="548640"/>
          </a:xfrm>
          <a:prstGeom prst="rect">
            <a:avLst/>
          </a:prstGeom>
          <a:noFill/>
          <a:ln/>
        </p:spPr>
        <p:txBody>
          <a:bodyPr wrap="square" lIns="0" tIns="0" rIns="0" bIns="0" rtlCol="0" anchor="t"/>
          <a:lstStyle/>
          <a:p>
            <a:pPr marL="0" indent="0">
              <a:lnSpc>
                <a:spcPct val="115000"/>
              </a:lnSpc>
              <a:buNone/>
            </a:pPr>
            <a:r>
              <a:rPr lang="en-US" sz="1450" dirty="0">
                <a:solidFill>
                  <a:srgbClr val="1B2340"/>
                </a:solidFill>
                <a:latin typeface="Calibri" pitchFamily="34" charset="0"/>
                <a:ea typeface="Calibri" pitchFamily="34" charset="-122"/>
                <a:cs typeface="Calibri" pitchFamily="34" charset="-120"/>
              </a:rPr>
              <a:t>Spring Boot uses annotations extensively to reduce boilerplate configuration code and clearly define the role of each class.</a:t>
            </a:r>
            <a:endParaRPr lang="en-US" sz="1450" dirty="0"/>
          </a:p>
        </p:txBody>
      </p:sp>
      <p:sp>
        <p:nvSpPr>
          <p:cNvPr id="9" name="Shape 7"/>
          <p:cNvSpPr/>
          <p:nvPr/>
        </p:nvSpPr>
        <p:spPr>
          <a:xfrm>
            <a:off x="502920" y="3200400"/>
            <a:ext cx="164592" cy="274320"/>
          </a:xfrm>
          <a:prstGeom prst="roundRect">
            <a:avLst>
              <a:gd name="adj" fmla="val 22222"/>
            </a:avLst>
          </a:prstGeom>
          <a:solidFill>
            <a:srgbClr val="3FBFAE"/>
          </a:solidFill>
          <a:ln/>
        </p:spPr>
      </p:sp>
      <p:sp>
        <p:nvSpPr>
          <p:cNvPr id="10" name="Text 8"/>
          <p:cNvSpPr/>
          <p:nvPr/>
        </p:nvSpPr>
        <p:spPr>
          <a:xfrm>
            <a:off x="758952" y="3172968"/>
            <a:ext cx="4315968" cy="329184"/>
          </a:xfrm>
          <a:prstGeom prst="rect">
            <a:avLst/>
          </a:prstGeom>
          <a:noFill/>
          <a:ln/>
        </p:spPr>
        <p:txBody>
          <a:bodyPr wrap="square" rtlCol="0" anchor="ctr"/>
          <a:lstStyle/>
          <a:p>
            <a:pPr marL="0" indent="0">
              <a:buNone/>
            </a:pPr>
            <a:r>
              <a:rPr lang="en-US" sz="1300" b="1" kern="0" spc="50" dirty="0">
                <a:solidFill>
                  <a:srgbClr val="1B2340"/>
                </a:solidFill>
                <a:latin typeface="Calibri" pitchFamily="34" charset="0"/>
                <a:ea typeface="Calibri" pitchFamily="34" charset="-122"/>
                <a:cs typeface="Calibri" pitchFamily="34" charset="-120"/>
              </a:rPr>
              <a:t>EXPLANATION</a:t>
            </a:r>
            <a:endParaRPr lang="en-US" sz="1300" dirty="0"/>
          </a:p>
        </p:txBody>
      </p:sp>
      <p:sp>
        <p:nvSpPr>
          <p:cNvPr id="11" name="Text 9"/>
          <p:cNvSpPr/>
          <p:nvPr/>
        </p:nvSpPr>
        <p:spPr>
          <a:xfrm>
            <a:off x="502920" y="3529584"/>
            <a:ext cx="6858000" cy="2331720"/>
          </a:xfrm>
          <a:prstGeom prst="rect">
            <a:avLst/>
          </a:prstGeom>
          <a:noFill/>
          <a:ln/>
        </p:spPr>
        <p:txBody>
          <a:bodyPr wrap="square" lIns="0" tIns="0" rIns="0" bIns="0" rtlCol="0" anchor="t"/>
          <a:lstStyle/>
          <a:p>
            <a:pPr marL="177800" indent="-177800">
              <a:spcAft>
                <a:spcPts val="800"/>
              </a:spcAft>
              <a:buSzPct val="100000"/>
              <a:buChar char="•"/>
            </a:pPr>
            <a:r>
              <a:rPr lang="en-US" sz="1300" dirty="0">
                <a:solidFill>
                  <a:srgbClr val="1B2340"/>
                </a:solidFill>
                <a:latin typeface="Calibri" pitchFamily="34" charset="0"/>
                <a:ea typeface="Calibri" pitchFamily="34" charset="-122"/>
                <a:cs typeface="Calibri" pitchFamily="34" charset="-120"/>
              </a:rPr>
              <a:t>@SpringBootApplication - marks the main entry point of the application</a:t>
            </a:r>
            <a:endParaRPr lang="en-US" sz="1300" dirty="0"/>
          </a:p>
          <a:p>
            <a:pPr marL="177800" indent="-177800">
              <a:spcAft>
                <a:spcPts val="800"/>
              </a:spcAft>
              <a:buSzPct val="100000"/>
              <a:buChar char="•"/>
            </a:pPr>
            <a:r>
              <a:rPr lang="en-US" sz="1300" dirty="0">
                <a:solidFill>
                  <a:srgbClr val="1B2340"/>
                </a:solidFill>
                <a:latin typeface="Calibri" pitchFamily="34" charset="0"/>
                <a:ea typeface="Calibri" pitchFamily="34" charset="-122"/>
                <a:cs typeface="Calibri" pitchFamily="34" charset="-120"/>
              </a:rPr>
              <a:t>@RestController / @Controller - marks a class as a web request handler</a:t>
            </a:r>
            <a:endParaRPr lang="en-US" sz="1300" dirty="0"/>
          </a:p>
          <a:p>
            <a:pPr marL="177800" indent="-177800">
              <a:spcAft>
                <a:spcPts val="800"/>
              </a:spcAft>
              <a:buSzPct val="100000"/>
              <a:buChar char="•"/>
            </a:pPr>
            <a:r>
              <a:rPr lang="en-US" sz="1300" dirty="0">
                <a:solidFill>
                  <a:srgbClr val="1B2340"/>
                </a:solidFill>
                <a:latin typeface="Calibri" pitchFamily="34" charset="0"/>
                <a:ea typeface="Calibri" pitchFamily="34" charset="-122"/>
                <a:cs typeface="Calibri" pitchFamily="34" charset="-120"/>
              </a:rPr>
              <a:t>@Service - marks a class containing business logic</a:t>
            </a:r>
            <a:endParaRPr lang="en-US" sz="1300" dirty="0"/>
          </a:p>
          <a:p>
            <a:pPr marL="177800" indent="-177800">
              <a:spcAft>
                <a:spcPts val="800"/>
              </a:spcAft>
              <a:buSzPct val="100000"/>
              <a:buChar char="•"/>
            </a:pPr>
            <a:r>
              <a:rPr lang="en-US" sz="1300" dirty="0">
                <a:solidFill>
                  <a:srgbClr val="1B2340"/>
                </a:solidFill>
                <a:latin typeface="Calibri" pitchFamily="34" charset="0"/>
                <a:ea typeface="Calibri" pitchFamily="34" charset="-122"/>
                <a:cs typeface="Calibri" pitchFamily="34" charset="-120"/>
              </a:rPr>
              <a:t>@Repository - marks a class that interacts with the database</a:t>
            </a:r>
            <a:endParaRPr lang="en-US" sz="1300" dirty="0"/>
          </a:p>
          <a:p>
            <a:pPr marL="177800" indent="-177800">
              <a:spcAft>
                <a:spcPts val="800"/>
              </a:spcAft>
              <a:buSzPct val="100000"/>
              <a:buChar char="•"/>
            </a:pPr>
            <a:r>
              <a:rPr lang="en-US" sz="1300" dirty="0">
                <a:solidFill>
                  <a:srgbClr val="1B2340"/>
                </a:solidFill>
                <a:latin typeface="Calibri" pitchFamily="34" charset="0"/>
                <a:ea typeface="Calibri" pitchFamily="34" charset="-122"/>
                <a:cs typeface="Calibri" pitchFamily="34" charset="-120"/>
              </a:rPr>
              <a:t>@Autowired - injects a required dependency automatically</a:t>
            </a:r>
            <a:endParaRPr lang="en-US" sz="1300" dirty="0"/>
          </a:p>
          <a:p>
            <a:pPr marL="177800" indent="-177800">
              <a:spcAft>
                <a:spcPts val="800"/>
              </a:spcAft>
              <a:buSzPct val="100000"/>
              <a:buChar char="•"/>
            </a:pPr>
            <a:r>
              <a:rPr lang="en-US" sz="1300" dirty="0">
                <a:solidFill>
                  <a:srgbClr val="1B2340"/>
                </a:solidFill>
                <a:latin typeface="Calibri" pitchFamily="34" charset="0"/>
                <a:ea typeface="Calibri" pitchFamily="34" charset="-122"/>
                <a:cs typeface="Calibri" pitchFamily="34" charset="-120"/>
              </a:rPr>
              <a:t>@RequestMapping / @GetMapping / @PostMapping - map URLs to methods</a:t>
            </a:r>
            <a:endParaRPr lang="en-US" sz="1300" dirty="0"/>
          </a:p>
        </p:txBody>
      </p:sp>
      <p:sp>
        <p:nvSpPr>
          <p:cNvPr id="12" name="Shape 10"/>
          <p:cNvSpPr/>
          <p:nvPr/>
        </p:nvSpPr>
        <p:spPr>
          <a:xfrm>
            <a:off x="7589520" y="3200400"/>
            <a:ext cx="4114800" cy="2194560"/>
          </a:xfrm>
          <a:prstGeom prst="roundRect">
            <a:avLst>
              <a:gd name="adj" fmla="val 3333"/>
            </a:avLst>
          </a:prstGeom>
          <a:solidFill>
            <a:srgbClr val="FDF3E3"/>
          </a:solidFill>
          <a:ln/>
        </p:spPr>
      </p:sp>
      <p:sp>
        <p:nvSpPr>
          <p:cNvPr id="13" name="Text 11"/>
          <p:cNvSpPr/>
          <p:nvPr/>
        </p:nvSpPr>
        <p:spPr>
          <a:xfrm>
            <a:off x="7790688" y="3310128"/>
            <a:ext cx="3712464" cy="274320"/>
          </a:xfrm>
          <a:prstGeom prst="rect">
            <a:avLst/>
          </a:prstGeom>
          <a:noFill/>
          <a:ln/>
        </p:spPr>
        <p:txBody>
          <a:bodyPr wrap="square" rtlCol="0" anchor="ctr"/>
          <a:lstStyle/>
          <a:p>
            <a:pPr marL="0" indent="0">
              <a:buNone/>
            </a:pPr>
            <a:r>
              <a:rPr lang="en-US" sz="1100" b="1" kern="0" spc="50" dirty="0">
                <a:solidFill>
                  <a:srgbClr val="C9862A"/>
                </a:solidFill>
                <a:latin typeface="Calibri" pitchFamily="34" charset="0"/>
                <a:ea typeface="Calibri" pitchFamily="34" charset="-122"/>
                <a:cs typeface="Calibri" pitchFamily="34" charset="-120"/>
              </a:rPr>
              <a:t>💡 REAL-LIFE ANALOGY</a:t>
            </a:r>
            <a:endParaRPr lang="en-US" sz="1100" dirty="0"/>
          </a:p>
        </p:txBody>
      </p:sp>
      <p:sp>
        <p:nvSpPr>
          <p:cNvPr id="14" name="Text 12"/>
          <p:cNvSpPr/>
          <p:nvPr/>
        </p:nvSpPr>
        <p:spPr>
          <a:xfrm>
            <a:off x="7790688" y="3602736"/>
            <a:ext cx="3712464" cy="1664208"/>
          </a:xfrm>
          <a:prstGeom prst="rect">
            <a:avLst/>
          </a:prstGeom>
          <a:noFill/>
          <a:ln/>
        </p:spPr>
        <p:txBody>
          <a:bodyPr wrap="square" lIns="0" tIns="0" rIns="0" bIns="0" rtlCol="0" anchor="t"/>
          <a:lstStyle/>
          <a:p>
            <a:pPr marL="0" indent="0">
              <a:lnSpc>
                <a:spcPct val="110000"/>
              </a:lnSpc>
              <a:buNone/>
            </a:pPr>
            <a:r>
              <a:rPr lang="en-US" sz="1250" i="1" dirty="0">
                <a:solidFill>
                  <a:srgbClr val="1B2340"/>
                </a:solidFill>
                <a:latin typeface="Calibri" pitchFamily="34" charset="0"/>
                <a:ea typeface="Calibri" pitchFamily="34" charset="-122"/>
                <a:cs typeface="Calibri" pitchFamily="34" charset="-120"/>
              </a:rPr>
              <a:t>These annotations act like labels on office doors - '@Service' tells you that's where the actual work happens, '@Repository' is the records room, and '@Controller' is the reception desk that greets requests.</a:t>
            </a:r>
            <a:endParaRPr lang="en-US" sz="1250" dirty="0"/>
          </a:p>
        </p:txBody>
      </p:sp>
      <p:sp>
        <p:nvSpPr>
          <p:cNvPr id="15" name="Shape 13"/>
          <p:cNvSpPr/>
          <p:nvPr/>
        </p:nvSpPr>
        <p:spPr>
          <a:xfrm>
            <a:off x="502920" y="5870448"/>
            <a:ext cx="11201400" cy="603504"/>
          </a:xfrm>
          <a:prstGeom prst="roundRect">
            <a:avLst>
              <a:gd name="adj" fmla="val 12121"/>
            </a:avLst>
          </a:prstGeom>
          <a:solidFill>
            <a:srgbClr val="1B2340"/>
          </a:solidFill>
          <a:ln/>
        </p:spPr>
      </p:sp>
      <p:sp>
        <p:nvSpPr>
          <p:cNvPr id="16" name="Text 14"/>
          <p:cNvSpPr/>
          <p:nvPr/>
        </p:nvSpPr>
        <p:spPr>
          <a:xfrm>
            <a:off x="731520" y="5961888"/>
            <a:ext cx="10744200" cy="256032"/>
          </a:xfrm>
          <a:prstGeom prst="rect">
            <a:avLst/>
          </a:prstGeom>
          <a:noFill/>
          <a:ln/>
        </p:spPr>
        <p:txBody>
          <a:bodyPr wrap="square" rtlCol="0" anchor="ctr"/>
          <a:lstStyle/>
          <a:p>
            <a:pPr marL="0" indent="0">
              <a:buNone/>
            </a:pPr>
            <a:r>
              <a:rPr lang="en-US" sz="1050" b="1" kern="0" spc="80" dirty="0">
                <a:solidFill>
                  <a:srgbClr val="E8A33D"/>
                </a:solidFill>
                <a:latin typeface="Calibri" pitchFamily="34" charset="0"/>
                <a:ea typeface="Calibri" pitchFamily="34" charset="-122"/>
                <a:cs typeface="Calibri" pitchFamily="34" charset="-120"/>
              </a:rPr>
              <a:t>ONE-LINE INTERVIEW ANSWER</a:t>
            </a:r>
            <a:endParaRPr lang="en-US" sz="1050" dirty="0"/>
          </a:p>
        </p:txBody>
      </p:sp>
      <p:sp>
        <p:nvSpPr>
          <p:cNvPr id="17" name="Text 15"/>
          <p:cNvSpPr/>
          <p:nvPr/>
        </p:nvSpPr>
        <p:spPr>
          <a:xfrm>
            <a:off x="731520" y="6217920"/>
            <a:ext cx="10744200" cy="146304"/>
          </a:xfrm>
          <a:prstGeom prst="rect">
            <a:avLst/>
          </a:prstGeom>
          <a:noFill/>
          <a:ln/>
        </p:spPr>
        <p:txBody>
          <a:bodyPr wrap="square" lIns="0" tIns="0" rIns="0" bIns="0" rtlCol="0" anchor="t"/>
          <a:lstStyle/>
          <a:p>
            <a:pPr marL="0" indent="0">
              <a:lnSpc>
                <a:spcPct val="105000"/>
              </a:lnSpc>
              <a:buNone/>
            </a:pPr>
            <a:r>
              <a:rPr lang="en-US" sz="1250" dirty="0">
                <a:solidFill>
                  <a:srgbClr val="FFFFFF"/>
                </a:solidFill>
                <a:latin typeface="Calibri" pitchFamily="34" charset="0"/>
                <a:ea typeface="Calibri" pitchFamily="34" charset="-122"/>
                <a:cs typeface="Calibri" pitchFamily="34" charset="-120"/>
              </a:rPr>
              <a:t>Spring Boot annotations like @RestController, @Service, @Repository, and @Autowired reduce boilerplate and define each class's role clearly.</a:t>
            </a:r>
            <a:endParaRPr lang="en-US" sz="1250" dirty="0"/>
          </a:p>
        </p:txBody>
      </p:sp>
      <p:sp>
        <p:nvSpPr>
          <p:cNvPr id="18" name="Text 16"/>
          <p:cNvSpPr/>
          <p:nvPr/>
        </p:nvSpPr>
        <p:spPr>
          <a:xfrm>
            <a:off x="457200" y="6583680"/>
            <a:ext cx="5486400" cy="228600"/>
          </a:xfrm>
          <a:prstGeom prst="rect">
            <a:avLst/>
          </a:prstGeom>
          <a:noFill/>
          <a:ln/>
        </p:spPr>
        <p:txBody>
          <a:bodyPr wrap="square" rtlCol="0" anchor="ctr"/>
          <a:lstStyle/>
          <a:p>
            <a:pPr marL="0" indent="0" algn="l">
              <a:buNone/>
            </a:pPr>
            <a:r>
              <a:rPr lang="en-US" sz="850" dirty="0">
                <a:solidFill>
                  <a:srgbClr val="5B6178"/>
                </a:solidFill>
                <a:latin typeface="Calibri" pitchFamily="34" charset="0"/>
                <a:ea typeface="Calibri" pitchFamily="34" charset="-122"/>
                <a:cs typeface="Calibri" pitchFamily="34" charset="-120"/>
              </a:rPr>
              <a:t>Java &amp; Full-Stack Interview Prep</a:t>
            </a:r>
            <a:endParaRPr lang="en-US" sz="8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Shape 0"/>
          <p:cNvSpPr/>
          <p:nvPr/>
        </p:nvSpPr>
        <p:spPr>
          <a:xfrm>
            <a:off x="502920" y="384048"/>
            <a:ext cx="5084064" cy="310896"/>
          </a:xfrm>
          <a:prstGeom prst="roundRect">
            <a:avLst>
              <a:gd name="adj" fmla="val 23529"/>
            </a:avLst>
          </a:prstGeom>
          <a:solidFill>
            <a:srgbClr val="E8A33D"/>
          </a:solidFill>
          <a:ln/>
        </p:spPr>
      </p:sp>
      <p:sp>
        <p:nvSpPr>
          <p:cNvPr id="3" name="Text 1"/>
          <p:cNvSpPr/>
          <p:nvPr/>
        </p:nvSpPr>
        <p:spPr>
          <a:xfrm>
            <a:off x="502920" y="384048"/>
            <a:ext cx="5084064" cy="310896"/>
          </a:xfrm>
          <a:prstGeom prst="rect">
            <a:avLst/>
          </a:prstGeom>
          <a:noFill/>
          <a:ln/>
        </p:spPr>
        <p:txBody>
          <a:bodyPr wrap="square" rtlCol="0" anchor="ctr"/>
          <a:lstStyle/>
          <a:p>
            <a:pPr marL="0" indent="0" algn="ctr">
              <a:buNone/>
            </a:pPr>
            <a:r>
              <a:rPr lang="en-US" sz="1100" b="1" kern="0" spc="100" dirty="0">
                <a:solidFill>
                  <a:srgbClr val="1B2340"/>
                </a:solidFill>
                <a:latin typeface="Calibri" pitchFamily="34" charset="0"/>
                <a:ea typeface="Calibri" pitchFamily="34" charset="-122"/>
                <a:cs typeface="Calibri" pitchFamily="34" charset="-120"/>
              </a:rPr>
              <a:t>SPRING BOOT &amp; REST APIS</a:t>
            </a:r>
            <a:endParaRPr lang="en-US" sz="1100" dirty="0"/>
          </a:p>
        </p:txBody>
      </p:sp>
      <p:sp>
        <p:nvSpPr>
          <p:cNvPr id="4" name="Text 2"/>
          <p:cNvSpPr/>
          <p:nvPr/>
        </p:nvSpPr>
        <p:spPr>
          <a:xfrm>
            <a:off x="502920" y="786384"/>
            <a:ext cx="11155680" cy="868680"/>
          </a:xfrm>
          <a:prstGeom prst="rect">
            <a:avLst/>
          </a:prstGeom>
          <a:noFill/>
          <a:ln/>
        </p:spPr>
        <p:txBody>
          <a:bodyPr wrap="square" rtlCol="0" anchor="t"/>
          <a:lstStyle/>
          <a:p>
            <a:pPr marL="0" indent="0">
              <a:lnSpc>
                <a:spcPct val="102000"/>
              </a:lnSpc>
              <a:buNone/>
            </a:pPr>
            <a:r>
              <a:rPr lang="en-US" sz="2500" b="1" dirty="0">
                <a:solidFill>
                  <a:srgbClr val="1B2340"/>
                </a:solidFill>
                <a:latin typeface="Century Schoolbook" pitchFamily="34" charset="0"/>
                <a:ea typeface="Century Schoolbook" pitchFamily="34" charset="-122"/>
                <a:cs typeface="Century Schoolbook" pitchFamily="34" charset="-120"/>
              </a:rPr>
              <a:t>REST API vs Microservices vs SOAP - how do they relate?</a:t>
            </a:r>
            <a:endParaRPr lang="en-US" sz="2500" dirty="0"/>
          </a:p>
        </p:txBody>
      </p:sp>
      <p:sp>
        <p:nvSpPr>
          <p:cNvPr id="5" name="Shape 3"/>
          <p:cNvSpPr/>
          <p:nvPr/>
        </p:nvSpPr>
        <p:spPr>
          <a:xfrm>
            <a:off x="502920" y="1810512"/>
            <a:ext cx="164592" cy="274320"/>
          </a:xfrm>
          <a:prstGeom prst="roundRect">
            <a:avLst>
              <a:gd name="adj" fmla="val 22222"/>
            </a:avLst>
          </a:prstGeom>
          <a:solidFill>
            <a:srgbClr val="E8A33D"/>
          </a:solidFill>
          <a:ln/>
        </p:spPr>
      </p:sp>
      <p:sp>
        <p:nvSpPr>
          <p:cNvPr id="6" name="Text 4"/>
          <p:cNvSpPr/>
          <p:nvPr/>
        </p:nvSpPr>
        <p:spPr>
          <a:xfrm>
            <a:off x="758952" y="1783080"/>
            <a:ext cx="4315968" cy="329184"/>
          </a:xfrm>
          <a:prstGeom prst="rect">
            <a:avLst/>
          </a:prstGeom>
          <a:noFill/>
          <a:ln/>
        </p:spPr>
        <p:txBody>
          <a:bodyPr wrap="square" rtlCol="0" anchor="ctr"/>
          <a:lstStyle/>
          <a:p>
            <a:pPr marL="0" indent="0">
              <a:buNone/>
            </a:pPr>
            <a:r>
              <a:rPr lang="en-US" sz="1300" b="1" kern="0" spc="50" dirty="0">
                <a:solidFill>
                  <a:srgbClr val="1B2340"/>
                </a:solidFill>
                <a:latin typeface="Calibri" pitchFamily="34" charset="0"/>
                <a:ea typeface="Calibri" pitchFamily="34" charset="-122"/>
                <a:cs typeface="Calibri" pitchFamily="34" charset="-120"/>
              </a:rPr>
              <a:t>DEFINITION / CONCEPT</a:t>
            </a:r>
            <a:endParaRPr lang="en-US" sz="1300" dirty="0"/>
          </a:p>
        </p:txBody>
      </p:sp>
      <p:sp>
        <p:nvSpPr>
          <p:cNvPr id="7" name="Shape 5"/>
          <p:cNvSpPr/>
          <p:nvPr/>
        </p:nvSpPr>
        <p:spPr>
          <a:xfrm>
            <a:off x="502920" y="2121408"/>
            <a:ext cx="11201400" cy="914400"/>
          </a:xfrm>
          <a:prstGeom prst="roundRect">
            <a:avLst>
              <a:gd name="adj" fmla="val 8000"/>
            </a:avLst>
          </a:prstGeom>
          <a:solidFill>
            <a:srgbClr val="F7F7FA"/>
          </a:solidFill>
          <a:ln w="12700">
            <a:solidFill>
              <a:srgbClr val="E4E6EF"/>
            </a:solidFill>
            <a:prstDash val="solid"/>
          </a:ln>
        </p:spPr>
      </p:sp>
      <p:sp>
        <p:nvSpPr>
          <p:cNvPr id="8" name="Text 6"/>
          <p:cNvSpPr/>
          <p:nvPr/>
        </p:nvSpPr>
        <p:spPr>
          <a:xfrm>
            <a:off x="758952" y="2304288"/>
            <a:ext cx="10689336" cy="548640"/>
          </a:xfrm>
          <a:prstGeom prst="rect">
            <a:avLst/>
          </a:prstGeom>
          <a:noFill/>
          <a:ln/>
        </p:spPr>
        <p:txBody>
          <a:bodyPr wrap="square" lIns="0" tIns="0" rIns="0" bIns="0" rtlCol="0" anchor="t"/>
          <a:lstStyle/>
          <a:p>
            <a:pPr marL="0" indent="0">
              <a:lnSpc>
                <a:spcPct val="115000"/>
              </a:lnSpc>
              <a:buNone/>
            </a:pPr>
            <a:r>
              <a:rPr lang="en-US" sz="1450" dirty="0">
                <a:solidFill>
                  <a:srgbClr val="1B2340"/>
                </a:solidFill>
                <a:latin typeface="Calibri" pitchFamily="34" charset="0"/>
                <a:ea typeface="Calibri" pitchFamily="34" charset="-122"/>
                <a:cs typeface="Calibri" pitchFamily="34" charset="-120"/>
              </a:rPr>
              <a:t>REST is a lightweight architectural style for building APIs using standard HTTP methods; Microservices is an architecture style of building an app as small independent services (often exposing REST APIs); SOAP is an older, stricter protocol using XML.</a:t>
            </a:r>
            <a:endParaRPr lang="en-US" sz="1450" dirty="0"/>
          </a:p>
        </p:txBody>
      </p:sp>
      <p:sp>
        <p:nvSpPr>
          <p:cNvPr id="9" name="Shape 7"/>
          <p:cNvSpPr/>
          <p:nvPr/>
        </p:nvSpPr>
        <p:spPr>
          <a:xfrm>
            <a:off x="502920" y="3200400"/>
            <a:ext cx="164592" cy="274320"/>
          </a:xfrm>
          <a:prstGeom prst="roundRect">
            <a:avLst>
              <a:gd name="adj" fmla="val 22222"/>
            </a:avLst>
          </a:prstGeom>
          <a:solidFill>
            <a:srgbClr val="3FBFAE"/>
          </a:solidFill>
          <a:ln/>
        </p:spPr>
      </p:sp>
      <p:sp>
        <p:nvSpPr>
          <p:cNvPr id="10" name="Text 8"/>
          <p:cNvSpPr/>
          <p:nvPr/>
        </p:nvSpPr>
        <p:spPr>
          <a:xfrm>
            <a:off x="758952" y="3172968"/>
            <a:ext cx="4315968" cy="329184"/>
          </a:xfrm>
          <a:prstGeom prst="rect">
            <a:avLst/>
          </a:prstGeom>
          <a:noFill/>
          <a:ln/>
        </p:spPr>
        <p:txBody>
          <a:bodyPr wrap="square" rtlCol="0" anchor="ctr"/>
          <a:lstStyle/>
          <a:p>
            <a:pPr marL="0" indent="0">
              <a:buNone/>
            </a:pPr>
            <a:r>
              <a:rPr lang="en-US" sz="1300" b="1" kern="0" spc="50" dirty="0">
                <a:solidFill>
                  <a:srgbClr val="1B2340"/>
                </a:solidFill>
                <a:latin typeface="Calibri" pitchFamily="34" charset="0"/>
                <a:ea typeface="Calibri" pitchFamily="34" charset="-122"/>
                <a:cs typeface="Calibri" pitchFamily="34" charset="-120"/>
              </a:rPr>
              <a:t>EXPLANATION</a:t>
            </a:r>
            <a:endParaRPr lang="en-US" sz="1300" dirty="0"/>
          </a:p>
        </p:txBody>
      </p:sp>
      <p:sp>
        <p:nvSpPr>
          <p:cNvPr id="11" name="Text 9"/>
          <p:cNvSpPr/>
          <p:nvPr/>
        </p:nvSpPr>
        <p:spPr>
          <a:xfrm>
            <a:off x="502920" y="3529584"/>
            <a:ext cx="6858000" cy="2331720"/>
          </a:xfrm>
          <a:prstGeom prst="rect">
            <a:avLst/>
          </a:prstGeom>
          <a:noFill/>
          <a:ln/>
        </p:spPr>
        <p:txBody>
          <a:bodyPr wrap="square" lIns="0" tIns="0" rIns="0" bIns="0" rtlCol="0" anchor="t"/>
          <a:lstStyle/>
          <a:p>
            <a:pPr marL="177800" indent="-177800">
              <a:spcAft>
                <a:spcPts val="800"/>
              </a:spcAft>
              <a:buSzPct val="100000"/>
              <a:buChar char="•"/>
            </a:pPr>
            <a:r>
              <a:rPr lang="en-US" sz="1300" dirty="0">
                <a:solidFill>
                  <a:srgbClr val="1B2340"/>
                </a:solidFill>
                <a:latin typeface="Calibri" pitchFamily="34" charset="0"/>
                <a:ea typeface="Calibri" pitchFamily="34" charset="-122"/>
                <a:cs typeface="Calibri" pitchFamily="34" charset="-120"/>
              </a:rPr>
              <a:t>REST uses simple HTTP methods (GET, POST, PUT, DELETE) and usually returns JSON</a:t>
            </a:r>
            <a:endParaRPr lang="en-US" sz="1300" dirty="0"/>
          </a:p>
          <a:p>
            <a:pPr marL="177800" indent="-177800">
              <a:spcAft>
                <a:spcPts val="800"/>
              </a:spcAft>
              <a:buSzPct val="100000"/>
              <a:buChar char="•"/>
            </a:pPr>
            <a:r>
              <a:rPr lang="en-US" sz="1300" dirty="0">
                <a:solidFill>
                  <a:srgbClr val="1B2340"/>
                </a:solidFill>
                <a:latin typeface="Calibri" pitchFamily="34" charset="0"/>
                <a:ea typeface="Calibri" pitchFamily="34" charset="-122"/>
                <a:cs typeface="Calibri" pitchFamily="34" charset="-120"/>
              </a:rPr>
              <a:t>SOAP uses strict XML-based messaging with built-in security/transaction standards, more heavyweight</a:t>
            </a:r>
            <a:endParaRPr lang="en-US" sz="1300" dirty="0"/>
          </a:p>
          <a:p>
            <a:pPr marL="177800" indent="-177800">
              <a:spcAft>
                <a:spcPts val="800"/>
              </a:spcAft>
              <a:buSzPct val="100000"/>
              <a:buChar char="•"/>
            </a:pPr>
            <a:r>
              <a:rPr lang="en-US" sz="1300" dirty="0">
                <a:solidFill>
                  <a:srgbClr val="1B2340"/>
                </a:solidFill>
                <a:latin typeface="Calibri" pitchFamily="34" charset="0"/>
                <a:ea typeface="Calibri" pitchFamily="34" charset="-122"/>
                <a:cs typeface="Calibri" pitchFamily="34" charset="-120"/>
              </a:rPr>
              <a:t>Microservices architecture breaks one large application into small independent services that talk to each other, often via REST APIs</a:t>
            </a:r>
            <a:endParaRPr lang="en-US" sz="1300" dirty="0"/>
          </a:p>
          <a:p>
            <a:pPr marL="177800" indent="-177800">
              <a:spcAft>
                <a:spcPts val="800"/>
              </a:spcAft>
              <a:buSzPct val="100000"/>
              <a:buChar char="•"/>
            </a:pPr>
            <a:r>
              <a:rPr lang="en-US" sz="1300" dirty="0">
                <a:solidFill>
                  <a:srgbClr val="1B2340"/>
                </a:solidFill>
                <a:latin typeface="Calibri" pitchFamily="34" charset="0"/>
                <a:ea typeface="Calibri" pitchFamily="34" charset="-122"/>
                <a:cs typeface="Calibri" pitchFamily="34" charset="-120"/>
              </a:rPr>
              <a:t>REST is generally faster and easier to use; SOAP is used where strict standards/security are required</a:t>
            </a:r>
            <a:endParaRPr lang="en-US" sz="1300" dirty="0"/>
          </a:p>
        </p:txBody>
      </p:sp>
      <p:sp>
        <p:nvSpPr>
          <p:cNvPr id="12" name="Shape 10"/>
          <p:cNvSpPr/>
          <p:nvPr/>
        </p:nvSpPr>
        <p:spPr>
          <a:xfrm>
            <a:off x="7589520" y="3200400"/>
            <a:ext cx="4114800" cy="2194560"/>
          </a:xfrm>
          <a:prstGeom prst="roundRect">
            <a:avLst>
              <a:gd name="adj" fmla="val 3333"/>
            </a:avLst>
          </a:prstGeom>
          <a:solidFill>
            <a:srgbClr val="FDF3E3"/>
          </a:solidFill>
          <a:ln/>
        </p:spPr>
      </p:sp>
      <p:sp>
        <p:nvSpPr>
          <p:cNvPr id="13" name="Text 11"/>
          <p:cNvSpPr/>
          <p:nvPr/>
        </p:nvSpPr>
        <p:spPr>
          <a:xfrm>
            <a:off x="7790688" y="3310128"/>
            <a:ext cx="3712464" cy="274320"/>
          </a:xfrm>
          <a:prstGeom prst="rect">
            <a:avLst/>
          </a:prstGeom>
          <a:noFill/>
          <a:ln/>
        </p:spPr>
        <p:txBody>
          <a:bodyPr wrap="square" rtlCol="0" anchor="ctr"/>
          <a:lstStyle/>
          <a:p>
            <a:pPr marL="0" indent="0">
              <a:buNone/>
            </a:pPr>
            <a:r>
              <a:rPr lang="en-US" sz="1100" b="1" kern="0" spc="50" dirty="0">
                <a:solidFill>
                  <a:srgbClr val="C9862A"/>
                </a:solidFill>
                <a:latin typeface="Calibri" pitchFamily="34" charset="0"/>
                <a:ea typeface="Calibri" pitchFamily="34" charset="-122"/>
                <a:cs typeface="Calibri" pitchFamily="34" charset="-120"/>
              </a:rPr>
              <a:t>💡 REAL-LIFE ANALOGY</a:t>
            </a:r>
            <a:endParaRPr lang="en-US" sz="1100" dirty="0"/>
          </a:p>
        </p:txBody>
      </p:sp>
      <p:sp>
        <p:nvSpPr>
          <p:cNvPr id="14" name="Text 12"/>
          <p:cNvSpPr/>
          <p:nvPr/>
        </p:nvSpPr>
        <p:spPr>
          <a:xfrm>
            <a:off x="7790688" y="3602736"/>
            <a:ext cx="3712464" cy="1664208"/>
          </a:xfrm>
          <a:prstGeom prst="rect">
            <a:avLst/>
          </a:prstGeom>
          <a:noFill/>
          <a:ln/>
        </p:spPr>
        <p:txBody>
          <a:bodyPr wrap="square" lIns="0" tIns="0" rIns="0" bIns="0" rtlCol="0" anchor="t"/>
          <a:lstStyle/>
          <a:p>
            <a:pPr marL="0" indent="0">
              <a:lnSpc>
                <a:spcPct val="110000"/>
              </a:lnSpc>
              <a:buNone/>
            </a:pPr>
            <a:r>
              <a:rPr lang="en-US" sz="1250" i="1" dirty="0">
                <a:solidFill>
                  <a:srgbClr val="1B2340"/>
                </a:solidFill>
                <a:latin typeface="Calibri" pitchFamily="34" charset="0"/>
                <a:ea typeface="Calibri" pitchFamily="34" charset="-122"/>
                <a:cs typeface="Calibri" pitchFamily="34" charset="-120"/>
              </a:rPr>
              <a:t>REST is like ordering food via a simple menu card (quick, flexible). SOAP is like filling out a detailed government form with strict rules. Microservices is like a food court with separate stalls (services), each responsible for one dish, instead of one giant kitchen doing everything.</a:t>
            </a:r>
            <a:endParaRPr lang="en-US" sz="1250" dirty="0"/>
          </a:p>
        </p:txBody>
      </p:sp>
      <p:sp>
        <p:nvSpPr>
          <p:cNvPr id="15" name="Shape 13"/>
          <p:cNvSpPr/>
          <p:nvPr/>
        </p:nvSpPr>
        <p:spPr>
          <a:xfrm>
            <a:off x="502920" y="5870448"/>
            <a:ext cx="11201400" cy="603504"/>
          </a:xfrm>
          <a:prstGeom prst="roundRect">
            <a:avLst>
              <a:gd name="adj" fmla="val 12121"/>
            </a:avLst>
          </a:prstGeom>
          <a:solidFill>
            <a:srgbClr val="1B2340"/>
          </a:solidFill>
          <a:ln/>
        </p:spPr>
      </p:sp>
      <p:sp>
        <p:nvSpPr>
          <p:cNvPr id="16" name="Text 14"/>
          <p:cNvSpPr/>
          <p:nvPr/>
        </p:nvSpPr>
        <p:spPr>
          <a:xfrm>
            <a:off x="731520" y="5961888"/>
            <a:ext cx="10744200" cy="256032"/>
          </a:xfrm>
          <a:prstGeom prst="rect">
            <a:avLst/>
          </a:prstGeom>
          <a:noFill/>
          <a:ln/>
        </p:spPr>
        <p:txBody>
          <a:bodyPr wrap="square" rtlCol="0" anchor="ctr"/>
          <a:lstStyle/>
          <a:p>
            <a:pPr marL="0" indent="0">
              <a:buNone/>
            </a:pPr>
            <a:r>
              <a:rPr lang="en-US" sz="1050" b="1" kern="0" spc="80" dirty="0">
                <a:solidFill>
                  <a:srgbClr val="E8A33D"/>
                </a:solidFill>
                <a:latin typeface="Calibri" pitchFamily="34" charset="0"/>
                <a:ea typeface="Calibri" pitchFamily="34" charset="-122"/>
                <a:cs typeface="Calibri" pitchFamily="34" charset="-120"/>
              </a:rPr>
              <a:t>ONE-LINE INTERVIEW ANSWER</a:t>
            </a:r>
            <a:endParaRPr lang="en-US" sz="1050" dirty="0"/>
          </a:p>
        </p:txBody>
      </p:sp>
      <p:sp>
        <p:nvSpPr>
          <p:cNvPr id="17" name="Text 15"/>
          <p:cNvSpPr/>
          <p:nvPr/>
        </p:nvSpPr>
        <p:spPr>
          <a:xfrm>
            <a:off x="731520" y="6217920"/>
            <a:ext cx="10744200" cy="146304"/>
          </a:xfrm>
          <a:prstGeom prst="rect">
            <a:avLst/>
          </a:prstGeom>
          <a:noFill/>
          <a:ln/>
        </p:spPr>
        <p:txBody>
          <a:bodyPr wrap="square" lIns="0" tIns="0" rIns="0" bIns="0" rtlCol="0" anchor="t"/>
          <a:lstStyle/>
          <a:p>
            <a:pPr marL="0" indent="0">
              <a:lnSpc>
                <a:spcPct val="105000"/>
              </a:lnSpc>
              <a:buNone/>
            </a:pPr>
            <a:r>
              <a:rPr lang="en-US" sz="1250" dirty="0">
                <a:solidFill>
                  <a:srgbClr val="FFFFFF"/>
                </a:solidFill>
                <a:latin typeface="Calibri" pitchFamily="34" charset="0"/>
                <a:ea typeface="Calibri" pitchFamily="34" charset="-122"/>
                <a:cs typeface="Calibri" pitchFamily="34" charset="-120"/>
              </a:rPr>
              <a:t>REST is a lightweight API style using HTTP, SOAP is a stricter XML-based protocol, and Microservices is an architecture of small independent services usually communicating via REST.</a:t>
            </a:r>
            <a:endParaRPr lang="en-US" sz="1250" dirty="0"/>
          </a:p>
        </p:txBody>
      </p:sp>
      <p:sp>
        <p:nvSpPr>
          <p:cNvPr id="18" name="Text 16"/>
          <p:cNvSpPr/>
          <p:nvPr/>
        </p:nvSpPr>
        <p:spPr>
          <a:xfrm>
            <a:off x="457200" y="6583680"/>
            <a:ext cx="5486400" cy="228600"/>
          </a:xfrm>
          <a:prstGeom prst="rect">
            <a:avLst/>
          </a:prstGeom>
          <a:noFill/>
          <a:ln/>
        </p:spPr>
        <p:txBody>
          <a:bodyPr wrap="square" rtlCol="0" anchor="ctr"/>
          <a:lstStyle/>
          <a:p>
            <a:pPr marL="0" indent="0" algn="l">
              <a:buNone/>
            </a:pPr>
            <a:r>
              <a:rPr lang="en-US" sz="850" dirty="0">
                <a:solidFill>
                  <a:srgbClr val="5B6178"/>
                </a:solidFill>
                <a:latin typeface="Calibri" pitchFamily="34" charset="0"/>
                <a:ea typeface="Calibri" pitchFamily="34" charset="-122"/>
                <a:cs typeface="Calibri" pitchFamily="34" charset="-120"/>
              </a:rPr>
              <a:t>Java &amp; Full-Stack Interview Prep</a:t>
            </a:r>
            <a:endParaRPr lang="en-US" sz="8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Shape 0"/>
          <p:cNvSpPr/>
          <p:nvPr/>
        </p:nvSpPr>
        <p:spPr>
          <a:xfrm>
            <a:off x="502920" y="384048"/>
            <a:ext cx="5084064" cy="310896"/>
          </a:xfrm>
          <a:prstGeom prst="roundRect">
            <a:avLst>
              <a:gd name="adj" fmla="val 23529"/>
            </a:avLst>
          </a:prstGeom>
          <a:solidFill>
            <a:srgbClr val="E8A33D"/>
          </a:solidFill>
          <a:ln/>
        </p:spPr>
      </p:sp>
      <p:sp>
        <p:nvSpPr>
          <p:cNvPr id="3" name="Text 1"/>
          <p:cNvSpPr/>
          <p:nvPr/>
        </p:nvSpPr>
        <p:spPr>
          <a:xfrm>
            <a:off x="502920" y="384048"/>
            <a:ext cx="5084064" cy="310896"/>
          </a:xfrm>
          <a:prstGeom prst="rect">
            <a:avLst/>
          </a:prstGeom>
          <a:noFill/>
          <a:ln/>
        </p:spPr>
        <p:txBody>
          <a:bodyPr wrap="square" rtlCol="0" anchor="ctr"/>
          <a:lstStyle/>
          <a:p>
            <a:pPr marL="0" indent="0" algn="ctr">
              <a:buNone/>
            </a:pPr>
            <a:r>
              <a:rPr lang="en-US" sz="1100" b="1" kern="0" spc="100" dirty="0">
                <a:solidFill>
                  <a:srgbClr val="1B2340"/>
                </a:solidFill>
                <a:latin typeface="Calibri" pitchFamily="34" charset="0"/>
                <a:ea typeface="Calibri" pitchFamily="34" charset="-122"/>
                <a:cs typeface="Calibri" pitchFamily="34" charset="-120"/>
              </a:rPr>
              <a:t>SPRING BOOT &amp; REST APIS</a:t>
            </a:r>
            <a:endParaRPr lang="en-US" sz="1100" dirty="0"/>
          </a:p>
        </p:txBody>
      </p:sp>
      <p:sp>
        <p:nvSpPr>
          <p:cNvPr id="4" name="Text 2"/>
          <p:cNvSpPr/>
          <p:nvPr/>
        </p:nvSpPr>
        <p:spPr>
          <a:xfrm>
            <a:off x="502920" y="786384"/>
            <a:ext cx="11155680" cy="868680"/>
          </a:xfrm>
          <a:prstGeom prst="rect">
            <a:avLst/>
          </a:prstGeom>
          <a:noFill/>
          <a:ln/>
        </p:spPr>
        <p:txBody>
          <a:bodyPr wrap="square" rtlCol="0" anchor="t"/>
          <a:lstStyle/>
          <a:p>
            <a:pPr marL="0" indent="0">
              <a:lnSpc>
                <a:spcPct val="102000"/>
              </a:lnSpc>
              <a:buNone/>
            </a:pPr>
            <a:r>
              <a:rPr lang="en-US" sz="2500" b="1" dirty="0">
                <a:solidFill>
                  <a:srgbClr val="1B2340"/>
                </a:solidFill>
                <a:latin typeface="Century Schoolbook" pitchFamily="34" charset="0"/>
                <a:ea typeface="Century Schoolbook" pitchFamily="34" charset="-122"/>
                <a:cs typeface="Century Schoolbook" pitchFamily="34" charset="-120"/>
              </a:rPr>
              <a:t>Difference between GET, POST, PUT, and PATCH.</a:t>
            </a:r>
            <a:endParaRPr lang="en-US" sz="2500" dirty="0"/>
          </a:p>
        </p:txBody>
      </p:sp>
      <p:sp>
        <p:nvSpPr>
          <p:cNvPr id="5" name="Shape 3"/>
          <p:cNvSpPr/>
          <p:nvPr/>
        </p:nvSpPr>
        <p:spPr>
          <a:xfrm>
            <a:off x="502920" y="1810512"/>
            <a:ext cx="164592" cy="274320"/>
          </a:xfrm>
          <a:prstGeom prst="roundRect">
            <a:avLst>
              <a:gd name="adj" fmla="val 22222"/>
            </a:avLst>
          </a:prstGeom>
          <a:solidFill>
            <a:srgbClr val="E8A33D"/>
          </a:solidFill>
          <a:ln/>
        </p:spPr>
      </p:sp>
      <p:sp>
        <p:nvSpPr>
          <p:cNvPr id="6" name="Text 4"/>
          <p:cNvSpPr/>
          <p:nvPr/>
        </p:nvSpPr>
        <p:spPr>
          <a:xfrm>
            <a:off x="758952" y="1783080"/>
            <a:ext cx="4315968" cy="329184"/>
          </a:xfrm>
          <a:prstGeom prst="rect">
            <a:avLst/>
          </a:prstGeom>
          <a:noFill/>
          <a:ln/>
        </p:spPr>
        <p:txBody>
          <a:bodyPr wrap="square" rtlCol="0" anchor="ctr"/>
          <a:lstStyle/>
          <a:p>
            <a:pPr marL="0" indent="0">
              <a:buNone/>
            </a:pPr>
            <a:r>
              <a:rPr lang="en-US" sz="1300" b="1" kern="0" spc="50" dirty="0">
                <a:solidFill>
                  <a:srgbClr val="1B2340"/>
                </a:solidFill>
                <a:latin typeface="Calibri" pitchFamily="34" charset="0"/>
                <a:ea typeface="Calibri" pitchFamily="34" charset="-122"/>
                <a:cs typeface="Calibri" pitchFamily="34" charset="-120"/>
              </a:rPr>
              <a:t>DEFINITION / CONCEPT</a:t>
            </a:r>
            <a:endParaRPr lang="en-US" sz="1300" dirty="0"/>
          </a:p>
        </p:txBody>
      </p:sp>
      <p:sp>
        <p:nvSpPr>
          <p:cNvPr id="7" name="Shape 5"/>
          <p:cNvSpPr/>
          <p:nvPr/>
        </p:nvSpPr>
        <p:spPr>
          <a:xfrm>
            <a:off x="502920" y="2121408"/>
            <a:ext cx="11201400" cy="914400"/>
          </a:xfrm>
          <a:prstGeom prst="roundRect">
            <a:avLst>
              <a:gd name="adj" fmla="val 8000"/>
            </a:avLst>
          </a:prstGeom>
          <a:solidFill>
            <a:srgbClr val="F7F7FA"/>
          </a:solidFill>
          <a:ln w="12700">
            <a:solidFill>
              <a:srgbClr val="E4E6EF"/>
            </a:solidFill>
            <a:prstDash val="solid"/>
          </a:ln>
        </p:spPr>
      </p:sp>
      <p:sp>
        <p:nvSpPr>
          <p:cNvPr id="8" name="Text 6"/>
          <p:cNvSpPr/>
          <p:nvPr/>
        </p:nvSpPr>
        <p:spPr>
          <a:xfrm>
            <a:off x="758952" y="2304288"/>
            <a:ext cx="10689336" cy="548640"/>
          </a:xfrm>
          <a:prstGeom prst="rect">
            <a:avLst/>
          </a:prstGeom>
          <a:noFill/>
          <a:ln/>
        </p:spPr>
        <p:txBody>
          <a:bodyPr wrap="square" lIns="0" tIns="0" rIns="0" bIns="0" rtlCol="0" anchor="t"/>
          <a:lstStyle/>
          <a:p>
            <a:pPr marL="0" indent="0">
              <a:lnSpc>
                <a:spcPct val="115000"/>
              </a:lnSpc>
              <a:buNone/>
            </a:pPr>
            <a:r>
              <a:rPr lang="en-US" sz="1450" dirty="0">
                <a:solidFill>
                  <a:srgbClr val="1B2340"/>
                </a:solidFill>
                <a:latin typeface="Calibri" pitchFamily="34" charset="0"/>
                <a:ea typeface="Calibri" pitchFamily="34" charset="-122"/>
                <a:cs typeface="Calibri" pitchFamily="34" charset="-120"/>
              </a:rPr>
              <a:t>These are HTTP methods that define what kind of operation a client wants to perform on a resource in a REST API.</a:t>
            </a:r>
            <a:endParaRPr lang="en-US" sz="1450" dirty="0"/>
          </a:p>
        </p:txBody>
      </p:sp>
      <p:sp>
        <p:nvSpPr>
          <p:cNvPr id="9" name="Shape 7"/>
          <p:cNvSpPr/>
          <p:nvPr/>
        </p:nvSpPr>
        <p:spPr>
          <a:xfrm>
            <a:off x="502920" y="3200400"/>
            <a:ext cx="164592" cy="274320"/>
          </a:xfrm>
          <a:prstGeom prst="roundRect">
            <a:avLst>
              <a:gd name="adj" fmla="val 22222"/>
            </a:avLst>
          </a:prstGeom>
          <a:solidFill>
            <a:srgbClr val="3FBFAE"/>
          </a:solidFill>
          <a:ln/>
        </p:spPr>
      </p:sp>
      <p:sp>
        <p:nvSpPr>
          <p:cNvPr id="10" name="Text 8"/>
          <p:cNvSpPr/>
          <p:nvPr/>
        </p:nvSpPr>
        <p:spPr>
          <a:xfrm>
            <a:off x="758952" y="3172968"/>
            <a:ext cx="4315968" cy="329184"/>
          </a:xfrm>
          <a:prstGeom prst="rect">
            <a:avLst/>
          </a:prstGeom>
          <a:noFill/>
          <a:ln/>
        </p:spPr>
        <p:txBody>
          <a:bodyPr wrap="square" rtlCol="0" anchor="ctr"/>
          <a:lstStyle/>
          <a:p>
            <a:pPr marL="0" indent="0">
              <a:buNone/>
            </a:pPr>
            <a:r>
              <a:rPr lang="en-US" sz="1300" b="1" kern="0" spc="50" dirty="0">
                <a:solidFill>
                  <a:srgbClr val="1B2340"/>
                </a:solidFill>
                <a:latin typeface="Calibri" pitchFamily="34" charset="0"/>
                <a:ea typeface="Calibri" pitchFamily="34" charset="-122"/>
                <a:cs typeface="Calibri" pitchFamily="34" charset="-120"/>
              </a:rPr>
              <a:t>EXPLANATION</a:t>
            </a:r>
            <a:endParaRPr lang="en-US" sz="1300" dirty="0"/>
          </a:p>
        </p:txBody>
      </p:sp>
      <p:sp>
        <p:nvSpPr>
          <p:cNvPr id="11" name="Text 9"/>
          <p:cNvSpPr/>
          <p:nvPr/>
        </p:nvSpPr>
        <p:spPr>
          <a:xfrm>
            <a:off x="502920" y="3529584"/>
            <a:ext cx="6858000" cy="2331720"/>
          </a:xfrm>
          <a:prstGeom prst="rect">
            <a:avLst/>
          </a:prstGeom>
          <a:noFill/>
          <a:ln/>
        </p:spPr>
        <p:txBody>
          <a:bodyPr wrap="square" lIns="0" tIns="0" rIns="0" bIns="0" rtlCol="0" anchor="t"/>
          <a:lstStyle/>
          <a:p>
            <a:pPr marL="177800" indent="-177800">
              <a:spcAft>
                <a:spcPts val="800"/>
              </a:spcAft>
              <a:buSzPct val="100000"/>
              <a:buChar char="•"/>
            </a:pPr>
            <a:r>
              <a:rPr lang="en-US" sz="1300" dirty="0">
                <a:solidFill>
                  <a:srgbClr val="1B2340"/>
                </a:solidFill>
                <a:latin typeface="Calibri" pitchFamily="34" charset="0"/>
                <a:ea typeface="Calibri" pitchFamily="34" charset="-122"/>
                <a:cs typeface="Calibri" pitchFamily="34" charset="-120"/>
              </a:rPr>
              <a:t>GET - retrieve data, no changes made, safe to repeat</a:t>
            </a:r>
            <a:endParaRPr lang="en-US" sz="1300" dirty="0"/>
          </a:p>
          <a:p>
            <a:pPr marL="177800" indent="-177800">
              <a:spcAft>
                <a:spcPts val="800"/>
              </a:spcAft>
              <a:buSzPct val="100000"/>
              <a:buChar char="•"/>
            </a:pPr>
            <a:r>
              <a:rPr lang="en-US" sz="1300" dirty="0">
                <a:solidFill>
                  <a:srgbClr val="1B2340"/>
                </a:solidFill>
                <a:latin typeface="Calibri" pitchFamily="34" charset="0"/>
                <a:ea typeface="Calibri" pitchFamily="34" charset="-122"/>
                <a:cs typeface="Calibri" pitchFamily="34" charset="-120"/>
              </a:rPr>
              <a:t>POST - create a new resource</a:t>
            </a:r>
            <a:endParaRPr lang="en-US" sz="1300" dirty="0"/>
          </a:p>
          <a:p>
            <a:pPr marL="177800" indent="-177800">
              <a:spcAft>
                <a:spcPts val="800"/>
              </a:spcAft>
              <a:buSzPct val="100000"/>
              <a:buChar char="•"/>
            </a:pPr>
            <a:r>
              <a:rPr lang="en-US" sz="1300" dirty="0">
                <a:solidFill>
                  <a:srgbClr val="1B2340"/>
                </a:solidFill>
                <a:latin typeface="Calibri" pitchFamily="34" charset="0"/>
                <a:ea typeface="Calibri" pitchFamily="34" charset="-122"/>
                <a:cs typeface="Calibri" pitchFamily="34" charset="-120"/>
              </a:rPr>
              <a:t>PUT - update/replace an entire resource</a:t>
            </a:r>
            <a:endParaRPr lang="en-US" sz="1300" dirty="0"/>
          </a:p>
          <a:p>
            <a:pPr marL="177800" indent="-177800">
              <a:spcAft>
                <a:spcPts val="800"/>
              </a:spcAft>
              <a:buSzPct val="100000"/>
              <a:buChar char="•"/>
            </a:pPr>
            <a:r>
              <a:rPr lang="en-US" sz="1300" dirty="0">
                <a:solidFill>
                  <a:srgbClr val="1B2340"/>
                </a:solidFill>
                <a:latin typeface="Calibri" pitchFamily="34" charset="0"/>
                <a:ea typeface="Calibri" pitchFamily="34" charset="-122"/>
                <a:cs typeface="Calibri" pitchFamily="34" charset="-120"/>
              </a:rPr>
              <a:t>PATCH - partially update only specific fields of a resource</a:t>
            </a:r>
            <a:endParaRPr lang="en-US" sz="1300" dirty="0"/>
          </a:p>
        </p:txBody>
      </p:sp>
      <p:sp>
        <p:nvSpPr>
          <p:cNvPr id="12" name="Shape 10"/>
          <p:cNvSpPr/>
          <p:nvPr/>
        </p:nvSpPr>
        <p:spPr>
          <a:xfrm>
            <a:off x="7589520" y="3200400"/>
            <a:ext cx="4114800" cy="2194560"/>
          </a:xfrm>
          <a:prstGeom prst="roundRect">
            <a:avLst>
              <a:gd name="adj" fmla="val 3333"/>
            </a:avLst>
          </a:prstGeom>
          <a:solidFill>
            <a:srgbClr val="FDF3E3"/>
          </a:solidFill>
          <a:ln/>
        </p:spPr>
      </p:sp>
      <p:sp>
        <p:nvSpPr>
          <p:cNvPr id="13" name="Text 11"/>
          <p:cNvSpPr/>
          <p:nvPr/>
        </p:nvSpPr>
        <p:spPr>
          <a:xfrm>
            <a:off x="7790688" y="3310128"/>
            <a:ext cx="3712464" cy="274320"/>
          </a:xfrm>
          <a:prstGeom prst="rect">
            <a:avLst/>
          </a:prstGeom>
          <a:noFill/>
          <a:ln/>
        </p:spPr>
        <p:txBody>
          <a:bodyPr wrap="square" rtlCol="0" anchor="ctr"/>
          <a:lstStyle/>
          <a:p>
            <a:pPr marL="0" indent="0">
              <a:buNone/>
            </a:pPr>
            <a:r>
              <a:rPr lang="en-US" sz="1100" b="1" kern="0" spc="50" dirty="0">
                <a:solidFill>
                  <a:srgbClr val="C9862A"/>
                </a:solidFill>
                <a:latin typeface="Calibri" pitchFamily="34" charset="0"/>
                <a:ea typeface="Calibri" pitchFamily="34" charset="-122"/>
                <a:cs typeface="Calibri" pitchFamily="34" charset="-120"/>
              </a:rPr>
              <a:t>💡 REAL-LIFE ANALOGY</a:t>
            </a:r>
            <a:endParaRPr lang="en-US" sz="1100" dirty="0"/>
          </a:p>
        </p:txBody>
      </p:sp>
      <p:sp>
        <p:nvSpPr>
          <p:cNvPr id="14" name="Text 12"/>
          <p:cNvSpPr/>
          <p:nvPr/>
        </p:nvSpPr>
        <p:spPr>
          <a:xfrm>
            <a:off x="7790688" y="3602736"/>
            <a:ext cx="3712464" cy="1664208"/>
          </a:xfrm>
          <a:prstGeom prst="rect">
            <a:avLst/>
          </a:prstGeom>
          <a:noFill/>
          <a:ln/>
        </p:spPr>
        <p:txBody>
          <a:bodyPr wrap="square" lIns="0" tIns="0" rIns="0" bIns="0" rtlCol="0" anchor="t"/>
          <a:lstStyle/>
          <a:p>
            <a:pPr marL="0" indent="0">
              <a:lnSpc>
                <a:spcPct val="110000"/>
              </a:lnSpc>
              <a:buNone/>
            </a:pPr>
            <a:r>
              <a:rPr lang="en-US" sz="1250" i="1" dirty="0">
                <a:solidFill>
                  <a:srgbClr val="1B2340"/>
                </a:solidFill>
                <a:latin typeface="Calibri" pitchFamily="34" charset="0"/>
                <a:ea typeface="Calibri" pitchFamily="34" charset="-122"/>
                <a:cs typeface="Calibri" pitchFamily="34" charset="-120"/>
              </a:rPr>
              <a:t>Think of a library card system: GET is browsing the catalog, POST is registering a brand-new book, PUT is replacing the entire book record, and PATCH is just correcting one field, like the book's price.</a:t>
            </a:r>
            <a:endParaRPr lang="en-US" sz="1250" dirty="0"/>
          </a:p>
        </p:txBody>
      </p:sp>
      <p:sp>
        <p:nvSpPr>
          <p:cNvPr id="15" name="Shape 13"/>
          <p:cNvSpPr/>
          <p:nvPr/>
        </p:nvSpPr>
        <p:spPr>
          <a:xfrm>
            <a:off x="502920" y="5870448"/>
            <a:ext cx="11201400" cy="603504"/>
          </a:xfrm>
          <a:prstGeom prst="roundRect">
            <a:avLst>
              <a:gd name="adj" fmla="val 12121"/>
            </a:avLst>
          </a:prstGeom>
          <a:solidFill>
            <a:srgbClr val="1B2340"/>
          </a:solidFill>
          <a:ln/>
        </p:spPr>
      </p:sp>
      <p:sp>
        <p:nvSpPr>
          <p:cNvPr id="16" name="Text 14"/>
          <p:cNvSpPr/>
          <p:nvPr/>
        </p:nvSpPr>
        <p:spPr>
          <a:xfrm>
            <a:off x="731520" y="5961888"/>
            <a:ext cx="10744200" cy="256032"/>
          </a:xfrm>
          <a:prstGeom prst="rect">
            <a:avLst/>
          </a:prstGeom>
          <a:noFill/>
          <a:ln/>
        </p:spPr>
        <p:txBody>
          <a:bodyPr wrap="square" rtlCol="0" anchor="ctr"/>
          <a:lstStyle/>
          <a:p>
            <a:pPr marL="0" indent="0">
              <a:buNone/>
            </a:pPr>
            <a:r>
              <a:rPr lang="en-US" sz="1050" b="1" kern="0" spc="80" dirty="0">
                <a:solidFill>
                  <a:srgbClr val="E8A33D"/>
                </a:solidFill>
                <a:latin typeface="Calibri" pitchFamily="34" charset="0"/>
                <a:ea typeface="Calibri" pitchFamily="34" charset="-122"/>
                <a:cs typeface="Calibri" pitchFamily="34" charset="-120"/>
              </a:rPr>
              <a:t>ONE-LINE INTERVIEW ANSWER</a:t>
            </a:r>
            <a:endParaRPr lang="en-US" sz="1050" dirty="0"/>
          </a:p>
        </p:txBody>
      </p:sp>
      <p:sp>
        <p:nvSpPr>
          <p:cNvPr id="17" name="Text 15"/>
          <p:cNvSpPr/>
          <p:nvPr/>
        </p:nvSpPr>
        <p:spPr>
          <a:xfrm>
            <a:off x="731520" y="6217920"/>
            <a:ext cx="10744200" cy="146304"/>
          </a:xfrm>
          <a:prstGeom prst="rect">
            <a:avLst/>
          </a:prstGeom>
          <a:noFill/>
          <a:ln/>
        </p:spPr>
        <p:txBody>
          <a:bodyPr wrap="square" lIns="0" tIns="0" rIns="0" bIns="0" rtlCol="0" anchor="t"/>
          <a:lstStyle/>
          <a:p>
            <a:pPr marL="0" indent="0">
              <a:lnSpc>
                <a:spcPct val="105000"/>
              </a:lnSpc>
              <a:buNone/>
            </a:pPr>
            <a:r>
              <a:rPr lang="en-US" sz="1250" dirty="0">
                <a:solidFill>
                  <a:srgbClr val="FFFFFF"/>
                </a:solidFill>
                <a:latin typeface="Calibri" pitchFamily="34" charset="0"/>
                <a:ea typeface="Calibri" pitchFamily="34" charset="-122"/>
                <a:cs typeface="Calibri" pitchFamily="34" charset="-120"/>
              </a:rPr>
              <a:t>GET reads data, POST creates a new resource, PUT replaces a resource entirely, and PATCH updates it partially.</a:t>
            </a:r>
            <a:endParaRPr lang="en-US" sz="1250" dirty="0"/>
          </a:p>
        </p:txBody>
      </p:sp>
      <p:sp>
        <p:nvSpPr>
          <p:cNvPr id="18" name="Text 16"/>
          <p:cNvSpPr/>
          <p:nvPr/>
        </p:nvSpPr>
        <p:spPr>
          <a:xfrm>
            <a:off x="457200" y="6583680"/>
            <a:ext cx="5486400" cy="228600"/>
          </a:xfrm>
          <a:prstGeom prst="rect">
            <a:avLst/>
          </a:prstGeom>
          <a:noFill/>
          <a:ln/>
        </p:spPr>
        <p:txBody>
          <a:bodyPr wrap="square" rtlCol="0" anchor="ctr"/>
          <a:lstStyle/>
          <a:p>
            <a:pPr marL="0" indent="0" algn="l">
              <a:buNone/>
            </a:pPr>
            <a:r>
              <a:rPr lang="en-US" sz="850" dirty="0">
                <a:solidFill>
                  <a:srgbClr val="5B6178"/>
                </a:solidFill>
                <a:latin typeface="Calibri" pitchFamily="34" charset="0"/>
                <a:ea typeface="Calibri" pitchFamily="34" charset="-122"/>
                <a:cs typeface="Calibri" pitchFamily="34" charset="-120"/>
              </a:rPr>
              <a:t>Java &amp; Full-Stack Interview Prep</a:t>
            </a:r>
            <a:endParaRPr lang="en-US" sz="8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1B2340"/>
        </a:solidFill>
        <a:effectLst/>
      </p:bgPr>
    </p:bg>
    <p:spTree>
      <p:nvGrpSpPr>
        <p:cNvPr id="1" name=""/>
        <p:cNvGrpSpPr/>
        <p:nvPr/>
      </p:nvGrpSpPr>
      <p:grpSpPr>
        <a:xfrm>
          <a:off x="0" y="0"/>
          <a:ext cx="0" cy="0"/>
          <a:chOff x="0" y="0"/>
          <a:chExt cx="0" cy="0"/>
        </a:xfrm>
      </p:grpSpPr>
      <p:sp>
        <p:nvSpPr>
          <p:cNvPr id="2" name="Shape 0"/>
          <p:cNvSpPr/>
          <p:nvPr/>
        </p:nvSpPr>
        <p:spPr>
          <a:xfrm>
            <a:off x="9692640" y="-1463040"/>
            <a:ext cx="4206240" cy="4206240"/>
          </a:xfrm>
          <a:prstGeom prst="ellipse">
            <a:avLst/>
          </a:prstGeom>
          <a:solidFill>
            <a:srgbClr val="232B4D"/>
          </a:solidFill>
          <a:ln/>
        </p:spPr>
      </p:sp>
      <p:sp>
        <p:nvSpPr>
          <p:cNvPr id="3" name="Text 1"/>
          <p:cNvSpPr/>
          <p:nvPr/>
        </p:nvSpPr>
        <p:spPr>
          <a:xfrm>
            <a:off x="822960" y="1920240"/>
            <a:ext cx="2743200" cy="1463040"/>
          </a:xfrm>
          <a:prstGeom prst="rect">
            <a:avLst/>
          </a:prstGeom>
          <a:noFill/>
          <a:ln/>
        </p:spPr>
        <p:txBody>
          <a:bodyPr wrap="square" rtlCol="0" anchor="ctr"/>
          <a:lstStyle/>
          <a:p>
            <a:pPr marL="0" indent="0">
              <a:buNone/>
            </a:pPr>
            <a:r>
              <a:rPr lang="en-US" sz="6400" b="1" dirty="0">
                <a:solidFill>
                  <a:srgbClr val="232B4D"/>
                </a:solidFill>
                <a:latin typeface="Century Schoolbook" pitchFamily="34" charset="0"/>
                <a:ea typeface="Century Schoolbook" pitchFamily="34" charset="-122"/>
                <a:cs typeface="Century Schoolbook" pitchFamily="34" charset="-120"/>
              </a:rPr>
              <a:t>04</a:t>
            </a:r>
            <a:endParaRPr lang="en-US" sz="6400" dirty="0"/>
          </a:p>
        </p:txBody>
      </p:sp>
      <p:sp>
        <p:nvSpPr>
          <p:cNvPr id="4" name="Shape 2"/>
          <p:cNvSpPr/>
          <p:nvPr/>
        </p:nvSpPr>
        <p:spPr>
          <a:xfrm>
            <a:off x="868680" y="3383280"/>
            <a:ext cx="1005840" cy="82296"/>
          </a:xfrm>
          <a:prstGeom prst="rect">
            <a:avLst/>
          </a:prstGeom>
          <a:solidFill>
            <a:srgbClr val="E8A33D"/>
          </a:solidFill>
          <a:ln/>
        </p:spPr>
      </p:sp>
      <p:sp>
        <p:nvSpPr>
          <p:cNvPr id="5" name="Text 3"/>
          <p:cNvSpPr/>
          <p:nvPr/>
        </p:nvSpPr>
        <p:spPr>
          <a:xfrm>
            <a:off x="822960" y="3520440"/>
            <a:ext cx="9601200" cy="1005840"/>
          </a:xfrm>
          <a:prstGeom prst="rect">
            <a:avLst/>
          </a:prstGeom>
          <a:noFill/>
          <a:ln/>
        </p:spPr>
        <p:txBody>
          <a:bodyPr wrap="square" rtlCol="0" anchor="ctr"/>
          <a:lstStyle/>
          <a:p>
            <a:pPr marL="0" indent="0">
              <a:buNone/>
            </a:pPr>
            <a:r>
              <a:rPr lang="en-US" sz="3800" b="1" dirty="0">
                <a:solidFill>
                  <a:srgbClr val="FFFFFF"/>
                </a:solidFill>
                <a:latin typeface="Century Schoolbook" pitchFamily="34" charset="0"/>
                <a:ea typeface="Century Schoolbook" pitchFamily="34" charset="-122"/>
                <a:cs typeface="Century Schoolbook" pitchFamily="34" charset="-120"/>
              </a:rPr>
              <a:t>React &amp; Frontend</a:t>
            </a:r>
            <a:endParaRPr lang="en-US" sz="3800" dirty="0"/>
          </a:p>
        </p:txBody>
      </p:sp>
      <p:sp>
        <p:nvSpPr>
          <p:cNvPr id="6" name="Text 4"/>
          <p:cNvSpPr/>
          <p:nvPr/>
        </p:nvSpPr>
        <p:spPr>
          <a:xfrm>
            <a:off x="822960" y="4434840"/>
            <a:ext cx="8229600" cy="457200"/>
          </a:xfrm>
          <a:prstGeom prst="rect">
            <a:avLst/>
          </a:prstGeom>
          <a:noFill/>
          <a:ln/>
        </p:spPr>
        <p:txBody>
          <a:bodyPr wrap="square" rtlCol="0" anchor="ctr"/>
          <a:lstStyle/>
          <a:p>
            <a:pPr marL="0" indent="0">
              <a:buNone/>
            </a:pPr>
            <a:r>
              <a:rPr lang="en-US" sz="1400" i="1" dirty="0">
                <a:solidFill>
                  <a:srgbClr val="C3C8DC"/>
                </a:solidFill>
                <a:latin typeface="Calibri" pitchFamily="34" charset="0"/>
                <a:ea typeface="Calibri" pitchFamily="34" charset="-122"/>
                <a:cs typeface="Calibri" pitchFamily="34" charset="-120"/>
              </a:rPr>
              <a:t>5 slides covering commonly asked interview questions</a:t>
            </a:r>
            <a:endParaRPr lang="en-US" sz="1400" dirty="0"/>
          </a:p>
        </p:txBody>
      </p:sp>
      <p:sp>
        <p:nvSpPr>
          <p:cNvPr id="7" name="Text 5"/>
          <p:cNvSpPr/>
          <p:nvPr/>
        </p:nvSpPr>
        <p:spPr>
          <a:xfrm>
            <a:off x="457200" y="6583680"/>
            <a:ext cx="5486400" cy="228600"/>
          </a:xfrm>
          <a:prstGeom prst="rect">
            <a:avLst/>
          </a:prstGeom>
          <a:noFill/>
          <a:ln/>
        </p:spPr>
        <p:txBody>
          <a:bodyPr wrap="square" rtlCol="0" anchor="ctr"/>
          <a:lstStyle/>
          <a:p>
            <a:pPr marL="0" indent="0" algn="l">
              <a:buNone/>
            </a:pPr>
            <a:r>
              <a:rPr lang="en-US" sz="850" dirty="0">
                <a:solidFill>
                  <a:srgbClr val="5B6178"/>
                </a:solidFill>
                <a:latin typeface="Calibri" pitchFamily="34" charset="0"/>
                <a:ea typeface="Calibri" pitchFamily="34" charset="-122"/>
                <a:cs typeface="Calibri" pitchFamily="34" charset="-120"/>
              </a:rPr>
              <a:t>Java &amp; Full-Stack Interview Prep</a:t>
            </a:r>
            <a:endParaRPr lang="en-US" sz="8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Shape 0"/>
          <p:cNvSpPr/>
          <p:nvPr/>
        </p:nvSpPr>
        <p:spPr>
          <a:xfrm>
            <a:off x="502920" y="384048"/>
            <a:ext cx="3675888" cy="310896"/>
          </a:xfrm>
          <a:prstGeom prst="roundRect">
            <a:avLst>
              <a:gd name="adj" fmla="val 23529"/>
            </a:avLst>
          </a:prstGeom>
          <a:solidFill>
            <a:srgbClr val="E8A33D"/>
          </a:solidFill>
          <a:ln/>
        </p:spPr>
      </p:sp>
      <p:sp>
        <p:nvSpPr>
          <p:cNvPr id="3" name="Text 1"/>
          <p:cNvSpPr/>
          <p:nvPr/>
        </p:nvSpPr>
        <p:spPr>
          <a:xfrm>
            <a:off x="502920" y="384048"/>
            <a:ext cx="3675888" cy="310896"/>
          </a:xfrm>
          <a:prstGeom prst="rect">
            <a:avLst/>
          </a:prstGeom>
          <a:noFill/>
          <a:ln/>
        </p:spPr>
        <p:txBody>
          <a:bodyPr wrap="square" rtlCol="0" anchor="ctr"/>
          <a:lstStyle/>
          <a:p>
            <a:pPr marL="0" indent="0" algn="ctr">
              <a:buNone/>
            </a:pPr>
            <a:r>
              <a:rPr lang="en-US" sz="1100" b="1" kern="0" spc="100" dirty="0">
                <a:solidFill>
                  <a:srgbClr val="1B2340"/>
                </a:solidFill>
                <a:latin typeface="Calibri" pitchFamily="34" charset="0"/>
                <a:ea typeface="Calibri" pitchFamily="34" charset="-122"/>
                <a:cs typeface="Calibri" pitchFamily="34" charset="-120"/>
              </a:rPr>
              <a:t>REACT &amp; FRONTEND</a:t>
            </a:r>
            <a:endParaRPr lang="en-US" sz="1100" dirty="0"/>
          </a:p>
        </p:txBody>
      </p:sp>
      <p:sp>
        <p:nvSpPr>
          <p:cNvPr id="4" name="Text 2"/>
          <p:cNvSpPr/>
          <p:nvPr/>
        </p:nvSpPr>
        <p:spPr>
          <a:xfrm>
            <a:off x="502920" y="786384"/>
            <a:ext cx="11155680" cy="868680"/>
          </a:xfrm>
          <a:prstGeom prst="rect">
            <a:avLst/>
          </a:prstGeom>
          <a:noFill/>
          <a:ln/>
        </p:spPr>
        <p:txBody>
          <a:bodyPr wrap="square" rtlCol="0" anchor="t"/>
          <a:lstStyle/>
          <a:p>
            <a:pPr marL="0" indent="0">
              <a:lnSpc>
                <a:spcPct val="102000"/>
              </a:lnSpc>
              <a:buNone/>
            </a:pPr>
            <a:r>
              <a:rPr lang="en-US" sz="2500" b="1" dirty="0">
                <a:solidFill>
                  <a:srgbClr val="1B2340"/>
                </a:solidFill>
                <a:latin typeface="Century Schoolbook" pitchFamily="34" charset="0"/>
                <a:ea typeface="Century Schoolbook" pitchFamily="34" charset="-122"/>
                <a:cs typeface="Century Schoolbook" pitchFamily="34" charset="-120"/>
              </a:rPr>
              <a:t>What is React? Explain Virtual DOM vs Real DOM.</a:t>
            </a:r>
            <a:endParaRPr lang="en-US" sz="2500" dirty="0"/>
          </a:p>
        </p:txBody>
      </p:sp>
      <p:sp>
        <p:nvSpPr>
          <p:cNvPr id="5" name="Shape 3"/>
          <p:cNvSpPr/>
          <p:nvPr/>
        </p:nvSpPr>
        <p:spPr>
          <a:xfrm>
            <a:off x="502920" y="1810512"/>
            <a:ext cx="164592" cy="274320"/>
          </a:xfrm>
          <a:prstGeom prst="roundRect">
            <a:avLst>
              <a:gd name="adj" fmla="val 22222"/>
            </a:avLst>
          </a:prstGeom>
          <a:solidFill>
            <a:srgbClr val="E8A33D"/>
          </a:solidFill>
          <a:ln/>
        </p:spPr>
      </p:sp>
      <p:sp>
        <p:nvSpPr>
          <p:cNvPr id="6" name="Text 4"/>
          <p:cNvSpPr/>
          <p:nvPr/>
        </p:nvSpPr>
        <p:spPr>
          <a:xfrm>
            <a:off x="758952" y="1783080"/>
            <a:ext cx="4315968" cy="329184"/>
          </a:xfrm>
          <a:prstGeom prst="rect">
            <a:avLst/>
          </a:prstGeom>
          <a:noFill/>
          <a:ln/>
        </p:spPr>
        <p:txBody>
          <a:bodyPr wrap="square" rtlCol="0" anchor="ctr"/>
          <a:lstStyle/>
          <a:p>
            <a:pPr marL="0" indent="0">
              <a:buNone/>
            </a:pPr>
            <a:r>
              <a:rPr lang="en-US" sz="1300" b="1" kern="0" spc="50" dirty="0">
                <a:solidFill>
                  <a:srgbClr val="1B2340"/>
                </a:solidFill>
                <a:latin typeface="Calibri" pitchFamily="34" charset="0"/>
                <a:ea typeface="Calibri" pitchFamily="34" charset="-122"/>
                <a:cs typeface="Calibri" pitchFamily="34" charset="-120"/>
              </a:rPr>
              <a:t>DEFINITION / CONCEPT</a:t>
            </a:r>
            <a:endParaRPr lang="en-US" sz="1300" dirty="0"/>
          </a:p>
        </p:txBody>
      </p:sp>
      <p:sp>
        <p:nvSpPr>
          <p:cNvPr id="7" name="Shape 5"/>
          <p:cNvSpPr/>
          <p:nvPr/>
        </p:nvSpPr>
        <p:spPr>
          <a:xfrm>
            <a:off x="502920" y="2121408"/>
            <a:ext cx="11201400" cy="914400"/>
          </a:xfrm>
          <a:prstGeom prst="roundRect">
            <a:avLst>
              <a:gd name="adj" fmla="val 8000"/>
            </a:avLst>
          </a:prstGeom>
          <a:solidFill>
            <a:srgbClr val="F7F7FA"/>
          </a:solidFill>
          <a:ln w="12700">
            <a:solidFill>
              <a:srgbClr val="E4E6EF"/>
            </a:solidFill>
            <a:prstDash val="solid"/>
          </a:ln>
        </p:spPr>
      </p:sp>
      <p:sp>
        <p:nvSpPr>
          <p:cNvPr id="8" name="Text 6"/>
          <p:cNvSpPr/>
          <p:nvPr/>
        </p:nvSpPr>
        <p:spPr>
          <a:xfrm>
            <a:off x="758952" y="2304288"/>
            <a:ext cx="10689336" cy="548640"/>
          </a:xfrm>
          <a:prstGeom prst="rect">
            <a:avLst/>
          </a:prstGeom>
          <a:noFill/>
          <a:ln/>
        </p:spPr>
        <p:txBody>
          <a:bodyPr wrap="square" lIns="0" tIns="0" rIns="0" bIns="0" rtlCol="0" anchor="t"/>
          <a:lstStyle/>
          <a:p>
            <a:pPr marL="0" indent="0">
              <a:lnSpc>
                <a:spcPct val="115000"/>
              </a:lnSpc>
              <a:buNone/>
            </a:pPr>
            <a:r>
              <a:rPr lang="en-US" sz="1450" dirty="0">
                <a:solidFill>
                  <a:srgbClr val="1B2340"/>
                </a:solidFill>
                <a:latin typeface="Calibri" pitchFamily="34" charset="0"/>
                <a:ea typeface="Calibri" pitchFamily="34" charset="-122"/>
                <a:cs typeface="Calibri" pitchFamily="34" charset="-120"/>
              </a:rPr>
              <a:t>React is a JavaScript library for building fast, interactive user interfaces using reusable components. It uses a Virtual DOM to update the screen efficiently.</a:t>
            </a:r>
            <a:endParaRPr lang="en-US" sz="1450" dirty="0"/>
          </a:p>
        </p:txBody>
      </p:sp>
      <p:sp>
        <p:nvSpPr>
          <p:cNvPr id="9" name="Shape 7"/>
          <p:cNvSpPr/>
          <p:nvPr/>
        </p:nvSpPr>
        <p:spPr>
          <a:xfrm>
            <a:off x="502920" y="3200400"/>
            <a:ext cx="164592" cy="274320"/>
          </a:xfrm>
          <a:prstGeom prst="roundRect">
            <a:avLst>
              <a:gd name="adj" fmla="val 22222"/>
            </a:avLst>
          </a:prstGeom>
          <a:solidFill>
            <a:srgbClr val="3FBFAE"/>
          </a:solidFill>
          <a:ln/>
        </p:spPr>
      </p:sp>
      <p:sp>
        <p:nvSpPr>
          <p:cNvPr id="10" name="Text 8"/>
          <p:cNvSpPr/>
          <p:nvPr/>
        </p:nvSpPr>
        <p:spPr>
          <a:xfrm>
            <a:off x="758952" y="3172968"/>
            <a:ext cx="4315968" cy="329184"/>
          </a:xfrm>
          <a:prstGeom prst="rect">
            <a:avLst/>
          </a:prstGeom>
          <a:noFill/>
          <a:ln/>
        </p:spPr>
        <p:txBody>
          <a:bodyPr wrap="square" rtlCol="0" anchor="ctr"/>
          <a:lstStyle/>
          <a:p>
            <a:pPr marL="0" indent="0">
              <a:buNone/>
            </a:pPr>
            <a:r>
              <a:rPr lang="en-US" sz="1300" b="1" kern="0" spc="50" dirty="0">
                <a:solidFill>
                  <a:srgbClr val="1B2340"/>
                </a:solidFill>
                <a:latin typeface="Calibri" pitchFamily="34" charset="0"/>
                <a:ea typeface="Calibri" pitchFamily="34" charset="-122"/>
                <a:cs typeface="Calibri" pitchFamily="34" charset="-120"/>
              </a:rPr>
              <a:t>EXPLANATION</a:t>
            </a:r>
            <a:endParaRPr lang="en-US" sz="1300" dirty="0"/>
          </a:p>
        </p:txBody>
      </p:sp>
      <p:sp>
        <p:nvSpPr>
          <p:cNvPr id="11" name="Text 9"/>
          <p:cNvSpPr/>
          <p:nvPr/>
        </p:nvSpPr>
        <p:spPr>
          <a:xfrm>
            <a:off x="502920" y="3529584"/>
            <a:ext cx="6858000" cy="2331720"/>
          </a:xfrm>
          <a:prstGeom prst="rect">
            <a:avLst/>
          </a:prstGeom>
          <a:noFill/>
          <a:ln/>
        </p:spPr>
        <p:txBody>
          <a:bodyPr wrap="square" lIns="0" tIns="0" rIns="0" bIns="0" rtlCol="0" anchor="t"/>
          <a:lstStyle/>
          <a:p>
            <a:pPr marL="177800" indent="-177800">
              <a:spcAft>
                <a:spcPts val="800"/>
              </a:spcAft>
              <a:buSzPct val="100000"/>
              <a:buChar char="•"/>
            </a:pPr>
            <a:r>
              <a:rPr lang="en-US" sz="1300" dirty="0">
                <a:solidFill>
                  <a:srgbClr val="1B2340"/>
                </a:solidFill>
                <a:latin typeface="Calibri" pitchFamily="34" charset="0"/>
                <a:ea typeface="Calibri" pitchFamily="34" charset="-122"/>
                <a:cs typeface="Calibri" pitchFamily="34" charset="-120"/>
              </a:rPr>
              <a:t>The Real DOM is the actual browser structure; updating it directly is slow</a:t>
            </a:r>
            <a:endParaRPr lang="en-US" sz="1300" dirty="0"/>
          </a:p>
          <a:p>
            <a:pPr marL="177800" indent="-177800">
              <a:spcAft>
                <a:spcPts val="800"/>
              </a:spcAft>
              <a:buSzPct val="100000"/>
              <a:buChar char="•"/>
            </a:pPr>
            <a:r>
              <a:rPr lang="en-US" sz="1300" dirty="0">
                <a:solidFill>
                  <a:srgbClr val="1B2340"/>
                </a:solidFill>
                <a:latin typeface="Calibri" pitchFamily="34" charset="0"/>
                <a:ea typeface="Calibri" pitchFamily="34" charset="-122"/>
                <a:cs typeface="Calibri" pitchFamily="34" charset="-120"/>
              </a:rPr>
              <a:t>React keeps a lightweight copy called the Virtual DOM in memory</a:t>
            </a:r>
            <a:endParaRPr lang="en-US" sz="1300" dirty="0"/>
          </a:p>
          <a:p>
            <a:pPr marL="177800" indent="-177800">
              <a:spcAft>
                <a:spcPts val="800"/>
              </a:spcAft>
              <a:buSzPct val="100000"/>
              <a:buChar char="•"/>
            </a:pPr>
            <a:r>
              <a:rPr lang="en-US" sz="1300" dirty="0">
                <a:solidFill>
                  <a:srgbClr val="1B2340"/>
                </a:solidFill>
                <a:latin typeface="Calibri" pitchFamily="34" charset="0"/>
                <a:ea typeface="Calibri" pitchFamily="34" charset="-122"/>
                <a:cs typeface="Calibri" pitchFamily="34" charset="-120"/>
              </a:rPr>
              <a:t>When data changes, React compares (diffs) the old and new Virtual DOM</a:t>
            </a:r>
            <a:endParaRPr lang="en-US" sz="1300" dirty="0"/>
          </a:p>
          <a:p>
            <a:pPr marL="177800" indent="-177800">
              <a:spcAft>
                <a:spcPts val="800"/>
              </a:spcAft>
              <a:buSzPct val="100000"/>
              <a:buChar char="•"/>
            </a:pPr>
            <a:r>
              <a:rPr lang="en-US" sz="1300" dirty="0">
                <a:solidFill>
                  <a:srgbClr val="1B2340"/>
                </a:solidFill>
                <a:latin typeface="Calibri" pitchFamily="34" charset="0"/>
                <a:ea typeface="Calibri" pitchFamily="34" charset="-122"/>
                <a:cs typeface="Calibri" pitchFamily="34" charset="-120"/>
              </a:rPr>
              <a:t>Only the specific changed parts are updated in the Real DOM, making updates fast</a:t>
            </a:r>
            <a:endParaRPr lang="en-US" sz="1300" dirty="0"/>
          </a:p>
        </p:txBody>
      </p:sp>
      <p:sp>
        <p:nvSpPr>
          <p:cNvPr id="12" name="Shape 10"/>
          <p:cNvSpPr/>
          <p:nvPr/>
        </p:nvSpPr>
        <p:spPr>
          <a:xfrm>
            <a:off x="7589520" y="3200400"/>
            <a:ext cx="4114800" cy="2194560"/>
          </a:xfrm>
          <a:prstGeom prst="roundRect">
            <a:avLst>
              <a:gd name="adj" fmla="val 3333"/>
            </a:avLst>
          </a:prstGeom>
          <a:solidFill>
            <a:srgbClr val="FDF3E3"/>
          </a:solidFill>
          <a:ln/>
        </p:spPr>
      </p:sp>
      <p:sp>
        <p:nvSpPr>
          <p:cNvPr id="13" name="Text 11"/>
          <p:cNvSpPr/>
          <p:nvPr/>
        </p:nvSpPr>
        <p:spPr>
          <a:xfrm>
            <a:off x="7790688" y="3310128"/>
            <a:ext cx="3712464" cy="274320"/>
          </a:xfrm>
          <a:prstGeom prst="rect">
            <a:avLst/>
          </a:prstGeom>
          <a:noFill/>
          <a:ln/>
        </p:spPr>
        <p:txBody>
          <a:bodyPr wrap="square" rtlCol="0" anchor="ctr"/>
          <a:lstStyle/>
          <a:p>
            <a:pPr marL="0" indent="0">
              <a:buNone/>
            </a:pPr>
            <a:r>
              <a:rPr lang="en-US" sz="1100" b="1" kern="0" spc="50" dirty="0">
                <a:solidFill>
                  <a:srgbClr val="C9862A"/>
                </a:solidFill>
                <a:latin typeface="Calibri" pitchFamily="34" charset="0"/>
                <a:ea typeface="Calibri" pitchFamily="34" charset="-122"/>
                <a:cs typeface="Calibri" pitchFamily="34" charset="-120"/>
              </a:rPr>
              <a:t>💡 REAL-LIFE ANALOGY</a:t>
            </a:r>
            <a:endParaRPr lang="en-US" sz="1100" dirty="0"/>
          </a:p>
        </p:txBody>
      </p:sp>
      <p:sp>
        <p:nvSpPr>
          <p:cNvPr id="14" name="Text 12"/>
          <p:cNvSpPr/>
          <p:nvPr/>
        </p:nvSpPr>
        <p:spPr>
          <a:xfrm>
            <a:off x="7790688" y="3602736"/>
            <a:ext cx="3712464" cy="1664208"/>
          </a:xfrm>
          <a:prstGeom prst="rect">
            <a:avLst/>
          </a:prstGeom>
          <a:noFill/>
          <a:ln/>
        </p:spPr>
        <p:txBody>
          <a:bodyPr wrap="square" lIns="0" tIns="0" rIns="0" bIns="0" rtlCol="0" anchor="t"/>
          <a:lstStyle/>
          <a:p>
            <a:pPr marL="0" indent="0">
              <a:lnSpc>
                <a:spcPct val="110000"/>
              </a:lnSpc>
              <a:buNone/>
            </a:pPr>
            <a:r>
              <a:rPr lang="en-US" sz="1250" i="1" dirty="0">
                <a:solidFill>
                  <a:srgbClr val="1B2340"/>
                </a:solidFill>
                <a:latin typeface="Calibri" pitchFamily="34" charset="0"/>
                <a:ea typeface="Calibri" pitchFamily="34" charset="-122"/>
                <a:cs typeface="Calibri" pitchFamily="34" charset="-120"/>
              </a:rPr>
              <a:t>Editing the Real DOM directly is like repainting an entire wall every time one word changes. The Virtual DOM is like proofreading on a draft copy first, then only touching up the exact word that changed on the final wall.</a:t>
            </a:r>
            <a:endParaRPr lang="en-US" sz="1250" dirty="0"/>
          </a:p>
        </p:txBody>
      </p:sp>
      <p:sp>
        <p:nvSpPr>
          <p:cNvPr id="15" name="Shape 13"/>
          <p:cNvSpPr/>
          <p:nvPr/>
        </p:nvSpPr>
        <p:spPr>
          <a:xfrm>
            <a:off x="502920" y="5870448"/>
            <a:ext cx="11201400" cy="603504"/>
          </a:xfrm>
          <a:prstGeom prst="roundRect">
            <a:avLst>
              <a:gd name="adj" fmla="val 12121"/>
            </a:avLst>
          </a:prstGeom>
          <a:solidFill>
            <a:srgbClr val="1B2340"/>
          </a:solidFill>
          <a:ln/>
        </p:spPr>
      </p:sp>
      <p:sp>
        <p:nvSpPr>
          <p:cNvPr id="16" name="Text 14"/>
          <p:cNvSpPr/>
          <p:nvPr/>
        </p:nvSpPr>
        <p:spPr>
          <a:xfrm>
            <a:off x="731520" y="5961888"/>
            <a:ext cx="10744200" cy="256032"/>
          </a:xfrm>
          <a:prstGeom prst="rect">
            <a:avLst/>
          </a:prstGeom>
          <a:noFill/>
          <a:ln/>
        </p:spPr>
        <p:txBody>
          <a:bodyPr wrap="square" rtlCol="0" anchor="ctr"/>
          <a:lstStyle/>
          <a:p>
            <a:pPr marL="0" indent="0">
              <a:buNone/>
            </a:pPr>
            <a:r>
              <a:rPr lang="en-US" sz="1050" b="1" kern="0" spc="80" dirty="0">
                <a:solidFill>
                  <a:srgbClr val="E8A33D"/>
                </a:solidFill>
                <a:latin typeface="Calibri" pitchFamily="34" charset="0"/>
                <a:ea typeface="Calibri" pitchFamily="34" charset="-122"/>
                <a:cs typeface="Calibri" pitchFamily="34" charset="-120"/>
              </a:rPr>
              <a:t>ONE-LINE INTERVIEW ANSWER</a:t>
            </a:r>
            <a:endParaRPr lang="en-US" sz="1050" dirty="0"/>
          </a:p>
        </p:txBody>
      </p:sp>
      <p:sp>
        <p:nvSpPr>
          <p:cNvPr id="17" name="Text 15"/>
          <p:cNvSpPr/>
          <p:nvPr/>
        </p:nvSpPr>
        <p:spPr>
          <a:xfrm>
            <a:off x="731520" y="6217920"/>
            <a:ext cx="10744200" cy="146304"/>
          </a:xfrm>
          <a:prstGeom prst="rect">
            <a:avLst/>
          </a:prstGeom>
          <a:noFill/>
          <a:ln/>
        </p:spPr>
        <p:txBody>
          <a:bodyPr wrap="square" lIns="0" tIns="0" rIns="0" bIns="0" rtlCol="0" anchor="t"/>
          <a:lstStyle/>
          <a:p>
            <a:pPr marL="0" indent="0">
              <a:lnSpc>
                <a:spcPct val="105000"/>
              </a:lnSpc>
              <a:buNone/>
            </a:pPr>
            <a:r>
              <a:rPr lang="en-US" sz="1250" dirty="0">
                <a:solidFill>
                  <a:srgbClr val="FFFFFF"/>
                </a:solidFill>
                <a:latin typeface="Calibri" pitchFamily="34" charset="0"/>
                <a:ea typeface="Calibri" pitchFamily="34" charset="-122"/>
                <a:cs typeface="Calibri" pitchFamily="34" charset="-120"/>
              </a:rPr>
              <a:t>React is a JS library that uses a Virtual DOM to efficiently update only the changed parts of the actual webpage.</a:t>
            </a:r>
            <a:endParaRPr lang="en-US" sz="1250" dirty="0"/>
          </a:p>
        </p:txBody>
      </p:sp>
      <p:sp>
        <p:nvSpPr>
          <p:cNvPr id="18" name="Text 16"/>
          <p:cNvSpPr/>
          <p:nvPr/>
        </p:nvSpPr>
        <p:spPr>
          <a:xfrm>
            <a:off x="457200" y="6583680"/>
            <a:ext cx="5486400" cy="228600"/>
          </a:xfrm>
          <a:prstGeom prst="rect">
            <a:avLst/>
          </a:prstGeom>
          <a:noFill/>
          <a:ln/>
        </p:spPr>
        <p:txBody>
          <a:bodyPr wrap="square" rtlCol="0" anchor="ctr"/>
          <a:lstStyle/>
          <a:p>
            <a:pPr marL="0" indent="0" algn="l">
              <a:buNone/>
            </a:pPr>
            <a:r>
              <a:rPr lang="en-US" sz="850" dirty="0">
                <a:solidFill>
                  <a:srgbClr val="5B6178"/>
                </a:solidFill>
                <a:latin typeface="Calibri" pitchFamily="34" charset="0"/>
                <a:ea typeface="Calibri" pitchFamily="34" charset="-122"/>
                <a:cs typeface="Calibri" pitchFamily="34" charset="-120"/>
              </a:rPr>
              <a:t>Java &amp; Full-Stack Interview Prep</a:t>
            </a:r>
            <a:endParaRPr lang="en-US" sz="8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Shape 0"/>
          <p:cNvSpPr/>
          <p:nvPr/>
        </p:nvSpPr>
        <p:spPr>
          <a:xfrm>
            <a:off x="502920" y="384048"/>
            <a:ext cx="3675888" cy="310896"/>
          </a:xfrm>
          <a:prstGeom prst="roundRect">
            <a:avLst>
              <a:gd name="adj" fmla="val 23529"/>
            </a:avLst>
          </a:prstGeom>
          <a:solidFill>
            <a:srgbClr val="E8A33D"/>
          </a:solidFill>
          <a:ln/>
        </p:spPr>
      </p:sp>
      <p:sp>
        <p:nvSpPr>
          <p:cNvPr id="3" name="Text 1"/>
          <p:cNvSpPr/>
          <p:nvPr/>
        </p:nvSpPr>
        <p:spPr>
          <a:xfrm>
            <a:off x="502920" y="384048"/>
            <a:ext cx="3675888" cy="310896"/>
          </a:xfrm>
          <a:prstGeom prst="rect">
            <a:avLst/>
          </a:prstGeom>
          <a:noFill/>
          <a:ln/>
        </p:spPr>
        <p:txBody>
          <a:bodyPr wrap="square" rtlCol="0" anchor="ctr"/>
          <a:lstStyle/>
          <a:p>
            <a:pPr marL="0" indent="0" algn="ctr">
              <a:buNone/>
            </a:pPr>
            <a:r>
              <a:rPr lang="en-US" sz="1100" b="1" kern="0" spc="100" dirty="0">
                <a:solidFill>
                  <a:srgbClr val="1B2340"/>
                </a:solidFill>
                <a:latin typeface="Calibri" pitchFamily="34" charset="0"/>
                <a:ea typeface="Calibri" pitchFamily="34" charset="-122"/>
                <a:cs typeface="Calibri" pitchFamily="34" charset="-120"/>
              </a:rPr>
              <a:t>REACT &amp; FRONTEND</a:t>
            </a:r>
            <a:endParaRPr lang="en-US" sz="1100" dirty="0"/>
          </a:p>
        </p:txBody>
      </p:sp>
      <p:sp>
        <p:nvSpPr>
          <p:cNvPr id="4" name="Text 2"/>
          <p:cNvSpPr/>
          <p:nvPr/>
        </p:nvSpPr>
        <p:spPr>
          <a:xfrm>
            <a:off x="502920" y="786384"/>
            <a:ext cx="11155680" cy="868680"/>
          </a:xfrm>
          <a:prstGeom prst="rect">
            <a:avLst/>
          </a:prstGeom>
          <a:noFill/>
          <a:ln/>
        </p:spPr>
        <p:txBody>
          <a:bodyPr wrap="square" rtlCol="0" anchor="t"/>
          <a:lstStyle/>
          <a:p>
            <a:pPr marL="0" indent="0">
              <a:lnSpc>
                <a:spcPct val="102000"/>
              </a:lnSpc>
              <a:buNone/>
            </a:pPr>
            <a:r>
              <a:rPr lang="en-US" sz="2500" b="1" dirty="0">
                <a:solidFill>
                  <a:srgbClr val="1B2340"/>
                </a:solidFill>
                <a:latin typeface="Century Schoolbook" pitchFamily="34" charset="0"/>
                <a:ea typeface="Century Schoolbook" pitchFamily="34" charset="-122"/>
                <a:cs typeface="Century Schoolbook" pitchFamily="34" charset="-120"/>
              </a:rPr>
              <a:t>Difference between Props and State.</a:t>
            </a:r>
            <a:endParaRPr lang="en-US" sz="2500" dirty="0"/>
          </a:p>
        </p:txBody>
      </p:sp>
      <p:sp>
        <p:nvSpPr>
          <p:cNvPr id="5" name="Shape 3"/>
          <p:cNvSpPr/>
          <p:nvPr/>
        </p:nvSpPr>
        <p:spPr>
          <a:xfrm>
            <a:off x="502920" y="1810512"/>
            <a:ext cx="164592" cy="274320"/>
          </a:xfrm>
          <a:prstGeom prst="roundRect">
            <a:avLst>
              <a:gd name="adj" fmla="val 22222"/>
            </a:avLst>
          </a:prstGeom>
          <a:solidFill>
            <a:srgbClr val="E8A33D"/>
          </a:solidFill>
          <a:ln/>
        </p:spPr>
      </p:sp>
      <p:sp>
        <p:nvSpPr>
          <p:cNvPr id="6" name="Text 4"/>
          <p:cNvSpPr/>
          <p:nvPr/>
        </p:nvSpPr>
        <p:spPr>
          <a:xfrm>
            <a:off x="758952" y="1783080"/>
            <a:ext cx="4315968" cy="329184"/>
          </a:xfrm>
          <a:prstGeom prst="rect">
            <a:avLst/>
          </a:prstGeom>
          <a:noFill/>
          <a:ln/>
        </p:spPr>
        <p:txBody>
          <a:bodyPr wrap="square" rtlCol="0" anchor="ctr"/>
          <a:lstStyle/>
          <a:p>
            <a:pPr marL="0" indent="0">
              <a:buNone/>
            </a:pPr>
            <a:r>
              <a:rPr lang="en-US" sz="1300" b="1" kern="0" spc="50" dirty="0">
                <a:solidFill>
                  <a:srgbClr val="1B2340"/>
                </a:solidFill>
                <a:latin typeface="Calibri" pitchFamily="34" charset="0"/>
                <a:ea typeface="Calibri" pitchFamily="34" charset="-122"/>
                <a:cs typeface="Calibri" pitchFamily="34" charset="-120"/>
              </a:rPr>
              <a:t>DEFINITION / CONCEPT</a:t>
            </a:r>
            <a:endParaRPr lang="en-US" sz="1300" dirty="0"/>
          </a:p>
        </p:txBody>
      </p:sp>
      <p:sp>
        <p:nvSpPr>
          <p:cNvPr id="7" name="Shape 5"/>
          <p:cNvSpPr/>
          <p:nvPr/>
        </p:nvSpPr>
        <p:spPr>
          <a:xfrm>
            <a:off x="502920" y="2121408"/>
            <a:ext cx="11201400" cy="914400"/>
          </a:xfrm>
          <a:prstGeom prst="roundRect">
            <a:avLst>
              <a:gd name="adj" fmla="val 8000"/>
            </a:avLst>
          </a:prstGeom>
          <a:solidFill>
            <a:srgbClr val="F7F7FA"/>
          </a:solidFill>
          <a:ln w="12700">
            <a:solidFill>
              <a:srgbClr val="E4E6EF"/>
            </a:solidFill>
            <a:prstDash val="solid"/>
          </a:ln>
        </p:spPr>
      </p:sp>
      <p:sp>
        <p:nvSpPr>
          <p:cNvPr id="8" name="Text 6"/>
          <p:cNvSpPr/>
          <p:nvPr/>
        </p:nvSpPr>
        <p:spPr>
          <a:xfrm>
            <a:off x="758952" y="2304288"/>
            <a:ext cx="10689336" cy="548640"/>
          </a:xfrm>
          <a:prstGeom prst="rect">
            <a:avLst/>
          </a:prstGeom>
          <a:noFill/>
          <a:ln/>
        </p:spPr>
        <p:txBody>
          <a:bodyPr wrap="square" lIns="0" tIns="0" rIns="0" bIns="0" rtlCol="0" anchor="t"/>
          <a:lstStyle/>
          <a:p>
            <a:pPr marL="0" indent="0">
              <a:lnSpc>
                <a:spcPct val="115000"/>
              </a:lnSpc>
              <a:buNone/>
            </a:pPr>
            <a:r>
              <a:rPr lang="en-US" sz="1450" dirty="0">
                <a:solidFill>
                  <a:srgbClr val="1B2340"/>
                </a:solidFill>
                <a:latin typeface="Calibri" pitchFamily="34" charset="0"/>
                <a:ea typeface="Calibri" pitchFamily="34" charset="-122"/>
                <a:cs typeface="Calibri" pitchFamily="34" charset="-120"/>
              </a:rPr>
              <a:t>Both hold data in a React component, but they are used and controlled differently.</a:t>
            </a:r>
            <a:endParaRPr lang="en-US" sz="1450" dirty="0"/>
          </a:p>
        </p:txBody>
      </p:sp>
      <p:sp>
        <p:nvSpPr>
          <p:cNvPr id="9" name="Shape 7"/>
          <p:cNvSpPr/>
          <p:nvPr/>
        </p:nvSpPr>
        <p:spPr>
          <a:xfrm>
            <a:off x="502920" y="3200400"/>
            <a:ext cx="164592" cy="274320"/>
          </a:xfrm>
          <a:prstGeom prst="roundRect">
            <a:avLst>
              <a:gd name="adj" fmla="val 22222"/>
            </a:avLst>
          </a:prstGeom>
          <a:solidFill>
            <a:srgbClr val="3FBFAE"/>
          </a:solidFill>
          <a:ln/>
        </p:spPr>
      </p:sp>
      <p:sp>
        <p:nvSpPr>
          <p:cNvPr id="10" name="Text 8"/>
          <p:cNvSpPr/>
          <p:nvPr/>
        </p:nvSpPr>
        <p:spPr>
          <a:xfrm>
            <a:off x="758952" y="3172968"/>
            <a:ext cx="4315968" cy="329184"/>
          </a:xfrm>
          <a:prstGeom prst="rect">
            <a:avLst/>
          </a:prstGeom>
          <a:noFill/>
          <a:ln/>
        </p:spPr>
        <p:txBody>
          <a:bodyPr wrap="square" rtlCol="0" anchor="ctr"/>
          <a:lstStyle/>
          <a:p>
            <a:pPr marL="0" indent="0">
              <a:buNone/>
            </a:pPr>
            <a:r>
              <a:rPr lang="en-US" sz="1300" b="1" kern="0" spc="50" dirty="0">
                <a:solidFill>
                  <a:srgbClr val="1B2340"/>
                </a:solidFill>
                <a:latin typeface="Calibri" pitchFamily="34" charset="0"/>
                <a:ea typeface="Calibri" pitchFamily="34" charset="-122"/>
                <a:cs typeface="Calibri" pitchFamily="34" charset="-120"/>
              </a:rPr>
              <a:t>EXPLANATION</a:t>
            </a:r>
            <a:endParaRPr lang="en-US" sz="1300" dirty="0"/>
          </a:p>
        </p:txBody>
      </p:sp>
      <p:sp>
        <p:nvSpPr>
          <p:cNvPr id="11" name="Text 9"/>
          <p:cNvSpPr/>
          <p:nvPr/>
        </p:nvSpPr>
        <p:spPr>
          <a:xfrm>
            <a:off x="502920" y="3529584"/>
            <a:ext cx="6858000" cy="2331720"/>
          </a:xfrm>
          <a:prstGeom prst="rect">
            <a:avLst/>
          </a:prstGeom>
          <a:noFill/>
          <a:ln/>
        </p:spPr>
        <p:txBody>
          <a:bodyPr wrap="square" lIns="0" tIns="0" rIns="0" bIns="0" rtlCol="0" anchor="t"/>
          <a:lstStyle/>
          <a:p>
            <a:pPr marL="177800" indent="-177800">
              <a:spcAft>
                <a:spcPts val="800"/>
              </a:spcAft>
              <a:buSzPct val="100000"/>
              <a:buChar char="•"/>
            </a:pPr>
            <a:r>
              <a:rPr lang="en-US" sz="1300" dirty="0">
                <a:solidFill>
                  <a:srgbClr val="1B2340"/>
                </a:solidFill>
                <a:latin typeface="Calibri" pitchFamily="34" charset="0"/>
                <a:ea typeface="Calibri" pitchFamily="34" charset="-122"/>
                <a:cs typeface="Calibri" pitchFamily="34" charset="-120"/>
              </a:rPr>
              <a:t>Props (properties) are passed from a parent component to a child - read-only, cannot be changed by the child</a:t>
            </a:r>
            <a:endParaRPr lang="en-US" sz="1300" dirty="0"/>
          </a:p>
          <a:p>
            <a:pPr marL="177800" indent="-177800">
              <a:spcAft>
                <a:spcPts val="800"/>
              </a:spcAft>
              <a:buSzPct val="100000"/>
              <a:buChar char="•"/>
            </a:pPr>
            <a:r>
              <a:rPr lang="en-US" sz="1300" dirty="0">
                <a:solidFill>
                  <a:srgbClr val="1B2340"/>
                </a:solidFill>
                <a:latin typeface="Calibri" pitchFamily="34" charset="0"/>
                <a:ea typeface="Calibri" pitchFamily="34" charset="-122"/>
                <a:cs typeface="Calibri" pitchFamily="34" charset="-120"/>
              </a:rPr>
              <a:t>State is data managed within the component itself, and can change over time (e.g. via useState)</a:t>
            </a:r>
            <a:endParaRPr lang="en-US" sz="1300" dirty="0"/>
          </a:p>
          <a:p>
            <a:pPr marL="177800" indent="-177800">
              <a:spcAft>
                <a:spcPts val="800"/>
              </a:spcAft>
              <a:buSzPct val="100000"/>
              <a:buChar char="•"/>
            </a:pPr>
            <a:r>
              <a:rPr lang="en-US" sz="1300" dirty="0">
                <a:solidFill>
                  <a:srgbClr val="1B2340"/>
                </a:solidFill>
                <a:latin typeface="Calibri" pitchFamily="34" charset="0"/>
                <a:ea typeface="Calibri" pitchFamily="34" charset="-122"/>
                <a:cs typeface="Calibri" pitchFamily="34" charset="-120"/>
              </a:rPr>
              <a:t>Changing state re-renders the component; props change only when the parent re-renders</a:t>
            </a:r>
            <a:endParaRPr lang="en-US" sz="1300" dirty="0"/>
          </a:p>
          <a:p>
            <a:pPr marL="177800" indent="-177800">
              <a:spcAft>
                <a:spcPts val="800"/>
              </a:spcAft>
              <a:buSzPct val="100000"/>
              <a:buChar char="•"/>
            </a:pPr>
            <a:r>
              <a:rPr lang="en-US" sz="1300" dirty="0">
                <a:solidFill>
                  <a:srgbClr val="1B2340"/>
                </a:solidFill>
                <a:latin typeface="Calibri" pitchFamily="34" charset="0"/>
                <a:ea typeface="Calibri" pitchFamily="34" charset="-122"/>
                <a:cs typeface="Calibri" pitchFamily="34" charset="-120"/>
              </a:rPr>
              <a:t>Props flow one-way (parent to child); state is local and private to a component</a:t>
            </a:r>
            <a:endParaRPr lang="en-US" sz="1300" dirty="0"/>
          </a:p>
        </p:txBody>
      </p:sp>
      <p:sp>
        <p:nvSpPr>
          <p:cNvPr id="12" name="Shape 10"/>
          <p:cNvSpPr/>
          <p:nvPr/>
        </p:nvSpPr>
        <p:spPr>
          <a:xfrm>
            <a:off x="7589520" y="3200400"/>
            <a:ext cx="4114800" cy="2194560"/>
          </a:xfrm>
          <a:prstGeom prst="roundRect">
            <a:avLst>
              <a:gd name="adj" fmla="val 3333"/>
            </a:avLst>
          </a:prstGeom>
          <a:solidFill>
            <a:srgbClr val="FDF3E3"/>
          </a:solidFill>
          <a:ln/>
        </p:spPr>
      </p:sp>
      <p:sp>
        <p:nvSpPr>
          <p:cNvPr id="13" name="Text 11"/>
          <p:cNvSpPr/>
          <p:nvPr/>
        </p:nvSpPr>
        <p:spPr>
          <a:xfrm>
            <a:off x="7790688" y="3310128"/>
            <a:ext cx="3712464" cy="274320"/>
          </a:xfrm>
          <a:prstGeom prst="rect">
            <a:avLst/>
          </a:prstGeom>
          <a:noFill/>
          <a:ln/>
        </p:spPr>
        <p:txBody>
          <a:bodyPr wrap="square" rtlCol="0" anchor="ctr"/>
          <a:lstStyle/>
          <a:p>
            <a:pPr marL="0" indent="0">
              <a:buNone/>
            </a:pPr>
            <a:r>
              <a:rPr lang="en-US" sz="1100" b="1" kern="0" spc="50" dirty="0">
                <a:solidFill>
                  <a:srgbClr val="C9862A"/>
                </a:solidFill>
                <a:latin typeface="Calibri" pitchFamily="34" charset="0"/>
                <a:ea typeface="Calibri" pitchFamily="34" charset="-122"/>
                <a:cs typeface="Calibri" pitchFamily="34" charset="-120"/>
              </a:rPr>
              <a:t>💡 REAL-LIFE ANALOGY</a:t>
            </a:r>
            <a:endParaRPr lang="en-US" sz="1100" dirty="0"/>
          </a:p>
        </p:txBody>
      </p:sp>
      <p:sp>
        <p:nvSpPr>
          <p:cNvPr id="14" name="Text 12"/>
          <p:cNvSpPr/>
          <p:nvPr/>
        </p:nvSpPr>
        <p:spPr>
          <a:xfrm>
            <a:off x="7790688" y="3602736"/>
            <a:ext cx="3712464" cy="1664208"/>
          </a:xfrm>
          <a:prstGeom prst="rect">
            <a:avLst/>
          </a:prstGeom>
          <a:noFill/>
          <a:ln/>
        </p:spPr>
        <p:txBody>
          <a:bodyPr wrap="square" lIns="0" tIns="0" rIns="0" bIns="0" rtlCol="0" anchor="t"/>
          <a:lstStyle/>
          <a:p>
            <a:pPr marL="0" indent="0">
              <a:lnSpc>
                <a:spcPct val="110000"/>
              </a:lnSpc>
              <a:buNone/>
            </a:pPr>
            <a:r>
              <a:rPr lang="en-US" sz="1250" i="1" dirty="0">
                <a:solidFill>
                  <a:srgbClr val="1B2340"/>
                </a:solidFill>
                <a:latin typeface="Calibri" pitchFamily="34" charset="0"/>
                <a:ea typeface="Calibri" pitchFamily="34" charset="-122"/>
                <a:cs typeface="Calibri" pitchFamily="34" charset="-120"/>
              </a:rPr>
              <a:t>Props are like instructions given by a manager to an employee - the employee follows them but can't rewrite them. State is like the employee's own personal notepad, which they can update anytime.</a:t>
            </a:r>
            <a:endParaRPr lang="en-US" sz="1250" dirty="0"/>
          </a:p>
        </p:txBody>
      </p:sp>
      <p:sp>
        <p:nvSpPr>
          <p:cNvPr id="15" name="Shape 13"/>
          <p:cNvSpPr/>
          <p:nvPr/>
        </p:nvSpPr>
        <p:spPr>
          <a:xfrm>
            <a:off x="502920" y="5870448"/>
            <a:ext cx="11201400" cy="603504"/>
          </a:xfrm>
          <a:prstGeom prst="roundRect">
            <a:avLst>
              <a:gd name="adj" fmla="val 12121"/>
            </a:avLst>
          </a:prstGeom>
          <a:solidFill>
            <a:srgbClr val="1B2340"/>
          </a:solidFill>
          <a:ln/>
        </p:spPr>
      </p:sp>
      <p:sp>
        <p:nvSpPr>
          <p:cNvPr id="16" name="Text 14"/>
          <p:cNvSpPr/>
          <p:nvPr/>
        </p:nvSpPr>
        <p:spPr>
          <a:xfrm>
            <a:off x="731520" y="5961888"/>
            <a:ext cx="10744200" cy="256032"/>
          </a:xfrm>
          <a:prstGeom prst="rect">
            <a:avLst/>
          </a:prstGeom>
          <a:noFill/>
          <a:ln/>
        </p:spPr>
        <p:txBody>
          <a:bodyPr wrap="square" rtlCol="0" anchor="ctr"/>
          <a:lstStyle/>
          <a:p>
            <a:pPr marL="0" indent="0">
              <a:buNone/>
            </a:pPr>
            <a:r>
              <a:rPr lang="en-US" sz="1050" b="1" kern="0" spc="80" dirty="0">
                <a:solidFill>
                  <a:srgbClr val="E8A33D"/>
                </a:solidFill>
                <a:latin typeface="Calibri" pitchFamily="34" charset="0"/>
                <a:ea typeface="Calibri" pitchFamily="34" charset="-122"/>
                <a:cs typeface="Calibri" pitchFamily="34" charset="-120"/>
              </a:rPr>
              <a:t>ONE-LINE INTERVIEW ANSWER</a:t>
            </a:r>
            <a:endParaRPr lang="en-US" sz="1050" dirty="0"/>
          </a:p>
        </p:txBody>
      </p:sp>
      <p:sp>
        <p:nvSpPr>
          <p:cNvPr id="17" name="Text 15"/>
          <p:cNvSpPr/>
          <p:nvPr/>
        </p:nvSpPr>
        <p:spPr>
          <a:xfrm>
            <a:off x="731520" y="6217920"/>
            <a:ext cx="10744200" cy="146304"/>
          </a:xfrm>
          <a:prstGeom prst="rect">
            <a:avLst/>
          </a:prstGeom>
          <a:noFill/>
          <a:ln/>
        </p:spPr>
        <p:txBody>
          <a:bodyPr wrap="square" lIns="0" tIns="0" rIns="0" bIns="0" rtlCol="0" anchor="t"/>
          <a:lstStyle/>
          <a:p>
            <a:pPr marL="0" indent="0">
              <a:lnSpc>
                <a:spcPct val="105000"/>
              </a:lnSpc>
              <a:buNone/>
            </a:pPr>
            <a:r>
              <a:rPr lang="en-US" sz="1250" dirty="0">
                <a:solidFill>
                  <a:srgbClr val="FFFFFF"/>
                </a:solidFill>
                <a:latin typeface="Calibri" pitchFamily="34" charset="0"/>
                <a:ea typeface="Calibri" pitchFamily="34" charset="-122"/>
                <a:cs typeface="Calibri" pitchFamily="34" charset="-120"/>
              </a:rPr>
              <a:t>Props are read-only data passed from parent to child, while State is data a component manages and can change internally.</a:t>
            </a:r>
            <a:endParaRPr lang="en-US" sz="1250" dirty="0"/>
          </a:p>
        </p:txBody>
      </p:sp>
      <p:sp>
        <p:nvSpPr>
          <p:cNvPr id="18" name="Text 16"/>
          <p:cNvSpPr/>
          <p:nvPr/>
        </p:nvSpPr>
        <p:spPr>
          <a:xfrm>
            <a:off x="457200" y="6583680"/>
            <a:ext cx="5486400" cy="228600"/>
          </a:xfrm>
          <a:prstGeom prst="rect">
            <a:avLst/>
          </a:prstGeom>
          <a:noFill/>
          <a:ln/>
        </p:spPr>
        <p:txBody>
          <a:bodyPr wrap="square" rtlCol="0" anchor="ctr"/>
          <a:lstStyle/>
          <a:p>
            <a:pPr marL="0" indent="0" algn="l">
              <a:buNone/>
            </a:pPr>
            <a:r>
              <a:rPr lang="en-US" sz="850" dirty="0">
                <a:solidFill>
                  <a:srgbClr val="5B6178"/>
                </a:solidFill>
                <a:latin typeface="Calibri" pitchFamily="34" charset="0"/>
                <a:ea typeface="Calibri" pitchFamily="34" charset="-122"/>
                <a:cs typeface="Calibri" pitchFamily="34" charset="-120"/>
              </a:rPr>
              <a:t>Java &amp; Full-Stack Interview Prep</a:t>
            </a:r>
            <a:endParaRPr lang="en-US" sz="8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Shape 0"/>
          <p:cNvSpPr/>
          <p:nvPr/>
        </p:nvSpPr>
        <p:spPr>
          <a:xfrm>
            <a:off x="502920" y="384048"/>
            <a:ext cx="3675888" cy="310896"/>
          </a:xfrm>
          <a:prstGeom prst="roundRect">
            <a:avLst>
              <a:gd name="adj" fmla="val 23529"/>
            </a:avLst>
          </a:prstGeom>
          <a:solidFill>
            <a:srgbClr val="E8A33D"/>
          </a:solidFill>
          <a:ln/>
        </p:spPr>
      </p:sp>
      <p:sp>
        <p:nvSpPr>
          <p:cNvPr id="3" name="Text 1"/>
          <p:cNvSpPr/>
          <p:nvPr/>
        </p:nvSpPr>
        <p:spPr>
          <a:xfrm>
            <a:off x="502920" y="384048"/>
            <a:ext cx="3675888" cy="310896"/>
          </a:xfrm>
          <a:prstGeom prst="rect">
            <a:avLst/>
          </a:prstGeom>
          <a:noFill/>
          <a:ln/>
        </p:spPr>
        <p:txBody>
          <a:bodyPr wrap="square" rtlCol="0" anchor="ctr"/>
          <a:lstStyle/>
          <a:p>
            <a:pPr marL="0" indent="0" algn="ctr">
              <a:buNone/>
            </a:pPr>
            <a:r>
              <a:rPr lang="en-US" sz="1100" b="1" kern="0" spc="100" dirty="0">
                <a:solidFill>
                  <a:srgbClr val="1B2340"/>
                </a:solidFill>
                <a:latin typeface="Calibri" pitchFamily="34" charset="0"/>
                <a:ea typeface="Calibri" pitchFamily="34" charset="-122"/>
                <a:cs typeface="Calibri" pitchFamily="34" charset="-120"/>
              </a:rPr>
              <a:t>REACT &amp; FRONTEND</a:t>
            </a:r>
            <a:endParaRPr lang="en-US" sz="1100" dirty="0"/>
          </a:p>
        </p:txBody>
      </p:sp>
      <p:sp>
        <p:nvSpPr>
          <p:cNvPr id="4" name="Text 2"/>
          <p:cNvSpPr/>
          <p:nvPr/>
        </p:nvSpPr>
        <p:spPr>
          <a:xfrm>
            <a:off x="502920" y="786384"/>
            <a:ext cx="11155680" cy="868680"/>
          </a:xfrm>
          <a:prstGeom prst="rect">
            <a:avLst/>
          </a:prstGeom>
          <a:noFill/>
          <a:ln/>
        </p:spPr>
        <p:txBody>
          <a:bodyPr wrap="square" rtlCol="0" anchor="t"/>
          <a:lstStyle/>
          <a:p>
            <a:pPr marL="0" indent="0">
              <a:lnSpc>
                <a:spcPct val="102000"/>
              </a:lnSpc>
              <a:buNone/>
            </a:pPr>
            <a:r>
              <a:rPr lang="en-US" sz="2500" b="1" dirty="0">
                <a:solidFill>
                  <a:srgbClr val="1B2340"/>
                </a:solidFill>
                <a:latin typeface="Century Schoolbook" pitchFamily="34" charset="0"/>
                <a:ea typeface="Century Schoolbook" pitchFamily="34" charset="-122"/>
                <a:cs typeface="Century Schoolbook" pitchFamily="34" charset="-120"/>
              </a:rPr>
              <a:t>What are React Hooks? Explain useState and useEffect.</a:t>
            </a:r>
            <a:endParaRPr lang="en-US" sz="2500" dirty="0"/>
          </a:p>
        </p:txBody>
      </p:sp>
      <p:sp>
        <p:nvSpPr>
          <p:cNvPr id="5" name="Shape 3"/>
          <p:cNvSpPr/>
          <p:nvPr/>
        </p:nvSpPr>
        <p:spPr>
          <a:xfrm>
            <a:off x="502920" y="1810512"/>
            <a:ext cx="164592" cy="274320"/>
          </a:xfrm>
          <a:prstGeom prst="roundRect">
            <a:avLst>
              <a:gd name="adj" fmla="val 22222"/>
            </a:avLst>
          </a:prstGeom>
          <a:solidFill>
            <a:srgbClr val="E8A33D"/>
          </a:solidFill>
          <a:ln/>
        </p:spPr>
      </p:sp>
      <p:sp>
        <p:nvSpPr>
          <p:cNvPr id="6" name="Text 4"/>
          <p:cNvSpPr/>
          <p:nvPr/>
        </p:nvSpPr>
        <p:spPr>
          <a:xfrm>
            <a:off x="758952" y="1783080"/>
            <a:ext cx="4681728" cy="329184"/>
          </a:xfrm>
          <a:prstGeom prst="rect">
            <a:avLst/>
          </a:prstGeom>
          <a:noFill/>
          <a:ln/>
        </p:spPr>
        <p:txBody>
          <a:bodyPr wrap="square" rtlCol="0" anchor="ctr"/>
          <a:lstStyle/>
          <a:p>
            <a:pPr marL="0" indent="0">
              <a:buNone/>
            </a:pPr>
            <a:r>
              <a:rPr lang="en-US" sz="1300" b="1" kern="0" spc="50" dirty="0">
                <a:solidFill>
                  <a:srgbClr val="1B2340"/>
                </a:solidFill>
                <a:latin typeface="Calibri" pitchFamily="34" charset="0"/>
                <a:ea typeface="Calibri" pitchFamily="34" charset="-122"/>
                <a:cs typeface="Calibri" pitchFamily="34" charset="-120"/>
              </a:rPr>
              <a:t>DEFINITION / CONCEPT</a:t>
            </a:r>
            <a:endParaRPr lang="en-US" sz="1300" dirty="0"/>
          </a:p>
        </p:txBody>
      </p:sp>
      <p:sp>
        <p:nvSpPr>
          <p:cNvPr id="7" name="Shape 5"/>
          <p:cNvSpPr/>
          <p:nvPr/>
        </p:nvSpPr>
        <p:spPr>
          <a:xfrm>
            <a:off x="502920" y="2121408"/>
            <a:ext cx="4937760" cy="1234440"/>
          </a:xfrm>
          <a:prstGeom prst="roundRect">
            <a:avLst>
              <a:gd name="adj" fmla="val 5926"/>
            </a:avLst>
          </a:prstGeom>
          <a:solidFill>
            <a:srgbClr val="F7F7FA"/>
          </a:solidFill>
          <a:ln w="12700">
            <a:solidFill>
              <a:srgbClr val="E4E6EF"/>
            </a:solidFill>
            <a:prstDash val="solid"/>
          </a:ln>
        </p:spPr>
      </p:sp>
      <p:sp>
        <p:nvSpPr>
          <p:cNvPr id="8" name="Text 6"/>
          <p:cNvSpPr/>
          <p:nvPr/>
        </p:nvSpPr>
        <p:spPr>
          <a:xfrm>
            <a:off x="758952" y="2304288"/>
            <a:ext cx="4425696" cy="868680"/>
          </a:xfrm>
          <a:prstGeom prst="rect">
            <a:avLst/>
          </a:prstGeom>
          <a:noFill/>
          <a:ln/>
        </p:spPr>
        <p:txBody>
          <a:bodyPr wrap="square" lIns="0" tIns="0" rIns="0" bIns="0" rtlCol="0" anchor="t"/>
          <a:lstStyle/>
          <a:p>
            <a:pPr marL="0" indent="0">
              <a:lnSpc>
                <a:spcPct val="115000"/>
              </a:lnSpc>
              <a:buNone/>
            </a:pPr>
            <a:r>
              <a:rPr lang="en-US" sz="1450" dirty="0">
                <a:solidFill>
                  <a:srgbClr val="1B2340"/>
                </a:solidFill>
                <a:latin typeface="Calibri" pitchFamily="34" charset="0"/>
                <a:ea typeface="Calibri" pitchFamily="34" charset="-122"/>
                <a:cs typeface="Calibri" pitchFamily="34" charset="-120"/>
              </a:rPr>
              <a:t>Hooks are special functions that let functional components use state and other React features without writing a class.</a:t>
            </a:r>
            <a:endParaRPr lang="en-US" sz="1450" dirty="0"/>
          </a:p>
        </p:txBody>
      </p:sp>
      <p:sp>
        <p:nvSpPr>
          <p:cNvPr id="9" name="Shape 7"/>
          <p:cNvSpPr/>
          <p:nvPr/>
        </p:nvSpPr>
        <p:spPr>
          <a:xfrm>
            <a:off x="502920" y="3493008"/>
            <a:ext cx="4937760" cy="1554480"/>
          </a:xfrm>
          <a:prstGeom prst="roundRect">
            <a:avLst>
              <a:gd name="adj" fmla="val 4706"/>
            </a:avLst>
          </a:prstGeom>
          <a:solidFill>
            <a:srgbClr val="FDF3E3"/>
          </a:solidFill>
          <a:ln/>
        </p:spPr>
      </p:sp>
      <p:sp>
        <p:nvSpPr>
          <p:cNvPr id="10" name="Text 8"/>
          <p:cNvSpPr/>
          <p:nvPr/>
        </p:nvSpPr>
        <p:spPr>
          <a:xfrm>
            <a:off x="704088" y="3602736"/>
            <a:ext cx="4535424" cy="274320"/>
          </a:xfrm>
          <a:prstGeom prst="rect">
            <a:avLst/>
          </a:prstGeom>
          <a:noFill/>
          <a:ln/>
        </p:spPr>
        <p:txBody>
          <a:bodyPr wrap="square" rtlCol="0" anchor="ctr"/>
          <a:lstStyle/>
          <a:p>
            <a:pPr marL="0" indent="0">
              <a:buNone/>
            </a:pPr>
            <a:r>
              <a:rPr lang="en-US" sz="1100" b="1" kern="0" spc="50" dirty="0">
                <a:solidFill>
                  <a:srgbClr val="C9862A"/>
                </a:solidFill>
                <a:latin typeface="Calibri" pitchFamily="34" charset="0"/>
                <a:ea typeface="Calibri" pitchFamily="34" charset="-122"/>
                <a:cs typeface="Calibri" pitchFamily="34" charset="-120"/>
              </a:rPr>
              <a:t>💡 REAL-LIFE ANALOGY</a:t>
            </a:r>
            <a:endParaRPr lang="en-US" sz="1100" dirty="0"/>
          </a:p>
        </p:txBody>
      </p:sp>
      <p:sp>
        <p:nvSpPr>
          <p:cNvPr id="11" name="Text 9"/>
          <p:cNvSpPr/>
          <p:nvPr/>
        </p:nvSpPr>
        <p:spPr>
          <a:xfrm>
            <a:off x="704088" y="3895344"/>
            <a:ext cx="4535424" cy="1024128"/>
          </a:xfrm>
          <a:prstGeom prst="rect">
            <a:avLst/>
          </a:prstGeom>
          <a:noFill/>
          <a:ln/>
        </p:spPr>
        <p:txBody>
          <a:bodyPr wrap="square" lIns="0" tIns="0" rIns="0" bIns="0" rtlCol="0" anchor="t"/>
          <a:lstStyle/>
          <a:p>
            <a:pPr marL="0" indent="0">
              <a:lnSpc>
                <a:spcPct val="110000"/>
              </a:lnSpc>
              <a:buNone/>
            </a:pPr>
            <a:r>
              <a:rPr lang="en-US" sz="1250" i="1" dirty="0">
                <a:solidFill>
                  <a:srgbClr val="1B2340"/>
                </a:solidFill>
                <a:latin typeface="Calibri" pitchFamily="34" charset="0"/>
                <a:ea typeface="Calibri" pitchFamily="34" charset="-122"/>
                <a:cs typeface="Calibri" pitchFamily="34" charset="-120"/>
              </a:rPr>
              <a:t>useState is like a whiteboard you can erase and rewrite anytime the component needs new info displayed. useEffect is like a reminder that automatically triggers an action whenever something specific changes.</a:t>
            </a:r>
            <a:endParaRPr lang="en-US" sz="1250" dirty="0"/>
          </a:p>
        </p:txBody>
      </p:sp>
      <p:sp>
        <p:nvSpPr>
          <p:cNvPr id="12" name="Shape 10"/>
          <p:cNvSpPr/>
          <p:nvPr/>
        </p:nvSpPr>
        <p:spPr>
          <a:xfrm>
            <a:off x="502920" y="5193792"/>
            <a:ext cx="4937760" cy="1051560"/>
          </a:xfrm>
          <a:prstGeom prst="roundRect">
            <a:avLst>
              <a:gd name="adj" fmla="val 6957"/>
            </a:avLst>
          </a:prstGeom>
          <a:solidFill>
            <a:srgbClr val="1B2340"/>
          </a:solidFill>
          <a:ln/>
        </p:spPr>
      </p:sp>
      <p:sp>
        <p:nvSpPr>
          <p:cNvPr id="13" name="Text 11"/>
          <p:cNvSpPr/>
          <p:nvPr/>
        </p:nvSpPr>
        <p:spPr>
          <a:xfrm>
            <a:off x="731520" y="5285232"/>
            <a:ext cx="4480560" cy="256032"/>
          </a:xfrm>
          <a:prstGeom prst="rect">
            <a:avLst/>
          </a:prstGeom>
          <a:noFill/>
          <a:ln/>
        </p:spPr>
        <p:txBody>
          <a:bodyPr wrap="square" rtlCol="0" anchor="ctr"/>
          <a:lstStyle/>
          <a:p>
            <a:pPr marL="0" indent="0">
              <a:buNone/>
            </a:pPr>
            <a:r>
              <a:rPr lang="en-US" sz="1050" b="1" kern="0" spc="80" dirty="0">
                <a:solidFill>
                  <a:srgbClr val="E8A33D"/>
                </a:solidFill>
                <a:latin typeface="Calibri" pitchFamily="34" charset="0"/>
                <a:ea typeface="Calibri" pitchFamily="34" charset="-122"/>
                <a:cs typeface="Calibri" pitchFamily="34" charset="-120"/>
              </a:rPr>
              <a:t>ONE-LINE INTERVIEW ANSWER</a:t>
            </a:r>
            <a:endParaRPr lang="en-US" sz="1050" dirty="0"/>
          </a:p>
        </p:txBody>
      </p:sp>
      <p:sp>
        <p:nvSpPr>
          <p:cNvPr id="14" name="Text 12"/>
          <p:cNvSpPr/>
          <p:nvPr/>
        </p:nvSpPr>
        <p:spPr>
          <a:xfrm>
            <a:off x="731520" y="5541264"/>
            <a:ext cx="4480560" cy="594360"/>
          </a:xfrm>
          <a:prstGeom prst="rect">
            <a:avLst/>
          </a:prstGeom>
          <a:noFill/>
          <a:ln/>
        </p:spPr>
        <p:txBody>
          <a:bodyPr wrap="square" lIns="0" tIns="0" rIns="0" bIns="0" rtlCol="0" anchor="t"/>
          <a:lstStyle/>
          <a:p>
            <a:pPr marL="0" indent="0">
              <a:lnSpc>
                <a:spcPct val="105000"/>
              </a:lnSpc>
              <a:buNone/>
            </a:pPr>
            <a:r>
              <a:rPr lang="en-US" sz="1250" dirty="0">
                <a:solidFill>
                  <a:srgbClr val="FFFFFF"/>
                </a:solidFill>
                <a:latin typeface="Calibri" pitchFamily="34" charset="0"/>
                <a:ea typeface="Calibri" pitchFamily="34" charset="-122"/>
                <a:cs typeface="Calibri" pitchFamily="34" charset="-120"/>
              </a:rPr>
              <a:t>Hooks let functional components manage state (useState) and side effects (useEffect) without needing class components.</a:t>
            </a:r>
            <a:endParaRPr lang="en-US" sz="1250" dirty="0"/>
          </a:p>
        </p:txBody>
      </p:sp>
      <p:sp>
        <p:nvSpPr>
          <p:cNvPr id="15" name="Shape 13"/>
          <p:cNvSpPr/>
          <p:nvPr/>
        </p:nvSpPr>
        <p:spPr>
          <a:xfrm>
            <a:off x="5669280" y="1810512"/>
            <a:ext cx="164592" cy="274320"/>
          </a:xfrm>
          <a:prstGeom prst="roundRect">
            <a:avLst>
              <a:gd name="adj" fmla="val 22222"/>
            </a:avLst>
          </a:prstGeom>
          <a:solidFill>
            <a:srgbClr val="3FBFAE"/>
          </a:solidFill>
          <a:ln/>
        </p:spPr>
      </p:sp>
      <p:sp>
        <p:nvSpPr>
          <p:cNvPr id="16" name="Text 14"/>
          <p:cNvSpPr/>
          <p:nvPr/>
        </p:nvSpPr>
        <p:spPr>
          <a:xfrm>
            <a:off x="5925312" y="1783080"/>
            <a:ext cx="5779008" cy="329184"/>
          </a:xfrm>
          <a:prstGeom prst="rect">
            <a:avLst/>
          </a:prstGeom>
          <a:noFill/>
          <a:ln/>
        </p:spPr>
        <p:txBody>
          <a:bodyPr wrap="square" rtlCol="0" anchor="ctr"/>
          <a:lstStyle/>
          <a:p>
            <a:pPr marL="0" indent="0">
              <a:buNone/>
            </a:pPr>
            <a:r>
              <a:rPr lang="en-US" sz="1300" b="1" kern="0" spc="50" dirty="0">
                <a:solidFill>
                  <a:srgbClr val="1B2340"/>
                </a:solidFill>
                <a:latin typeface="Calibri" pitchFamily="34" charset="0"/>
                <a:ea typeface="Calibri" pitchFamily="34" charset="-122"/>
                <a:cs typeface="Calibri" pitchFamily="34" charset="-120"/>
              </a:rPr>
              <a:t>EXAMPLE</a:t>
            </a:r>
            <a:endParaRPr lang="en-US" sz="1300" dirty="0"/>
          </a:p>
        </p:txBody>
      </p:sp>
      <p:sp>
        <p:nvSpPr>
          <p:cNvPr id="17" name="Shape 15"/>
          <p:cNvSpPr/>
          <p:nvPr/>
        </p:nvSpPr>
        <p:spPr>
          <a:xfrm>
            <a:off x="5669280" y="2121408"/>
            <a:ext cx="6035040" cy="2668270"/>
          </a:xfrm>
          <a:prstGeom prst="roundRect">
            <a:avLst>
              <a:gd name="adj" fmla="val 2742"/>
            </a:avLst>
          </a:prstGeom>
          <a:solidFill>
            <a:srgbClr val="1E1E2E"/>
          </a:solidFill>
          <a:ln/>
        </p:spPr>
      </p:sp>
      <p:sp>
        <p:nvSpPr>
          <p:cNvPr id="18" name="Shape 16"/>
          <p:cNvSpPr/>
          <p:nvPr/>
        </p:nvSpPr>
        <p:spPr>
          <a:xfrm>
            <a:off x="5806440" y="2249424"/>
            <a:ext cx="100584" cy="100584"/>
          </a:xfrm>
          <a:prstGeom prst="ellipse">
            <a:avLst/>
          </a:prstGeom>
          <a:solidFill>
            <a:srgbClr val="FF5F56"/>
          </a:solidFill>
          <a:ln/>
        </p:spPr>
      </p:sp>
      <p:sp>
        <p:nvSpPr>
          <p:cNvPr id="19" name="Shape 17"/>
          <p:cNvSpPr/>
          <p:nvPr/>
        </p:nvSpPr>
        <p:spPr>
          <a:xfrm>
            <a:off x="5961888" y="2249424"/>
            <a:ext cx="100584" cy="100584"/>
          </a:xfrm>
          <a:prstGeom prst="ellipse">
            <a:avLst/>
          </a:prstGeom>
          <a:solidFill>
            <a:srgbClr val="FFBD2E"/>
          </a:solidFill>
          <a:ln/>
        </p:spPr>
      </p:sp>
      <p:sp>
        <p:nvSpPr>
          <p:cNvPr id="20" name="Shape 18"/>
          <p:cNvSpPr/>
          <p:nvPr/>
        </p:nvSpPr>
        <p:spPr>
          <a:xfrm>
            <a:off x="6117336" y="2249424"/>
            <a:ext cx="100584" cy="100584"/>
          </a:xfrm>
          <a:prstGeom prst="ellipse">
            <a:avLst/>
          </a:prstGeom>
          <a:solidFill>
            <a:srgbClr val="27C93F"/>
          </a:solidFill>
          <a:ln/>
        </p:spPr>
      </p:sp>
      <p:sp>
        <p:nvSpPr>
          <p:cNvPr id="21" name="Text 19"/>
          <p:cNvSpPr/>
          <p:nvPr/>
        </p:nvSpPr>
        <p:spPr>
          <a:xfrm>
            <a:off x="6309360" y="2167128"/>
            <a:ext cx="5120640" cy="274320"/>
          </a:xfrm>
          <a:prstGeom prst="rect">
            <a:avLst/>
          </a:prstGeom>
          <a:noFill/>
          <a:ln/>
        </p:spPr>
        <p:txBody>
          <a:bodyPr wrap="square" rtlCol="0" anchor="ctr"/>
          <a:lstStyle/>
          <a:p>
            <a:pPr marL="0" indent="0" algn="r">
              <a:buNone/>
            </a:pPr>
            <a:r>
              <a:rPr lang="en-US" sz="1000" dirty="0">
                <a:solidFill>
                  <a:srgbClr val="8A90AC"/>
                </a:solidFill>
                <a:latin typeface="Courier New" pitchFamily="34" charset="0"/>
                <a:ea typeface="Courier New" pitchFamily="34" charset="-122"/>
                <a:cs typeface="Courier New" pitchFamily="34" charset="-120"/>
              </a:rPr>
              <a:t>App.jsx</a:t>
            </a:r>
            <a:endParaRPr lang="en-US" sz="1000" dirty="0"/>
          </a:p>
        </p:txBody>
      </p:sp>
      <p:sp>
        <p:nvSpPr>
          <p:cNvPr id="22" name="Text 20"/>
          <p:cNvSpPr/>
          <p:nvPr/>
        </p:nvSpPr>
        <p:spPr>
          <a:xfrm>
            <a:off x="5897880" y="2487168"/>
            <a:ext cx="5577840" cy="2211070"/>
          </a:xfrm>
          <a:prstGeom prst="rect">
            <a:avLst/>
          </a:prstGeom>
          <a:noFill/>
          <a:ln/>
        </p:spPr>
        <p:txBody>
          <a:bodyPr wrap="square" lIns="0" tIns="0" rIns="0" bIns="0" rtlCol="0" anchor="t"/>
          <a:lstStyle/>
          <a:p>
            <a:pPr marL="0" indent="0">
              <a:lnSpc>
                <a:spcPct val="120000"/>
              </a:lnSpc>
              <a:buNone/>
            </a:pPr>
            <a:r>
              <a:rPr lang="en-US" sz="1000" dirty="0">
                <a:solidFill>
                  <a:srgbClr val="D4D4E0"/>
                </a:solidFill>
                <a:latin typeface="Courier New" pitchFamily="34" charset="0"/>
                <a:ea typeface="Courier New" pitchFamily="34" charset="-122"/>
                <a:cs typeface="Courier New" pitchFamily="34" charset="-120"/>
              </a:rPr>
              <a:t>function Counter() {</a:t>
            </a:r>
            <a:endParaRPr lang="en-US" sz="1000" dirty="0"/>
          </a:p>
          <a:p>
            <a:pPr marL="0" indent="0">
              <a:lnSpc>
                <a:spcPct val="120000"/>
              </a:lnSpc>
              <a:buNone/>
            </a:pPr>
            <a:r>
              <a:rPr lang="en-US" sz="1000" dirty="0">
                <a:solidFill>
                  <a:srgbClr val="D4D4E0"/>
                </a:solidFill>
                <a:latin typeface="Courier New" pitchFamily="34" charset="0"/>
                <a:ea typeface="Courier New" pitchFamily="34" charset="-122"/>
                <a:cs typeface="Courier New" pitchFamily="34" charset="-120"/>
              </a:rPr>
              <a:t>  const [count, setCount] = useState(0);</a:t>
            </a:r>
            <a:endParaRPr lang="en-US" sz="1000" dirty="0"/>
          </a:p>
          <a:p>
            <a:pPr marL="0" indent="0">
              <a:lnSpc>
                <a:spcPct val="120000"/>
              </a:lnSpc>
              <a:buNone/>
            </a:pPr>
            <a:r>
              <a:rPr lang="en-US" sz="1000" dirty="0">
                <a:solidFill>
                  <a:srgbClr val="D4D4E0"/>
                </a:solidFill>
                <a:latin typeface="Courier New" pitchFamily="34" charset="0"/>
                <a:ea typeface="Courier New" pitchFamily="34" charset="-122"/>
                <a:cs typeface="Courier New" pitchFamily="34" charset="-120"/>
              </a:rPr>
              <a:t>  useEffect(() =&gt; {</a:t>
            </a:r>
            <a:endParaRPr lang="en-US" sz="1000" dirty="0"/>
          </a:p>
          <a:p>
            <a:pPr marL="0" indent="0">
              <a:lnSpc>
                <a:spcPct val="120000"/>
              </a:lnSpc>
              <a:buNone/>
            </a:pPr>
            <a:r>
              <a:rPr lang="en-US" sz="1000" dirty="0">
                <a:solidFill>
                  <a:srgbClr val="D4D4E0"/>
                </a:solidFill>
                <a:latin typeface="Courier New" pitchFamily="34" charset="0"/>
                <a:ea typeface="Courier New" pitchFamily="34" charset="-122"/>
                <a:cs typeface="Courier New" pitchFamily="34" charset="-120"/>
              </a:rPr>
              <a:t>    console.log("Changed:", count);</a:t>
            </a:r>
            <a:endParaRPr lang="en-US" sz="1000" dirty="0"/>
          </a:p>
          <a:p>
            <a:pPr marL="0" indent="0">
              <a:lnSpc>
                <a:spcPct val="120000"/>
              </a:lnSpc>
              <a:buNone/>
            </a:pPr>
            <a:r>
              <a:rPr lang="en-US" sz="1000" dirty="0">
                <a:solidFill>
                  <a:srgbClr val="D4D4E0"/>
                </a:solidFill>
                <a:latin typeface="Courier New" pitchFamily="34" charset="0"/>
                <a:ea typeface="Courier New" pitchFamily="34" charset="-122"/>
                <a:cs typeface="Courier New" pitchFamily="34" charset="-120"/>
              </a:rPr>
              <a:t>  }, [count]);</a:t>
            </a:r>
            <a:endParaRPr lang="en-US" sz="1000" dirty="0"/>
          </a:p>
          <a:p>
            <a:pPr marL="0" indent="0">
              <a:lnSpc>
                <a:spcPct val="120000"/>
              </a:lnSpc>
              <a:buNone/>
            </a:pPr>
            <a:r>
              <a:rPr lang="en-US" sz="1000" dirty="0">
                <a:solidFill>
                  <a:srgbClr val="D4D4E0"/>
                </a:solidFill>
                <a:latin typeface="Courier New" pitchFamily="34" charset="0"/>
                <a:ea typeface="Courier New" pitchFamily="34" charset="-122"/>
                <a:cs typeface="Courier New" pitchFamily="34" charset="-120"/>
              </a:rPr>
              <a:t>  return (</a:t>
            </a:r>
            <a:endParaRPr lang="en-US" sz="1000" dirty="0"/>
          </a:p>
          <a:p>
            <a:pPr marL="0" indent="0">
              <a:lnSpc>
                <a:spcPct val="120000"/>
              </a:lnSpc>
              <a:buNone/>
            </a:pPr>
            <a:r>
              <a:rPr lang="en-US" sz="1000" dirty="0">
                <a:solidFill>
                  <a:srgbClr val="D4D4E0"/>
                </a:solidFill>
                <a:latin typeface="Courier New" pitchFamily="34" charset="0"/>
                <a:ea typeface="Courier New" pitchFamily="34" charset="-122"/>
                <a:cs typeface="Courier New" pitchFamily="34" charset="-120"/>
              </a:rPr>
              <a:t>    &lt;button onClick={() =&gt; setCount(count + 1)}&gt;</a:t>
            </a:r>
            <a:endParaRPr lang="en-US" sz="1000" dirty="0"/>
          </a:p>
          <a:p>
            <a:pPr marL="0" indent="0">
              <a:lnSpc>
                <a:spcPct val="120000"/>
              </a:lnSpc>
              <a:buNone/>
            </a:pPr>
            <a:r>
              <a:rPr lang="en-US" sz="1000" dirty="0">
                <a:solidFill>
                  <a:srgbClr val="D4D4E0"/>
                </a:solidFill>
                <a:latin typeface="Courier New" pitchFamily="34" charset="0"/>
                <a:ea typeface="Courier New" pitchFamily="34" charset="-122"/>
                <a:cs typeface="Courier New" pitchFamily="34" charset="-120"/>
              </a:rPr>
              <a:t>      {count}</a:t>
            </a:r>
            <a:endParaRPr lang="en-US" sz="1000" dirty="0"/>
          </a:p>
          <a:p>
            <a:pPr marL="0" indent="0">
              <a:lnSpc>
                <a:spcPct val="120000"/>
              </a:lnSpc>
              <a:buNone/>
            </a:pPr>
            <a:r>
              <a:rPr lang="en-US" sz="1000" dirty="0">
                <a:solidFill>
                  <a:srgbClr val="D4D4E0"/>
                </a:solidFill>
                <a:latin typeface="Courier New" pitchFamily="34" charset="0"/>
                <a:ea typeface="Courier New" pitchFamily="34" charset="-122"/>
                <a:cs typeface="Courier New" pitchFamily="34" charset="-120"/>
              </a:rPr>
              <a:t>    &lt;/button&gt;</a:t>
            </a:r>
            <a:endParaRPr lang="en-US" sz="1000" dirty="0"/>
          </a:p>
          <a:p>
            <a:pPr marL="0" indent="0">
              <a:lnSpc>
                <a:spcPct val="120000"/>
              </a:lnSpc>
              <a:buNone/>
            </a:pPr>
            <a:r>
              <a:rPr lang="en-US" sz="1000" dirty="0">
                <a:solidFill>
                  <a:srgbClr val="D4D4E0"/>
                </a:solidFill>
                <a:latin typeface="Courier New" pitchFamily="34" charset="0"/>
                <a:ea typeface="Courier New" pitchFamily="34" charset="-122"/>
                <a:cs typeface="Courier New" pitchFamily="34" charset="-120"/>
              </a:rPr>
              <a:t>  );</a:t>
            </a:r>
            <a:endParaRPr lang="en-US" sz="1000" dirty="0"/>
          </a:p>
          <a:p>
            <a:pPr marL="0" indent="0">
              <a:lnSpc>
                <a:spcPct val="120000"/>
              </a:lnSpc>
              <a:buNone/>
            </a:pPr>
            <a:r>
              <a:rPr lang="en-US" sz="1000" dirty="0">
                <a:solidFill>
                  <a:srgbClr val="D4D4E0"/>
                </a:solidFill>
                <a:latin typeface="Courier New" pitchFamily="34" charset="0"/>
                <a:ea typeface="Courier New" pitchFamily="34" charset="-122"/>
                <a:cs typeface="Courier New" pitchFamily="34" charset="-120"/>
              </a:rPr>
              <a:t>}</a:t>
            </a:r>
            <a:endParaRPr lang="en-US" sz="1000" dirty="0"/>
          </a:p>
        </p:txBody>
      </p:sp>
      <p:sp>
        <p:nvSpPr>
          <p:cNvPr id="23" name="Shape 21"/>
          <p:cNvSpPr/>
          <p:nvPr/>
        </p:nvSpPr>
        <p:spPr>
          <a:xfrm>
            <a:off x="5669280" y="4954270"/>
            <a:ext cx="164592" cy="274320"/>
          </a:xfrm>
          <a:prstGeom prst="roundRect">
            <a:avLst>
              <a:gd name="adj" fmla="val 22222"/>
            </a:avLst>
          </a:prstGeom>
          <a:solidFill>
            <a:srgbClr val="3FBFAE"/>
          </a:solidFill>
          <a:ln/>
        </p:spPr>
      </p:sp>
      <p:sp>
        <p:nvSpPr>
          <p:cNvPr id="24" name="Text 22"/>
          <p:cNvSpPr/>
          <p:nvPr/>
        </p:nvSpPr>
        <p:spPr>
          <a:xfrm>
            <a:off x="5925312" y="4926838"/>
            <a:ext cx="5779008" cy="329184"/>
          </a:xfrm>
          <a:prstGeom prst="rect">
            <a:avLst/>
          </a:prstGeom>
          <a:noFill/>
          <a:ln/>
        </p:spPr>
        <p:txBody>
          <a:bodyPr wrap="square" rtlCol="0" anchor="ctr"/>
          <a:lstStyle/>
          <a:p>
            <a:pPr marL="0" indent="0">
              <a:buNone/>
            </a:pPr>
            <a:r>
              <a:rPr lang="en-US" sz="1300" b="1" kern="0" spc="50" dirty="0">
                <a:solidFill>
                  <a:srgbClr val="1B2340"/>
                </a:solidFill>
                <a:latin typeface="Calibri" pitchFamily="34" charset="0"/>
                <a:ea typeface="Calibri" pitchFamily="34" charset="-122"/>
                <a:cs typeface="Calibri" pitchFamily="34" charset="-120"/>
              </a:rPr>
              <a:t>EXPLANATION</a:t>
            </a:r>
            <a:endParaRPr lang="en-US" sz="1300" dirty="0"/>
          </a:p>
        </p:txBody>
      </p:sp>
      <p:sp>
        <p:nvSpPr>
          <p:cNvPr id="25" name="Text 23"/>
          <p:cNvSpPr/>
          <p:nvPr/>
        </p:nvSpPr>
        <p:spPr>
          <a:xfrm>
            <a:off x="5669280" y="5283454"/>
            <a:ext cx="6035040" cy="1117346"/>
          </a:xfrm>
          <a:prstGeom prst="rect">
            <a:avLst/>
          </a:prstGeom>
          <a:noFill/>
          <a:ln/>
        </p:spPr>
        <p:txBody>
          <a:bodyPr wrap="square" lIns="0" tIns="0" rIns="0" bIns="0" rtlCol="0" anchor="t"/>
          <a:lstStyle/>
          <a:p>
            <a:pPr marL="177800" indent="-177800">
              <a:spcAft>
                <a:spcPts val="600"/>
              </a:spcAft>
              <a:buSzPct val="100000"/>
              <a:buChar char="•"/>
            </a:pPr>
            <a:r>
              <a:rPr lang="en-US" sz="1200" dirty="0">
                <a:solidFill>
                  <a:srgbClr val="1B2340"/>
                </a:solidFill>
                <a:latin typeface="Calibri" pitchFamily="34" charset="0"/>
                <a:ea typeface="Calibri" pitchFamily="34" charset="-122"/>
                <a:cs typeface="Calibri" pitchFamily="34" charset="-120"/>
              </a:rPr>
              <a:t>useState(initialValue) returns a state variable and a function to update it</a:t>
            </a:r>
            <a:endParaRPr lang="en-US" sz="1200" dirty="0"/>
          </a:p>
          <a:p>
            <a:pPr marL="177800" indent="-177800">
              <a:spcAft>
                <a:spcPts val="600"/>
              </a:spcAft>
              <a:buSzPct val="100000"/>
              <a:buChar char="•"/>
            </a:pPr>
            <a:r>
              <a:rPr lang="en-US" sz="1200" dirty="0">
                <a:solidFill>
                  <a:srgbClr val="1B2340"/>
                </a:solidFill>
                <a:latin typeface="Calibri" pitchFamily="34" charset="0"/>
                <a:ea typeface="Calibri" pitchFamily="34" charset="-122"/>
                <a:cs typeface="Calibri" pitchFamily="34" charset="-120"/>
              </a:rPr>
              <a:t>Calling the update function causes the component to re-render with the new value</a:t>
            </a:r>
            <a:endParaRPr lang="en-US" sz="1200" dirty="0"/>
          </a:p>
          <a:p>
            <a:pPr marL="177800" indent="-177800">
              <a:spcAft>
                <a:spcPts val="600"/>
              </a:spcAft>
              <a:buSzPct val="100000"/>
              <a:buChar char="•"/>
            </a:pPr>
            <a:r>
              <a:rPr lang="en-US" sz="1200" dirty="0">
                <a:solidFill>
                  <a:srgbClr val="1B2340"/>
                </a:solidFill>
                <a:latin typeface="Calibri" pitchFamily="34" charset="0"/>
                <a:ea typeface="Calibri" pitchFamily="34" charset="-122"/>
                <a:cs typeface="Calibri" pitchFamily="34" charset="-120"/>
              </a:rPr>
              <a:t>useEffect(callback, [dependencies]) runs side effects like API calls, after render</a:t>
            </a:r>
            <a:endParaRPr lang="en-US" sz="1200" dirty="0"/>
          </a:p>
          <a:p>
            <a:pPr marL="177800" indent="-177800">
              <a:spcAft>
                <a:spcPts val="600"/>
              </a:spcAft>
              <a:buSzPct val="100000"/>
              <a:buChar char="•"/>
            </a:pPr>
            <a:r>
              <a:rPr lang="en-US" sz="1200" dirty="0">
                <a:solidFill>
                  <a:srgbClr val="1B2340"/>
                </a:solidFill>
                <a:latin typeface="Calibri" pitchFamily="34" charset="0"/>
                <a:ea typeface="Calibri" pitchFamily="34" charset="-122"/>
                <a:cs typeface="Calibri" pitchFamily="34" charset="-120"/>
              </a:rPr>
              <a:t>The dependency array controls when useEffect re-runs (empty array = run once)</a:t>
            </a:r>
            <a:endParaRPr lang="en-US" sz="1200" dirty="0"/>
          </a:p>
        </p:txBody>
      </p:sp>
      <p:sp>
        <p:nvSpPr>
          <p:cNvPr id="26" name="Text 24"/>
          <p:cNvSpPr/>
          <p:nvPr/>
        </p:nvSpPr>
        <p:spPr>
          <a:xfrm>
            <a:off x="457200" y="6583680"/>
            <a:ext cx="5486400" cy="228600"/>
          </a:xfrm>
          <a:prstGeom prst="rect">
            <a:avLst/>
          </a:prstGeom>
          <a:noFill/>
          <a:ln/>
        </p:spPr>
        <p:txBody>
          <a:bodyPr wrap="square" rtlCol="0" anchor="ctr"/>
          <a:lstStyle/>
          <a:p>
            <a:pPr marL="0" indent="0" algn="l">
              <a:buNone/>
            </a:pPr>
            <a:r>
              <a:rPr lang="en-US" sz="850" dirty="0">
                <a:solidFill>
                  <a:srgbClr val="5B6178"/>
                </a:solidFill>
                <a:latin typeface="Calibri" pitchFamily="34" charset="0"/>
                <a:ea typeface="Calibri" pitchFamily="34" charset="-122"/>
                <a:cs typeface="Calibri" pitchFamily="34" charset="-120"/>
              </a:rPr>
              <a:t>Java &amp; Full-Stack Interview Prep</a:t>
            </a:r>
            <a:endParaRPr lang="en-US" sz="8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Shape 0"/>
          <p:cNvSpPr/>
          <p:nvPr/>
        </p:nvSpPr>
        <p:spPr>
          <a:xfrm>
            <a:off x="502920" y="384048"/>
            <a:ext cx="3675888" cy="310896"/>
          </a:xfrm>
          <a:prstGeom prst="roundRect">
            <a:avLst>
              <a:gd name="adj" fmla="val 23529"/>
            </a:avLst>
          </a:prstGeom>
          <a:solidFill>
            <a:srgbClr val="E8A33D"/>
          </a:solidFill>
          <a:ln/>
        </p:spPr>
      </p:sp>
      <p:sp>
        <p:nvSpPr>
          <p:cNvPr id="3" name="Text 1"/>
          <p:cNvSpPr/>
          <p:nvPr/>
        </p:nvSpPr>
        <p:spPr>
          <a:xfrm>
            <a:off x="502920" y="384048"/>
            <a:ext cx="3675888" cy="310896"/>
          </a:xfrm>
          <a:prstGeom prst="rect">
            <a:avLst/>
          </a:prstGeom>
          <a:noFill/>
          <a:ln/>
        </p:spPr>
        <p:txBody>
          <a:bodyPr wrap="square" rtlCol="0" anchor="ctr"/>
          <a:lstStyle/>
          <a:p>
            <a:pPr marL="0" indent="0" algn="ctr">
              <a:buNone/>
            </a:pPr>
            <a:r>
              <a:rPr lang="en-US" sz="1100" b="1" kern="0" spc="100" dirty="0">
                <a:solidFill>
                  <a:srgbClr val="1B2340"/>
                </a:solidFill>
                <a:latin typeface="Calibri" pitchFamily="34" charset="0"/>
                <a:ea typeface="Calibri" pitchFamily="34" charset="-122"/>
                <a:cs typeface="Calibri" pitchFamily="34" charset="-120"/>
              </a:rPr>
              <a:t>REACT &amp; FRONTEND</a:t>
            </a:r>
            <a:endParaRPr lang="en-US" sz="1100" dirty="0"/>
          </a:p>
        </p:txBody>
      </p:sp>
      <p:sp>
        <p:nvSpPr>
          <p:cNvPr id="4" name="Text 2"/>
          <p:cNvSpPr/>
          <p:nvPr/>
        </p:nvSpPr>
        <p:spPr>
          <a:xfrm>
            <a:off x="502920" y="786384"/>
            <a:ext cx="11155680" cy="868680"/>
          </a:xfrm>
          <a:prstGeom prst="rect">
            <a:avLst/>
          </a:prstGeom>
          <a:noFill/>
          <a:ln/>
        </p:spPr>
        <p:txBody>
          <a:bodyPr wrap="square" rtlCol="0" anchor="t"/>
          <a:lstStyle/>
          <a:p>
            <a:pPr marL="0" indent="0">
              <a:lnSpc>
                <a:spcPct val="102000"/>
              </a:lnSpc>
              <a:buNone/>
            </a:pPr>
            <a:r>
              <a:rPr lang="en-US" sz="2500" b="1" dirty="0">
                <a:solidFill>
                  <a:srgbClr val="1B2340"/>
                </a:solidFill>
                <a:latin typeface="Century Schoolbook" pitchFamily="34" charset="0"/>
                <a:ea typeface="Century Schoolbook" pitchFamily="34" charset="-122"/>
                <a:cs typeface="Century Schoolbook" pitchFamily="34" charset="-120"/>
              </a:rPr>
              <a:t>Difference between let, var, and const.</a:t>
            </a:r>
            <a:endParaRPr lang="en-US" sz="2500" dirty="0"/>
          </a:p>
        </p:txBody>
      </p:sp>
      <p:sp>
        <p:nvSpPr>
          <p:cNvPr id="5" name="Shape 3"/>
          <p:cNvSpPr/>
          <p:nvPr/>
        </p:nvSpPr>
        <p:spPr>
          <a:xfrm>
            <a:off x="502920" y="1810512"/>
            <a:ext cx="164592" cy="274320"/>
          </a:xfrm>
          <a:prstGeom prst="roundRect">
            <a:avLst>
              <a:gd name="adj" fmla="val 22222"/>
            </a:avLst>
          </a:prstGeom>
          <a:solidFill>
            <a:srgbClr val="E8A33D"/>
          </a:solidFill>
          <a:ln/>
        </p:spPr>
      </p:sp>
      <p:sp>
        <p:nvSpPr>
          <p:cNvPr id="6" name="Text 4"/>
          <p:cNvSpPr/>
          <p:nvPr/>
        </p:nvSpPr>
        <p:spPr>
          <a:xfrm>
            <a:off x="758952" y="1783080"/>
            <a:ext cx="4681728" cy="329184"/>
          </a:xfrm>
          <a:prstGeom prst="rect">
            <a:avLst/>
          </a:prstGeom>
          <a:noFill/>
          <a:ln/>
        </p:spPr>
        <p:txBody>
          <a:bodyPr wrap="square" rtlCol="0" anchor="ctr"/>
          <a:lstStyle/>
          <a:p>
            <a:pPr marL="0" indent="0">
              <a:buNone/>
            </a:pPr>
            <a:r>
              <a:rPr lang="en-US" sz="1300" b="1" kern="0" spc="50" dirty="0">
                <a:solidFill>
                  <a:srgbClr val="1B2340"/>
                </a:solidFill>
                <a:latin typeface="Calibri" pitchFamily="34" charset="0"/>
                <a:ea typeface="Calibri" pitchFamily="34" charset="-122"/>
                <a:cs typeface="Calibri" pitchFamily="34" charset="-120"/>
              </a:rPr>
              <a:t>DEFINITION / CONCEPT</a:t>
            </a:r>
            <a:endParaRPr lang="en-US" sz="1300" dirty="0"/>
          </a:p>
        </p:txBody>
      </p:sp>
      <p:sp>
        <p:nvSpPr>
          <p:cNvPr id="7" name="Shape 5"/>
          <p:cNvSpPr/>
          <p:nvPr/>
        </p:nvSpPr>
        <p:spPr>
          <a:xfrm>
            <a:off x="502920" y="2121408"/>
            <a:ext cx="4937760" cy="1234440"/>
          </a:xfrm>
          <a:prstGeom prst="roundRect">
            <a:avLst>
              <a:gd name="adj" fmla="val 5926"/>
            </a:avLst>
          </a:prstGeom>
          <a:solidFill>
            <a:srgbClr val="F7F7FA"/>
          </a:solidFill>
          <a:ln w="12700">
            <a:solidFill>
              <a:srgbClr val="E4E6EF"/>
            </a:solidFill>
            <a:prstDash val="solid"/>
          </a:ln>
        </p:spPr>
      </p:sp>
      <p:sp>
        <p:nvSpPr>
          <p:cNvPr id="8" name="Text 6"/>
          <p:cNvSpPr/>
          <p:nvPr/>
        </p:nvSpPr>
        <p:spPr>
          <a:xfrm>
            <a:off x="758952" y="2304288"/>
            <a:ext cx="4425696" cy="868680"/>
          </a:xfrm>
          <a:prstGeom prst="rect">
            <a:avLst/>
          </a:prstGeom>
          <a:noFill/>
          <a:ln/>
        </p:spPr>
        <p:txBody>
          <a:bodyPr wrap="square" lIns="0" tIns="0" rIns="0" bIns="0" rtlCol="0" anchor="t"/>
          <a:lstStyle/>
          <a:p>
            <a:pPr marL="0" indent="0">
              <a:lnSpc>
                <a:spcPct val="115000"/>
              </a:lnSpc>
              <a:buNone/>
            </a:pPr>
            <a:r>
              <a:rPr lang="en-US" sz="1450" dirty="0">
                <a:solidFill>
                  <a:srgbClr val="1B2340"/>
                </a:solidFill>
                <a:latin typeface="Calibri" pitchFamily="34" charset="0"/>
                <a:ea typeface="Calibri" pitchFamily="34" charset="-122"/>
                <a:cs typeface="Calibri" pitchFamily="34" charset="-120"/>
              </a:rPr>
              <a:t>All three declare variables in JavaScript, but they differ in scope, re-assignment rules, and hoisting behaviour.</a:t>
            </a:r>
            <a:endParaRPr lang="en-US" sz="1450" dirty="0"/>
          </a:p>
        </p:txBody>
      </p:sp>
      <p:sp>
        <p:nvSpPr>
          <p:cNvPr id="9" name="Shape 7"/>
          <p:cNvSpPr/>
          <p:nvPr/>
        </p:nvSpPr>
        <p:spPr>
          <a:xfrm>
            <a:off x="502920" y="3493008"/>
            <a:ext cx="4937760" cy="1554480"/>
          </a:xfrm>
          <a:prstGeom prst="roundRect">
            <a:avLst>
              <a:gd name="adj" fmla="val 4706"/>
            </a:avLst>
          </a:prstGeom>
          <a:solidFill>
            <a:srgbClr val="FDF3E3"/>
          </a:solidFill>
          <a:ln/>
        </p:spPr>
      </p:sp>
      <p:sp>
        <p:nvSpPr>
          <p:cNvPr id="10" name="Text 8"/>
          <p:cNvSpPr/>
          <p:nvPr/>
        </p:nvSpPr>
        <p:spPr>
          <a:xfrm>
            <a:off x="704088" y="3602736"/>
            <a:ext cx="4535424" cy="274320"/>
          </a:xfrm>
          <a:prstGeom prst="rect">
            <a:avLst/>
          </a:prstGeom>
          <a:noFill/>
          <a:ln/>
        </p:spPr>
        <p:txBody>
          <a:bodyPr wrap="square" rtlCol="0" anchor="ctr"/>
          <a:lstStyle/>
          <a:p>
            <a:pPr marL="0" indent="0">
              <a:buNone/>
            </a:pPr>
            <a:r>
              <a:rPr lang="en-US" sz="1100" b="1" kern="0" spc="50" dirty="0">
                <a:solidFill>
                  <a:srgbClr val="C9862A"/>
                </a:solidFill>
                <a:latin typeface="Calibri" pitchFamily="34" charset="0"/>
                <a:ea typeface="Calibri" pitchFamily="34" charset="-122"/>
                <a:cs typeface="Calibri" pitchFamily="34" charset="-120"/>
              </a:rPr>
              <a:t>💡 REAL-LIFE ANALOGY</a:t>
            </a:r>
            <a:endParaRPr lang="en-US" sz="1100" dirty="0"/>
          </a:p>
        </p:txBody>
      </p:sp>
      <p:sp>
        <p:nvSpPr>
          <p:cNvPr id="11" name="Text 9"/>
          <p:cNvSpPr/>
          <p:nvPr/>
        </p:nvSpPr>
        <p:spPr>
          <a:xfrm>
            <a:off x="704088" y="3895344"/>
            <a:ext cx="4535424" cy="1024128"/>
          </a:xfrm>
          <a:prstGeom prst="rect">
            <a:avLst/>
          </a:prstGeom>
          <a:noFill/>
          <a:ln/>
        </p:spPr>
        <p:txBody>
          <a:bodyPr wrap="square" lIns="0" tIns="0" rIns="0" bIns="0" rtlCol="0" anchor="t"/>
          <a:lstStyle/>
          <a:p>
            <a:pPr marL="0" indent="0">
              <a:lnSpc>
                <a:spcPct val="110000"/>
              </a:lnSpc>
              <a:buNone/>
            </a:pPr>
            <a:r>
              <a:rPr lang="en-US" sz="1250" i="1" dirty="0">
                <a:solidFill>
                  <a:srgbClr val="1B2340"/>
                </a:solidFill>
                <a:latin typeface="Calibri" pitchFamily="34" charset="0"/>
                <a:ea typeface="Calibri" pitchFamily="34" charset="-122"/>
                <a:cs typeface="Calibri" pitchFamily="34" charset="-120"/>
              </a:rPr>
              <a:t>var is like an old rulebook that lets anyone edit any page from anywhere. let is like a whiteboard limited to one room that can be rewritten. const is like a signed, sealed contract that can never be changed once signed.</a:t>
            </a:r>
            <a:endParaRPr lang="en-US" sz="1250" dirty="0"/>
          </a:p>
        </p:txBody>
      </p:sp>
      <p:sp>
        <p:nvSpPr>
          <p:cNvPr id="12" name="Shape 10"/>
          <p:cNvSpPr/>
          <p:nvPr/>
        </p:nvSpPr>
        <p:spPr>
          <a:xfrm>
            <a:off x="502920" y="5193792"/>
            <a:ext cx="4937760" cy="1051560"/>
          </a:xfrm>
          <a:prstGeom prst="roundRect">
            <a:avLst>
              <a:gd name="adj" fmla="val 6957"/>
            </a:avLst>
          </a:prstGeom>
          <a:solidFill>
            <a:srgbClr val="1B2340"/>
          </a:solidFill>
          <a:ln/>
        </p:spPr>
      </p:sp>
      <p:sp>
        <p:nvSpPr>
          <p:cNvPr id="13" name="Text 11"/>
          <p:cNvSpPr/>
          <p:nvPr/>
        </p:nvSpPr>
        <p:spPr>
          <a:xfrm>
            <a:off x="731520" y="5285232"/>
            <a:ext cx="4480560" cy="256032"/>
          </a:xfrm>
          <a:prstGeom prst="rect">
            <a:avLst/>
          </a:prstGeom>
          <a:noFill/>
          <a:ln/>
        </p:spPr>
        <p:txBody>
          <a:bodyPr wrap="square" rtlCol="0" anchor="ctr"/>
          <a:lstStyle/>
          <a:p>
            <a:pPr marL="0" indent="0">
              <a:buNone/>
            </a:pPr>
            <a:r>
              <a:rPr lang="en-US" sz="1050" b="1" kern="0" spc="80" dirty="0">
                <a:solidFill>
                  <a:srgbClr val="E8A33D"/>
                </a:solidFill>
                <a:latin typeface="Calibri" pitchFamily="34" charset="0"/>
                <a:ea typeface="Calibri" pitchFamily="34" charset="-122"/>
                <a:cs typeface="Calibri" pitchFamily="34" charset="-120"/>
              </a:rPr>
              <a:t>ONE-LINE INTERVIEW ANSWER</a:t>
            </a:r>
            <a:endParaRPr lang="en-US" sz="1050" dirty="0"/>
          </a:p>
        </p:txBody>
      </p:sp>
      <p:sp>
        <p:nvSpPr>
          <p:cNvPr id="14" name="Text 12"/>
          <p:cNvSpPr/>
          <p:nvPr/>
        </p:nvSpPr>
        <p:spPr>
          <a:xfrm>
            <a:off x="731520" y="5541264"/>
            <a:ext cx="4480560" cy="594360"/>
          </a:xfrm>
          <a:prstGeom prst="rect">
            <a:avLst/>
          </a:prstGeom>
          <a:noFill/>
          <a:ln/>
        </p:spPr>
        <p:txBody>
          <a:bodyPr wrap="square" lIns="0" tIns="0" rIns="0" bIns="0" rtlCol="0" anchor="t"/>
          <a:lstStyle/>
          <a:p>
            <a:pPr marL="0" indent="0">
              <a:lnSpc>
                <a:spcPct val="105000"/>
              </a:lnSpc>
              <a:buNone/>
            </a:pPr>
            <a:r>
              <a:rPr lang="en-US" sz="1250" dirty="0">
                <a:solidFill>
                  <a:srgbClr val="FFFFFF"/>
                </a:solidFill>
                <a:latin typeface="Calibri" pitchFamily="34" charset="0"/>
                <a:ea typeface="Calibri" pitchFamily="34" charset="-122"/>
                <a:cs typeface="Calibri" pitchFamily="34" charset="-120"/>
              </a:rPr>
              <a:t>var is function-scoped and outdated, let is block-scoped and reassignable, and const is block-scoped and constant.</a:t>
            </a:r>
            <a:endParaRPr lang="en-US" sz="1250" dirty="0"/>
          </a:p>
        </p:txBody>
      </p:sp>
      <p:sp>
        <p:nvSpPr>
          <p:cNvPr id="15" name="Shape 13"/>
          <p:cNvSpPr/>
          <p:nvPr/>
        </p:nvSpPr>
        <p:spPr>
          <a:xfrm>
            <a:off x="5669280" y="1810512"/>
            <a:ext cx="164592" cy="274320"/>
          </a:xfrm>
          <a:prstGeom prst="roundRect">
            <a:avLst>
              <a:gd name="adj" fmla="val 22222"/>
            </a:avLst>
          </a:prstGeom>
          <a:solidFill>
            <a:srgbClr val="3FBFAE"/>
          </a:solidFill>
          <a:ln/>
        </p:spPr>
      </p:sp>
      <p:sp>
        <p:nvSpPr>
          <p:cNvPr id="16" name="Text 14"/>
          <p:cNvSpPr/>
          <p:nvPr/>
        </p:nvSpPr>
        <p:spPr>
          <a:xfrm>
            <a:off x="5925312" y="1783080"/>
            <a:ext cx="5779008" cy="329184"/>
          </a:xfrm>
          <a:prstGeom prst="rect">
            <a:avLst/>
          </a:prstGeom>
          <a:noFill/>
          <a:ln/>
        </p:spPr>
        <p:txBody>
          <a:bodyPr wrap="square" rtlCol="0" anchor="ctr"/>
          <a:lstStyle/>
          <a:p>
            <a:pPr marL="0" indent="0">
              <a:buNone/>
            </a:pPr>
            <a:r>
              <a:rPr lang="en-US" sz="1300" b="1" kern="0" spc="50" dirty="0">
                <a:solidFill>
                  <a:srgbClr val="1B2340"/>
                </a:solidFill>
                <a:latin typeface="Calibri" pitchFamily="34" charset="0"/>
                <a:ea typeface="Calibri" pitchFamily="34" charset="-122"/>
                <a:cs typeface="Calibri" pitchFamily="34" charset="-120"/>
              </a:rPr>
              <a:t>EXAMPLE</a:t>
            </a:r>
            <a:endParaRPr lang="en-US" sz="1300" dirty="0"/>
          </a:p>
        </p:txBody>
      </p:sp>
      <p:sp>
        <p:nvSpPr>
          <p:cNvPr id="17" name="Shape 15"/>
          <p:cNvSpPr/>
          <p:nvPr/>
        </p:nvSpPr>
        <p:spPr>
          <a:xfrm>
            <a:off x="5669280" y="2121408"/>
            <a:ext cx="6035040" cy="1211580"/>
          </a:xfrm>
          <a:prstGeom prst="roundRect">
            <a:avLst>
              <a:gd name="adj" fmla="val 6038"/>
            </a:avLst>
          </a:prstGeom>
          <a:solidFill>
            <a:srgbClr val="1E1E2E"/>
          </a:solidFill>
          <a:ln/>
        </p:spPr>
      </p:sp>
      <p:sp>
        <p:nvSpPr>
          <p:cNvPr id="18" name="Shape 16"/>
          <p:cNvSpPr/>
          <p:nvPr/>
        </p:nvSpPr>
        <p:spPr>
          <a:xfrm>
            <a:off x="5806440" y="2249424"/>
            <a:ext cx="100584" cy="100584"/>
          </a:xfrm>
          <a:prstGeom prst="ellipse">
            <a:avLst/>
          </a:prstGeom>
          <a:solidFill>
            <a:srgbClr val="FF5F56"/>
          </a:solidFill>
          <a:ln/>
        </p:spPr>
      </p:sp>
      <p:sp>
        <p:nvSpPr>
          <p:cNvPr id="19" name="Shape 17"/>
          <p:cNvSpPr/>
          <p:nvPr/>
        </p:nvSpPr>
        <p:spPr>
          <a:xfrm>
            <a:off x="5961888" y="2249424"/>
            <a:ext cx="100584" cy="100584"/>
          </a:xfrm>
          <a:prstGeom prst="ellipse">
            <a:avLst/>
          </a:prstGeom>
          <a:solidFill>
            <a:srgbClr val="FFBD2E"/>
          </a:solidFill>
          <a:ln/>
        </p:spPr>
      </p:sp>
      <p:sp>
        <p:nvSpPr>
          <p:cNvPr id="20" name="Shape 18"/>
          <p:cNvSpPr/>
          <p:nvPr/>
        </p:nvSpPr>
        <p:spPr>
          <a:xfrm>
            <a:off x="6117336" y="2249424"/>
            <a:ext cx="100584" cy="100584"/>
          </a:xfrm>
          <a:prstGeom prst="ellipse">
            <a:avLst/>
          </a:prstGeom>
          <a:solidFill>
            <a:srgbClr val="27C93F"/>
          </a:solidFill>
          <a:ln/>
        </p:spPr>
      </p:sp>
      <p:sp>
        <p:nvSpPr>
          <p:cNvPr id="21" name="Text 19"/>
          <p:cNvSpPr/>
          <p:nvPr/>
        </p:nvSpPr>
        <p:spPr>
          <a:xfrm>
            <a:off x="6309360" y="2167128"/>
            <a:ext cx="5120640" cy="274320"/>
          </a:xfrm>
          <a:prstGeom prst="rect">
            <a:avLst/>
          </a:prstGeom>
          <a:noFill/>
          <a:ln/>
        </p:spPr>
        <p:txBody>
          <a:bodyPr wrap="square" rtlCol="0" anchor="ctr"/>
          <a:lstStyle/>
          <a:p>
            <a:pPr marL="0" indent="0" algn="r">
              <a:buNone/>
            </a:pPr>
            <a:r>
              <a:rPr lang="en-US" sz="1000" dirty="0">
                <a:solidFill>
                  <a:srgbClr val="8A90AC"/>
                </a:solidFill>
                <a:latin typeface="Courier New" pitchFamily="34" charset="0"/>
                <a:ea typeface="Courier New" pitchFamily="34" charset="-122"/>
                <a:cs typeface="Courier New" pitchFamily="34" charset="-120"/>
              </a:rPr>
              <a:t>App.jsx</a:t>
            </a:r>
            <a:endParaRPr lang="en-US" sz="1000" dirty="0"/>
          </a:p>
        </p:txBody>
      </p:sp>
      <p:sp>
        <p:nvSpPr>
          <p:cNvPr id="22" name="Text 20"/>
          <p:cNvSpPr/>
          <p:nvPr/>
        </p:nvSpPr>
        <p:spPr>
          <a:xfrm>
            <a:off x="5897880" y="2487168"/>
            <a:ext cx="5577840" cy="754380"/>
          </a:xfrm>
          <a:prstGeom prst="rect">
            <a:avLst/>
          </a:prstGeom>
          <a:noFill/>
          <a:ln/>
        </p:spPr>
        <p:txBody>
          <a:bodyPr wrap="square" lIns="0" tIns="0" rIns="0" bIns="0" rtlCol="0" anchor="t"/>
          <a:lstStyle/>
          <a:p>
            <a:pPr marL="0" indent="0">
              <a:lnSpc>
                <a:spcPct val="120000"/>
              </a:lnSpc>
              <a:buNone/>
            </a:pPr>
            <a:r>
              <a:rPr lang="en-US" sz="1200" dirty="0">
                <a:solidFill>
                  <a:srgbClr val="D4D4E0"/>
                </a:solidFill>
                <a:latin typeface="Courier New" pitchFamily="34" charset="0"/>
                <a:ea typeface="Courier New" pitchFamily="34" charset="-122"/>
                <a:cs typeface="Courier New" pitchFamily="34" charset="-120"/>
              </a:rPr>
              <a:t>var x = 1;   // function scoped, avoid</a:t>
            </a:r>
            <a:endParaRPr lang="en-US" sz="1200" dirty="0"/>
          </a:p>
          <a:p>
            <a:pPr marL="0" indent="0">
              <a:lnSpc>
                <a:spcPct val="120000"/>
              </a:lnSpc>
              <a:buNone/>
            </a:pPr>
            <a:r>
              <a:rPr lang="en-US" sz="1200" dirty="0">
                <a:solidFill>
                  <a:srgbClr val="D4D4E0"/>
                </a:solidFill>
                <a:latin typeface="Courier New" pitchFamily="34" charset="0"/>
                <a:ea typeface="Courier New" pitchFamily="34" charset="-122"/>
                <a:cs typeface="Courier New" pitchFamily="34" charset="-120"/>
              </a:rPr>
              <a:t>let y = 2;   // block scoped, can change</a:t>
            </a:r>
            <a:endParaRPr lang="en-US" sz="1200" dirty="0"/>
          </a:p>
          <a:p>
            <a:pPr marL="0" indent="0">
              <a:lnSpc>
                <a:spcPct val="120000"/>
              </a:lnSpc>
              <a:buNone/>
            </a:pPr>
            <a:r>
              <a:rPr lang="en-US" sz="1200" dirty="0">
                <a:solidFill>
                  <a:srgbClr val="D4D4E0"/>
                </a:solidFill>
                <a:latin typeface="Courier New" pitchFamily="34" charset="0"/>
                <a:ea typeface="Courier New" pitchFamily="34" charset="-122"/>
                <a:cs typeface="Courier New" pitchFamily="34" charset="-120"/>
              </a:rPr>
              <a:t>const z = 3; // block scoped, cannot change</a:t>
            </a:r>
            <a:endParaRPr lang="en-US" sz="1200" dirty="0"/>
          </a:p>
        </p:txBody>
      </p:sp>
      <p:sp>
        <p:nvSpPr>
          <p:cNvPr id="23" name="Shape 21"/>
          <p:cNvSpPr/>
          <p:nvPr/>
        </p:nvSpPr>
        <p:spPr>
          <a:xfrm>
            <a:off x="5669280" y="3497580"/>
            <a:ext cx="164592" cy="274320"/>
          </a:xfrm>
          <a:prstGeom prst="roundRect">
            <a:avLst>
              <a:gd name="adj" fmla="val 22222"/>
            </a:avLst>
          </a:prstGeom>
          <a:solidFill>
            <a:srgbClr val="3FBFAE"/>
          </a:solidFill>
          <a:ln/>
        </p:spPr>
      </p:sp>
      <p:sp>
        <p:nvSpPr>
          <p:cNvPr id="24" name="Text 22"/>
          <p:cNvSpPr/>
          <p:nvPr/>
        </p:nvSpPr>
        <p:spPr>
          <a:xfrm>
            <a:off x="5925312" y="3470148"/>
            <a:ext cx="5779008" cy="329184"/>
          </a:xfrm>
          <a:prstGeom prst="rect">
            <a:avLst/>
          </a:prstGeom>
          <a:noFill/>
          <a:ln/>
        </p:spPr>
        <p:txBody>
          <a:bodyPr wrap="square" rtlCol="0" anchor="ctr"/>
          <a:lstStyle/>
          <a:p>
            <a:pPr marL="0" indent="0">
              <a:buNone/>
            </a:pPr>
            <a:r>
              <a:rPr lang="en-US" sz="1300" b="1" kern="0" spc="50" dirty="0">
                <a:solidFill>
                  <a:srgbClr val="1B2340"/>
                </a:solidFill>
                <a:latin typeface="Calibri" pitchFamily="34" charset="0"/>
                <a:ea typeface="Calibri" pitchFamily="34" charset="-122"/>
                <a:cs typeface="Calibri" pitchFamily="34" charset="-120"/>
              </a:rPr>
              <a:t>EXPLANATION</a:t>
            </a:r>
            <a:endParaRPr lang="en-US" sz="1300" dirty="0"/>
          </a:p>
        </p:txBody>
      </p:sp>
      <p:sp>
        <p:nvSpPr>
          <p:cNvPr id="25" name="Text 23"/>
          <p:cNvSpPr/>
          <p:nvPr/>
        </p:nvSpPr>
        <p:spPr>
          <a:xfrm>
            <a:off x="5669280" y="3826764"/>
            <a:ext cx="6035040" cy="2574036"/>
          </a:xfrm>
          <a:prstGeom prst="rect">
            <a:avLst/>
          </a:prstGeom>
          <a:noFill/>
          <a:ln/>
        </p:spPr>
        <p:txBody>
          <a:bodyPr wrap="square" lIns="0" tIns="0" rIns="0" bIns="0" rtlCol="0" anchor="t"/>
          <a:lstStyle/>
          <a:p>
            <a:pPr marL="177800" indent="-177800">
              <a:spcAft>
                <a:spcPts val="600"/>
              </a:spcAft>
              <a:buSzPct val="100000"/>
              <a:buChar char="•"/>
            </a:pPr>
            <a:r>
              <a:rPr lang="en-US" sz="1200" dirty="0">
                <a:solidFill>
                  <a:srgbClr val="1B2340"/>
                </a:solidFill>
                <a:latin typeface="Calibri" pitchFamily="34" charset="0"/>
                <a:ea typeface="Calibri" pitchFamily="34" charset="-122"/>
                <a:cs typeface="Calibri" pitchFamily="34" charset="-120"/>
              </a:rPr>
              <a:t>var - function-scoped, can be redeclared and updated, hoisted (old style, avoid using)</a:t>
            </a:r>
            <a:endParaRPr lang="en-US" sz="1200" dirty="0"/>
          </a:p>
          <a:p>
            <a:pPr marL="177800" indent="-177800">
              <a:spcAft>
                <a:spcPts val="600"/>
              </a:spcAft>
              <a:buSzPct val="100000"/>
              <a:buChar char="•"/>
            </a:pPr>
            <a:r>
              <a:rPr lang="en-US" sz="1200" dirty="0">
                <a:solidFill>
                  <a:srgbClr val="1B2340"/>
                </a:solidFill>
                <a:latin typeface="Calibri" pitchFamily="34" charset="0"/>
                <a:ea typeface="Calibri" pitchFamily="34" charset="-122"/>
                <a:cs typeface="Calibri" pitchFamily="34" charset="-120"/>
              </a:rPr>
              <a:t>let - block-scoped, can be updated but not redeclared in the same scope</a:t>
            </a:r>
            <a:endParaRPr lang="en-US" sz="1200" dirty="0"/>
          </a:p>
          <a:p>
            <a:pPr marL="177800" indent="-177800">
              <a:spcAft>
                <a:spcPts val="600"/>
              </a:spcAft>
              <a:buSzPct val="100000"/>
              <a:buChar char="•"/>
            </a:pPr>
            <a:r>
              <a:rPr lang="en-US" sz="1200" dirty="0">
                <a:solidFill>
                  <a:srgbClr val="1B2340"/>
                </a:solidFill>
                <a:latin typeface="Calibri" pitchFamily="34" charset="0"/>
                <a:ea typeface="Calibri" pitchFamily="34" charset="-122"/>
                <a:cs typeface="Calibri" pitchFamily="34" charset="-120"/>
              </a:rPr>
              <a:t>const - block-scoped, cannot be updated or redeclared - value stays fixed after assignment</a:t>
            </a:r>
            <a:endParaRPr lang="en-US" sz="1200" dirty="0"/>
          </a:p>
          <a:p>
            <a:pPr marL="177800" indent="-177800">
              <a:spcAft>
                <a:spcPts val="600"/>
              </a:spcAft>
              <a:buSzPct val="100000"/>
              <a:buChar char="•"/>
            </a:pPr>
            <a:r>
              <a:rPr lang="en-US" sz="1200" dirty="0">
                <a:solidFill>
                  <a:srgbClr val="1B2340"/>
                </a:solidFill>
                <a:latin typeface="Calibri" pitchFamily="34" charset="0"/>
                <a:ea typeface="Calibri" pitchFamily="34" charset="-122"/>
                <a:cs typeface="Calibri" pitchFamily="34" charset="-120"/>
              </a:rPr>
              <a:t>Modern JavaScript/React code prefers let and const over var</a:t>
            </a:r>
            <a:endParaRPr lang="en-US" sz="1200" dirty="0"/>
          </a:p>
        </p:txBody>
      </p:sp>
      <p:sp>
        <p:nvSpPr>
          <p:cNvPr id="26" name="Text 24"/>
          <p:cNvSpPr/>
          <p:nvPr/>
        </p:nvSpPr>
        <p:spPr>
          <a:xfrm>
            <a:off x="457200" y="6583680"/>
            <a:ext cx="5486400" cy="228600"/>
          </a:xfrm>
          <a:prstGeom prst="rect">
            <a:avLst/>
          </a:prstGeom>
          <a:noFill/>
          <a:ln/>
        </p:spPr>
        <p:txBody>
          <a:bodyPr wrap="square" rtlCol="0" anchor="ctr"/>
          <a:lstStyle/>
          <a:p>
            <a:pPr marL="0" indent="0" algn="l">
              <a:buNone/>
            </a:pPr>
            <a:r>
              <a:rPr lang="en-US" sz="850" dirty="0">
                <a:solidFill>
                  <a:srgbClr val="5B6178"/>
                </a:solidFill>
                <a:latin typeface="Calibri" pitchFamily="34" charset="0"/>
                <a:ea typeface="Calibri" pitchFamily="34" charset="-122"/>
                <a:cs typeface="Calibri" pitchFamily="34" charset="-120"/>
              </a:rPr>
              <a:t>Java &amp; Full-Stack Interview Prep</a:t>
            </a:r>
            <a:endParaRPr lang="en-US" sz="8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Shape 0"/>
          <p:cNvSpPr/>
          <p:nvPr/>
        </p:nvSpPr>
        <p:spPr>
          <a:xfrm>
            <a:off x="502920" y="384048"/>
            <a:ext cx="3675888" cy="310896"/>
          </a:xfrm>
          <a:prstGeom prst="roundRect">
            <a:avLst>
              <a:gd name="adj" fmla="val 23529"/>
            </a:avLst>
          </a:prstGeom>
          <a:solidFill>
            <a:srgbClr val="E8A33D"/>
          </a:solidFill>
          <a:ln/>
        </p:spPr>
      </p:sp>
      <p:sp>
        <p:nvSpPr>
          <p:cNvPr id="3" name="Text 1"/>
          <p:cNvSpPr/>
          <p:nvPr/>
        </p:nvSpPr>
        <p:spPr>
          <a:xfrm>
            <a:off x="502920" y="384048"/>
            <a:ext cx="3675888" cy="310896"/>
          </a:xfrm>
          <a:prstGeom prst="rect">
            <a:avLst/>
          </a:prstGeom>
          <a:noFill/>
          <a:ln/>
        </p:spPr>
        <p:txBody>
          <a:bodyPr wrap="square" rtlCol="0" anchor="ctr"/>
          <a:lstStyle/>
          <a:p>
            <a:pPr marL="0" indent="0" algn="ctr">
              <a:buNone/>
            </a:pPr>
            <a:r>
              <a:rPr lang="en-US" sz="1100" b="1" kern="0" spc="100" dirty="0">
                <a:solidFill>
                  <a:srgbClr val="1B2340"/>
                </a:solidFill>
                <a:latin typeface="Calibri" pitchFamily="34" charset="0"/>
                <a:ea typeface="Calibri" pitchFamily="34" charset="-122"/>
                <a:cs typeface="Calibri" pitchFamily="34" charset="-120"/>
              </a:rPr>
              <a:t>REACT &amp; FRONTEND</a:t>
            </a:r>
            <a:endParaRPr lang="en-US" sz="1100" dirty="0"/>
          </a:p>
        </p:txBody>
      </p:sp>
      <p:sp>
        <p:nvSpPr>
          <p:cNvPr id="4" name="Text 2"/>
          <p:cNvSpPr/>
          <p:nvPr/>
        </p:nvSpPr>
        <p:spPr>
          <a:xfrm>
            <a:off x="502920" y="786384"/>
            <a:ext cx="11155680" cy="868680"/>
          </a:xfrm>
          <a:prstGeom prst="rect">
            <a:avLst/>
          </a:prstGeom>
          <a:noFill/>
          <a:ln/>
        </p:spPr>
        <p:txBody>
          <a:bodyPr wrap="square" rtlCol="0" anchor="t"/>
          <a:lstStyle/>
          <a:p>
            <a:pPr marL="0" indent="0">
              <a:lnSpc>
                <a:spcPct val="102000"/>
              </a:lnSpc>
              <a:buNone/>
            </a:pPr>
            <a:r>
              <a:rPr lang="en-US" sz="2500" b="1" dirty="0">
                <a:solidFill>
                  <a:srgbClr val="1B2340"/>
                </a:solidFill>
                <a:latin typeface="Century Schoolbook" pitchFamily="34" charset="0"/>
                <a:ea typeface="Century Schoolbook" pitchFamily="34" charset="-122"/>
                <a:cs typeface="Century Schoolbook" pitchFamily="34" charset="-120"/>
              </a:rPr>
              <a:t>Why is React called a Single Page Application (SPA)?</a:t>
            </a:r>
            <a:endParaRPr lang="en-US" sz="2500" dirty="0"/>
          </a:p>
        </p:txBody>
      </p:sp>
      <p:sp>
        <p:nvSpPr>
          <p:cNvPr id="5" name="Shape 3"/>
          <p:cNvSpPr/>
          <p:nvPr/>
        </p:nvSpPr>
        <p:spPr>
          <a:xfrm>
            <a:off x="502920" y="1810512"/>
            <a:ext cx="164592" cy="274320"/>
          </a:xfrm>
          <a:prstGeom prst="roundRect">
            <a:avLst>
              <a:gd name="adj" fmla="val 22222"/>
            </a:avLst>
          </a:prstGeom>
          <a:solidFill>
            <a:srgbClr val="E8A33D"/>
          </a:solidFill>
          <a:ln/>
        </p:spPr>
      </p:sp>
      <p:sp>
        <p:nvSpPr>
          <p:cNvPr id="6" name="Text 4"/>
          <p:cNvSpPr/>
          <p:nvPr/>
        </p:nvSpPr>
        <p:spPr>
          <a:xfrm>
            <a:off x="758952" y="1783080"/>
            <a:ext cx="4315968" cy="329184"/>
          </a:xfrm>
          <a:prstGeom prst="rect">
            <a:avLst/>
          </a:prstGeom>
          <a:noFill/>
          <a:ln/>
        </p:spPr>
        <p:txBody>
          <a:bodyPr wrap="square" rtlCol="0" anchor="ctr"/>
          <a:lstStyle/>
          <a:p>
            <a:pPr marL="0" indent="0">
              <a:buNone/>
            </a:pPr>
            <a:r>
              <a:rPr lang="en-US" sz="1300" b="1" kern="0" spc="50" dirty="0">
                <a:solidFill>
                  <a:srgbClr val="1B2340"/>
                </a:solidFill>
                <a:latin typeface="Calibri" pitchFamily="34" charset="0"/>
                <a:ea typeface="Calibri" pitchFamily="34" charset="-122"/>
                <a:cs typeface="Calibri" pitchFamily="34" charset="-120"/>
              </a:rPr>
              <a:t>DEFINITION / CONCEPT</a:t>
            </a:r>
            <a:endParaRPr lang="en-US" sz="1300" dirty="0"/>
          </a:p>
        </p:txBody>
      </p:sp>
      <p:sp>
        <p:nvSpPr>
          <p:cNvPr id="7" name="Shape 5"/>
          <p:cNvSpPr/>
          <p:nvPr/>
        </p:nvSpPr>
        <p:spPr>
          <a:xfrm>
            <a:off x="502920" y="2121408"/>
            <a:ext cx="11201400" cy="914400"/>
          </a:xfrm>
          <a:prstGeom prst="roundRect">
            <a:avLst>
              <a:gd name="adj" fmla="val 8000"/>
            </a:avLst>
          </a:prstGeom>
          <a:solidFill>
            <a:srgbClr val="F7F7FA"/>
          </a:solidFill>
          <a:ln w="12700">
            <a:solidFill>
              <a:srgbClr val="E4E6EF"/>
            </a:solidFill>
            <a:prstDash val="solid"/>
          </a:ln>
        </p:spPr>
      </p:sp>
      <p:sp>
        <p:nvSpPr>
          <p:cNvPr id="8" name="Text 6"/>
          <p:cNvSpPr/>
          <p:nvPr/>
        </p:nvSpPr>
        <p:spPr>
          <a:xfrm>
            <a:off x="758952" y="2304288"/>
            <a:ext cx="10689336" cy="548640"/>
          </a:xfrm>
          <a:prstGeom prst="rect">
            <a:avLst/>
          </a:prstGeom>
          <a:noFill/>
          <a:ln/>
        </p:spPr>
        <p:txBody>
          <a:bodyPr wrap="square" lIns="0" tIns="0" rIns="0" bIns="0" rtlCol="0" anchor="t"/>
          <a:lstStyle/>
          <a:p>
            <a:pPr marL="0" indent="0">
              <a:lnSpc>
                <a:spcPct val="115000"/>
              </a:lnSpc>
              <a:buNone/>
            </a:pPr>
            <a:r>
              <a:rPr lang="en-US" sz="1450" dirty="0">
                <a:solidFill>
                  <a:srgbClr val="1B2340"/>
                </a:solidFill>
                <a:latin typeface="Calibri" pitchFamily="34" charset="0"/>
                <a:ea typeface="Calibri" pitchFamily="34" charset="-122"/>
                <a:cs typeface="Calibri" pitchFamily="34" charset="-120"/>
              </a:rPr>
              <a:t>React apps load a single HTML page and then dynamically update the content in the browser using JavaScript, instead of reloading the whole page for every action.</a:t>
            </a:r>
            <a:endParaRPr lang="en-US" sz="1450" dirty="0"/>
          </a:p>
        </p:txBody>
      </p:sp>
      <p:sp>
        <p:nvSpPr>
          <p:cNvPr id="9" name="Shape 7"/>
          <p:cNvSpPr/>
          <p:nvPr/>
        </p:nvSpPr>
        <p:spPr>
          <a:xfrm>
            <a:off x="502920" y="3200400"/>
            <a:ext cx="164592" cy="274320"/>
          </a:xfrm>
          <a:prstGeom prst="roundRect">
            <a:avLst>
              <a:gd name="adj" fmla="val 22222"/>
            </a:avLst>
          </a:prstGeom>
          <a:solidFill>
            <a:srgbClr val="3FBFAE"/>
          </a:solidFill>
          <a:ln/>
        </p:spPr>
      </p:sp>
      <p:sp>
        <p:nvSpPr>
          <p:cNvPr id="10" name="Text 8"/>
          <p:cNvSpPr/>
          <p:nvPr/>
        </p:nvSpPr>
        <p:spPr>
          <a:xfrm>
            <a:off x="758952" y="3172968"/>
            <a:ext cx="4315968" cy="329184"/>
          </a:xfrm>
          <a:prstGeom prst="rect">
            <a:avLst/>
          </a:prstGeom>
          <a:noFill/>
          <a:ln/>
        </p:spPr>
        <p:txBody>
          <a:bodyPr wrap="square" rtlCol="0" anchor="ctr"/>
          <a:lstStyle/>
          <a:p>
            <a:pPr marL="0" indent="0">
              <a:buNone/>
            </a:pPr>
            <a:r>
              <a:rPr lang="en-US" sz="1300" b="1" kern="0" spc="50" dirty="0">
                <a:solidFill>
                  <a:srgbClr val="1B2340"/>
                </a:solidFill>
                <a:latin typeface="Calibri" pitchFamily="34" charset="0"/>
                <a:ea typeface="Calibri" pitchFamily="34" charset="-122"/>
                <a:cs typeface="Calibri" pitchFamily="34" charset="-120"/>
              </a:rPr>
              <a:t>EXPLANATION</a:t>
            </a:r>
            <a:endParaRPr lang="en-US" sz="1300" dirty="0"/>
          </a:p>
        </p:txBody>
      </p:sp>
      <p:sp>
        <p:nvSpPr>
          <p:cNvPr id="11" name="Text 9"/>
          <p:cNvSpPr/>
          <p:nvPr/>
        </p:nvSpPr>
        <p:spPr>
          <a:xfrm>
            <a:off x="502920" y="3529584"/>
            <a:ext cx="6858000" cy="2331720"/>
          </a:xfrm>
          <a:prstGeom prst="rect">
            <a:avLst/>
          </a:prstGeom>
          <a:noFill/>
          <a:ln/>
        </p:spPr>
        <p:txBody>
          <a:bodyPr wrap="square" lIns="0" tIns="0" rIns="0" bIns="0" rtlCol="0" anchor="t"/>
          <a:lstStyle/>
          <a:p>
            <a:pPr marL="177800" indent="-177800">
              <a:spcAft>
                <a:spcPts val="800"/>
              </a:spcAft>
              <a:buSzPct val="100000"/>
              <a:buChar char="•"/>
            </a:pPr>
            <a:r>
              <a:rPr lang="en-US" sz="1300" dirty="0">
                <a:solidFill>
                  <a:srgbClr val="1B2340"/>
                </a:solidFill>
                <a:latin typeface="Calibri" pitchFamily="34" charset="0"/>
                <a:ea typeface="Calibri" pitchFamily="34" charset="-122"/>
                <a:cs typeface="Calibri" pitchFamily="34" charset="-120"/>
              </a:rPr>
              <a:t>Only one HTML file is initially loaded from the server</a:t>
            </a:r>
            <a:endParaRPr lang="en-US" sz="1300" dirty="0"/>
          </a:p>
          <a:p>
            <a:pPr marL="177800" indent="-177800">
              <a:spcAft>
                <a:spcPts val="800"/>
              </a:spcAft>
              <a:buSzPct val="100000"/>
              <a:buChar char="•"/>
            </a:pPr>
            <a:r>
              <a:rPr lang="en-US" sz="1300" dirty="0">
                <a:solidFill>
                  <a:srgbClr val="1B2340"/>
                </a:solidFill>
                <a:latin typeface="Calibri" pitchFamily="34" charset="0"/>
                <a:ea typeface="Calibri" pitchFamily="34" charset="-122"/>
                <a:cs typeface="Calibri" pitchFamily="34" charset="-120"/>
              </a:rPr>
              <a:t>React Router handles navigation between 'pages' without a full browser refresh</a:t>
            </a:r>
            <a:endParaRPr lang="en-US" sz="1300" dirty="0"/>
          </a:p>
          <a:p>
            <a:pPr marL="177800" indent="-177800">
              <a:spcAft>
                <a:spcPts val="800"/>
              </a:spcAft>
              <a:buSzPct val="100000"/>
              <a:buChar char="•"/>
            </a:pPr>
            <a:r>
              <a:rPr lang="en-US" sz="1300" dirty="0">
                <a:solidFill>
                  <a:srgbClr val="1B2340"/>
                </a:solidFill>
                <a:latin typeface="Calibri" pitchFamily="34" charset="0"/>
                <a:ea typeface="Calibri" pitchFamily="34" charset="-122"/>
                <a:cs typeface="Calibri" pitchFamily="34" charset="-120"/>
              </a:rPr>
              <a:t>Only the necessary components/data are fetched and re-rendered</a:t>
            </a:r>
            <a:endParaRPr lang="en-US" sz="1300" dirty="0"/>
          </a:p>
          <a:p>
            <a:pPr marL="177800" indent="-177800">
              <a:spcAft>
                <a:spcPts val="800"/>
              </a:spcAft>
              <a:buSzPct val="100000"/>
              <a:buChar char="•"/>
            </a:pPr>
            <a:r>
              <a:rPr lang="en-US" sz="1300" dirty="0">
                <a:solidFill>
                  <a:srgbClr val="1B2340"/>
                </a:solidFill>
                <a:latin typeface="Calibri" pitchFamily="34" charset="0"/>
                <a:ea typeface="Calibri" pitchFamily="34" charset="-122"/>
                <a:cs typeface="Calibri" pitchFamily="34" charset="-120"/>
              </a:rPr>
              <a:t>This makes navigation feel instant and app-like</a:t>
            </a:r>
            <a:endParaRPr lang="en-US" sz="1300" dirty="0"/>
          </a:p>
        </p:txBody>
      </p:sp>
      <p:sp>
        <p:nvSpPr>
          <p:cNvPr id="12" name="Shape 10"/>
          <p:cNvSpPr/>
          <p:nvPr/>
        </p:nvSpPr>
        <p:spPr>
          <a:xfrm>
            <a:off x="7589520" y="3200400"/>
            <a:ext cx="4114800" cy="2194560"/>
          </a:xfrm>
          <a:prstGeom prst="roundRect">
            <a:avLst>
              <a:gd name="adj" fmla="val 3333"/>
            </a:avLst>
          </a:prstGeom>
          <a:solidFill>
            <a:srgbClr val="FDF3E3"/>
          </a:solidFill>
          <a:ln/>
        </p:spPr>
      </p:sp>
      <p:sp>
        <p:nvSpPr>
          <p:cNvPr id="13" name="Text 11"/>
          <p:cNvSpPr/>
          <p:nvPr/>
        </p:nvSpPr>
        <p:spPr>
          <a:xfrm>
            <a:off x="7790688" y="3310128"/>
            <a:ext cx="3712464" cy="274320"/>
          </a:xfrm>
          <a:prstGeom prst="rect">
            <a:avLst/>
          </a:prstGeom>
          <a:noFill/>
          <a:ln/>
        </p:spPr>
        <p:txBody>
          <a:bodyPr wrap="square" rtlCol="0" anchor="ctr"/>
          <a:lstStyle/>
          <a:p>
            <a:pPr marL="0" indent="0">
              <a:buNone/>
            </a:pPr>
            <a:r>
              <a:rPr lang="en-US" sz="1100" b="1" kern="0" spc="50" dirty="0">
                <a:solidFill>
                  <a:srgbClr val="C9862A"/>
                </a:solidFill>
                <a:latin typeface="Calibri" pitchFamily="34" charset="0"/>
                <a:ea typeface="Calibri" pitchFamily="34" charset="-122"/>
                <a:cs typeface="Calibri" pitchFamily="34" charset="-120"/>
              </a:rPr>
              <a:t>💡 REAL-LIFE ANALOGY</a:t>
            </a:r>
            <a:endParaRPr lang="en-US" sz="1100" dirty="0"/>
          </a:p>
        </p:txBody>
      </p:sp>
      <p:sp>
        <p:nvSpPr>
          <p:cNvPr id="14" name="Text 12"/>
          <p:cNvSpPr/>
          <p:nvPr/>
        </p:nvSpPr>
        <p:spPr>
          <a:xfrm>
            <a:off x="7790688" y="3602736"/>
            <a:ext cx="3712464" cy="1664208"/>
          </a:xfrm>
          <a:prstGeom prst="rect">
            <a:avLst/>
          </a:prstGeom>
          <a:noFill/>
          <a:ln/>
        </p:spPr>
        <p:txBody>
          <a:bodyPr wrap="square" lIns="0" tIns="0" rIns="0" bIns="0" rtlCol="0" anchor="t"/>
          <a:lstStyle/>
          <a:p>
            <a:pPr marL="0" indent="0">
              <a:lnSpc>
                <a:spcPct val="110000"/>
              </a:lnSpc>
              <a:buNone/>
            </a:pPr>
            <a:r>
              <a:rPr lang="en-US" sz="1250" i="1" dirty="0">
                <a:solidFill>
                  <a:srgbClr val="1B2340"/>
                </a:solidFill>
                <a:latin typeface="Calibri" pitchFamily="34" charset="0"/>
                <a:ea typeface="Calibri" pitchFamily="34" charset="-122"/>
                <a:cs typeface="Calibri" pitchFamily="34" charset="-120"/>
              </a:rPr>
              <a:t>It's like flipping through pages of a digital magazine app - the app itself never reloads, only the visible page content changes, unlike a website where every click reloads the whole browser tab.</a:t>
            </a:r>
            <a:endParaRPr lang="en-US" sz="1250" dirty="0"/>
          </a:p>
        </p:txBody>
      </p:sp>
      <p:sp>
        <p:nvSpPr>
          <p:cNvPr id="15" name="Shape 13"/>
          <p:cNvSpPr/>
          <p:nvPr/>
        </p:nvSpPr>
        <p:spPr>
          <a:xfrm>
            <a:off x="502920" y="5870448"/>
            <a:ext cx="11201400" cy="603504"/>
          </a:xfrm>
          <a:prstGeom prst="roundRect">
            <a:avLst>
              <a:gd name="adj" fmla="val 12121"/>
            </a:avLst>
          </a:prstGeom>
          <a:solidFill>
            <a:srgbClr val="1B2340"/>
          </a:solidFill>
          <a:ln/>
        </p:spPr>
      </p:sp>
      <p:sp>
        <p:nvSpPr>
          <p:cNvPr id="16" name="Text 14"/>
          <p:cNvSpPr/>
          <p:nvPr/>
        </p:nvSpPr>
        <p:spPr>
          <a:xfrm>
            <a:off x="731520" y="5961888"/>
            <a:ext cx="10744200" cy="256032"/>
          </a:xfrm>
          <a:prstGeom prst="rect">
            <a:avLst/>
          </a:prstGeom>
          <a:noFill/>
          <a:ln/>
        </p:spPr>
        <p:txBody>
          <a:bodyPr wrap="square" rtlCol="0" anchor="ctr"/>
          <a:lstStyle/>
          <a:p>
            <a:pPr marL="0" indent="0">
              <a:buNone/>
            </a:pPr>
            <a:r>
              <a:rPr lang="en-US" sz="1050" b="1" kern="0" spc="80" dirty="0">
                <a:solidFill>
                  <a:srgbClr val="E8A33D"/>
                </a:solidFill>
                <a:latin typeface="Calibri" pitchFamily="34" charset="0"/>
                <a:ea typeface="Calibri" pitchFamily="34" charset="-122"/>
                <a:cs typeface="Calibri" pitchFamily="34" charset="-120"/>
              </a:rPr>
              <a:t>ONE-LINE INTERVIEW ANSWER</a:t>
            </a:r>
            <a:endParaRPr lang="en-US" sz="1050" dirty="0"/>
          </a:p>
        </p:txBody>
      </p:sp>
      <p:sp>
        <p:nvSpPr>
          <p:cNvPr id="17" name="Text 15"/>
          <p:cNvSpPr/>
          <p:nvPr/>
        </p:nvSpPr>
        <p:spPr>
          <a:xfrm>
            <a:off x="731520" y="6217920"/>
            <a:ext cx="10744200" cy="146304"/>
          </a:xfrm>
          <a:prstGeom prst="rect">
            <a:avLst/>
          </a:prstGeom>
          <a:noFill/>
          <a:ln/>
        </p:spPr>
        <p:txBody>
          <a:bodyPr wrap="square" lIns="0" tIns="0" rIns="0" bIns="0" rtlCol="0" anchor="t"/>
          <a:lstStyle/>
          <a:p>
            <a:pPr marL="0" indent="0">
              <a:lnSpc>
                <a:spcPct val="105000"/>
              </a:lnSpc>
              <a:buNone/>
            </a:pPr>
            <a:r>
              <a:rPr lang="en-US" sz="1250" dirty="0">
                <a:solidFill>
                  <a:srgbClr val="FFFFFF"/>
                </a:solidFill>
                <a:latin typeface="Calibri" pitchFamily="34" charset="0"/>
                <a:ea typeface="Calibri" pitchFamily="34" charset="-122"/>
                <a:cs typeface="Calibri" pitchFamily="34" charset="-120"/>
              </a:rPr>
              <a:t>React builds Single Page Applications by dynamically updating content on one HTML page instead of reloading the entire page for every navigation.</a:t>
            </a:r>
            <a:endParaRPr lang="en-US" sz="1250" dirty="0"/>
          </a:p>
        </p:txBody>
      </p:sp>
      <p:sp>
        <p:nvSpPr>
          <p:cNvPr id="18" name="Text 16"/>
          <p:cNvSpPr/>
          <p:nvPr/>
        </p:nvSpPr>
        <p:spPr>
          <a:xfrm>
            <a:off x="457200" y="6583680"/>
            <a:ext cx="5486400" cy="228600"/>
          </a:xfrm>
          <a:prstGeom prst="rect">
            <a:avLst/>
          </a:prstGeom>
          <a:noFill/>
          <a:ln/>
        </p:spPr>
        <p:txBody>
          <a:bodyPr wrap="square" rtlCol="0" anchor="ctr"/>
          <a:lstStyle/>
          <a:p>
            <a:pPr marL="0" indent="0" algn="l">
              <a:buNone/>
            </a:pPr>
            <a:r>
              <a:rPr lang="en-US" sz="850" dirty="0">
                <a:solidFill>
                  <a:srgbClr val="5B6178"/>
                </a:solidFill>
                <a:latin typeface="Calibri" pitchFamily="34" charset="0"/>
                <a:ea typeface="Calibri" pitchFamily="34" charset="-122"/>
                <a:cs typeface="Calibri" pitchFamily="34" charset="-120"/>
              </a:rPr>
              <a:t>Java &amp; Full-Stack Interview Prep</a:t>
            </a:r>
            <a:endParaRPr lang="en-US" sz="8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1B2340"/>
        </a:solidFill>
        <a:effectLst/>
      </p:bgPr>
    </p:bg>
    <p:spTree>
      <p:nvGrpSpPr>
        <p:cNvPr id="1" name=""/>
        <p:cNvGrpSpPr/>
        <p:nvPr/>
      </p:nvGrpSpPr>
      <p:grpSpPr>
        <a:xfrm>
          <a:off x="0" y="0"/>
          <a:ext cx="0" cy="0"/>
          <a:chOff x="0" y="0"/>
          <a:chExt cx="0" cy="0"/>
        </a:xfrm>
      </p:grpSpPr>
      <p:sp>
        <p:nvSpPr>
          <p:cNvPr id="2" name="Shape 0"/>
          <p:cNvSpPr/>
          <p:nvPr/>
        </p:nvSpPr>
        <p:spPr>
          <a:xfrm>
            <a:off x="9692640" y="-1463040"/>
            <a:ext cx="4206240" cy="4206240"/>
          </a:xfrm>
          <a:prstGeom prst="ellipse">
            <a:avLst/>
          </a:prstGeom>
          <a:solidFill>
            <a:srgbClr val="232B4D"/>
          </a:solidFill>
          <a:ln/>
        </p:spPr>
      </p:sp>
      <p:sp>
        <p:nvSpPr>
          <p:cNvPr id="3" name="Text 1"/>
          <p:cNvSpPr/>
          <p:nvPr/>
        </p:nvSpPr>
        <p:spPr>
          <a:xfrm>
            <a:off x="822960" y="1920240"/>
            <a:ext cx="2743200" cy="1463040"/>
          </a:xfrm>
          <a:prstGeom prst="rect">
            <a:avLst/>
          </a:prstGeom>
          <a:noFill/>
          <a:ln/>
        </p:spPr>
        <p:txBody>
          <a:bodyPr wrap="square" rtlCol="0" anchor="ctr"/>
          <a:lstStyle/>
          <a:p>
            <a:pPr marL="0" indent="0">
              <a:buNone/>
            </a:pPr>
            <a:r>
              <a:rPr lang="en-US" sz="6400" b="1" dirty="0">
                <a:solidFill>
                  <a:srgbClr val="232B4D"/>
                </a:solidFill>
                <a:latin typeface="Century Schoolbook" pitchFamily="34" charset="0"/>
                <a:ea typeface="Century Schoolbook" pitchFamily="34" charset="-122"/>
                <a:cs typeface="Century Schoolbook" pitchFamily="34" charset="-120"/>
              </a:rPr>
              <a:t>05</a:t>
            </a:r>
            <a:endParaRPr lang="en-US" sz="6400" dirty="0"/>
          </a:p>
        </p:txBody>
      </p:sp>
      <p:sp>
        <p:nvSpPr>
          <p:cNvPr id="4" name="Shape 2"/>
          <p:cNvSpPr/>
          <p:nvPr/>
        </p:nvSpPr>
        <p:spPr>
          <a:xfrm>
            <a:off x="868680" y="3383280"/>
            <a:ext cx="1005840" cy="82296"/>
          </a:xfrm>
          <a:prstGeom prst="rect">
            <a:avLst/>
          </a:prstGeom>
          <a:solidFill>
            <a:srgbClr val="E8A33D"/>
          </a:solidFill>
          <a:ln/>
        </p:spPr>
      </p:sp>
      <p:sp>
        <p:nvSpPr>
          <p:cNvPr id="5" name="Text 3"/>
          <p:cNvSpPr/>
          <p:nvPr/>
        </p:nvSpPr>
        <p:spPr>
          <a:xfrm>
            <a:off x="822960" y="3520440"/>
            <a:ext cx="9601200" cy="1005840"/>
          </a:xfrm>
          <a:prstGeom prst="rect">
            <a:avLst/>
          </a:prstGeom>
          <a:noFill/>
          <a:ln/>
        </p:spPr>
        <p:txBody>
          <a:bodyPr wrap="square" rtlCol="0" anchor="ctr"/>
          <a:lstStyle/>
          <a:p>
            <a:pPr marL="0" indent="0">
              <a:buNone/>
            </a:pPr>
            <a:r>
              <a:rPr lang="en-US" sz="3800" b="1" dirty="0">
                <a:solidFill>
                  <a:srgbClr val="FFFFFF"/>
                </a:solidFill>
                <a:latin typeface="Century Schoolbook" pitchFamily="34" charset="0"/>
                <a:ea typeface="Century Schoolbook" pitchFamily="34" charset="-122"/>
                <a:cs typeface="Century Schoolbook" pitchFamily="34" charset="-120"/>
              </a:rPr>
              <a:t>SQL &amp; Databases</a:t>
            </a:r>
            <a:endParaRPr lang="en-US" sz="3800" dirty="0"/>
          </a:p>
        </p:txBody>
      </p:sp>
      <p:sp>
        <p:nvSpPr>
          <p:cNvPr id="6" name="Text 4"/>
          <p:cNvSpPr/>
          <p:nvPr/>
        </p:nvSpPr>
        <p:spPr>
          <a:xfrm>
            <a:off x="822960" y="4434840"/>
            <a:ext cx="8229600" cy="457200"/>
          </a:xfrm>
          <a:prstGeom prst="rect">
            <a:avLst/>
          </a:prstGeom>
          <a:noFill/>
          <a:ln/>
        </p:spPr>
        <p:txBody>
          <a:bodyPr wrap="square" rtlCol="0" anchor="ctr"/>
          <a:lstStyle/>
          <a:p>
            <a:pPr marL="0" indent="0">
              <a:buNone/>
            </a:pPr>
            <a:r>
              <a:rPr lang="en-US" sz="1400" i="1" dirty="0">
                <a:solidFill>
                  <a:srgbClr val="C3C8DC"/>
                </a:solidFill>
                <a:latin typeface="Calibri" pitchFamily="34" charset="0"/>
                <a:ea typeface="Calibri" pitchFamily="34" charset="-122"/>
                <a:cs typeface="Calibri" pitchFamily="34" charset="-120"/>
              </a:rPr>
              <a:t>7 slides covering commonly asked interview questions</a:t>
            </a:r>
            <a:endParaRPr lang="en-US" sz="1400" dirty="0"/>
          </a:p>
        </p:txBody>
      </p:sp>
      <p:sp>
        <p:nvSpPr>
          <p:cNvPr id="7" name="Text 5"/>
          <p:cNvSpPr/>
          <p:nvPr/>
        </p:nvSpPr>
        <p:spPr>
          <a:xfrm>
            <a:off x="457200" y="6583680"/>
            <a:ext cx="5486400" cy="228600"/>
          </a:xfrm>
          <a:prstGeom prst="rect">
            <a:avLst/>
          </a:prstGeom>
          <a:noFill/>
          <a:ln/>
        </p:spPr>
        <p:txBody>
          <a:bodyPr wrap="square" rtlCol="0" anchor="ctr"/>
          <a:lstStyle/>
          <a:p>
            <a:pPr marL="0" indent="0" algn="l">
              <a:buNone/>
            </a:pPr>
            <a:r>
              <a:rPr lang="en-US" sz="850" dirty="0">
                <a:solidFill>
                  <a:srgbClr val="5B6178"/>
                </a:solidFill>
                <a:latin typeface="Calibri" pitchFamily="34" charset="0"/>
                <a:ea typeface="Calibri" pitchFamily="34" charset="-122"/>
                <a:cs typeface="Calibri" pitchFamily="34" charset="-120"/>
              </a:rPr>
              <a:t>Java &amp; Full-Stack Interview Prep</a:t>
            </a:r>
            <a:endParaRPr lang="en-US" sz="8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Shape 0"/>
          <p:cNvSpPr/>
          <p:nvPr/>
        </p:nvSpPr>
        <p:spPr>
          <a:xfrm>
            <a:off x="502920" y="384048"/>
            <a:ext cx="3474720" cy="310896"/>
          </a:xfrm>
          <a:prstGeom prst="roundRect">
            <a:avLst>
              <a:gd name="adj" fmla="val 23529"/>
            </a:avLst>
          </a:prstGeom>
          <a:solidFill>
            <a:srgbClr val="E8A33D"/>
          </a:solidFill>
          <a:ln/>
        </p:spPr>
      </p:sp>
      <p:sp>
        <p:nvSpPr>
          <p:cNvPr id="3" name="Text 1"/>
          <p:cNvSpPr/>
          <p:nvPr/>
        </p:nvSpPr>
        <p:spPr>
          <a:xfrm>
            <a:off x="502920" y="384048"/>
            <a:ext cx="3474720" cy="310896"/>
          </a:xfrm>
          <a:prstGeom prst="rect">
            <a:avLst/>
          </a:prstGeom>
          <a:noFill/>
          <a:ln/>
        </p:spPr>
        <p:txBody>
          <a:bodyPr wrap="square" rtlCol="0" anchor="ctr"/>
          <a:lstStyle/>
          <a:p>
            <a:pPr marL="0" indent="0" algn="ctr">
              <a:buNone/>
            </a:pPr>
            <a:r>
              <a:rPr lang="en-US" sz="1100" b="1" kern="0" spc="100" dirty="0">
                <a:solidFill>
                  <a:srgbClr val="1B2340"/>
                </a:solidFill>
                <a:latin typeface="Calibri" pitchFamily="34" charset="0"/>
                <a:ea typeface="Calibri" pitchFamily="34" charset="-122"/>
                <a:cs typeface="Calibri" pitchFamily="34" charset="-120"/>
              </a:rPr>
              <a:t>SQL &amp; DATABASES</a:t>
            </a:r>
            <a:endParaRPr lang="en-US" sz="1100" dirty="0"/>
          </a:p>
        </p:txBody>
      </p:sp>
      <p:sp>
        <p:nvSpPr>
          <p:cNvPr id="4" name="Text 2"/>
          <p:cNvSpPr/>
          <p:nvPr/>
        </p:nvSpPr>
        <p:spPr>
          <a:xfrm>
            <a:off x="502920" y="786384"/>
            <a:ext cx="11155680" cy="868680"/>
          </a:xfrm>
          <a:prstGeom prst="rect">
            <a:avLst/>
          </a:prstGeom>
          <a:noFill/>
          <a:ln/>
        </p:spPr>
        <p:txBody>
          <a:bodyPr wrap="square" rtlCol="0" anchor="t"/>
          <a:lstStyle/>
          <a:p>
            <a:pPr marL="0" indent="0">
              <a:lnSpc>
                <a:spcPct val="102000"/>
              </a:lnSpc>
              <a:buNone/>
            </a:pPr>
            <a:r>
              <a:rPr lang="en-US" sz="2500" b="1" dirty="0">
                <a:solidFill>
                  <a:srgbClr val="1B2340"/>
                </a:solidFill>
                <a:latin typeface="Century Schoolbook" pitchFamily="34" charset="0"/>
                <a:ea typeface="Century Schoolbook" pitchFamily="34" charset="-122"/>
                <a:cs typeface="Century Schoolbook" pitchFamily="34" charset="-120"/>
              </a:rPr>
              <a:t>Explain SQL Joins - Inner, Left, Right, and Full.</a:t>
            </a:r>
            <a:endParaRPr lang="en-US" sz="2500" dirty="0"/>
          </a:p>
        </p:txBody>
      </p:sp>
      <p:sp>
        <p:nvSpPr>
          <p:cNvPr id="5" name="Shape 3"/>
          <p:cNvSpPr/>
          <p:nvPr/>
        </p:nvSpPr>
        <p:spPr>
          <a:xfrm>
            <a:off x="502920" y="1810512"/>
            <a:ext cx="164592" cy="274320"/>
          </a:xfrm>
          <a:prstGeom prst="roundRect">
            <a:avLst>
              <a:gd name="adj" fmla="val 22222"/>
            </a:avLst>
          </a:prstGeom>
          <a:solidFill>
            <a:srgbClr val="E8A33D"/>
          </a:solidFill>
          <a:ln/>
        </p:spPr>
      </p:sp>
      <p:sp>
        <p:nvSpPr>
          <p:cNvPr id="6" name="Text 4"/>
          <p:cNvSpPr/>
          <p:nvPr/>
        </p:nvSpPr>
        <p:spPr>
          <a:xfrm>
            <a:off x="758952" y="1783080"/>
            <a:ext cx="4681728" cy="329184"/>
          </a:xfrm>
          <a:prstGeom prst="rect">
            <a:avLst/>
          </a:prstGeom>
          <a:noFill/>
          <a:ln/>
        </p:spPr>
        <p:txBody>
          <a:bodyPr wrap="square" rtlCol="0" anchor="ctr"/>
          <a:lstStyle/>
          <a:p>
            <a:pPr marL="0" indent="0">
              <a:buNone/>
            </a:pPr>
            <a:r>
              <a:rPr lang="en-US" sz="1300" b="1" kern="0" spc="50" dirty="0">
                <a:solidFill>
                  <a:srgbClr val="1B2340"/>
                </a:solidFill>
                <a:latin typeface="Calibri" pitchFamily="34" charset="0"/>
                <a:ea typeface="Calibri" pitchFamily="34" charset="-122"/>
                <a:cs typeface="Calibri" pitchFamily="34" charset="-120"/>
              </a:rPr>
              <a:t>DEFINITION / CONCEPT</a:t>
            </a:r>
            <a:endParaRPr lang="en-US" sz="1300" dirty="0"/>
          </a:p>
        </p:txBody>
      </p:sp>
      <p:sp>
        <p:nvSpPr>
          <p:cNvPr id="7" name="Shape 5"/>
          <p:cNvSpPr/>
          <p:nvPr/>
        </p:nvSpPr>
        <p:spPr>
          <a:xfrm>
            <a:off x="502920" y="2121408"/>
            <a:ext cx="4937760" cy="1234440"/>
          </a:xfrm>
          <a:prstGeom prst="roundRect">
            <a:avLst>
              <a:gd name="adj" fmla="val 5926"/>
            </a:avLst>
          </a:prstGeom>
          <a:solidFill>
            <a:srgbClr val="F7F7FA"/>
          </a:solidFill>
          <a:ln w="12700">
            <a:solidFill>
              <a:srgbClr val="E4E6EF"/>
            </a:solidFill>
            <a:prstDash val="solid"/>
          </a:ln>
        </p:spPr>
      </p:sp>
      <p:sp>
        <p:nvSpPr>
          <p:cNvPr id="8" name="Text 6"/>
          <p:cNvSpPr/>
          <p:nvPr/>
        </p:nvSpPr>
        <p:spPr>
          <a:xfrm>
            <a:off x="758952" y="2304288"/>
            <a:ext cx="4425696" cy="868680"/>
          </a:xfrm>
          <a:prstGeom prst="rect">
            <a:avLst/>
          </a:prstGeom>
          <a:noFill/>
          <a:ln/>
        </p:spPr>
        <p:txBody>
          <a:bodyPr wrap="square" lIns="0" tIns="0" rIns="0" bIns="0" rtlCol="0" anchor="t"/>
          <a:lstStyle/>
          <a:p>
            <a:pPr marL="0" indent="0">
              <a:lnSpc>
                <a:spcPct val="115000"/>
              </a:lnSpc>
              <a:buNone/>
            </a:pPr>
            <a:r>
              <a:rPr lang="en-US" sz="1450" dirty="0">
                <a:solidFill>
                  <a:srgbClr val="1B2340"/>
                </a:solidFill>
                <a:latin typeface="Calibri" pitchFamily="34" charset="0"/>
                <a:ea typeface="Calibri" pitchFamily="34" charset="-122"/>
                <a:cs typeface="Calibri" pitchFamily="34" charset="-120"/>
              </a:rPr>
              <a:t>A JOIN combines rows from two or more tables based on a related column. Different join types decide which unmatched rows are kept.</a:t>
            </a:r>
            <a:endParaRPr lang="en-US" sz="1450" dirty="0"/>
          </a:p>
        </p:txBody>
      </p:sp>
      <p:sp>
        <p:nvSpPr>
          <p:cNvPr id="9" name="Shape 7"/>
          <p:cNvSpPr/>
          <p:nvPr/>
        </p:nvSpPr>
        <p:spPr>
          <a:xfrm>
            <a:off x="502920" y="3493008"/>
            <a:ext cx="4937760" cy="1554480"/>
          </a:xfrm>
          <a:prstGeom prst="roundRect">
            <a:avLst>
              <a:gd name="adj" fmla="val 4706"/>
            </a:avLst>
          </a:prstGeom>
          <a:solidFill>
            <a:srgbClr val="FDF3E3"/>
          </a:solidFill>
          <a:ln/>
        </p:spPr>
      </p:sp>
      <p:sp>
        <p:nvSpPr>
          <p:cNvPr id="10" name="Text 8"/>
          <p:cNvSpPr/>
          <p:nvPr/>
        </p:nvSpPr>
        <p:spPr>
          <a:xfrm>
            <a:off x="704088" y="3602736"/>
            <a:ext cx="4535424" cy="274320"/>
          </a:xfrm>
          <a:prstGeom prst="rect">
            <a:avLst/>
          </a:prstGeom>
          <a:noFill/>
          <a:ln/>
        </p:spPr>
        <p:txBody>
          <a:bodyPr wrap="square" rtlCol="0" anchor="ctr"/>
          <a:lstStyle/>
          <a:p>
            <a:pPr marL="0" indent="0">
              <a:buNone/>
            </a:pPr>
            <a:r>
              <a:rPr lang="en-US" sz="1100" b="1" kern="0" spc="50" dirty="0">
                <a:solidFill>
                  <a:srgbClr val="C9862A"/>
                </a:solidFill>
                <a:latin typeface="Calibri" pitchFamily="34" charset="0"/>
                <a:ea typeface="Calibri" pitchFamily="34" charset="-122"/>
                <a:cs typeface="Calibri" pitchFamily="34" charset="-120"/>
              </a:rPr>
              <a:t>💡 REAL-LIFE ANALOGY</a:t>
            </a:r>
            <a:endParaRPr lang="en-US" sz="1100" dirty="0"/>
          </a:p>
        </p:txBody>
      </p:sp>
      <p:sp>
        <p:nvSpPr>
          <p:cNvPr id="11" name="Text 9"/>
          <p:cNvSpPr/>
          <p:nvPr/>
        </p:nvSpPr>
        <p:spPr>
          <a:xfrm>
            <a:off x="704088" y="3895344"/>
            <a:ext cx="4535424" cy="1024128"/>
          </a:xfrm>
          <a:prstGeom prst="rect">
            <a:avLst/>
          </a:prstGeom>
          <a:noFill/>
          <a:ln/>
        </p:spPr>
        <p:txBody>
          <a:bodyPr wrap="square" lIns="0" tIns="0" rIns="0" bIns="0" rtlCol="0" anchor="t"/>
          <a:lstStyle/>
          <a:p>
            <a:pPr marL="0" indent="0">
              <a:lnSpc>
                <a:spcPct val="110000"/>
              </a:lnSpc>
              <a:buNone/>
            </a:pPr>
            <a:r>
              <a:rPr lang="en-US" sz="1250" i="1" dirty="0">
                <a:solidFill>
                  <a:srgbClr val="1B2340"/>
                </a:solidFill>
                <a:latin typeface="Calibri" pitchFamily="34" charset="0"/>
                <a:ea typeface="Calibri" pitchFamily="34" charset="-122"/>
                <a:cs typeface="Calibri" pitchFamily="34" charset="-120"/>
              </a:rPr>
              <a:t>Imagine two guest lists (Company A and Company B) for a joint event. INNER JOIN invites only people on both lists. LEFT JOIN invites everyone from list A, adding B's info only where they match. FULL JOIN invites everyone from both lists.</a:t>
            </a:r>
            <a:endParaRPr lang="en-US" sz="1250" dirty="0"/>
          </a:p>
        </p:txBody>
      </p:sp>
      <p:sp>
        <p:nvSpPr>
          <p:cNvPr id="12" name="Shape 10"/>
          <p:cNvSpPr/>
          <p:nvPr/>
        </p:nvSpPr>
        <p:spPr>
          <a:xfrm>
            <a:off x="502920" y="5193792"/>
            <a:ext cx="4937760" cy="1051560"/>
          </a:xfrm>
          <a:prstGeom prst="roundRect">
            <a:avLst>
              <a:gd name="adj" fmla="val 6957"/>
            </a:avLst>
          </a:prstGeom>
          <a:solidFill>
            <a:srgbClr val="1B2340"/>
          </a:solidFill>
          <a:ln/>
        </p:spPr>
      </p:sp>
      <p:sp>
        <p:nvSpPr>
          <p:cNvPr id="13" name="Text 11"/>
          <p:cNvSpPr/>
          <p:nvPr/>
        </p:nvSpPr>
        <p:spPr>
          <a:xfrm>
            <a:off x="731520" y="5285232"/>
            <a:ext cx="4480560" cy="256032"/>
          </a:xfrm>
          <a:prstGeom prst="rect">
            <a:avLst/>
          </a:prstGeom>
          <a:noFill/>
          <a:ln/>
        </p:spPr>
        <p:txBody>
          <a:bodyPr wrap="square" rtlCol="0" anchor="ctr"/>
          <a:lstStyle/>
          <a:p>
            <a:pPr marL="0" indent="0">
              <a:buNone/>
            </a:pPr>
            <a:r>
              <a:rPr lang="en-US" sz="1050" b="1" kern="0" spc="80" dirty="0">
                <a:solidFill>
                  <a:srgbClr val="E8A33D"/>
                </a:solidFill>
                <a:latin typeface="Calibri" pitchFamily="34" charset="0"/>
                <a:ea typeface="Calibri" pitchFamily="34" charset="-122"/>
                <a:cs typeface="Calibri" pitchFamily="34" charset="-120"/>
              </a:rPr>
              <a:t>ONE-LINE INTERVIEW ANSWER</a:t>
            </a:r>
            <a:endParaRPr lang="en-US" sz="1050" dirty="0"/>
          </a:p>
        </p:txBody>
      </p:sp>
      <p:sp>
        <p:nvSpPr>
          <p:cNvPr id="14" name="Text 12"/>
          <p:cNvSpPr/>
          <p:nvPr/>
        </p:nvSpPr>
        <p:spPr>
          <a:xfrm>
            <a:off x="731520" y="5541264"/>
            <a:ext cx="4480560" cy="594360"/>
          </a:xfrm>
          <a:prstGeom prst="rect">
            <a:avLst/>
          </a:prstGeom>
          <a:noFill/>
          <a:ln/>
        </p:spPr>
        <p:txBody>
          <a:bodyPr wrap="square" lIns="0" tIns="0" rIns="0" bIns="0" rtlCol="0" anchor="t"/>
          <a:lstStyle/>
          <a:p>
            <a:pPr marL="0" indent="0">
              <a:lnSpc>
                <a:spcPct val="105000"/>
              </a:lnSpc>
              <a:buNone/>
            </a:pPr>
            <a:r>
              <a:rPr lang="en-US" sz="1250" dirty="0">
                <a:solidFill>
                  <a:srgbClr val="FFFFFF"/>
                </a:solidFill>
                <a:latin typeface="Calibri" pitchFamily="34" charset="0"/>
                <a:ea typeface="Calibri" pitchFamily="34" charset="-122"/>
                <a:cs typeface="Calibri" pitchFamily="34" charset="-120"/>
              </a:rPr>
              <a:t>SQL Joins combine data from multiple tables - INNER returns only matches, LEFT/RIGHT keep all rows from one side, and FULL keeps all rows from both.</a:t>
            </a:r>
            <a:endParaRPr lang="en-US" sz="1250" dirty="0"/>
          </a:p>
        </p:txBody>
      </p:sp>
      <p:sp>
        <p:nvSpPr>
          <p:cNvPr id="15" name="Shape 13"/>
          <p:cNvSpPr/>
          <p:nvPr/>
        </p:nvSpPr>
        <p:spPr>
          <a:xfrm>
            <a:off x="5669280" y="1810512"/>
            <a:ext cx="164592" cy="274320"/>
          </a:xfrm>
          <a:prstGeom prst="roundRect">
            <a:avLst>
              <a:gd name="adj" fmla="val 22222"/>
            </a:avLst>
          </a:prstGeom>
          <a:solidFill>
            <a:srgbClr val="3FBFAE"/>
          </a:solidFill>
          <a:ln/>
        </p:spPr>
      </p:sp>
      <p:sp>
        <p:nvSpPr>
          <p:cNvPr id="16" name="Text 14"/>
          <p:cNvSpPr/>
          <p:nvPr/>
        </p:nvSpPr>
        <p:spPr>
          <a:xfrm>
            <a:off x="5925312" y="1783080"/>
            <a:ext cx="5779008" cy="329184"/>
          </a:xfrm>
          <a:prstGeom prst="rect">
            <a:avLst/>
          </a:prstGeom>
          <a:noFill/>
          <a:ln/>
        </p:spPr>
        <p:txBody>
          <a:bodyPr wrap="square" rtlCol="0" anchor="ctr"/>
          <a:lstStyle/>
          <a:p>
            <a:pPr marL="0" indent="0">
              <a:buNone/>
            </a:pPr>
            <a:r>
              <a:rPr lang="en-US" sz="1300" b="1" kern="0" spc="50" dirty="0">
                <a:solidFill>
                  <a:srgbClr val="1B2340"/>
                </a:solidFill>
                <a:latin typeface="Calibri" pitchFamily="34" charset="0"/>
                <a:ea typeface="Calibri" pitchFamily="34" charset="-122"/>
                <a:cs typeface="Calibri" pitchFamily="34" charset="-120"/>
              </a:rPr>
              <a:t>EXAMPLE</a:t>
            </a:r>
            <a:endParaRPr lang="en-US" sz="1300" dirty="0"/>
          </a:p>
        </p:txBody>
      </p:sp>
      <p:sp>
        <p:nvSpPr>
          <p:cNvPr id="17" name="Shape 15"/>
          <p:cNvSpPr/>
          <p:nvPr/>
        </p:nvSpPr>
        <p:spPr>
          <a:xfrm>
            <a:off x="5669280" y="2121408"/>
            <a:ext cx="6035040" cy="1447800"/>
          </a:xfrm>
          <a:prstGeom prst="roundRect">
            <a:avLst>
              <a:gd name="adj" fmla="val 5053"/>
            </a:avLst>
          </a:prstGeom>
          <a:solidFill>
            <a:srgbClr val="1E1E2E"/>
          </a:solidFill>
          <a:ln/>
        </p:spPr>
      </p:sp>
      <p:sp>
        <p:nvSpPr>
          <p:cNvPr id="18" name="Shape 16"/>
          <p:cNvSpPr/>
          <p:nvPr/>
        </p:nvSpPr>
        <p:spPr>
          <a:xfrm>
            <a:off x="5806440" y="2249424"/>
            <a:ext cx="100584" cy="100584"/>
          </a:xfrm>
          <a:prstGeom prst="ellipse">
            <a:avLst/>
          </a:prstGeom>
          <a:solidFill>
            <a:srgbClr val="FF5F56"/>
          </a:solidFill>
          <a:ln/>
        </p:spPr>
      </p:sp>
      <p:sp>
        <p:nvSpPr>
          <p:cNvPr id="19" name="Shape 17"/>
          <p:cNvSpPr/>
          <p:nvPr/>
        </p:nvSpPr>
        <p:spPr>
          <a:xfrm>
            <a:off x="5961888" y="2249424"/>
            <a:ext cx="100584" cy="100584"/>
          </a:xfrm>
          <a:prstGeom prst="ellipse">
            <a:avLst/>
          </a:prstGeom>
          <a:solidFill>
            <a:srgbClr val="FFBD2E"/>
          </a:solidFill>
          <a:ln/>
        </p:spPr>
      </p:sp>
      <p:sp>
        <p:nvSpPr>
          <p:cNvPr id="20" name="Shape 18"/>
          <p:cNvSpPr/>
          <p:nvPr/>
        </p:nvSpPr>
        <p:spPr>
          <a:xfrm>
            <a:off x="6117336" y="2249424"/>
            <a:ext cx="100584" cy="100584"/>
          </a:xfrm>
          <a:prstGeom prst="ellipse">
            <a:avLst/>
          </a:prstGeom>
          <a:solidFill>
            <a:srgbClr val="27C93F"/>
          </a:solidFill>
          <a:ln/>
        </p:spPr>
      </p:sp>
      <p:sp>
        <p:nvSpPr>
          <p:cNvPr id="21" name="Text 19"/>
          <p:cNvSpPr/>
          <p:nvPr/>
        </p:nvSpPr>
        <p:spPr>
          <a:xfrm>
            <a:off x="6309360" y="2167128"/>
            <a:ext cx="5120640" cy="274320"/>
          </a:xfrm>
          <a:prstGeom prst="rect">
            <a:avLst/>
          </a:prstGeom>
          <a:noFill/>
          <a:ln/>
        </p:spPr>
        <p:txBody>
          <a:bodyPr wrap="square" rtlCol="0" anchor="ctr"/>
          <a:lstStyle/>
          <a:p>
            <a:pPr marL="0" indent="0" algn="r">
              <a:buNone/>
            </a:pPr>
            <a:r>
              <a:rPr lang="en-US" sz="1000" dirty="0">
                <a:solidFill>
                  <a:srgbClr val="8A90AC"/>
                </a:solidFill>
                <a:latin typeface="Courier New" pitchFamily="34" charset="0"/>
                <a:ea typeface="Courier New" pitchFamily="34" charset="-122"/>
                <a:cs typeface="Courier New" pitchFamily="34" charset="-120"/>
              </a:rPr>
              <a:t>query.sql</a:t>
            </a:r>
            <a:endParaRPr lang="en-US" sz="1000" dirty="0"/>
          </a:p>
        </p:txBody>
      </p:sp>
      <p:sp>
        <p:nvSpPr>
          <p:cNvPr id="22" name="Text 20"/>
          <p:cNvSpPr/>
          <p:nvPr/>
        </p:nvSpPr>
        <p:spPr>
          <a:xfrm>
            <a:off x="5897880" y="2487168"/>
            <a:ext cx="5577840" cy="990600"/>
          </a:xfrm>
          <a:prstGeom prst="rect">
            <a:avLst/>
          </a:prstGeom>
          <a:noFill/>
          <a:ln/>
        </p:spPr>
        <p:txBody>
          <a:bodyPr wrap="square" lIns="0" tIns="0" rIns="0" bIns="0" rtlCol="0" anchor="t"/>
          <a:lstStyle/>
          <a:p>
            <a:pPr marL="0" indent="0">
              <a:lnSpc>
                <a:spcPct val="120000"/>
              </a:lnSpc>
              <a:buNone/>
            </a:pPr>
            <a:r>
              <a:rPr lang="en-US" sz="1200" dirty="0">
                <a:solidFill>
                  <a:srgbClr val="D4D4E0"/>
                </a:solidFill>
                <a:latin typeface="Courier New" pitchFamily="34" charset="0"/>
                <a:ea typeface="Courier New" pitchFamily="34" charset="-122"/>
                <a:cs typeface="Courier New" pitchFamily="34" charset="-120"/>
              </a:rPr>
              <a:t>SELECT e.name, d.department_name</a:t>
            </a:r>
            <a:endParaRPr lang="en-US" sz="1200" dirty="0"/>
          </a:p>
          <a:p>
            <a:pPr marL="0" indent="0">
              <a:lnSpc>
                <a:spcPct val="120000"/>
              </a:lnSpc>
              <a:buNone/>
            </a:pPr>
            <a:r>
              <a:rPr lang="en-US" sz="1200" dirty="0">
                <a:solidFill>
                  <a:srgbClr val="D4D4E0"/>
                </a:solidFill>
                <a:latin typeface="Courier New" pitchFamily="34" charset="0"/>
                <a:ea typeface="Courier New" pitchFamily="34" charset="-122"/>
                <a:cs typeface="Courier New" pitchFamily="34" charset="-120"/>
              </a:rPr>
              <a:t>FROM employees e</a:t>
            </a:r>
            <a:endParaRPr lang="en-US" sz="1200" dirty="0"/>
          </a:p>
          <a:p>
            <a:pPr marL="0" indent="0">
              <a:lnSpc>
                <a:spcPct val="120000"/>
              </a:lnSpc>
              <a:buNone/>
            </a:pPr>
            <a:r>
              <a:rPr lang="en-US" sz="1200" dirty="0">
                <a:solidFill>
                  <a:srgbClr val="D4D4E0"/>
                </a:solidFill>
                <a:latin typeface="Courier New" pitchFamily="34" charset="0"/>
                <a:ea typeface="Courier New" pitchFamily="34" charset="-122"/>
                <a:cs typeface="Courier New" pitchFamily="34" charset="-120"/>
              </a:rPr>
              <a:t>INNER JOIN departments d</a:t>
            </a:r>
            <a:endParaRPr lang="en-US" sz="1200" dirty="0"/>
          </a:p>
          <a:p>
            <a:pPr marL="0" indent="0">
              <a:lnSpc>
                <a:spcPct val="120000"/>
              </a:lnSpc>
              <a:buNone/>
            </a:pPr>
            <a:r>
              <a:rPr lang="en-US" sz="1200" dirty="0">
                <a:solidFill>
                  <a:srgbClr val="D4D4E0"/>
                </a:solidFill>
                <a:latin typeface="Courier New" pitchFamily="34" charset="0"/>
                <a:ea typeface="Courier New" pitchFamily="34" charset="-122"/>
                <a:cs typeface="Courier New" pitchFamily="34" charset="-120"/>
              </a:rPr>
              <a:t>  ON e.dept_id = d.id;</a:t>
            </a:r>
            <a:endParaRPr lang="en-US" sz="1200" dirty="0"/>
          </a:p>
        </p:txBody>
      </p:sp>
      <p:sp>
        <p:nvSpPr>
          <p:cNvPr id="23" name="Shape 21"/>
          <p:cNvSpPr/>
          <p:nvPr/>
        </p:nvSpPr>
        <p:spPr>
          <a:xfrm>
            <a:off x="5669280" y="3733800"/>
            <a:ext cx="164592" cy="274320"/>
          </a:xfrm>
          <a:prstGeom prst="roundRect">
            <a:avLst>
              <a:gd name="adj" fmla="val 22222"/>
            </a:avLst>
          </a:prstGeom>
          <a:solidFill>
            <a:srgbClr val="3FBFAE"/>
          </a:solidFill>
          <a:ln/>
        </p:spPr>
      </p:sp>
      <p:sp>
        <p:nvSpPr>
          <p:cNvPr id="24" name="Text 22"/>
          <p:cNvSpPr/>
          <p:nvPr/>
        </p:nvSpPr>
        <p:spPr>
          <a:xfrm>
            <a:off x="5925312" y="3706368"/>
            <a:ext cx="5779008" cy="329184"/>
          </a:xfrm>
          <a:prstGeom prst="rect">
            <a:avLst/>
          </a:prstGeom>
          <a:noFill/>
          <a:ln/>
        </p:spPr>
        <p:txBody>
          <a:bodyPr wrap="square" rtlCol="0" anchor="ctr"/>
          <a:lstStyle/>
          <a:p>
            <a:pPr marL="0" indent="0">
              <a:buNone/>
            </a:pPr>
            <a:r>
              <a:rPr lang="en-US" sz="1300" b="1" kern="0" spc="50" dirty="0">
                <a:solidFill>
                  <a:srgbClr val="1B2340"/>
                </a:solidFill>
                <a:latin typeface="Calibri" pitchFamily="34" charset="0"/>
                <a:ea typeface="Calibri" pitchFamily="34" charset="-122"/>
                <a:cs typeface="Calibri" pitchFamily="34" charset="-120"/>
              </a:rPr>
              <a:t>EXPLANATION</a:t>
            </a:r>
            <a:endParaRPr lang="en-US" sz="1300" dirty="0"/>
          </a:p>
        </p:txBody>
      </p:sp>
      <p:sp>
        <p:nvSpPr>
          <p:cNvPr id="25" name="Text 23"/>
          <p:cNvSpPr/>
          <p:nvPr/>
        </p:nvSpPr>
        <p:spPr>
          <a:xfrm>
            <a:off x="5669280" y="4062984"/>
            <a:ext cx="6035040" cy="2337816"/>
          </a:xfrm>
          <a:prstGeom prst="rect">
            <a:avLst/>
          </a:prstGeom>
          <a:noFill/>
          <a:ln/>
        </p:spPr>
        <p:txBody>
          <a:bodyPr wrap="square" lIns="0" tIns="0" rIns="0" bIns="0" rtlCol="0" anchor="t"/>
          <a:lstStyle/>
          <a:p>
            <a:pPr marL="177800" indent="-177800">
              <a:spcAft>
                <a:spcPts val="600"/>
              </a:spcAft>
              <a:buSzPct val="100000"/>
              <a:buChar char="•"/>
            </a:pPr>
            <a:r>
              <a:rPr lang="en-US" sz="1200" dirty="0">
                <a:solidFill>
                  <a:srgbClr val="1B2340"/>
                </a:solidFill>
                <a:latin typeface="Calibri" pitchFamily="34" charset="0"/>
                <a:ea typeface="Calibri" pitchFamily="34" charset="-122"/>
                <a:cs typeface="Calibri" pitchFamily="34" charset="-120"/>
              </a:rPr>
              <a:t>INNER JOIN - returns only rows that match in both tables</a:t>
            </a:r>
            <a:endParaRPr lang="en-US" sz="1200" dirty="0"/>
          </a:p>
          <a:p>
            <a:pPr marL="177800" indent="-177800">
              <a:spcAft>
                <a:spcPts val="600"/>
              </a:spcAft>
              <a:buSzPct val="100000"/>
              <a:buChar char="•"/>
            </a:pPr>
            <a:r>
              <a:rPr lang="en-US" sz="1200" dirty="0">
                <a:solidFill>
                  <a:srgbClr val="1B2340"/>
                </a:solidFill>
                <a:latin typeface="Calibri" pitchFamily="34" charset="0"/>
                <a:ea typeface="Calibri" pitchFamily="34" charset="-122"/>
                <a:cs typeface="Calibri" pitchFamily="34" charset="-120"/>
              </a:rPr>
              <a:t>LEFT JOIN - returns all rows from the left table, plus matches from the right (NULL if no match)</a:t>
            </a:r>
            <a:endParaRPr lang="en-US" sz="1200" dirty="0"/>
          </a:p>
          <a:p>
            <a:pPr marL="177800" indent="-177800">
              <a:spcAft>
                <a:spcPts val="600"/>
              </a:spcAft>
              <a:buSzPct val="100000"/>
              <a:buChar char="•"/>
            </a:pPr>
            <a:r>
              <a:rPr lang="en-US" sz="1200" dirty="0">
                <a:solidFill>
                  <a:srgbClr val="1B2340"/>
                </a:solidFill>
                <a:latin typeface="Calibri" pitchFamily="34" charset="0"/>
                <a:ea typeface="Calibri" pitchFamily="34" charset="-122"/>
                <a:cs typeface="Calibri" pitchFamily="34" charset="-120"/>
              </a:rPr>
              <a:t>RIGHT JOIN - returns all rows from the right table, plus matches from the left</a:t>
            </a:r>
            <a:endParaRPr lang="en-US" sz="1200" dirty="0"/>
          </a:p>
          <a:p>
            <a:pPr marL="177800" indent="-177800">
              <a:spcAft>
                <a:spcPts val="600"/>
              </a:spcAft>
              <a:buSzPct val="100000"/>
              <a:buChar char="•"/>
            </a:pPr>
            <a:r>
              <a:rPr lang="en-US" sz="1200" dirty="0">
                <a:solidFill>
                  <a:srgbClr val="1B2340"/>
                </a:solidFill>
                <a:latin typeface="Calibri" pitchFamily="34" charset="0"/>
                <a:ea typeface="Calibri" pitchFamily="34" charset="-122"/>
                <a:cs typeface="Calibri" pitchFamily="34" charset="-120"/>
              </a:rPr>
              <a:t>FULL JOIN - returns all rows from both tables, matched where possible</a:t>
            </a:r>
            <a:endParaRPr lang="en-US" sz="1200" dirty="0"/>
          </a:p>
        </p:txBody>
      </p:sp>
      <p:sp>
        <p:nvSpPr>
          <p:cNvPr id="26" name="Text 24"/>
          <p:cNvSpPr/>
          <p:nvPr/>
        </p:nvSpPr>
        <p:spPr>
          <a:xfrm>
            <a:off x="457200" y="6583680"/>
            <a:ext cx="5486400" cy="228600"/>
          </a:xfrm>
          <a:prstGeom prst="rect">
            <a:avLst/>
          </a:prstGeom>
          <a:noFill/>
          <a:ln/>
        </p:spPr>
        <p:txBody>
          <a:bodyPr wrap="square" rtlCol="0" anchor="ctr"/>
          <a:lstStyle/>
          <a:p>
            <a:pPr marL="0" indent="0" algn="l">
              <a:buNone/>
            </a:pPr>
            <a:r>
              <a:rPr lang="en-US" sz="850" dirty="0">
                <a:solidFill>
                  <a:srgbClr val="5B6178"/>
                </a:solidFill>
                <a:latin typeface="Calibri" pitchFamily="34" charset="0"/>
                <a:ea typeface="Calibri" pitchFamily="34" charset="-122"/>
                <a:cs typeface="Calibri" pitchFamily="34" charset="-120"/>
              </a:rPr>
              <a:t>Java &amp; Full-Stack Interview Prep</a:t>
            </a:r>
            <a:endParaRPr lang="en-US" sz="8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Shape 0"/>
          <p:cNvSpPr/>
          <p:nvPr/>
        </p:nvSpPr>
        <p:spPr>
          <a:xfrm>
            <a:off x="502920" y="384048"/>
            <a:ext cx="3474720" cy="310896"/>
          </a:xfrm>
          <a:prstGeom prst="roundRect">
            <a:avLst>
              <a:gd name="adj" fmla="val 23529"/>
            </a:avLst>
          </a:prstGeom>
          <a:solidFill>
            <a:srgbClr val="E8A33D"/>
          </a:solidFill>
          <a:ln/>
        </p:spPr>
      </p:sp>
      <p:sp>
        <p:nvSpPr>
          <p:cNvPr id="3" name="Text 1"/>
          <p:cNvSpPr/>
          <p:nvPr/>
        </p:nvSpPr>
        <p:spPr>
          <a:xfrm>
            <a:off x="502920" y="384048"/>
            <a:ext cx="3474720" cy="310896"/>
          </a:xfrm>
          <a:prstGeom prst="rect">
            <a:avLst/>
          </a:prstGeom>
          <a:noFill/>
          <a:ln/>
        </p:spPr>
        <p:txBody>
          <a:bodyPr wrap="square" rtlCol="0" anchor="ctr"/>
          <a:lstStyle/>
          <a:p>
            <a:pPr marL="0" indent="0" algn="ctr">
              <a:buNone/>
            </a:pPr>
            <a:r>
              <a:rPr lang="en-US" sz="1100" b="1" kern="0" spc="100" dirty="0">
                <a:solidFill>
                  <a:srgbClr val="1B2340"/>
                </a:solidFill>
                <a:latin typeface="Calibri" pitchFamily="34" charset="0"/>
                <a:ea typeface="Calibri" pitchFamily="34" charset="-122"/>
                <a:cs typeface="Calibri" pitchFamily="34" charset="-120"/>
              </a:rPr>
              <a:t>SQL &amp; DATABASES</a:t>
            </a:r>
            <a:endParaRPr lang="en-US" sz="1100" dirty="0"/>
          </a:p>
        </p:txBody>
      </p:sp>
      <p:sp>
        <p:nvSpPr>
          <p:cNvPr id="4" name="Text 2"/>
          <p:cNvSpPr/>
          <p:nvPr/>
        </p:nvSpPr>
        <p:spPr>
          <a:xfrm>
            <a:off x="502920" y="786384"/>
            <a:ext cx="11155680" cy="868680"/>
          </a:xfrm>
          <a:prstGeom prst="rect">
            <a:avLst/>
          </a:prstGeom>
          <a:noFill/>
          <a:ln/>
        </p:spPr>
        <p:txBody>
          <a:bodyPr wrap="square" rtlCol="0" anchor="t"/>
          <a:lstStyle/>
          <a:p>
            <a:pPr marL="0" indent="0">
              <a:lnSpc>
                <a:spcPct val="102000"/>
              </a:lnSpc>
              <a:buNone/>
            </a:pPr>
            <a:r>
              <a:rPr lang="en-US" sz="2500" b="1" dirty="0">
                <a:solidFill>
                  <a:srgbClr val="1B2340"/>
                </a:solidFill>
                <a:latin typeface="Century Schoolbook" pitchFamily="34" charset="0"/>
                <a:ea typeface="Century Schoolbook" pitchFamily="34" charset="-122"/>
                <a:cs typeface="Century Schoolbook" pitchFamily="34" charset="-120"/>
              </a:rPr>
              <a:t>Primary Key vs Foreign Key vs Unique Key.</a:t>
            </a:r>
            <a:endParaRPr lang="en-US" sz="2500" dirty="0"/>
          </a:p>
        </p:txBody>
      </p:sp>
      <p:sp>
        <p:nvSpPr>
          <p:cNvPr id="5" name="Shape 3"/>
          <p:cNvSpPr/>
          <p:nvPr/>
        </p:nvSpPr>
        <p:spPr>
          <a:xfrm>
            <a:off x="502920" y="1810512"/>
            <a:ext cx="164592" cy="274320"/>
          </a:xfrm>
          <a:prstGeom prst="roundRect">
            <a:avLst>
              <a:gd name="adj" fmla="val 22222"/>
            </a:avLst>
          </a:prstGeom>
          <a:solidFill>
            <a:srgbClr val="E8A33D"/>
          </a:solidFill>
          <a:ln/>
        </p:spPr>
      </p:sp>
      <p:sp>
        <p:nvSpPr>
          <p:cNvPr id="6" name="Text 4"/>
          <p:cNvSpPr/>
          <p:nvPr/>
        </p:nvSpPr>
        <p:spPr>
          <a:xfrm>
            <a:off x="758952" y="1783080"/>
            <a:ext cx="4315968" cy="329184"/>
          </a:xfrm>
          <a:prstGeom prst="rect">
            <a:avLst/>
          </a:prstGeom>
          <a:noFill/>
          <a:ln/>
        </p:spPr>
        <p:txBody>
          <a:bodyPr wrap="square" rtlCol="0" anchor="ctr"/>
          <a:lstStyle/>
          <a:p>
            <a:pPr marL="0" indent="0">
              <a:buNone/>
            </a:pPr>
            <a:r>
              <a:rPr lang="en-US" sz="1300" b="1" kern="0" spc="50" dirty="0">
                <a:solidFill>
                  <a:srgbClr val="1B2340"/>
                </a:solidFill>
                <a:latin typeface="Calibri" pitchFamily="34" charset="0"/>
                <a:ea typeface="Calibri" pitchFamily="34" charset="-122"/>
                <a:cs typeface="Calibri" pitchFamily="34" charset="-120"/>
              </a:rPr>
              <a:t>DEFINITION / CONCEPT</a:t>
            </a:r>
            <a:endParaRPr lang="en-US" sz="1300" dirty="0"/>
          </a:p>
        </p:txBody>
      </p:sp>
      <p:sp>
        <p:nvSpPr>
          <p:cNvPr id="7" name="Shape 5"/>
          <p:cNvSpPr/>
          <p:nvPr/>
        </p:nvSpPr>
        <p:spPr>
          <a:xfrm>
            <a:off x="502920" y="2121408"/>
            <a:ext cx="11201400" cy="914400"/>
          </a:xfrm>
          <a:prstGeom prst="roundRect">
            <a:avLst>
              <a:gd name="adj" fmla="val 8000"/>
            </a:avLst>
          </a:prstGeom>
          <a:solidFill>
            <a:srgbClr val="F7F7FA"/>
          </a:solidFill>
          <a:ln w="12700">
            <a:solidFill>
              <a:srgbClr val="E4E6EF"/>
            </a:solidFill>
            <a:prstDash val="solid"/>
          </a:ln>
        </p:spPr>
      </p:sp>
      <p:sp>
        <p:nvSpPr>
          <p:cNvPr id="8" name="Text 6"/>
          <p:cNvSpPr/>
          <p:nvPr/>
        </p:nvSpPr>
        <p:spPr>
          <a:xfrm>
            <a:off x="758952" y="2304288"/>
            <a:ext cx="10689336" cy="548640"/>
          </a:xfrm>
          <a:prstGeom prst="rect">
            <a:avLst/>
          </a:prstGeom>
          <a:noFill/>
          <a:ln/>
        </p:spPr>
        <p:txBody>
          <a:bodyPr wrap="square" lIns="0" tIns="0" rIns="0" bIns="0" rtlCol="0" anchor="t"/>
          <a:lstStyle/>
          <a:p>
            <a:pPr marL="0" indent="0">
              <a:lnSpc>
                <a:spcPct val="115000"/>
              </a:lnSpc>
              <a:buNone/>
            </a:pPr>
            <a:r>
              <a:rPr lang="en-US" sz="1450" dirty="0">
                <a:solidFill>
                  <a:srgbClr val="1B2340"/>
                </a:solidFill>
                <a:latin typeface="Calibri" pitchFamily="34" charset="0"/>
                <a:ea typeface="Calibri" pitchFamily="34" charset="-122"/>
                <a:cs typeface="Calibri" pitchFamily="34" charset="-120"/>
              </a:rPr>
              <a:t>These are database constraints that maintain data integrity and define relationships between tables.</a:t>
            </a:r>
            <a:endParaRPr lang="en-US" sz="1450" dirty="0"/>
          </a:p>
        </p:txBody>
      </p:sp>
      <p:sp>
        <p:nvSpPr>
          <p:cNvPr id="9" name="Shape 7"/>
          <p:cNvSpPr/>
          <p:nvPr/>
        </p:nvSpPr>
        <p:spPr>
          <a:xfrm>
            <a:off x="502920" y="3200400"/>
            <a:ext cx="164592" cy="274320"/>
          </a:xfrm>
          <a:prstGeom prst="roundRect">
            <a:avLst>
              <a:gd name="adj" fmla="val 22222"/>
            </a:avLst>
          </a:prstGeom>
          <a:solidFill>
            <a:srgbClr val="3FBFAE"/>
          </a:solidFill>
          <a:ln/>
        </p:spPr>
      </p:sp>
      <p:sp>
        <p:nvSpPr>
          <p:cNvPr id="10" name="Text 8"/>
          <p:cNvSpPr/>
          <p:nvPr/>
        </p:nvSpPr>
        <p:spPr>
          <a:xfrm>
            <a:off x="758952" y="3172968"/>
            <a:ext cx="4315968" cy="329184"/>
          </a:xfrm>
          <a:prstGeom prst="rect">
            <a:avLst/>
          </a:prstGeom>
          <a:noFill/>
          <a:ln/>
        </p:spPr>
        <p:txBody>
          <a:bodyPr wrap="square" rtlCol="0" anchor="ctr"/>
          <a:lstStyle/>
          <a:p>
            <a:pPr marL="0" indent="0">
              <a:buNone/>
            </a:pPr>
            <a:r>
              <a:rPr lang="en-US" sz="1300" b="1" kern="0" spc="50" dirty="0">
                <a:solidFill>
                  <a:srgbClr val="1B2340"/>
                </a:solidFill>
                <a:latin typeface="Calibri" pitchFamily="34" charset="0"/>
                <a:ea typeface="Calibri" pitchFamily="34" charset="-122"/>
                <a:cs typeface="Calibri" pitchFamily="34" charset="-120"/>
              </a:rPr>
              <a:t>EXPLANATION</a:t>
            </a:r>
            <a:endParaRPr lang="en-US" sz="1300" dirty="0"/>
          </a:p>
        </p:txBody>
      </p:sp>
      <p:sp>
        <p:nvSpPr>
          <p:cNvPr id="11" name="Text 9"/>
          <p:cNvSpPr/>
          <p:nvPr/>
        </p:nvSpPr>
        <p:spPr>
          <a:xfrm>
            <a:off x="502920" y="3529584"/>
            <a:ext cx="6858000" cy="2331720"/>
          </a:xfrm>
          <a:prstGeom prst="rect">
            <a:avLst/>
          </a:prstGeom>
          <a:noFill/>
          <a:ln/>
        </p:spPr>
        <p:txBody>
          <a:bodyPr wrap="square" lIns="0" tIns="0" rIns="0" bIns="0" rtlCol="0" anchor="t"/>
          <a:lstStyle/>
          <a:p>
            <a:pPr marL="177800" indent="-177800">
              <a:spcAft>
                <a:spcPts val="800"/>
              </a:spcAft>
              <a:buSzPct val="100000"/>
              <a:buChar char="•"/>
            </a:pPr>
            <a:r>
              <a:rPr lang="en-US" sz="1300" dirty="0">
                <a:solidFill>
                  <a:srgbClr val="1B2340"/>
                </a:solidFill>
                <a:latin typeface="Calibri" pitchFamily="34" charset="0"/>
                <a:ea typeface="Calibri" pitchFamily="34" charset="-122"/>
                <a:cs typeface="Calibri" pitchFamily="34" charset="-120"/>
              </a:rPr>
              <a:t>Primary Key - uniquely identifies each row in a table; cannot be NULL; one per table</a:t>
            </a:r>
            <a:endParaRPr lang="en-US" sz="1300" dirty="0"/>
          </a:p>
          <a:p>
            <a:pPr marL="177800" indent="-177800">
              <a:spcAft>
                <a:spcPts val="800"/>
              </a:spcAft>
              <a:buSzPct val="100000"/>
              <a:buChar char="•"/>
            </a:pPr>
            <a:r>
              <a:rPr lang="en-US" sz="1300" dirty="0">
                <a:solidFill>
                  <a:srgbClr val="1B2340"/>
                </a:solidFill>
                <a:latin typeface="Calibri" pitchFamily="34" charset="0"/>
                <a:ea typeface="Calibri" pitchFamily="34" charset="-122"/>
                <a:cs typeface="Calibri" pitchFamily="34" charset="-120"/>
              </a:rPr>
              <a:t>Foreign Key - a column that references the Primary Key of another table, linking the two</a:t>
            </a:r>
            <a:endParaRPr lang="en-US" sz="1300" dirty="0"/>
          </a:p>
          <a:p>
            <a:pPr marL="177800" indent="-177800">
              <a:spcAft>
                <a:spcPts val="800"/>
              </a:spcAft>
              <a:buSzPct val="100000"/>
              <a:buChar char="•"/>
            </a:pPr>
            <a:r>
              <a:rPr lang="en-US" sz="1300" dirty="0">
                <a:solidFill>
                  <a:srgbClr val="1B2340"/>
                </a:solidFill>
                <a:latin typeface="Calibri" pitchFamily="34" charset="0"/>
                <a:ea typeface="Calibri" pitchFamily="34" charset="-122"/>
                <a:cs typeface="Calibri" pitchFamily="34" charset="-120"/>
              </a:rPr>
              <a:t>Unique Key - ensures all values in a column are distinct, but unlike Primary Key, it can allow one NULL</a:t>
            </a:r>
            <a:endParaRPr lang="en-US" sz="1300" dirty="0"/>
          </a:p>
          <a:p>
            <a:pPr marL="177800" indent="-177800">
              <a:spcAft>
                <a:spcPts val="800"/>
              </a:spcAft>
              <a:buSzPct val="100000"/>
              <a:buChar char="•"/>
            </a:pPr>
            <a:r>
              <a:rPr lang="en-US" sz="1300" dirty="0">
                <a:solidFill>
                  <a:srgbClr val="1B2340"/>
                </a:solidFill>
                <a:latin typeface="Calibri" pitchFamily="34" charset="0"/>
                <a:ea typeface="Calibri" pitchFamily="34" charset="-122"/>
                <a:cs typeface="Calibri" pitchFamily="34" charset="-120"/>
              </a:rPr>
              <a:t>A table can have multiple Unique Keys but only one Primary Key</a:t>
            </a:r>
            <a:endParaRPr lang="en-US" sz="1300" dirty="0"/>
          </a:p>
        </p:txBody>
      </p:sp>
      <p:sp>
        <p:nvSpPr>
          <p:cNvPr id="12" name="Shape 10"/>
          <p:cNvSpPr/>
          <p:nvPr/>
        </p:nvSpPr>
        <p:spPr>
          <a:xfrm>
            <a:off x="7589520" y="3200400"/>
            <a:ext cx="4114800" cy="2194560"/>
          </a:xfrm>
          <a:prstGeom prst="roundRect">
            <a:avLst>
              <a:gd name="adj" fmla="val 3333"/>
            </a:avLst>
          </a:prstGeom>
          <a:solidFill>
            <a:srgbClr val="FDF3E3"/>
          </a:solidFill>
          <a:ln/>
        </p:spPr>
      </p:sp>
      <p:sp>
        <p:nvSpPr>
          <p:cNvPr id="13" name="Text 11"/>
          <p:cNvSpPr/>
          <p:nvPr/>
        </p:nvSpPr>
        <p:spPr>
          <a:xfrm>
            <a:off x="7790688" y="3310128"/>
            <a:ext cx="3712464" cy="274320"/>
          </a:xfrm>
          <a:prstGeom prst="rect">
            <a:avLst/>
          </a:prstGeom>
          <a:noFill/>
          <a:ln/>
        </p:spPr>
        <p:txBody>
          <a:bodyPr wrap="square" rtlCol="0" anchor="ctr"/>
          <a:lstStyle/>
          <a:p>
            <a:pPr marL="0" indent="0">
              <a:buNone/>
            </a:pPr>
            <a:r>
              <a:rPr lang="en-US" sz="1100" b="1" kern="0" spc="50" dirty="0">
                <a:solidFill>
                  <a:srgbClr val="C9862A"/>
                </a:solidFill>
                <a:latin typeface="Calibri" pitchFamily="34" charset="0"/>
                <a:ea typeface="Calibri" pitchFamily="34" charset="-122"/>
                <a:cs typeface="Calibri" pitchFamily="34" charset="-120"/>
              </a:rPr>
              <a:t>💡 REAL-LIFE ANALOGY</a:t>
            </a:r>
            <a:endParaRPr lang="en-US" sz="1100" dirty="0"/>
          </a:p>
        </p:txBody>
      </p:sp>
      <p:sp>
        <p:nvSpPr>
          <p:cNvPr id="14" name="Text 12"/>
          <p:cNvSpPr/>
          <p:nvPr/>
        </p:nvSpPr>
        <p:spPr>
          <a:xfrm>
            <a:off x="7790688" y="3602736"/>
            <a:ext cx="3712464" cy="1664208"/>
          </a:xfrm>
          <a:prstGeom prst="rect">
            <a:avLst/>
          </a:prstGeom>
          <a:noFill/>
          <a:ln/>
        </p:spPr>
        <p:txBody>
          <a:bodyPr wrap="square" lIns="0" tIns="0" rIns="0" bIns="0" rtlCol="0" anchor="t"/>
          <a:lstStyle/>
          <a:p>
            <a:pPr marL="0" indent="0">
              <a:lnSpc>
                <a:spcPct val="110000"/>
              </a:lnSpc>
              <a:buNone/>
            </a:pPr>
            <a:r>
              <a:rPr lang="en-US" sz="1250" i="1" dirty="0">
                <a:solidFill>
                  <a:srgbClr val="1B2340"/>
                </a:solidFill>
                <a:latin typeface="Calibri" pitchFamily="34" charset="0"/>
                <a:ea typeface="Calibri" pitchFamily="34" charset="-122"/>
                <a:cs typeface="Calibri" pitchFamily="34" charset="-120"/>
              </a:rPr>
              <a:t>A Primary Key is like a student's unique roll number - no two students share it. A Foreign Key is like writing that roll number in the library's borrow register to link a book to a specific student.</a:t>
            </a:r>
            <a:endParaRPr lang="en-US" sz="1250" dirty="0"/>
          </a:p>
        </p:txBody>
      </p:sp>
      <p:sp>
        <p:nvSpPr>
          <p:cNvPr id="15" name="Shape 13"/>
          <p:cNvSpPr/>
          <p:nvPr/>
        </p:nvSpPr>
        <p:spPr>
          <a:xfrm>
            <a:off x="502920" y="5870448"/>
            <a:ext cx="11201400" cy="603504"/>
          </a:xfrm>
          <a:prstGeom prst="roundRect">
            <a:avLst>
              <a:gd name="adj" fmla="val 12121"/>
            </a:avLst>
          </a:prstGeom>
          <a:solidFill>
            <a:srgbClr val="1B2340"/>
          </a:solidFill>
          <a:ln/>
        </p:spPr>
      </p:sp>
      <p:sp>
        <p:nvSpPr>
          <p:cNvPr id="16" name="Text 14"/>
          <p:cNvSpPr/>
          <p:nvPr/>
        </p:nvSpPr>
        <p:spPr>
          <a:xfrm>
            <a:off x="731520" y="5961888"/>
            <a:ext cx="10744200" cy="256032"/>
          </a:xfrm>
          <a:prstGeom prst="rect">
            <a:avLst/>
          </a:prstGeom>
          <a:noFill/>
          <a:ln/>
        </p:spPr>
        <p:txBody>
          <a:bodyPr wrap="square" rtlCol="0" anchor="ctr"/>
          <a:lstStyle/>
          <a:p>
            <a:pPr marL="0" indent="0">
              <a:buNone/>
            </a:pPr>
            <a:r>
              <a:rPr lang="en-US" sz="1050" b="1" kern="0" spc="80" dirty="0">
                <a:solidFill>
                  <a:srgbClr val="E8A33D"/>
                </a:solidFill>
                <a:latin typeface="Calibri" pitchFamily="34" charset="0"/>
                <a:ea typeface="Calibri" pitchFamily="34" charset="-122"/>
                <a:cs typeface="Calibri" pitchFamily="34" charset="-120"/>
              </a:rPr>
              <a:t>ONE-LINE INTERVIEW ANSWER</a:t>
            </a:r>
            <a:endParaRPr lang="en-US" sz="1050" dirty="0"/>
          </a:p>
        </p:txBody>
      </p:sp>
      <p:sp>
        <p:nvSpPr>
          <p:cNvPr id="17" name="Text 15"/>
          <p:cNvSpPr/>
          <p:nvPr/>
        </p:nvSpPr>
        <p:spPr>
          <a:xfrm>
            <a:off x="731520" y="6217920"/>
            <a:ext cx="10744200" cy="146304"/>
          </a:xfrm>
          <a:prstGeom prst="rect">
            <a:avLst/>
          </a:prstGeom>
          <a:noFill/>
          <a:ln/>
        </p:spPr>
        <p:txBody>
          <a:bodyPr wrap="square" lIns="0" tIns="0" rIns="0" bIns="0" rtlCol="0" anchor="t"/>
          <a:lstStyle/>
          <a:p>
            <a:pPr marL="0" indent="0">
              <a:lnSpc>
                <a:spcPct val="105000"/>
              </a:lnSpc>
              <a:buNone/>
            </a:pPr>
            <a:r>
              <a:rPr lang="en-US" sz="1250" dirty="0">
                <a:solidFill>
                  <a:srgbClr val="FFFFFF"/>
                </a:solidFill>
                <a:latin typeface="Calibri" pitchFamily="34" charset="0"/>
                <a:ea typeface="Calibri" pitchFamily="34" charset="-122"/>
                <a:cs typeface="Calibri" pitchFamily="34" charset="-120"/>
              </a:rPr>
              <a:t>Primary Key uniquely identifies a row, Foreign Key links to another table's Primary Key, and Unique Key just ensures no duplicate values in a column.</a:t>
            </a:r>
            <a:endParaRPr lang="en-US" sz="1250" dirty="0"/>
          </a:p>
        </p:txBody>
      </p:sp>
      <p:sp>
        <p:nvSpPr>
          <p:cNvPr id="18" name="Text 16"/>
          <p:cNvSpPr/>
          <p:nvPr/>
        </p:nvSpPr>
        <p:spPr>
          <a:xfrm>
            <a:off x="457200" y="6583680"/>
            <a:ext cx="5486400" cy="228600"/>
          </a:xfrm>
          <a:prstGeom prst="rect">
            <a:avLst/>
          </a:prstGeom>
          <a:noFill/>
          <a:ln/>
        </p:spPr>
        <p:txBody>
          <a:bodyPr wrap="square" rtlCol="0" anchor="ctr"/>
          <a:lstStyle/>
          <a:p>
            <a:pPr marL="0" indent="0" algn="l">
              <a:buNone/>
            </a:pPr>
            <a:r>
              <a:rPr lang="en-US" sz="850" dirty="0">
                <a:solidFill>
                  <a:srgbClr val="5B6178"/>
                </a:solidFill>
                <a:latin typeface="Calibri" pitchFamily="34" charset="0"/>
                <a:ea typeface="Calibri" pitchFamily="34" charset="-122"/>
                <a:cs typeface="Calibri" pitchFamily="34" charset="-120"/>
              </a:rPr>
              <a:t>Java &amp; Full-Stack Interview Prep</a:t>
            </a:r>
            <a:endParaRPr lang="en-US" sz="85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Shape 0"/>
          <p:cNvSpPr/>
          <p:nvPr/>
        </p:nvSpPr>
        <p:spPr>
          <a:xfrm>
            <a:off x="502920" y="384048"/>
            <a:ext cx="3474720" cy="310896"/>
          </a:xfrm>
          <a:prstGeom prst="roundRect">
            <a:avLst>
              <a:gd name="adj" fmla="val 23529"/>
            </a:avLst>
          </a:prstGeom>
          <a:solidFill>
            <a:srgbClr val="E8A33D"/>
          </a:solidFill>
          <a:ln/>
        </p:spPr>
      </p:sp>
      <p:sp>
        <p:nvSpPr>
          <p:cNvPr id="3" name="Text 1"/>
          <p:cNvSpPr/>
          <p:nvPr/>
        </p:nvSpPr>
        <p:spPr>
          <a:xfrm>
            <a:off x="502920" y="384048"/>
            <a:ext cx="3474720" cy="310896"/>
          </a:xfrm>
          <a:prstGeom prst="rect">
            <a:avLst/>
          </a:prstGeom>
          <a:noFill/>
          <a:ln/>
        </p:spPr>
        <p:txBody>
          <a:bodyPr wrap="square" rtlCol="0" anchor="ctr"/>
          <a:lstStyle/>
          <a:p>
            <a:pPr marL="0" indent="0" algn="ctr">
              <a:buNone/>
            </a:pPr>
            <a:r>
              <a:rPr lang="en-US" sz="1100" b="1" kern="0" spc="100" dirty="0">
                <a:solidFill>
                  <a:srgbClr val="1B2340"/>
                </a:solidFill>
                <a:latin typeface="Calibri" pitchFamily="34" charset="0"/>
                <a:ea typeface="Calibri" pitchFamily="34" charset="-122"/>
                <a:cs typeface="Calibri" pitchFamily="34" charset="-120"/>
              </a:rPr>
              <a:t>SQL &amp; DATABASES</a:t>
            </a:r>
            <a:endParaRPr lang="en-US" sz="1100" dirty="0"/>
          </a:p>
        </p:txBody>
      </p:sp>
      <p:sp>
        <p:nvSpPr>
          <p:cNvPr id="4" name="Text 2"/>
          <p:cNvSpPr/>
          <p:nvPr/>
        </p:nvSpPr>
        <p:spPr>
          <a:xfrm>
            <a:off x="502920" y="786384"/>
            <a:ext cx="11155680" cy="868680"/>
          </a:xfrm>
          <a:prstGeom prst="rect">
            <a:avLst/>
          </a:prstGeom>
          <a:noFill/>
          <a:ln/>
        </p:spPr>
        <p:txBody>
          <a:bodyPr wrap="square" rtlCol="0" anchor="t"/>
          <a:lstStyle/>
          <a:p>
            <a:pPr marL="0" indent="0">
              <a:lnSpc>
                <a:spcPct val="102000"/>
              </a:lnSpc>
              <a:buNone/>
            </a:pPr>
            <a:r>
              <a:rPr lang="en-US" sz="2500" b="1" dirty="0">
                <a:solidFill>
                  <a:srgbClr val="1B2340"/>
                </a:solidFill>
                <a:latin typeface="Century Schoolbook" pitchFamily="34" charset="0"/>
                <a:ea typeface="Century Schoolbook" pitchFamily="34" charset="-122"/>
                <a:cs typeface="Century Schoolbook" pitchFamily="34" charset="-120"/>
              </a:rPr>
              <a:t>How do you find the Nth highest salary in SQL?</a:t>
            </a:r>
            <a:endParaRPr lang="en-US" sz="2500" dirty="0"/>
          </a:p>
        </p:txBody>
      </p:sp>
      <p:sp>
        <p:nvSpPr>
          <p:cNvPr id="5" name="Shape 3"/>
          <p:cNvSpPr/>
          <p:nvPr/>
        </p:nvSpPr>
        <p:spPr>
          <a:xfrm>
            <a:off x="502920" y="1810512"/>
            <a:ext cx="164592" cy="274320"/>
          </a:xfrm>
          <a:prstGeom prst="roundRect">
            <a:avLst>
              <a:gd name="adj" fmla="val 22222"/>
            </a:avLst>
          </a:prstGeom>
          <a:solidFill>
            <a:srgbClr val="E8A33D"/>
          </a:solidFill>
          <a:ln/>
        </p:spPr>
      </p:sp>
      <p:sp>
        <p:nvSpPr>
          <p:cNvPr id="6" name="Text 4"/>
          <p:cNvSpPr/>
          <p:nvPr/>
        </p:nvSpPr>
        <p:spPr>
          <a:xfrm>
            <a:off x="758952" y="1783080"/>
            <a:ext cx="4681728" cy="329184"/>
          </a:xfrm>
          <a:prstGeom prst="rect">
            <a:avLst/>
          </a:prstGeom>
          <a:noFill/>
          <a:ln/>
        </p:spPr>
        <p:txBody>
          <a:bodyPr wrap="square" rtlCol="0" anchor="ctr"/>
          <a:lstStyle/>
          <a:p>
            <a:pPr marL="0" indent="0">
              <a:buNone/>
            </a:pPr>
            <a:r>
              <a:rPr lang="en-US" sz="1300" b="1" kern="0" spc="50" dirty="0">
                <a:solidFill>
                  <a:srgbClr val="1B2340"/>
                </a:solidFill>
                <a:latin typeface="Calibri" pitchFamily="34" charset="0"/>
                <a:ea typeface="Calibri" pitchFamily="34" charset="-122"/>
                <a:cs typeface="Calibri" pitchFamily="34" charset="-120"/>
              </a:rPr>
              <a:t>DEFINITION / CONCEPT</a:t>
            </a:r>
            <a:endParaRPr lang="en-US" sz="1300" dirty="0"/>
          </a:p>
        </p:txBody>
      </p:sp>
      <p:sp>
        <p:nvSpPr>
          <p:cNvPr id="7" name="Shape 5"/>
          <p:cNvSpPr/>
          <p:nvPr/>
        </p:nvSpPr>
        <p:spPr>
          <a:xfrm>
            <a:off x="502920" y="2121408"/>
            <a:ext cx="4937760" cy="1234440"/>
          </a:xfrm>
          <a:prstGeom prst="roundRect">
            <a:avLst>
              <a:gd name="adj" fmla="val 5926"/>
            </a:avLst>
          </a:prstGeom>
          <a:solidFill>
            <a:srgbClr val="F7F7FA"/>
          </a:solidFill>
          <a:ln w="12700">
            <a:solidFill>
              <a:srgbClr val="E4E6EF"/>
            </a:solidFill>
            <a:prstDash val="solid"/>
          </a:ln>
        </p:spPr>
      </p:sp>
      <p:sp>
        <p:nvSpPr>
          <p:cNvPr id="8" name="Text 6"/>
          <p:cNvSpPr/>
          <p:nvPr/>
        </p:nvSpPr>
        <p:spPr>
          <a:xfrm>
            <a:off x="758952" y="2304288"/>
            <a:ext cx="4425696" cy="868680"/>
          </a:xfrm>
          <a:prstGeom prst="rect">
            <a:avLst/>
          </a:prstGeom>
          <a:noFill/>
          <a:ln/>
        </p:spPr>
        <p:txBody>
          <a:bodyPr wrap="square" lIns="0" tIns="0" rIns="0" bIns="0" rtlCol="0" anchor="t"/>
          <a:lstStyle/>
          <a:p>
            <a:pPr marL="0" indent="0">
              <a:lnSpc>
                <a:spcPct val="115000"/>
              </a:lnSpc>
              <a:buNone/>
            </a:pPr>
            <a:r>
              <a:rPr lang="en-US" sz="1450" dirty="0">
                <a:solidFill>
                  <a:srgbClr val="1B2340"/>
                </a:solidFill>
                <a:latin typeface="Calibri" pitchFamily="34" charset="0"/>
                <a:ea typeface="Calibri" pitchFamily="34" charset="-122"/>
                <a:cs typeface="Calibri" pitchFamily="34" charset="-120"/>
              </a:rPr>
              <a:t>There are multiple ways to find the Nth highest value, commonly using a subquery with LIMIT/OFFSET, or the DENSE_RANK() window function to properly handle duplicate salaries.</a:t>
            </a:r>
            <a:endParaRPr lang="en-US" sz="1450" dirty="0"/>
          </a:p>
        </p:txBody>
      </p:sp>
      <p:sp>
        <p:nvSpPr>
          <p:cNvPr id="9" name="Shape 7"/>
          <p:cNvSpPr/>
          <p:nvPr/>
        </p:nvSpPr>
        <p:spPr>
          <a:xfrm>
            <a:off x="502920" y="3493008"/>
            <a:ext cx="4937760" cy="1554480"/>
          </a:xfrm>
          <a:prstGeom prst="roundRect">
            <a:avLst>
              <a:gd name="adj" fmla="val 4706"/>
            </a:avLst>
          </a:prstGeom>
          <a:solidFill>
            <a:srgbClr val="FDF3E3"/>
          </a:solidFill>
          <a:ln/>
        </p:spPr>
      </p:sp>
      <p:sp>
        <p:nvSpPr>
          <p:cNvPr id="10" name="Text 8"/>
          <p:cNvSpPr/>
          <p:nvPr/>
        </p:nvSpPr>
        <p:spPr>
          <a:xfrm>
            <a:off x="704088" y="3602736"/>
            <a:ext cx="4535424" cy="274320"/>
          </a:xfrm>
          <a:prstGeom prst="rect">
            <a:avLst/>
          </a:prstGeom>
          <a:noFill/>
          <a:ln/>
        </p:spPr>
        <p:txBody>
          <a:bodyPr wrap="square" rtlCol="0" anchor="ctr"/>
          <a:lstStyle/>
          <a:p>
            <a:pPr marL="0" indent="0">
              <a:buNone/>
            </a:pPr>
            <a:r>
              <a:rPr lang="en-US" sz="1100" b="1" kern="0" spc="50" dirty="0">
                <a:solidFill>
                  <a:srgbClr val="C9862A"/>
                </a:solidFill>
                <a:latin typeface="Calibri" pitchFamily="34" charset="0"/>
                <a:ea typeface="Calibri" pitchFamily="34" charset="-122"/>
                <a:cs typeface="Calibri" pitchFamily="34" charset="-120"/>
              </a:rPr>
              <a:t>💡 REAL-LIFE ANALOGY</a:t>
            </a:r>
            <a:endParaRPr lang="en-US" sz="1100" dirty="0"/>
          </a:p>
        </p:txBody>
      </p:sp>
      <p:sp>
        <p:nvSpPr>
          <p:cNvPr id="11" name="Text 9"/>
          <p:cNvSpPr/>
          <p:nvPr/>
        </p:nvSpPr>
        <p:spPr>
          <a:xfrm>
            <a:off x="704088" y="3895344"/>
            <a:ext cx="4535424" cy="1024128"/>
          </a:xfrm>
          <a:prstGeom prst="rect">
            <a:avLst/>
          </a:prstGeom>
          <a:noFill/>
          <a:ln/>
        </p:spPr>
        <p:txBody>
          <a:bodyPr wrap="square" lIns="0" tIns="0" rIns="0" bIns="0" rtlCol="0" anchor="t"/>
          <a:lstStyle/>
          <a:p>
            <a:pPr marL="0" indent="0">
              <a:lnSpc>
                <a:spcPct val="110000"/>
              </a:lnSpc>
              <a:buNone/>
            </a:pPr>
            <a:r>
              <a:rPr lang="en-US" sz="1250" i="1" dirty="0">
                <a:solidFill>
                  <a:srgbClr val="1B2340"/>
                </a:solidFill>
                <a:latin typeface="Calibri" pitchFamily="34" charset="0"/>
                <a:ea typeface="Calibri" pitchFamily="34" charset="-122"/>
                <a:cs typeface="Calibri" pitchFamily="34" charset="-120"/>
              </a:rPr>
              <a:t>Think of it like a leaderboard. If two players tie for 1st place, DENSE_RANK() correctly says the next distinct player is 2nd, not 3rd - unlike simply counting rows.</a:t>
            </a:r>
            <a:endParaRPr lang="en-US" sz="1250" dirty="0"/>
          </a:p>
        </p:txBody>
      </p:sp>
      <p:sp>
        <p:nvSpPr>
          <p:cNvPr id="12" name="Shape 10"/>
          <p:cNvSpPr/>
          <p:nvPr/>
        </p:nvSpPr>
        <p:spPr>
          <a:xfrm>
            <a:off x="502920" y="5193792"/>
            <a:ext cx="4937760" cy="1051560"/>
          </a:xfrm>
          <a:prstGeom prst="roundRect">
            <a:avLst>
              <a:gd name="adj" fmla="val 6957"/>
            </a:avLst>
          </a:prstGeom>
          <a:solidFill>
            <a:srgbClr val="1B2340"/>
          </a:solidFill>
          <a:ln/>
        </p:spPr>
      </p:sp>
      <p:sp>
        <p:nvSpPr>
          <p:cNvPr id="13" name="Text 11"/>
          <p:cNvSpPr/>
          <p:nvPr/>
        </p:nvSpPr>
        <p:spPr>
          <a:xfrm>
            <a:off x="731520" y="5285232"/>
            <a:ext cx="4480560" cy="256032"/>
          </a:xfrm>
          <a:prstGeom prst="rect">
            <a:avLst/>
          </a:prstGeom>
          <a:noFill/>
          <a:ln/>
        </p:spPr>
        <p:txBody>
          <a:bodyPr wrap="square" rtlCol="0" anchor="ctr"/>
          <a:lstStyle/>
          <a:p>
            <a:pPr marL="0" indent="0">
              <a:buNone/>
            </a:pPr>
            <a:r>
              <a:rPr lang="en-US" sz="1050" b="1" kern="0" spc="80" dirty="0">
                <a:solidFill>
                  <a:srgbClr val="E8A33D"/>
                </a:solidFill>
                <a:latin typeface="Calibri" pitchFamily="34" charset="0"/>
                <a:ea typeface="Calibri" pitchFamily="34" charset="-122"/>
                <a:cs typeface="Calibri" pitchFamily="34" charset="-120"/>
              </a:rPr>
              <a:t>ONE-LINE INTERVIEW ANSWER</a:t>
            </a:r>
            <a:endParaRPr lang="en-US" sz="1050" dirty="0"/>
          </a:p>
        </p:txBody>
      </p:sp>
      <p:sp>
        <p:nvSpPr>
          <p:cNvPr id="14" name="Text 12"/>
          <p:cNvSpPr/>
          <p:nvPr/>
        </p:nvSpPr>
        <p:spPr>
          <a:xfrm>
            <a:off x="731520" y="5541264"/>
            <a:ext cx="4480560" cy="594360"/>
          </a:xfrm>
          <a:prstGeom prst="rect">
            <a:avLst/>
          </a:prstGeom>
          <a:noFill/>
          <a:ln/>
        </p:spPr>
        <p:txBody>
          <a:bodyPr wrap="square" lIns="0" tIns="0" rIns="0" bIns="0" rtlCol="0" anchor="t"/>
          <a:lstStyle/>
          <a:p>
            <a:pPr marL="0" indent="0">
              <a:lnSpc>
                <a:spcPct val="105000"/>
              </a:lnSpc>
              <a:buNone/>
            </a:pPr>
            <a:r>
              <a:rPr lang="en-US" sz="1250" dirty="0">
                <a:solidFill>
                  <a:srgbClr val="FFFFFF"/>
                </a:solidFill>
                <a:latin typeface="Calibri" pitchFamily="34" charset="0"/>
                <a:ea typeface="Calibri" pitchFamily="34" charset="-122"/>
                <a:cs typeface="Calibri" pitchFamily="34" charset="-120"/>
              </a:rPr>
              <a:t>The Nth highest salary can be found using LIMIT/OFFSET on distinct sorted salaries, or more reliably with the DENSE_RANK() window function.</a:t>
            </a:r>
            <a:endParaRPr lang="en-US" sz="1250" dirty="0"/>
          </a:p>
        </p:txBody>
      </p:sp>
      <p:sp>
        <p:nvSpPr>
          <p:cNvPr id="15" name="Shape 13"/>
          <p:cNvSpPr/>
          <p:nvPr/>
        </p:nvSpPr>
        <p:spPr>
          <a:xfrm>
            <a:off x="5669280" y="1810512"/>
            <a:ext cx="164592" cy="274320"/>
          </a:xfrm>
          <a:prstGeom prst="roundRect">
            <a:avLst>
              <a:gd name="adj" fmla="val 22222"/>
            </a:avLst>
          </a:prstGeom>
          <a:solidFill>
            <a:srgbClr val="3FBFAE"/>
          </a:solidFill>
          <a:ln/>
        </p:spPr>
      </p:sp>
      <p:sp>
        <p:nvSpPr>
          <p:cNvPr id="16" name="Text 14"/>
          <p:cNvSpPr/>
          <p:nvPr/>
        </p:nvSpPr>
        <p:spPr>
          <a:xfrm>
            <a:off x="5925312" y="1783080"/>
            <a:ext cx="5779008" cy="329184"/>
          </a:xfrm>
          <a:prstGeom prst="rect">
            <a:avLst/>
          </a:prstGeom>
          <a:noFill/>
          <a:ln/>
        </p:spPr>
        <p:txBody>
          <a:bodyPr wrap="square" rtlCol="0" anchor="ctr"/>
          <a:lstStyle/>
          <a:p>
            <a:pPr marL="0" indent="0">
              <a:buNone/>
            </a:pPr>
            <a:r>
              <a:rPr lang="en-US" sz="1300" b="1" kern="0" spc="50" dirty="0">
                <a:solidFill>
                  <a:srgbClr val="1B2340"/>
                </a:solidFill>
                <a:latin typeface="Calibri" pitchFamily="34" charset="0"/>
                <a:ea typeface="Calibri" pitchFamily="34" charset="-122"/>
                <a:cs typeface="Calibri" pitchFamily="34" charset="-120"/>
              </a:rPr>
              <a:t>EXAMPLE</a:t>
            </a:r>
            <a:endParaRPr lang="en-US" sz="1300" dirty="0"/>
          </a:p>
        </p:txBody>
      </p:sp>
      <p:sp>
        <p:nvSpPr>
          <p:cNvPr id="17" name="Shape 15"/>
          <p:cNvSpPr/>
          <p:nvPr/>
        </p:nvSpPr>
        <p:spPr>
          <a:xfrm>
            <a:off x="5669280" y="2121408"/>
            <a:ext cx="6035040" cy="2392680"/>
          </a:xfrm>
          <a:prstGeom prst="roundRect">
            <a:avLst>
              <a:gd name="adj" fmla="val 3057"/>
            </a:avLst>
          </a:prstGeom>
          <a:solidFill>
            <a:srgbClr val="1E1E2E"/>
          </a:solidFill>
          <a:ln/>
        </p:spPr>
      </p:sp>
      <p:sp>
        <p:nvSpPr>
          <p:cNvPr id="18" name="Shape 16"/>
          <p:cNvSpPr/>
          <p:nvPr/>
        </p:nvSpPr>
        <p:spPr>
          <a:xfrm>
            <a:off x="5806440" y="2249424"/>
            <a:ext cx="100584" cy="100584"/>
          </a:xfrm>
          <a:prstGeom prst="ellipse">
            <a:avLst/>
          </a:prstGeom>
          <a:solidFill>
            <a:srgbClr val="FF5F56"/>
          </a:solidFill>
          <a:ln/>
        </p:spPr>
      </p:sp>
      <p:sp>
        <p:nvSpPr>
          <p:cNvPr id="19" name="Shape 17"/>
          <p:cNvSpPr/>
          <p:nvPr/>
        </p:nvSpPr>
        <p:spPr>
          <a:xfrm>
            <a:off x="5961888" y="2249424"/>
            <a:ext cx="100584" cy="100584"/>
          </a:xfrm>
          <a:prstGeom prst="ellipse">
            <a:avLst/>
          </a:prstGeom>
          <a:solidFill>
            <a:srgbClr val="FFBD2E"/>
          </a:solidFill>
          <a:ln/>
        </p:spPr>
      </p:sp>
      <p:sp>
        <p:nvSpPr>
          <p:cNvPr id="20" name="Shape 18"/>
          <p:cNvSpPr/>
          <p:nvPr/>
        </p:nvSpPr>
        <p:spPr>
          <a:xfrm>
            <a:off x="6117336" y="2249424"/>
            <a:ext cx="100584" cy="100584"/>
          </a:xfrm>
          <a:prstGeom prst="ellipse">
            <a:avLst/>
          </a:prstGeom>
          <a:solidFill>
            <a:srgbClr val="27C93F"/>
          </a:solidFill>
          <a:ln/>
        </p:spPr>
      </p:sp>
      <p:sp>
        <p:nvSpPr>
          <p:cNvPr id="21" name="Text 19"/>
          <p:cNvSpPr/>
          <p:nvPr/>
        </p:nvSpPr>
        <p:spPr>
          <a:xfrm>
            <a:off x="6309360" y="2167128"/>
            <a:ext cx="5120640" cy="274320"/>
          </a:xfrm>
          <a:prstGeom prst="rect">
            <a:avLst/>
          </a:prstGeom>
          <a:noFill/>
          <a:ln/>
        </p:spPr>
        <p:txBody>
          <a:bodyPr wrap="square" rtlCol="0" anchor="ctr"/>
          <a:lstStyle/>
          <a:p>
            <a:pPr marL="0" indent="0" algn="r">
              <a:buNone/>
            </a:pPr>
            <a:r>
              <a:rPr lang="en-US" sz="1000" dirty="0">
                <a:solidFill>
                  <a:srgbClr val="8A90AC"/>
                </a:solidFill>
                <a:latin typeface="Courier New" pitchFamily="34" charset="0"/>
                <a:ea typeface="Courier New" pitchFamily="34" charset="-122"/>
                <a:cs typeface="Courier New" pitchFamily="34" charset="-120"/>
              </a:rPr>
              <a:t>query.sql</a:t>
            </a:r>
            <a:endParaRPr lang="en-US" sz="1000" dirty="0"/>
          </a:p>
        </p:txBody>
      </p:sp>
      <p:sp>
        <p:nvSpPr>
          <p:cNvPr id="22" name="Text 20"/>
          <p:cNvSpPr/>
          <p:nvPr/>
        </p:nvSpPr>
        <p:spPr>
          <a:xfrm>
            <a:off x="5897880" y="2487168"/>
            <a:ext cx="5577840" cy="1935480"/>
          </a:xfrm>
          <a:prstGeom prst="rect">
            <a:avLst/>
          </a:prstGeom>
          <a:noFill/>
          <a:ln/>
        </p:spPr>
        <p:txBody>
          <a:bodyPr wrap="square" lIns="0" tIns="0" rIns="0" bIns="0" rtlCol="0" anchor="t"/>
          <a:lstStyle/>
          <a:p>
            <a:pPr marL="0" indent="0">
              <a:lnSpc>
                <a:spcPct val="120000"/>
              </a:lnSpc>
              <a:buNone/>
            </a:pPr>
            <a:r>
              <a:rPr lang="en-US" sz="1200" dirty="0">
                <a:solidFill>
                  <a:srgbClr val="D4D4E0"/>
                </a:solidFill>
                <a:latin typeface="Courier New" pitchFamily="34" charset="0"/>
                <a:ea typeface="Courier New" pitchFamily="34" charset="-122"/>
                <a:cs typeface="Courier New" pitchFamily="34" charset="-120"/>
              </a:rPr>
              <a:t>SELECT salary FROM (</a:t>
            </a:r>
            <a:endParaRPr lang="en-US" sz="1200" dirty="0"/>
          </a:p>
          <a:p>
            <a:pPr marL="0" indent="0">
              <a:lnSpc>
                <a:spcPct val="120000"/>
              </a:lnSpc>
              <a:buNone/>
            </a:pPr>
            <a:r>
              <a:rPr lang="en-US" sz="1200" dirty="0">
                <a:solidFill>
                  <a:srgbClr val="D4D4E0"/>
                </a:solidFill>
                <a:latin typeface="Courier New" pitchFamily="34" charset="0"/>
                <a:ea typeface="Courier New" pitchFamily="34" charset="-122"/>
                <a:cs typeface="Courier New" pitchFamily="34" charset="-120"/>
              </a:rPr>
              <a:t>  SELECT salary,</a:t>
            </a:r>
            <a:endParaRPr lang="en-US" sz="1200" dirty="0"/>
          </a:p>
          <a:p>
            <a:pPr marL="0" indent="0">
              <a:lnSpc>
                <a:spcPct val="120000"/>
              </a:lnSpc>
              <a:buNone/>
            </a:pPr>
            <a:r>
              <a:rPr lang="en-US" sz="1200" dirty="0">
                <a:solidFill>
                  <a:srgbClr val="D4D4E0"/>
                </a:solidFill>
                <a:latin typeface="Courier New" pitchFamily="34" charset="0"/>
                <a:ea typeface="Courier New" pitchFamily="34" charset="-122"/>
                <a:cs typeface="Courier New" pitchFamily="34" charset="-120"/>
              </a:rPr>
              <a:t>    DENSE_RANK() OVER (</a:t>
            </a:r>
            <a:endParaRPr lang="en-US" sz="1200" dirty="0"/>
          </a:p>
          <a:p>
            <a:pPr marL="0" indent="0">
              <a:lnSpc>
                <a:spcPct val="120000"/>
              </a:lnSpc>
              <a:buNone/>
            </a:pPr>
            <a:r>
              <a:rPr lang="en-US" sz="1200" dirty="0">
                <a:solidFill>
                  <a:srgbClr val="D4D4E0"/>
                </a:solidFill>
                <a:latin typeface="Courier New" pitchFamily="34" charset="0"/>
                <a:ea typeface="Courier New" pitchFamily="34" charset="-122"/>
                <a:cs typeface="Courier New" pitchFamily="34" charset="-120"/>
              </a:rPr>
              <a:t>      ORDER BY salary DESC</a:t>
            </a:r>
            <a:endParaRPr lang="en-US" sz="1200" dirty="0"/>
          </a:p>
          <a:p>
            <a:pPr marL="0" indent="0">
              <a:lnSpc>
                <a:spcPct val="120000"/>
              </a:lnSpc>
              <a:buNone/>
            </a:pPr>
            <a:r>
              <a:rPr lang="en-US" sz="1200" dirty="0">
                <a:solidFill>
                  <a:srgbClr val="D4D4E0"/>
                </a:solidFill>
                <a:latin typeface="Courier New" pitchFamily="34" charset="0"/>
                <a:ea typeface="Courier New" pitchFamily="34" charset="-122"/>
                <a:cs typeface="Courier New" pitchFamily="34" charset="-120"/>
              </a:rPr>
              <a:t>    ) AS rnk</a:t>
            </a:r>
            <a:endParaRPr lang="en-US" sz="1200" dirty="0"/>
          </a:p>
          <a:p>
            <a:pPr marL="0" indent="0">
              <a:lnSpc>
                <a:spcPct val="120000"/>
              </a:lnSpc>
              <a:buNone/>
            </a:pPr>
            <a:r>
              <a:rPr lang="en-US" sz="1200" dirty="0">
                <a:solidFill>
                  <a:srgbClr val="D4D4E0"/>
                </a:solidFill>
                <a:latin typeface="Courier New" pitchFamily="34" charset="0"/>
                <a:ea typeface="Courier New" pitchFamily="34" charset="-122"/>
                <a:cs typeface="Courier New" pitchFamily="34" charset="-120"/>
              </a:rPr>
              <a:t>  FROM employees</a:t>
            </a:r>
            <a:endParaRPr lang="en-US" sz="1200" dirty="0"/>
          </a:p>
          <a:p>
            <a:pPr marL="0" indent="0">
              <a:lnSpc>
                <a:spcPct val="120000"/>
              </a:lnSpc>
              <a:buNone/>
            </a:pPr>
            <a:r>
              <a:rPr lang="en-US" sz="1200" dirty="0">
                <a:solidFill>
                  <a:srgbClr val="D4D4E0"/>
                </a:solidFill>
                <a:latin typeface="Courier New" pitchFamily="34" charset="0"/>
                <a:ea typeface="Courier New" pitchFamily="34" charset="-122"/>
                <a:cs typeface="Courier New" pitchFamily="34" charset="-120"/>
              </a:rPr>
              <a:t>) t</a:t>
            </a:r>
            <a:endParaRPr lang="en-US" sz="1200" dirty="0"/>
          </a:p>
          <a:p>
            <a:pPr marL="0" indent="0">
              <a:lnSpc>
                <a:spcPct val="120000"/>
              </a:lnSpc>
              <a:buNone/>
            </a:pPr>
            <a:r>
              <a:rPr lang="en-US" sz="1200" dirty="0">
                <a:solidFill>
                  <a:srgbClr val="D4D4E0"/>
                </a:solidFill>
                <a:latin typeface="Courier New" pitchFamily="34" charset="0"/>
                <a:ea typeface="Courier New" pitchFamily="34" charset="-122"/>
                <a:cs typeface="Courier New" pitchFamily="34" charset="-120"/>
              </a:rPr>
              <a:t>WHERE rnk = 2;  -- change 2 to N</a:t>
            </a:r>
            <a:endParaRPr lang="en-US" sz="1200" dirty="0"/>
          </a:p>
        </p:txBody>
      </p:sp>
      <p:sp>
        <p:nvSpPr>
          <p:cNvPr id="23" name="Shape 21"/>
          <p:cNvSpPr/>
          <p:nvPr/>
        </p:nvSpPr>
        <p:spPr>
          <a:xfrm>
            <a:off x="5669280" y="4678680"/>
            <a:ext cx="164592" cy="274320"/>
          </a:xfrm>
          <a:prstGeom prst="roundRect">
            <a:avLst>
              <a:gd name="adj" fmla="val 22222"/>
            </a:avLst>
          </a:prstGeom>
          <a:solidFill>
            <a:srgbClr val="3FBFAE"/>
          </a:solidFill>
          <a:ln/>
        </p:spPr>
      </p:sp>
      <p:sp>
        <p:nvSpPr>
          <p:cNvPr id="24" name="Text 22"/>
          <p:cNvSpPr/>
          <p:nvPr/>
        </p:nvSpPr>
        <p:spPr>
          <a:xfrm>
            <a:off x="5925312" y="4651248"/>
            <a:ext cx="5779008" cy="329184"/>
          </a:xfrm>
          <a:prstGeom prst="rect">
            <a:avLst/>
          </a:prstGeom>
          <a:noFill/>
          <a:ln/>
        </p:spPr>
        <p:txBody>
          <a:bodyPr wrap="square" rtlCol="0" anchor="ctr"/>
          <a:lstStyle/>
          <a:p>
            <a:pPr marL="0" indent="0">
              <a:buNone/>
            </a:pPr>
            <a:r>
              <a:rPr lang="en-US" sz="1300" b="1" kern="0" spc="50" dirty="0">
                <a:solidFill>
                  <a:srgbClr val="1B2340"/>
                </a:solidFill>
                <a:latin typeface="Calibri" pitchFamily="34" charset="0"/>
                <a:ea typeface="Calibri" pitchFamily="34" charset="-122"/>
                <a:cs typeface="Calibri" pitchFamily="34" charset="-120"/>
              </a:rPr>
              <a:t>EXPLANATION</a:t>
            </a:r>
            <a:endParaRPr lang="en-US" sz="1300" dirty="0"/>
          </a:p>
        </p:txBody>
      </p:sp>
      <p:sp>
        <p:nvSpPr>
          <p:cNvPr id="25" name="Text 23"/>
          <p:cNvSpPr/>
          <p:nvPr/>
        </p:nvSpPr>
        <p:spPr>
          <a:xfrm>
            <a:off x="5669280" y="5007864"/>
            <a:ext cx="6035040" cy="1392936"/>
          </a:xfrm>
          <a:prstGeom prst="rect">
            <a:avLst/>
          </a:prstGeom>
          <a:noFill/>
          <a:ln/>
        </p:spPr>
        <p:txBody>
          <a:bodyPr wrap="square" lIns="0" tIns="0" rIns="0" bIns="0" rtlCol="0" anchor="t"/>
          <a:lstStyle/>
          <a:p>
            <a:pPr marL="177800" indent="-177800">
              <a:spcAft>
                <a:spcPts val="600"/>
              </a:spcAft>
              <a:buSzPct val="100000"/>
              <a:buChar char="•"/>
            </a:pPr>
            <a:r>
              <a:rPr lang="en-US" sz="1200" dirty="0">
                <a:solidFill>
                  <a:srgbClr val="1B2340"/>
                </a:solidFill>
                <a:latin typeface="Calibri" pitchFamily="34" charset="0"/>
                <a:ea typeface="Calibri" pitchFamily="34" charset="-122"/>
                <a:cs typeface="Calibri" pitchFamily="34" charset="-120"/>
              </a:rPr>
              <a:t>The subquery approach finds distinct salaries, sorts descending, and skips the top (N-1)</a:t>
            </a:r>
            <a:endParaRPr lang="en-US" sz="1200" dirty="0"/>
          </a:p>
          <a:p>
            <a:pPr marL="177800" indent="-177800">
              <a:spcAft>
                <a:spcPts val="600"/>
              </a:spcAft>
              <a:buSzPct val="100000"/>
              <a:buChar char="•"/>
            </a:pPr>
            <a:r>
              <a:rPr lang="en-US" sz="1200" dirty="0">
                <a:solidFill>
                  <a:srgbClr val="1B2340"/>
                </a:solidFill>
                <a:latin typeface="Calibri" pitchFamily="34" charset="0"/>
                <a:ea typeface="Calibri" pitchFamily="34" charset="-122"/>
                <a:cs typeface="Calibri" pitchFamily="34" charset="-120"/>
              </a:rPr>
              <a:t>DENSE_RANK() assigns the same rank to duplicate salaries, avoiding skipped ranks</a:t>
            </a:r>
            <a:endParaRPr lang="en-US" sz="1200" dirty="0"/>
          </a:p>
          <a:p>
            <a:pPr marL="177800" indent="-177800">
              <a:spcAft>
                <a:spcPts val="600"/>
              </a:spcAft>
              <a:buSzPct val="100000"/>
              <a:buChar char="•"/>
            </a:pPr>
            <a:r>
              <a:rPr lang="en-US" sz="1200" dirty="0">
                <a:solidFill>
                  <a:srgbClr val="1B2340"/>
                </a:solidFill>
                <a:latin typeface="Calibri" pitchFamily="34" charset="0"/>
                <a:ea typeface="Calibri" pitchFamily="34" charset="-122"/>
                <a:cs typeface="Calibri" pitchFamily="34" charset="-120"/>
              </a:rPr>
              <a:t>For example, finding the 2nd highest salary means skipping rank 1 and picking rank 2</a:t>
            </a:r>
            <a:endParaRPr lang="en-US" sz="1200" dirty="0"/>
          </a:p>
          <a:p>
            <a:pPr marL="177800" indent="-177800">
              <a:spcAft>
                <a:spcPts val="600"/>
              </a:spcAft>
              <a:buSzPct val="100000"/>
              <a:buChar char="•"/>
            </a:pPr>
            <a:r>
              <a:rPr lang="en-US" sz="1200" dirty="0">
                <a:solidFill>
                  <a:srgbClr val="1B2340"/>
                </a:solidFill>
                <a:latin typeface="Calibri" pitchFamily="34" charset="0"/>
                <a:ea typeface="Calibri" pitchFamily="34" charset="-122"/>
                <a:cs typeface="Calibri" pitchFamily="34" charset="-120"/>
              </a:rPr>
              <a:t>This is one of the most frequently asked SQL interview questions</a:t>
            </a:r>
            <a:endParaRPr lang="en-US" sz="1200" dirty="0"/>
          </a:p>
        </p:txBody>
      </p:sp>
      <p:sp>
        <p:nvSpPr>
          <p:cNvPr id="26" name="Text 24"/>
          <p:cNvSpPr/>
          <p:nvPr/>
        </p:nvSpPr>
        <p:spPr>
          <a:xfrm>
            <a:off x="457200" y="6583680"/>
            <a:ext cx="5486400" cy="228600"/>
          </a:xfrm>
          <a:prstGeom prst="rect">
            <a:avLst/>
          </a:prstGeom>
          <a:noFill/>
          <a:ln/>
        </p:spPr>
        <p:txBody>
          <a:bodyPr wrap="square" rtlCol="0" anchor="ctr"/>
          <a:lstStyle/>
          <a:p>
            <a:pPr marL="0" indent="0" algn="l">
              <a:buNone/>
            </a:pPr>
            <a:r>
              <a:rPr lang="en-US" sz="850" dirty="0">
                <a:solidFill>
                  <a:srgbClr val="5B6178"/>
                </a:solidFill>
                <a:latin typeface="Calibri" pitchFamily="34" charset="0"/>
                <a:ea typeface="Calibri" pitchFamily="34" charset="-122"/>
                <a:cs typeface="Calibri" pitchFamily="34" charset="-120"/>
              </a:rPr>
              <a:t>Java &amp; Full-Stack Interview Prep</a:t>
            </a:r>
            <a:endParaRPr lang="en-US" sz="85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Shape 0"/>
          <p:cNvSpPr/>
          <p:nvPr/>
        </p:nvSpPr>
        <p:spPr>
          <a:xfrm>
            <a:off x="502920" y="384048"/>
            <a:ext cx="3474720" cy="310896"/>
          </a:xfrm>
          <a:prstGeom prst="roundRect">
            <a:avLst>
              <a:gd name="adj" fmla="val 23529"/>
            </a:avLst>
          </a:prstGeom>
          <a:solidFill>
            <a:srgbClr val="E8A33D"/>
          </a:solidFill>
          <a:ln/>
        </p:spPr>
      </p:sp>
      <p:sp>
        <p:nvSpPr>
          <p:cNvPr id="3" name="Text 1"/>
          <p:cNvSpPr/>
          <p:nvPr/>
        </p:nvSpPr>
        <p:spPr>
          <a:xfrm>
            <a:off x="502920" y="384048"/>
            <a:ext cx="3474720" cy="310896"/>
          </a:xfrm>
          <a:prstGeom prst="rect">
            <a:avLst/>
          </a:prstGeom>
          <a:noFill/>
          <a:ln/>
        </p:spPr>
        <p:txBody>
          <a:bodyPr wrap="square" rtlCol="0" anchor="ctr"/>
          <a:lstStyle/>
          <a:p>
            <a:pPr marL="0" indent="0" algn="ctr">
              <a:buNone/>
            </a:pPr>
            <a:r>
              <a:rPr lang="en-US" sz="1100" b="1" kern="0" spc="100" dirty="0">
                <a:solidFill>
                  <a:srgbClr val="1B2340"/>
                </a:solidFill>
                <a:latin typeface="Calibri" pitchFamily="34" charset="0"/>
                <a:ea typeface="Calibri" pitchFamily="34" charset="-122"/>
                <a:cs typeface="Calibri" pitchFamily="34" charset="-120"/>
              </a:rPr>
              <a:t>SQL &amp; DATABASES</a:t>
            </a:r>
            <a:endParaRPr lang="en-US" sz="1100" dirty="0"/>
          </a:p>
        </p:txBody>
      </p:sp>
      <p:sp>
        <p:nvSpPr>
          <p:cNvPr id="4" name="Text 2"/>
          <p:cNvSpPr/>
          <p:nvPr/>
        </p:nvSpPr>
        <p:spPr>
          <a:xfrm>
            <a:off x="502920" y="786384"/>
            <a:ext cx="11155680" cy="868680"/>
          </a:xfrm>
          <a:prstGeom prst="rect">
            <a:avLst/>
          </a:prstGeom>
          <a:noFill/>
          <a:ln/>
        </p:spPr>
        <p:txBody>
          <a:bodyPr wrap="square" rtlCol="0" anchor="t"/>
          <a:lstStyle/>
          <a:p>
            <a:pPr marL="0" indent="0">
              <a:lnSpc>
                <a:spcPct val="102000"/>
              </a:lnSpc>
              <a:buNone/>
            </a:pPr>
            <a:r>
              <a:rPr lang="en-US" sz="2500" b="1" dirty="0">
                <a:solidFill>
                  <a:srgbClr val="1B2340"/>
                </a:solidFill>
                <a:latin typeface="Century Schoolbook" pitchFamily="34" charset="0"/>
                <a:ea typeface="Century Schoolbook" pitchFamily="34" charset="-122"/>
                <a:cs typeface="Century Schoolbook" pitchFamily="34" charset="-120"/>
              </a:rPr>
              <a:t>Difference between GROUP BY and ORDER BY.</a:t>
            </a:r>
            <a:endParaRPr lang="en-US" sz="2500" dirty="0"/>
          </a:p>
        </p:txBody>
      </p:sp>
      <p:sp>
        <p:nvSpPr>
          <p:cNvPr id="5" name="Shape 3"/>
          <p:cNvSpPr/>
          <p:nvPr/>
        </p:nvSpPr>
        <p:spPr>
          <a:xfrm>
            <a:off x="502920" y="1810512"/>
            <a:ext cx="164592" cy="274320"/>
          </a:xfrm>
          <a:prstGeom prst="roundRect">
            <a:avLst>
              <a:gd name="adj" fmla="val 22222"/>
            </a:avLst>
          </a:prstGeom>
          <a:solidFill>
            <a:srgbClr val="E8A33D"/>
          </a:solidFill>
          <a:ln/>
        </p:spPr>
      </p:sp>
      <p:sp>
        <p:nvSpPr>
          <p:cNvPr id="6" name="Text 4"/>
          <p:cNvSpPr/>
          <p:nvPr/>
        </p:nvSpPr>
        <p:spPr>
          <a:xfrm>
            <a:off x="758952" y="1783080"/>
            <a:ext cx="4681728" cy="329184"/>
          </a:xfrm>
          <a:prstGeom prst="rect">
            <a:avLst/>
          </a:prstGeom>
          <a:noFill/>
          <a:ln/>
        </p:spPr>
        <p:txBody>
          <a:bodyPr wrap="square" rtlCol="0" anchor="ctr"/>
          <a:lstStyle/>
          <a:p>
            <a:pPr marL="0" indent="0">
              <a:buNone/>
            </a:pPr>
            <a:r>
              <a:rPr lang="en-US" sz="1300" b="1" kern="0" spc="50" dirty="0">
                <a:solidFill>
                  <a:srgbClr val="1B2340"/>
                </a:solidFill>
                <a:latin typeface="Calibri" pitchFamily="34" charset="0"/>
                <a:ea typeface="Calibri" pitchFamily="34" charset="-122"/>
                <a:cs typeface="Calibri" pitchFamily="34" charset="-120"/>
              </a:rPr>
              <a:t>DEFINITION / CONCEPT</a:t>
            </a:r>
            <a:endParaRPr lang="en-US" sz="1300" dirty="0"/>
          </a:p>
        </p:txBody>
      </p:sp>
      <p:sp>
        <p:nvSpPr>
          <p:cNvPr id="7" name="Shape 5"/>
          <p:cNvSpPr/>
          <p:nvPr/>
        </p:nvSpPr>
        <p:spPr>
          <a:xfrm>
            <a:off x="502920" y="2121408"/>
            <a:ext cx="4937760" cy="1234440"/>
          </a:xfrm>
          <a:prstGeom prst="roundRect">
            <a:avLst>
              <a:gd name="adj" fmla="val 5926"/>
            </a:avLst>
          </a:prstGeom>
          <a:solidFill>
            <a:srgbClr val="F7F7FA"/>
          </a:solidFill>
          <a:ln w="12700">
            <a:solidFill>
              <a:srgbClr val="E4E6EF"/>
            </a:solidFill>
            <a:prstDash val="solid"/>
          </a:ln>
        </p:spPr>
      </p:sp>
      <p:sp>
        <p:nvSpPr>
          <p:cNvPr id="8" name="Text 6"/>
          <p:cNvSpPr/>
          <p:nvPr/>
        </p:nvSpPr>
        <p:spPr>
          <a:xfrm>
            <a:off x="758952" y="2304288"/>
            <a:ext cx="4425696" cy="868680"/>
          </a:xfrm>
          <a:prstGeom prst="rect">
            <a:avLst/>
          </a:prstGeom>
          <a:noFill/>
          <a:ln/>
        </p:spPr>
        <p:txBody>
          <a:bodyPr wrap="square" lIns="0" tIns="0" rIns="0" bIns="0" rtlCol="0" anchor="t"/>
          <a:lstStyle/>
          <a:p>
            <a:pPr marL="0" indent="0">
              <a:lnSpc>
                <a:spcPct val="115000"/>
              </a:lnSpc>
              <a:buNone/>
            </a:pPr>
            <a:r>
              <a:rPr lang="en-US" sz="1450" dirty="0">
                <a:solidFill>
                  <a:srgbClr val="1B2340"/>
                </a:solidFill>
                <a:latin typeface="Calibri" pitchFamily="34" charset="0"/>
                <a:ea typeface="Calibri" pitchFamily="34" charset="-122"/>
                <a:cs typeface="Calibri" pitchFamily="34" charset="-120"/>
              </a:rPr>
              <a:t>Both clauses organize query results, but they serve completely different purposes.</a:t>
            </a:r>
            <a:endParaRPr lang="en-US" sz="1450" dirty="0"/>
          </a:p>
        </p:txBody>
      </p:sp>
      <p:sp>
        <p:nvSpPr>
          <p:cNvPr id="9" name="Shape 7"/>
          <p:cNvSpPr/>
          <p:nvPr/>
        </p:nvSpPr>
        <p:spPr>
          <a:xfrm>
            <a:off x="502920" y="3493008"/>
            <a:ext cx="4937760" cy="1554480"/>
          </a:xfrm>
          <a:prstGeom prst="roundRect">
            <a:avLst>
              <a:gd name="adj" fmla="val 4706"/>
            </a:avLst>
          </a:prstGeom>
          <a:solidFill>
            <a:srgbClr val="FDF3E3"/>
          </a:solidFill>
          <a:ln/>
        </p:spPr>
      </p:sp>
      <p:sp>
        <p:nvSpPr>
          <p:cNvPr id="10" name="Text 8"/>
          <p:cNvSpPr/>
          <p:nvPr/>
        </p:nvSpPr>
        <p:spPr>
          <a:xfrm>
            <a:off x="704088" y="3602736"/>
            <a:ext cx="4535424" cy="274320"/>
          </a:xfrm>
          <a:prstGeom prst="rect">
            <a:avLst/>
          </a:prstGeom>
          <a:noFill/>
          <a:ln/>
        </p:spPr>
        <p:txBody>
          <a:bodyPr wrap="square" rtlCol="0" anchor="ctr"/>
          <a:lstStyle/>
          <a:p>
            <a:pPr marL="0" indent="0">
              <a:buNone/>
            </a:pPr>
            <a:r>
              <a:rPr lang="en-US" sz="1100" b="1" kern="0" spc="50" dirty="0">
                <a:solidFill>
                  <a:srgbClr val="C9862A"/>
                </a:solidFill>
                <a:latin typeface="Calibri" pitchFamily="34" charset="0"/>
                <a:ea typeface="Calibri" pitchFamily="34" charset="-122"/>
                <a:cs typeface="Calibri" pitchFamily="34" charset="-120"/>
              </a:rPr>
              <a:t>💡 REAL-LIFE ANALOGY</a:t>
            </a:r>
            <a:endParaRPr lang="en-US" sz="1100" dirty="0"/>
          </a:p>
        </p:txBody>
      </p:sp>
      <p:sp>
        <p:nvSpPr>
          <p:cNvPr id="11" name="Text 9"/>
          <p:cNvSpPr/>
          <p:nvPr/>
        </p:nvSpPr>
        <p:spPr>
          <a:xfrm>
            <a:off x="704088" y="3895344"/>
            <a:ext cx="4535424" cy="1024128"/>
          </a:xfrm>
          <a:prstGeom prst="rect">
            <a:avLst/>
          </a:prstGeom>
          <a:noFill/>
          <a:ln/>
        </p:spPr>
        <p:txBody>
          <a:bodyPr wrap="square" lIns="0" tIns="0" rIns="0" bIns="0" rtlCol="0" anchor="t"/>
          <a:lstStyle/>
          <a:p>
            <a:pPr marL="0" indent="0">
              <a:lnSpc>
                <a:spcPct val="110000"/>
              </a:lnSpc>
              <a:buNone/>
            </a:pPr>
            <a:r>
              <a:rPr lang="en-US" sz="1250" i="1" dirty="0">
                <a:solidFill>
                  <a:srgbClr val="1B2340"/>
                </a:solidFill>
                <a:latin typeface="Calibri" pitchFamily="34" charset="0"/>
                <a:ea typeface="Calibri" pitchFamily="34" charset="-122"/>
                <a:cs typeface="Calibri" pitchFamily="34" charset="-120"/>
              </a:rPr>
              <a:t>GROUP BY is like sorting students into different classrooms by grade level. ORDER BY is like lining up students within one classroom from tallest to shortest.</a:t>
            </a:r>
            <a:endParaRPr lang="en-US" sz="1250" dirty="0"/>
          </a:p>
        </p:txBody>
      </p:sp>
      <p:sp>
        <p:nvSpPr>
          <p:cNvPr id="12" name="Shape 10"/>
          <p:cNvSpPr/>
          <p:nvPr/>
        </p:nvSpPr>
        <p:spPr>
          <a:xfrm>
            <a:off x="502920" y="5193792"/>
            <a:ext cx="4937760" cy="1051560"/>
          </a:xfrm>
          <a:prstGeom prst="roundRect">
            <a:avLst>
              <a:gd name="adj" fmla="val 6957"/>
            </a:avLst>
          </a:prstGeom>
          <a:solidFill>
            <a:srgbClr val="1B2340"/>
          </a:solidFill>
          <a:ln/>
        </p:spPr>
      </p:sp>
      <p:sp>
        <p:nvSpPr>
          <p:cNvPr id="13" name="Text 11"/>
          <p:cNvSpPr/>
          <p:nvPr/>
        </p:nvSpPr>
        <p:spPr>
          <a:xfrm>
            <a:off x="731520" y="5285232"/>
            <a:ext cx="4480560" cy="256032"/>
          </a:xfrm>
          <a:prstGeom prst="rect">
            <a:avLst/>
          </a:prstGeom>
          <a:noFill/>
          <a:ln/>
        </p:spPr>
        <p:txBody>
          <a:bodyPr wrap="square" rtlCol="0" anchor="ctr"/>
          <a:lstStyle/>
          <a:p>
            <a:pPr marL="0" indent="0">
              <a:buNone/>
            </a:pPr>
            <a:r>
              <a:rPr lang="en-US" sz="1050" b="1" kern="0" spc="80" dirty="0">
                <a:solidFill>
                  <a:srgbClr val="E8A33D"/>
                </a:solidFill>
                <a:latin typeface="Calibri" pitchFamily="34" charset="0"/>
                <a:ea typeface="Calibri" pitchFamily="34" charset="-122"/>
                <a:cs typeface="Calibri" pitchFamily="34" charset="-120"/>
              </a:rPr>
              <a:t>ONE-LINE INTERVIEW ANSWER</a:t>
            </a:r>
            <a:endParaRPr lang="en-US" sz="1050" dirty="0"/>
          </a:p>
        </p:txBody>
      </p:sp>
      <p:sp>
        <p:nvSpPr>
          <p:cNvPr id="14" name="Text 12"/>
          <p:cNvSpPr/>
          <p:nvPr/>
        </p:nvSpPr>
        <p:spPr>
          <a:xfrm>
            <a:off x="731520" y="5541264"/>
            <a:ext cx="4480560" cy="594360"/>
          </a:xfrm>
          <a:prstGeom prst="rect">
            <a:avLst/>
          </a:prstGeom>
          <a:noFill/>
          <a:ln/>
        </p:spPr>
        <p:txBody>
          <a:bodyPr wrap="square" lIns="0" tIns="0" rIns="0" bIns="0" rtlCol="0" anchor="t"/>
          <a:lstStyle/>
          <a:p>
            <a:pPr marL="0" indent="0">
              <a:lnSpc>
                <a:spcPct val="105000"/>
              </a:lnSpc>
              <a:buNone/>
            </a:pPr>
            <a:r>
              <a:rPr lang="en-US" sz="1250" dirty="0">
                <a:solidFill>
                  <a:srgbClr val="FFFFFF"/>
                </a:solidFill>
                <a:latin typeface="Calibri" pitchFamily="34" charset="0"/>
                <a:ea typeface="Calibri" pitchFamily="34" charset="-122"/>
                <a:cs typeface="Calibri" pitchFamily="34" charset="-120"/>
              </a:rPr>
              <a:t>GROUP BY aggregates rows into summarized groups, while ORDER BY simply sorts the final result set.</a:t>
            </a:r>
            <a:endParaRPr lang="en-US" sz="1250" dirty="0"/>
          </a:p>
        </p:txBody>
      </p:sp>
      <p:sp>
        <p:nvSpPr>
          <p:cNvPr id="15" name="Shape 13"/>
          <p:cNvSpPr/>
          <p:nvPr/>
        </p:nvSpPr>
        <p:spPr>
          <a:xfrm>
            <a:off x="5669280" y="1810512"/>
            <a:ext cx="164592" cy="274320"/>
          </a:xfrm>
          <a:prstGeom prst="roundRect">
            <a:avLst>
              <a:gd name="adj" fmla="val 22222"/>
            </a:avLst>
          </a:prstGeom>
          <a:solidFill>
            <a:srgbClr val="3FBFAE"/>
          </a:solidFill>
          <a:ln/>
        </p:spPr>
      </p:sp>
      <p:sp>
        <p:nvSpPr>
          <p:cNvPr id="16" name="Text 14"/>
          <p:cNvSpPr/>
          <p:nvPr/>
        </p:nvSpPr>
        <p:spPr>
          <a:xfrm>
            <a:off x="5925312" y="1783080"/>
            <a:ext cx="5779008" cy="329184"/>
          </a:xfrm>
          <a:prstGeom prst="rect">
            <a:avLst/>
          </a:prstGeom>
          <a:noFill/>
          <a:ln/>
        </p:spPr>
        <p:txBody>
          <a:bodyPr wrap="square" rtlCol="0" anchor="ctr"/>
          <a:lstStyle/>
          <a:p>
            <a:pPr marL="0" indent="0">
              <a:buNone/>
            </a:pPr>
            <a:r>
              <a:rPr lang="en-US" sz="1300" b="1" kern="0" spc="50" dirty="0">
                <a:solidFill>
                  <a:srgbClr val="1B2340"/>
                </a:solidFill>
                <a:latin typeface="Calibri" pitchFamily="34" charset="0"/>
                <a:ea typeface="Calibri" pitchFamily="34" charset="-122"/>
                <a:cs typeface="Calibri" pitchFamily="34" charset="-120"/>
              </a:rPr>
              <a:t>EXAMPLE</a:t>
            </a:r>
            <a:endParaRPr lang="en-US" sz="1300" dirty="0"/>
          </a:p>
        </p:txBody>
      </p:sp>
      <p:sp>
        <p:nvSpPr>
          <p:cNvPr id="17" name="Shape 15"/>
          <p:cNvSpPr/>
          <p:nvPr/>
        </p:nvSpPr>
        <p:spPr>
          <a:xfrm>
            <a:off x="5669280" y="2121408"/>
            <a:ext cx="6035040" cy="1447800"/>
          </a:xfrm>
          <a:prstGeom prst="roundRect">
            <a:avLst>
              <a:gd name="adj" fmla="val 5053"/>
            </a:avLst>
          </a:prstGeom>
          <a:solidFill>
            <a:srgbClr val="1E1E2E"/>
          </a:solidFill>
          <a:ln/>
        </p:spPr>
      </p:sp>
      <p:sp>
        <p:nvSpPr>
          <p:cNvPr id="18" name="Shape 16"/>
          <p:cNvSpPr/>
          <p:nvPr/>
        </p:nvSpPr>
        <p:spPr>
          <a:xfrm>
            <a:off x="5806440" y="2249424"/>
            <a:ext cx="100584" cy="100584"/>
          </a:xfrm>
          <a:prstGeom prst="ellipse">
            <a:avLst/>
          </a:prstGeom>
          <a:solidFill>
            <a:srgbClr val="FF5F56"/>
          </a:solidFill>
          <a:ln/>
        </p:spPr>
      </p:sp>
      <p:sp>
        <p:nvSpPr>
          <p:cNvPr id="19" name="Shape 17"/>
          <p:cNvSpPr/>
          <p:nvPr/>
        </p:nvSpPr>
        <p:spPr>
          <a:xfrm>
            <a:off x="5961888" y="2249424"/>
            <a:ext cx="100584" cy="100584"/>
          </a:xfrm>
          <a:prstGeom prst="ellipse">
            <a:avLst/>
          </a:prstGeom>
          <a:solidFill>
            <a:srgbClr val="FFBD2E"/>
          </a:solidFill>
          <a:ln/>
        </p:spPr>
      </p:sp>
      <p:sp>
        <p:nvSpPr>
          <p:cNvPr id="20" name="Shape 18"/>
          <p:cNvSpPr/>
          <p:nvPr/>
        </p:nvSpPr>
        <p:spPr>
          <a:xfrm>
            <a:off x="6117336" y="2249424"/>
            <a:ext cx="100584" cy="100584"/>
          </a:xfrm>
          <a:prstGeom prst="ellipse">
            <a:avLst/>
          </a:prstGeom>
          <a:solidFill>
            <a:srgbClr val="27C93F"/>
          </a:solidFill>
          <a:ln/>
        </p:spPr>
      </p:sp>
      <p:sp>
        <p:nvSpPr>
          <p:cNvPr id="21" name="Text 19"/>
          <p:cNvSpPr/>
          <p:nvPr/>
        </p:nvSpPr>
        <p:spPr>
          <a:xfrm>
            <a:off x="6309360" y="2167128"/>
            <a:ext cx="5120640" cy="274320"/>
          </a:xfrm>
          <a:prstGeom prst="rect">
            <a:avLst/>
          </a:prstGeom>
          <a:noFill/>
          <a:ln/>
        </p:spPr>
        <p:txBody>
          <a:bodyPr wrap="square" rtlCol="0" anchor="ctr"/>
          <a:lstStyle/>
          <a:p>
            <a:pPr marL="0" indent="0" algn="r">
              <a:buNone/>
            </a:pPr>
            <a:r>
              <a:rPr lang="en-US" sz="1000" dirty="0">
                <a:solidFill>
                  <a:srgbClr val="8A90AC"/>
                </a:solidFill>
                <a:latin typeface="Courier New" pitchFamily="34" charset="0"/>
                <a:ea typeface="Courier New" pitchFamily="34" charset="-122"/>
                <a:cs typeface="Courier New" pitchFamily="34" charset="-120"/>
              </a:rPr>
              <a:t>query.sql</a:t>
            </a:r>
            <a:endParaRPr lang="en-US" sz="1000" dirty="0"/>
          </a:p>
        </p:txBody>
      </p:sp>
      <p:sp>
        <p:nvSpPr>
          <p:cNvPr id="22" name="Text 20"/>
          <p:cNvSpPr/>
          <p:nvPr/>
        </p:nvSpPr>
        <p:spPr>
          <a:xfrm>
            <a:off x="5897880" y="2487168"/>
            <a:ext cx="5577840" cy="990600"/>
          </a:xfrm>
          <a:prstGeom prst="rect">
            <a:avLst/>
          </a:prstGeom>
          <a:noFill/>
          <a:ln/>
        </p:spPr>
        <p:txBody>
          <a:bodyPr wrap="square" lIns="0" tIns="0" rIns="0" bIns="0" rtlCol="0" anchor="t"/>
          <a:lstStyle/>
          <a:p>
            <a:pPr marL="0" indent="0">
              <a:lnSpc>
                <a:spcPct val="120000"/>
              </a:lnSpc>
              <a:buNone/>
            </a:pPr>
            <a:r>
              <a:rPr lang="en-US" sz="1200" dirty="0">
                <a:solidFill>
                  <a:srgbClr val="D4D4E0"/>
                </a:solidFill>
                <a:latin typeface="Courier New" pitchFamily="34" charset="0"/>
                <a:ea typeface="Courier New" pitchFamily="34" charset="-122"/>
                <a:cs typeface="Courier New" pitchFamily="34" charset="-120"/>
              </a:rPr>
              <a:t>SELECT department, AVG(salary) AS avg_salary</a:t>
            </a:r>
            <a:endParaRPr lang="en-US" sz="1200" dirty="0"/>
          </a:p>
          <a:p>
            <a:pPr marL="0" indent="0">
              <a:lnSpc>
                <a:spcPct val="120000"/>
              </a:lnSpc>
              <a:buNone/>
            </a:pPr>
            <a:r>
              <a:rPr lang="en-US" sz="1200" dirty="0">
                <a:solidFill>
                  <a:srgbClr val="D4D4E0"/>
                </a:solidFill>
                <a:latin typeface="Courier New" pitchFamily="34" charset="0"/>
                <a:ea typeface="Courier New" pitchFamily="34" charset="-122"/>
                <a:cs typeface="Courier New" pitchFamily="34" charset="-120"/>
              </a:rPr>
              <a:t>FROM employees</a:t>
            </a:r>
            <a:endParaRPr lang="en-US" sz="1200" dirty="0"/>
          </a:p>
          <a:p>
            <a:pPr marL="0" indent="0">
              <a:lnSpc>
                <a:spcPct val="120000"/>
              </a:lnSpc>
              <a:buNone/>
            </a:pPr>
            <a:r>
              <a:rPr lang="en-US" sz="1200" dirty="0">
                <a:solidFill>
                  <a:srgbClr val="D4D4E0"/>
                </a:solidFill>
                <a:latin typeface="Courier New" pitchFamily="34" charset="0"/>
                <a:ea typeface="Courier New" pitchFamily="34" charset="-122"/>
                <a:cs typeface="Courier New" pitchFamily="34" charset="-120"/>
              </a:rPr>
              <a:t>GROUP BY department</a:t>
            </a:r>
            <a:endParaRPr lang="en-US" sz="1200" dirty="0"/>
          </a:p>
          <a:p>
            <a:pPr marL="0" indent="0">
              <a:lnSpc>
                <a:spcPct val="120000"/>
              </a:lnSpc>
              <a:buNone/>
            </a:pPr>
            <a:r>
              <a:rPr lang="en-US" sz="1200" dirty="0">
                <a:solidFill>
                  <a:srgbClr val="D4D4E0"/>
                </a:solidFill>
                <a:latin typeface="Courier New" pitchFamily="34" charset="0"/>
                <a:ea typeface="Courier New" pitchFamily="34" charset="-122"/>
                <a:cs typeface="Courier New" pitchFamily="34" charset="-120"/>
              </a:rPr>
              <a:t>ORDER BY avg_salary DESC;</a:t>
            </a:r>
            <a:endParaRPr lang="en-US" sz="1200" dirty="0"/>
          </a:p>
        </p:txBody>
      </p:sp>
      <p:sp>
        <p:nvSpPr>
          <p:cNvPr id="23" name="Shape 21"/>
          <p:cNvSpPr/>
          <p:nvPr/>
        </p:nvSpPr>
        <p:spPr>
          <a:xfrm>
            <a:off x="5669280" y="3733800"/>
            <a:ext cx="164592" cy="274320"/>
          </a:xfrm>
          <a:prstGeom prst="roundRect">
            <a:avLst>
              <a:gd name="adj" fmla="val 22222"/>
            </a:avLst>
          </a:prstGeom>
          <a:solidFill>
            <a:srgbClr val="3FBFAE"/>
          </a:solidFill>
          <a:ln/>
        </p:spPr>
      </p:sp>
      <p:sp>
        <p:nvSpPr>
          <p:cNvPr id="24" name="Text 22"/>
          <p:cNvSpPr/>
          <p:nvPr/>
        </p:nvSpPr>
        <p:spPr>
          <a:xfrm>
            <a:off x="5925312" y="3706368"/>
            <a:ext cx="5779008" cy="329184"/>
          </a:xfrm>
          <a:prstGeom prst="rect">
            <a:avLst/>
          </a:prstGeom>
          <a:noFill/>
          <a:ln/>
        </p:spPr>
        <p:txBody>
          <a:bodyPr wrap="square" rtlCol="0" anchor="ctr"/>
          <a:lstStyle/>
          <a:p>
            <a:pPr marL="0" indent="0">
              <a:buNone/>
            </a:pPr>
            <a:r>
              <a:rPr lang="en-US" sz="1300" b="1" kern="0" spc="50" dirty="0">
                <a:solidFill>
                  <a:srgbClr val="1B2340"/>
                </a:solidFill>
                <a:latin typeface="Calibri" pitchFamily="34" charset="0"/>
                <a:ea typeface="Calibri" pitchFamily="34" charset="-122"/>
                <a:cs typeface="Calibri" pitchFamily="34" charset="-120"/>
              </a:rPr>
              <a:t>EXPLANATION</a:t>
            </a:r>
            <a:endParaRPr lang="en-US" sz="1300" dirty="0"/>
          </a:p>
        </p:txBody>
      </p:sp>
      <p:sp>
        <p:nvSpPr>
          <p:cNvPr id="25" name="Text 23"/>
          <p:cNvSpPr/>
          <p:nvPr/>
        </p:nvSpPr>
        <p:spPr>
          <a:xfrm>
            <a:off x="5669280" y="4062984"/>
            <a:ext cx="6035040" cy="2337816"/>
          </a:xfrm>
          <a:prstGeom prst="rect">
            <a:avLst/>
          </a:prstGeom>
          <a:noFill/>
          <a:ln/>
        </p:spPr>
        <p:txBody>
          <a:bodyPr wrap="square" lIns="0" tIns="0" rIns="0" bIns="0" rtlCol="0" anchor="t"/>
          <a:lstStyle/>
          <a:p>
            <a:pPr marL="177800" indent="-177800">
              <a:spcAft>
                <a:spcPts val="600"/>
              </a:spcAft>
              <a:buSzPct val="100000"/>
              <a:buChar char="•"/>
            </a:pPr>
            <a:r>
              <a:rPr lang="en-US" sz="1200" dirty="0">
                <a:solidFill>
                  <a:srgbClr val="1B2340"/>
                </a:solidFill>
                <a:latin typeface="Calibri" pitchFamily="34" charset="0"/>
                <a:ea typeface="Calibri" pitchFamily="34" charset="-122"/>
                <a:cs typeface="Calibri" pitchFamily="34" charset="-120"/>
              </a:rPr>
              <a:t>GROUP BY - groups rows sharing a common value, usually combined with aggregate functions (SUM, COUNT, AVG)</a:t>
            </a:r>
            <a:endParaRPr lang="en-US" sz="1200" dirty="0"/>
          </a:p>
          <a:p>
            <a:pPr marL="177800" indent="-177800">
              <a:spcAft>
                <a:spcPts val="600"/>
              </a:spcAft>
              <a:buSzPct val="100000"/>
              <a:buChar char="•"/>
            </a:pPr>
            <a:r>
              <a:rPr lang="en-US" sz="1200" dirty="0">
                <a:solidFill>
                  <a:srgbClr val="1B2340"/>
                </a:solidFill>
                <a:latin typeface="Calibri" pitchFamily="34" charset="0"/>
                <a:ea typeface="Calibri" pitchFamily="34" charset="-122"/>
                <a:cs typeface="Calibri" pitchFamily="34" charset="-120"/>
              </a:rPr>
              <a:t>ORDER BY - simply sorts the final result set in ascending or descending order</a:t>
            </a:r>
            <a:endParaRPr lang="en-US" sz="1200" dirty="0"/>
          </a:p>
          <a:p>
            <a:pPr marL="177800" indent="-177800">
              <a:spcAft>
                <a:spcPts val="600"/>
              </a:spcAft>
              <a:buSzPct val="100000"/>
              <a:buChar char="•"/>
            </a:pPr>
            <a:r>
              <a:rPr lang="en-US" sz="1200" dirty="0">
                <a:solidFill>
                  <a:srgbClr val="1B2340"/>
                </a:solidFill>
                <a:latin typeface="Calibri" pitchFamily="34" charset="0"/>
                <a:ea typeface="Calibri" pitchFamily="34" charset="-122"/>
                <a:cs typeface="Calibri" pitchFamily="34" charset="-120"/>
              </a:rPr>
              <a:t>GROUP BY changes how many rows are returned (one row per group)</a:t>
            </a:r>
            <a:endParaRPr lang="en-US" sz="1200" dirty="0"/>
          </a:p>
          <a:p>
            <a:pPr marL="177800" indent="-177800">
              <a:spcAft>
                <a:spcPts val="600"/>
              </a:spcAft>
              <a:buSzPct val="100000"/>
              <a:buChar char="•"/>
            </a:pPr>
            <a:r>
              <a:rPr lang="en-US" sz="1200" dirty="0">
                <a:solidFill>
                  <a:srgbClr val="1B2340"/>
                </a:solidFill>
                <a:latin typeface="Calibri" pitchFamily="34" charset="0"/>
                <a:ea typeface="Calibri" pitchFamily="34" charset="-122"/>
                <a:cs typeface="Calibri" pitchFamily="34" charset="-120"/>
              </a:rPr>
              <a:t>ORDER BY does not change row count, only their order</a:t>
            </a:r>
            <a:endParaRPr lang="en-US" sz="1200" dirty="0"/>
          </a:p>
        </p:txBody>
      </p:sp>
      <p:sp>
        <p:nvSpPr>
          <p:cNvPr id="26" name="Text 24"/>
          <p:cNvSpPr/>
          <p:nvPr/>
        </p:nvSpPr>
        <p:spPr>
          <a:xfrm>
            <a:off x="457200" y="6583680"/>
            <a:ext cx="5486400" cy="228600"/>
          </a:xfrm>
          <a:prstGeom prst="rect">
            <a:avLst/>
          </a:prstGeom>
          <a:noFill/>
          <a:ln/>
        </p:spPr>
        <p:txBody>
          <a:bodyPr wrap="square" rtlCol="0" anchor="ctr"/>
          <a:lstStyle/>
          <a:p>
            <a:pPr marL="0" indent="0" algn="l">
              <a:buNone/>
            </a:pPr>
            <a:r>
              <a:rPr lang="en-US" sz="850" dirty="0">
                <a:solidFill>
                  <a:srgbClr val="5B6178"/>
                </a:solidFill>
                <a:latin typeface="Calibri" pitchFamily="34" charset="0"/>
                <a:ea typeface="Calibri" pitchFamily="34" charset="-122"/>
                <a:cs typeface="Calibri" pitchFamily="34" charset="-120"/>
              </a:rPr>
              <a:t>Java &amp; Full-Stack Interview Prep</a:t>
            </a:r>
            <a:endParaRPr lang="en-US" sz="85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Shape 0"/>
          <p:cNvSpPr/>
          <p:nvPr/>
        </p:nvSpPr>
        <p:spPr>
          <a:xfrm>
            <a:off x="502920" y="384048"/>
            <a:ext cx="3474720" cy="310896"/>
          </a:xfrm>
          <a:prstGeom prst="roundRect">
            <a:avLst>
              <a:gd name="adj" fmla="val 23529"/>
            </a:avLst>
          </a:prstGeom>
          <a:solidFill>
            <a:srgbClr val="E8A33D"/>
          </a:solidFill>
          <a:ln/>
        </p:spPr>
      </p:sp>
      <p:sp>
        <p:nvSpPr>
          <p:cNvPr id="3" name="Text 1"/>
          <p:cNvSpPr/>
          <p:nvPr/>
        </p:nvSpPr>
        <p:spPr>
          <a:xfrm>
            <a:off x="502920" y="384048"/>
            <a:ext cx="3474720" cy="310896"/>
          </a:xfrm>
          <a:prstGeom prst="rect">
            <a:avLst/>
          </a:prstGeom>
          <a:noFill/>
          <a:ln/>
        </p:spPr>
        <p:txBody>
          <a:bodyPr wrap="square" rtlCol="0" anchor="ctr"/>
          <a:lstStyle/>
          <a:p>
            <a:pPr marL="0" indent="0" algn="ctr">
              <a:buNone/>
            </a:pPr>
            <a:r>
              <a:rPr lang="en-US" sz="1100" b="1" kern="0" spc="100" dirty="0">
                <a:solidFill>
                  <a:srgbClr val="1B2340"/>
                </a:solidFill>
                <a:latin typeface="Calibri" pitchFamily="34" charset="0"/>
                <a:ea typeface="Calibri" pitchFamily="34" charset="-122"/>
                <a:cs typeface="Calibri" pitchFamily="34" charset="-120"/>
              </a:rPr>
              <a:t>SQL &amp; DATABASES</a:t>
            </a:r>
            <a:endParaRPr lang="en-US" sz="1100" dirty="0"/>
          </a:p>
        </p:txBody>
      </p:sp>
      <p:sp>
        <p:nvSpPr>
          <p:cNvPr id="4" name="Text 2"/>
          <p:cNvSpPr/>
          <p:nvPr/>
        </p:nvSpPr>
        <p:spPr>
          <a:xfrm>
            <a:off x="502920" y="786384"/>
            <a:ext cx="11155680" cy="868680"/>
          </a:xfrm>
          <a:prstGeom prst="rect">
            <a:avLst/>
          </a:prstGeom>
          <a:noFill/>
          <a:ln/>
        </p:spPr>
        <p:txBody>
          <a:bodyPr wrap="square" rtlCol="0" anchor="t"/>
          <a:lstStyle/>
          <a:p>
            <a:pPr marL="0" indent="0">
              <a:lnSpc>
                <a:spcPct val="102000"/>
              </a:lnSpc>
              <a:buNone/>
            </a:pPr>
            <a:r>
              <a:rPr lang="en-US" sz="2500" b="1" dirty="0">
                <a:solidFill>
                  <a:srgbClr val="1B2340"/>
                </a:solidFill>
                <a:latin typeface="Century Schoolbook" pitchFamily="34" charset="0"/>
                <a:ea typeface="Century Schoolbook" pitchFamily="34" charset="-122"/>
                <a:cs typeface="Century Schoolbook" pitchFamily="34" charset="-120"/>
              </a:rPr>
              <a:t>Difference between Subquery and Correlated Subquery.</a:t>
            </a:r>
            <a:endParaRPr lang="en-US" sz="2500" dirty="0"/>
          </a:p>
        </p:txBody>
      </p:sp>
      <p:sp>
        <p:nvSpPr>
          <p:cNvPr id="5" name="Shape 3"/>
          <p:cNvSpPr/>
          <p:nvPr/>
        </p:nvSpPr>
        <p:spPr>
          <a:xfrm>
            <a:off x="502920" y="1810512"/>
            <a:ext cx="164592" cy="274320"/>
          </a:xfrm>
          <a:prstGeom prst="roundRect">
            <a:avLst>
              <a:gd name="adj" fmla="val 22222"/>
            </a:avLst>
          </a:prstGeom>
          <a:solidFill>
            <a:srgbClr val="E8A33D"/>
          </a:solidFill>
          <a:ln/>
        </p:spPr>
      </p:sp>
      <p:sp>
        <p:nvSpPr>
          <p:cNvPr id="6" name="Text 4"/>
          <p:cNvSpPr/>
          <p:nvPr/>
        </p:nvSpPr>
        <p:spPr>
          <a:xfrm>
            <a:off x="758952" y="1783080"/>
            <a:ext cx="4681728" cy="329184"/>
          </a:xfrm>
          <a:prstGeom prst="rect">
            <a:avLst/>
          </a:prstGeom>
          <a:noFill/>
          <a:ln/>
        </p:spPr>
        <p:txBody>
          <a:bodyPr wrap="square" rtlCol="0" anchor="ctr"/>
          <a:lstStyle/>
          <a:p>
            <a:pPr marL="0" indent="0">
              <a:buNone/>
            </a:pPr>
            <a:r>
              <a:rPr lang="en-US" sz="1300" b="1" kern="0" spc="50" dirty="0">
                <a:solidFill>
                  <a:srgbClr val="1B2340"/>
                </a:solidFill>
                <a:latin typeface="Calibri" pitchFamily="34" charset="0"/>
                <a:ea typeface="Calibri" pitchFamily="34" charset="-122"/>
                <a:cs typeface="Calibri" pitchFamily="34" charset="-120"/>
              </a:rPr>
              <a:t>DEFINITION / CONCEPT</a:t>
            </a:r>
            <a:endParaRPr lang="en-US" sz="1300" dirty="0"/>
          </a:p>
        </p:txBody>
      </p:sp>
      <p:sp>
        <p:nvSpPr>
          <p:cNvPr id="7" name="Shape 5"/>
          <p:cNvSpPr/>
          <p:nvPr/>
        </p:nvSpPr>
        <p:spPr>
          <a:xfrm>
            <a:off x="502920" y="2121408"/>
            <a:ext cx="4937760" cy="1234440"/>
          </a:xfrm>
          <a:prstGeom prst="roundRect">
            <a:avLst>
              <a:gd name="adj" fmla="val 5926"/>
            </a:avLst>
          </a:prstGeom>
          <a:solidFill>
            <a:srgbClr val="F7F7FA"/>
          </a:solidFill>
          <a:ln w="12700">
            <a:solidFill>
              <a:srgbClr val="E4E6EF"/>
            </a:solidFill>
            <a:prstDash val="solid"/>
          </a:ln>
        </p:spPr>
      </p:sp>
      <p:sp>
        <p:nvSpPr>
          <p:cNvPr id="8" name="Text 6"/>
          <p:cNvSpPr/>
          <p:nvPr/>
        </p:nvSpPr>
        <p:spPr>
          <a:xfrm>
            <a:off x="758952" y="2304288"/>
            <a:ext cx="4425696" cy="868680"/>
          </a:xfrm>
          <a:prstGeom prst="rect">
            <a:avLst/>
          </a:prstGeom>
          <a:noFill/>
          <a:ln/>
        </p:spPr>
        <p:txBody>
          <a:bodyPr wrap="square" lIns="0" tIns="0" rIns="0" bIns="0" rtlCol="0" anchor="t"/>
          <a:lstStyle/>
          <a:p>
            <a:pPr marL="0" indent="0">
              <a:lnSpc>
                <a:spcPct val="115000"/>
              </a:lnSpc>
              <a:buNone/>
            </a:pPr>
            <a:r>
              <a:rPr lang="en-US" sz="1450" dirty="0">
                <a:solidFill>
                  <a:srgbClr val="1B2340"/>
                </a:solidFill>
                <a:latin typeface="Calibri" pitchFamily="34" charset="0"/>
                <a:ea typeface="Calibri" pitchFamily="34" charset="-122"/>
                <a:cs typeface="Calibri" pitchFamily="34" charset="-120"/>
              </a:rPr>
              <a:t>Both are queries nested inside another query, but a correlated subquery depends on the outer query for its values, while a normal subquery runs independently.</a:t>
            </a:r>
            <a:endParaRPr lang="en-US" sz="1450" dirty="0"/>
          </a:p>
        </p:txBody>
      </p:sp>
      <p:sp>
        <p:nvSpPr>
          <p:cNvPr id="9" name="Shape 7"/>
          <p:cNvSpPr/>
          <p:nvPr/>
        </p:nvSpPr>
        <p:spPr>
          <a:xfrm>
            <a:off x="502920" y="3493008"/>
            <a:ext cx="4937760" cy="1554480"/>
          </a:xfrm>
          <a:prstGeom prst="roundRect">
            <a:avLst>
              <a:gd name="adj" fmla="val 4706"/>
            </a:avLst>
          </a:prstGeom>
          <a:solidFill>
            <a:srgbClr val="FDF3E3"/>
          </a:solidFill>
          <a:ln/>
        </p:spPr>
      </p:sp>
      <p:sp>
        <p:nvSpPr>
          <p:cNvPr id="10" name="Text 8"/>
          <p:cNvSpPr/>
          <p:nvPr/>
        </p:nvSpPr>
        <p:spPr>
          <a:xfrm>
            <a:off x="704088" y="3602736"/>
            <a:ext cx="4535424" cy="274320"/>
          </a:xfrm>
          <a:prstGeom prst="rect">
            <a:avLst/>
          </a:prstGeom>
          <a:noFill/>
          <a:ln/>
        </p:spPr>
        <p:txBody>
          <a:bodyPr wrap="square" rtlCol="0" anchor="ctr"/>
          <a:lstStyle/>
          <a:p>
            <a:pPr marL="0" indent="0">
              <a:buNone/>
            </a:pPr>
            <a:r>
              <a:rPr lang="en-US" sz="1100" b="1" kern="0" spc="50" dirty="0">
                <a:solidFill>
                  <a:srgbClr val="C9862A"/>
                </a:solidFill>
                <a:latin typeface="Calibri" pitchFamily="34" charset="0"/>
                <a:ea typeface="Calibri" pitchFamily="34" charset="-122"/>
                <a:cs typeface="Calibri" pitchFamily="34" charset="-120"/>
              </a:rPr>
              <a:t>💡 REAL-LIFE ANALOGY</a:t>
            </a:r>
            <a:endParaRPr lang="en-US" sz="1100" dirty="0"/>
          </a:p>
        </p:txBody>
      </p:sp>
      <p:sp>
        <p:nvSpPr>
          <p:cNvPr id="11" name="Text 9"/>
          <p:cNvSpPr/>
          <p:nvPr/>
        </p:nvSpPr>
        <p:spPr>
          <a:xfrm>
            <a:off x="704088" y="3895344"/>
            <a:ext cx="4535424" cy="1024128"/>
          </a:xfrm>
          <a:prstGeom prst="rect">
            <a:avLst/>
          </a:prstGeom>
          <a:noFill/>
          <a:ln/>
        </p:spPr>
        <p:txBody>
          <a:bodyPr wrap="square" lIns="0" tIns="0" rIns="0" bIns="0" rtlCol="0" anchor="t"/>
          <a:lstStyle/>
          <a:p>
            <a:pPr marL="0" indent="0">
              <a:lnSpc>
                <a:spcPct val="110000"/>
              </a:lnSpc>
              <a:buNone/>
            </a:pPr>
            <a:r>
              <a:rPr lang="en-US" sz="1250" i="1" dirty="0">
                <a:solidFill>
                  <a:srgbClr val="1B2340"/>
                </a:solidFill>
                <a:latin typeface="Calibri" pitchFamily="34" charset="0"/>
                <a:ea typeface="Calibri" pitchFamily="34" charset="-122"/>
                <a:cs typeface="Calibri" pitchFamily="34" charset="-120"/>
              </a:rPr>
              <a:t>A regular subquery is like preparing one shopping list before going to the store. A correlated subquery is like checking your fridge separately before buying each individual item - it depends on each specific case.</a:t>
            </a:r>
            <a:endParaRPr lang="en-US" sz="1250" dirty="0"/>
          </a:p>
        </p:txBody>
      </p:sp>
      <p:sp>
        <p:nvSpPr>
          <p:cNvPr id="12" name="Shape 10"/>
          <p:cNvSpPr/>
          <p:nvPr/>
        </p:nvSpPr>
        <p:spPr>
          <a:xfrm>
            <a:off x="502920" y="5193792"/>
            <a:ext cx="4937760" cy="1051560"/>
          </a:xfrm>
          <a:prstGeom prst="roundRect">
            <a:avLst>
              <a:gd name="adj" fmla="val 6957"/>
            </a:avLst>
          </a:prstGeom>
          <a:solidFill>
            <a:srgbClr val="1B2340"/>
          </a:solidFill>
          <a:ln/>
        </p:spPr>
      </p:sp>
      <p:sp>
        <p:nvSpPr>
          <p:cNvPr id="13" name="Text 11"/>
          <p:cNvSpPr/>
          <p:nvPr/>
        </p:nvSpPr>
        <p:spPr>
          <a:xfrm>
            <a:off x="731520" y="5285232"/>
            <a:ext cx="4480560" cy="256032"/>
          </a:xfrm>
          <a:prstGeom prst="rect">
            <a:avLst/>
          </a:prstGeom>
          <a:noFill/>
          <a:ln/>
        </p:spPr>
        <p:txBody>
          <a:bodyPr wrap="square" rtlCol="0" anchor="ctr"/>
          <a:lstStyle/>
          <a:p>
            <a:pPr marL="0" indent="0">
              <a:buNone/>
            </a:pPr>
            <a:r>
              <a:rPr lang="en-US" sz="1050" b="1" kern="0" spc="80" dirty="0">
                <a:solidFill>
                  <a:srgbClr val="E8A33D"/>
                </a:solidFill>
                <a:latin typeface="Calibri" pitchFamily="34" charset="0"/>
                <a:ea typeface="Calibri" pitchFamily="34" charset="-122"/>
                <a:cs typeface="Calibri" pitchFamily="34" charset="-120"/>
              </a:rPr>
              <a:t>ONE-LINE INTERVIEW ANSWER</a:t>
            </a:r>
            <a:endParaRPr lang="en-US" sz="1050" dirty="0"/>
          </a:p>
        </p:txBody>
      </p:sp>
      <p:sp>
        <p:nvSpPr>
          <p:cNvPr id="14" name="Text 12"/>
          <p:cNvSpPr/>
          <p:nvPr/>
        </p:nvSpPr>
        <p:spPr>
          <a:xfrm>
            <a:off x="731520" y="5541264"/>
            <a:ext cx="4480560" cy="594360"/>
          </a:xfrm>
          <a:prstGeom prst="rect">
            <a:avLst/>
          </a:prstGeom>
          <a:noFill/>
          <a:ln/>
        </p:spPr>
        <p:txBody>
          <a:bodyPr wrap="square" lIns="0" tIns="0" rIns="0" bIns="0" rtlCol="0" anchor="t"/>
          <a:lstStyle/>
          <a:p>
            <a:pPr marL="0" indent="0">
              <a:lnSpc>
                <a:spcPct val="105000"/>
              </a:lnSpc>
              <a:buNone/>
            </a:pPr>
            <a:r>
              <a:rPr lang="en-US" sz="1250" dirty="0">
                <a:solidFill>
                  <a:srgbClr val="FFFFFF"/>
                </a:solidFill>
                <a:latin typeface="Calibri" pitchFamily="34" charset="0"/>
                <a:ea typeface="Calibri" pitchFamily="34" charset="-122"/>
                <a:cs typeface="Calibri" pitchFamily="34" charset="-120"/>
              </a:rPr>
              <a:t>A subquery runs once independently, while a correlated subquery re-evaluates for every row processed by the outer query.</a:t>
            </a:r>
            <a:endParaRPr lang="en-US" sz="1250" dirty="0"/>
          </a:p>
        </p:txBody>
      </p:sp>
      <p:sp>
        <p:nvSpPr>
          <p:cNvPr id="15" name="Shape 13"/>
          <p:cNvSpPr/>
          <p:nvPr/>
        </p:nvSpPr>
        <p:spPr>
          <a:xfrm>
            <a:off x="5669280" y="1810512"/>
            <a:ext cx="164592" cy="274320"/>
          </a:xfrm>
          <a:prstGeom prst="roundRect">
            <a:avLst>
              <a:gd name="adj" fmla="val 22222"/>
            </a:avLst>
          </a:prstGeom>
          <a:solidFill>
            <a:srgbClr val="3FBFAE"/>
          </a:solidFill>
          <a:ln/>
        </p:spPr>
      </p:sp>
      <p:sp>
        <p:nvSpPr>
          <p:cNvPr id="16" name="Text 14"/>
          <p:cNvSpPr/>
          <p:nvPr/>
        </p:nvSpPr>
        <p:spPr>
          <a:xfrm>
            <a:off x="5925312" y="1783080"/>
            <a:ext cx="5779008" cy="329184"/>
          </a:xfrm>
          <a:prstGeom prst="rect">
            <a:avLst/>
          </a:prstGeom>
          <a:noFill/>
          <a:ln/>
        </p:spPr>
        <p:txBody>
          <a:bodyPr wrap="square" rtlCol="0" anchor="ctr"/>
          <a:lstStyle/>
          <a:p>
            <a:pPr marL="0" indent="0">
              <a:buNone/>
            </a:pPr>
            <a:r>
              <a:rPr lang="en-US" sz="1300" b="1" kern="0" spc="50" dirty="0">
                <a:solidFill>
                  <a:srgbClr val="1B2340"/>
                </a:solidFill>
                <a:latin typeface="Calibri" pitchFamily="34" charset="0"/>
                <a:ea typeface="Calibri" pitchFamily="34" charset="-122"/>
                <a:cs typeface="Calibri" pitchFamily="34" charset="-120"/>
              </a:rPr>
              <a:t>EXAMPLE</a:t>
            </a:r>
            <a:endParaRPr lang="en-US" sz="1300" dirty="0"/>
          </a:p>
        </p:txBody>
      </p:sp>
      <p:sp>
        <p:nvSpPr>
          <p:cNvPr id="17" name="Shape 15"/>
          <p:cNvSpPr/>
          <p:nvPr/>
        </p:nvSpPr>
        <p:spPr>
          <a:xfrm>
            <a:off x="5669280" y="2121408"/>
            <a:ext cx="6035040" cy="1920240"/>
          </a:xfrm>
          <a:prstGeom prst="roundRect">
            <a:avLst>
              <a:gd name="adj" fmla="val 3810"/>
            </a:avLst>
          </a:prstGeom>
          <a:solidFill>
            <a:srgbClr val="1E1E2E"/>
          </a:solidFill>
          <a:ln/>
        </p:spPr>
      </p:sp>
      <p:sp>
        <p:nvSpPr>
          <p:cNvPr id="18" name="Shape 16"/>
          <p:cNvSpPr/>
          <p:nvPr/>
        </p:nvSpPr>
        <p:spPr>
          <a:xfrm>
            <a:off x="5806440" y="2249424"/>
            <a:ext cx="100584" cy="100584"/>
          </a:xfrm>
          <a:prstGeom prst="ellipse">
            <a:avLst/>
          </a:prstGeom>
          <a:solidFill>
            <a:srgbClr val="FF5F56"/>
          </a:solidFill>
          <a:ln/>
        </p:spPr>
      </p:sp>
      <p:sp>
        <p:nvSpPr>
          <p:cNvPr id="19" name="Shape 17"/>
          <p:cNvSpPr/>
          <p:nvPr/>
        </p:nvSpPr>
        <p:spPr>
          <a:xfrm>
            <a:off x="5961888" y="2249424"/>
            <a:ext cx="100584" cy="100584"/>
          </a:xfrm>
          <a:prstGeom prst="ellipse">
            <a:avLst/>
          </a:prstGeom>
          <a:solidFill>
            <a:srgbClr val="FFBD2E"/>
          </a:solidFill>
          <a:ln/>
        </p:spPr>
      </p:sp>
      <p:sp>
        <p:nvSpPr>
          <p:cNvPr id="20" name="Shape 18"/>
          <p:cNvSpPr/>
          <p:nvPr/>
        </p:nvSpPr>
        <p:spPr>
          <a:xfrm>
            <a:off x="6117336" y="2249424"/>
            <a:ext cx="100584" cy="100584"/>
          </a:xfrm>
          <a:prstGeom prst="ellipse">
            <a:avLst/>
          </a:prstGeom>
          <a:solidFill>
            <a:srgbClr val="27C93F"/>
          </a:solidFill>
          <a:ln/>
        </p:spPr>
      </p:sp>
      <p:sp>
        <p:nvSpPr>
          <p:cNvPr id="21" name="Text 19"/>
          <p:cNvSpPr/>
          <p:nvPr/>
        </p:nvSpPr>
        <p:spPr>
          <a:xfrm>
            <a:off x="6309360" y="2167128"/>
            <a:ext cx="5120640" cy="274320"/>
          </a:xfrm>
          <a:prstGeom prst="rect">
            <a:avLst/>
          </a:prstGeom>
          <a:noFill/>
          <a:ln/>
        </p:spPr>
        <p:txBody>
          <a:bodyPr wrap="square" rtlCol="0" anchor="ctr"/>
          <a:lstStyle/>
          <a:p>
            <a:pPr marL="0" indent="0" algn="r">
              <a:buNone/>
            </a:pPr>
            <a:r>
              <a:rPr lang="en-US" sz="1000" dirty="0">
                <a:solidFill>
                  <a:srgbClr val="8A90AC"/>
                </a:solidFill>
                <a:latin typeface="Courier New" pitchFamily="34" charset="0"/>
                <a:ea typeface="Courier New" pitchFamily="34" charset="-122"/>
                <a:cs typeface="Courier New" pitchFamily="34" charset="-120"/>
              </a:rPr>
              <a:t>query.sql</a:t>
            </a:r>
            <a:endParaRPr lang="en-US" sz="1000" dirty="0"/>
          </a:p>
        </p:txBody>
      </p:sp>
      <p:sp>
        <p:nvSpPr>
          <p:cNvPr id="22" name="Text 20"/>
          <p:cNvSpPr/>
          <p:nvPr/>
        </p:nvSpPr>
        <p:spPr>
          <a:xfrm>
            <a:off x="5897880" y="2487168"/>
            <a:ext cx="5577840" cy="1463040"/>
          </a:xfrm>
          <a:prstGeom prst="rect">
            <a:avLst/>
          </a:prstGeom>
          <a:noFill/>
          <a:ln/>
        </p:spPr>
        <p:txBody>
          <a:bodyPr wrap="square" lIns="0" tIns="0" rIns="0" bIns="0" rtlCol="0" anchor="t"/>
          <a:lstStyle/>
          <a:p>
            <a:pPr marL="0" indent="0">
              <a:lnSpc>
                <a:spcPct val="120000"/>
              </a:lnSpc>
              <a:buNone/>
            </a:pPr>
            <a:r>
              <a:rPr lang="en-US" sz="1200" dirty="0">
                <a:solidFill>
                  <a:srgbClr val="D4D4E0"/>
                </a:solidFill>
                <a:latin typeface="Courier New" pitchFamily="34" charset="0"/>
                <a:ea typeface="Courier New" pitchFamily="34" charset="-122"/>
                <a:cs typeface="Courier New" pitchFamily="34" charset="-120"/>
              </a:rPr>
              <a:t>-- Employees earning above dept average</a:t>
            </a:r>
            <a:endParaRPr lang="en-US" sz="1200" dirty="0"/>
          </a:p>
          <a:p>
            <a:pPr marL="0" indent="0">
              <a:lnSpc>
                <a:spcPct val="120000"/>
              </a:lnSpc>
              <a:buNone/>
            </a:pPr>
            <a:r>
              <a:rPr lang="en-US" sz="1200" dirty="0">
                <a:solidFill>
                  <a:srgbClr val="D4D4E0"/>
                </a:solidFill>
                <a:latin typeface="Courier New" pitchFamily="34" charset="0"/>
                <a:ea typeface="Courier New" pitchFamily="34" charset="-122"/>
                <a:cs typeface="Courier New" pitchFamily="34" charset="-120"/>
              </a:rPr>
              <a:t>SELECT e.name FROM employees e</a:t>
            </a:r>
            <a:endParaRPr lang="en-US" sz="1200" dirty="0"/>
          </a:p>
          <a:p>
            <a:pPr marL="0" indent="0">
              <a:lnSpc>
                <a:spcPct val="120000"/>
              </a:lnSpc>
              <a:buNone/>
            </a:pPr>
            <a:r>
              <a:rPr lang="en-US" sz="1200" dirty="0">
                <a:solidFill>
                  <a:srgbClr val="D4D4E0"/>
                </a:solidFill>
                <a:latin typeface="Courier New" pitchFamily="34" charset="0"/>
                <a:ea typeface="Courier New" pitchFamily="34" charset="-122"/>
                <a:cs typeface="Courier New" pitchFamily="34" charset="-120"/>
              </a:rPr>
              <a:t>WHERE e.salary &gt; (</a:t>
            </a:r>
            <a:endParaRPr lang="en-US" sz="1200" dirty="0"/>
          </a:p>
          <a:p>
            <a:pPr marL="0" indent="0">
              <a:lnSpc>
                <a:spcPct val="120000"/>
              </a:lnSpc>
              <a:buNone/>
            </a:pPr>
            <a:r>
              <a:rPr lang="en-US" sz="1200" dirty="0">
                <a:solidFill>
                  <a:srgbClr val="D4D4E0"/>
                </a:solidFill>
                <a:latin typeface="Courier New" pitchFamily="34" charset="0"/>
                <a:ea typeface="Courier New" pitchFamily="34" charset="-122"/>
                <a:cs typeface="Courier New" pitchFamily="34" charset="-120"/>
              </a:rPr>
              <a:t>  SELECT AVG(salary) FROM employees</a:t>
            </a:r>
            <a:endParaRPr lang="en-US" sz="1200" dirty="0"/>
          </a:p>
          <a:p>
            <a:pPr marL="0" indent="0">
              <a:lnSpc>
                <a:spcPct val="120000"/>
              </a:lnSpc>
              <a:buNone/>
            </a:pPr>
            <a:r>
              <a:rPr lang="en-US" sz="1200" dirty="0">
                <a:solidFill>
                  <a:srgbClr val="D4D4E0"/>
                </a:solidFill>
                <a:latin typeface="Courier New" pitchFamily="34" charset="0"/>
                <a:ea typeface="Courier New" pitchFamily="34" charset="-122"/>
                <a:cs typeface="Courier New" pitchFamily="34" charset="-120"/>
              </a:rPr>
              <a:t>  WHERE department = e.department</a:t>
            </a:r>
            <a:endParaRPr lang="en-US" sz="1200" dirty="0"/>
          </a:p>
          <a:p>
            <a:pPr marL="0" indent="0">
              <a:lnSpc>
                <a:spcPct val="120000"/>
              </a:lnSpc>
              <a:buNone/>
            </a:pPr>
            <a:r>
              <a:rPr lang="en-US" sz="1200" dirty="0">
                <a:solidFill>
                  <a:srgbClr val="D4D4E0"/>
                </a:solidFill>
                <a:latin typeface="Courier New" pitchFamily="34" charset="0"/>
                <a:ea typeface="Courier New" pitchFamily="34" charset="-122"/>
                <a:cs typeface="Courier New" pitchFamily="34" charset="-120"/>
              </a:rPr>
              <a:t>);</a:t>
            </a:r>
            <a:endParaRPr lang="en-US" sz="1200" dirty="0"/>
          </a:p>
        </p:txBody>
      </p:sp>
      <p:sp>
        <p:nvSpPr>
          <p:cNvPr id="23" name="Shape 21"/>
          <p:cNvSpPr/>
          <p:nvPr/>
        </p:nvSpPr>
        <p:spPr>
          <a:xfrm>
            <a:off x="5669280" y="4206240"/>
            <a:ext cx="164592" cy="274320"/>
          </a:xfrm>
          <a:prstGeom prst="roundRect">
            <a:avLst>
              <a:gd name="adj" fmla="val 22222"/>
            </a:avLst>
          </a:prstGeom>
          <a:solidFill>
            <a:srgbClr val="3FBFAE"/>
          </a:solidFill>
          <a:ln/>
        </p:spPr>
      </p:sp>
      <p:sp>
        <p:nvSpPr>
          <p:cNvPr id="24" name="Text 22"/>
          <p:cNvSpPr/>
          <p:nvPr/>
        </p:nvSpPr>
        <p:spPr>
          <a:xfrm>
            <a:off x="5925312" y="4178808"/>
            <a:ext cx="5779008" cy="329184"/>
          </a:xfrm>
          <a:prstGeom prst="rect">
            <a:avLst/>
          </a:prstGeom>
          <a:noFill/>
          <a:ln/>
        </p:spPr>
        <p:txBody>
          <a:bodyPr wrap="square" rtlCol="0" anchor="ctr"/>
          <a:lstStyle/>
          <a:p>
            <a:pPr marL="0" indent="0">
              <a:buNone/>
            </a:pPr>
            <a:r>
              <a:rPr lang="en-US" sz="1300" b="1" kern="0" spc="50" dirty="0">
                <a:solidFill>
                  <a:srgbClr val="1B2340"/>
                </a:solidFill>
                <a:latin typeface="Calibri" pitchFamily="34" charset="0"/>
                <a:ea typeface="Calibri" pitchFamily="34" charset="-122"/>
                <a:cs typeface="Calibri" pitchFamily="34" charset="-120"/>
              </a:rPr>
              <a:t>EXPLANATION</a:t>
            </a:r>
            <a:endParaRPr lang="en-US" sz="1300" dirty="0"/>
          </a:p>
        </p:txBody>
      </p:sp>
      <p:sp>
        <p:nvSpPr>
          <p:cNvPr id="25" name="Text 23"/>
          <p:cNvSpPr/>
          <p:nvPr/>
        </p:nvSpPr>
        <p:spPr>
          <a:xfrm>
            <a:off x="5669280" y="4535424"/>
            <a:ext cx="6035040" cy="1865376"/>
          </a:xfrm>
          <a:prstGeom prst="rect">
            <a:avLst/>
          </a:prstGeom>
          <a:noFill/>
          <a:ln/>
        </p:spPr>
        <p:txBody>
          <a:bodyPr wrap="square" lIns="0" tIns="0" rIns="0" bIns="0" rtlCol="0" anchor="t"/>
          <a:lstStyle/>
          <a:p>
            <a:pPr marL="177800" indent="-177800">
              <a:spcAft>
                <a:spcPts val="600"/>
              </a:spcAft>
              <a:buSzPct val="100000"/>
              <a:buChar char="•"/>
            </a:pPr>
            <a:r>
              <a:rPr lang="en-US" sz="1200" dirty="0">
                <a:solidFill>
                  <a:srgbClr val="1B2340"/>
                </a:solidFill>
                <a:latin typeface="Calibri" pitchFamily="34" charset="0"/>
                <a:ea typeface="Calibri" pitchFamily="34" charset="-122"/>
                <a:cs typeface="Calibri" pitchFamily="34" charset="-120"/>
              </a:rPr>
              <a:t>A regular subquery executes once and its result is used by the outer query</a:t>
            </a:r>
            <a:endParaRPr lang="en-US" sz="1200" dirty="0"/>
          </a:p>
          <a:p>
            <a:pPr marL="177800" indent="-177800">
              <a:spcAft>
                <a:spcPts val="600"/>
              </a:spcAft>
              <a:buSzPct val="100000"/>
              <a:buChar char="•"/>
            </a:pPr>
            <a:r>
              <a:rPr lang="en-US" sz="1200" dirty="0">
                <a:solidFill>
                  <a:srgbClr val="1B2340"/>
                </a:solidFill>
                <a:latin typeface="Calibri" pitchFamily="34" charset="0"/>
                <a:ea typeface="Calibri" pitchFamily="34" charset="-122"/>
                <a:cs typeface="Calibri" pitchFamily="34" charset="-120"/>
              </a:rPr>
              <a:t>A correlated subquery references a column from the outer query, so it re-runs for every row of the outer query</a:t>
            </a:r>
            <a:endParaRPr lang="en-US" sz="1200" dirty="0"/>
          </a:p>
          <a:p>
            <a:pPr marL="177800" indent="-177800">
              <a:spcAft>
                <a:spcPts val="600"/>
              </a:spcAft>
              <a:buSzPct val="100000"/>
              <a:buChar char="•"/>
            </a:pPr>
            <a:r>
              <a:rPr lang="en-US" sz="1200" dirty="0">
                <a:solidFill>
                  <a:srgbClr val="1B2340"/>
                </a:solidFill>
                <a:latin typeface="Calibri" pitchFamily="34" charset="0"/>
                <a:ea typeface="Calibri" pitchFamily="34" charset="-122"/>
                <a:cs typeface="Calibri" pitchFamily="34" charset="-120"/>
              </a:rPr>
              <a:t>Correlated subqueries are often slower since they execute repeatedly</a:t>
            </a:r>
            <a:endParaRPr lang="en-US" sz="1200" dirty="0"/>
          </a:p>
          <a:p>
            <a:pPr marL="177800" indent="-177800">
              <a:spcAft>
                <a:spcPts val="600"/>
              </a:spcAft>
              <a:buSzPct val="100000"/>
              <a:buChar char="•"/>
            </a:pPr>
            <a:r>
              <a:rPr lang="en-US" sz="1200" dirty="0">
                <a:solidFill>
                  <a:srgbClr val="1B2340"/>
                </a:solidFill>
                <a:latin typeface="Calibri" pitchFamily="34" charset="0"/>
                <a:ea typeface="Calibri" pitchFamily="34" charset="-122"/>
                <a:cs typeface="Calibri" pitchFamily="34" charset="-120"/>
              </a:rPr>
              <a:t>Both are commonly used for filtering data based on conditions from another table</a:t>
            </a:r>
            <a:endParaRPr lang="en-US" sz="1200" dirty="0"/>
          </a:p>
        </p:txBody>
      </p:sp>
      <p:sp>
        <p:nvSpPr>
          <p:cNvPr id="26" name="Text 24"/>
          <p:cNvSpPr/>
          <p:nvPr/>
        </p:nvSpPr>
        <p:spPr>
          <a:xfrm>
            <a:off x="457200" y="6583680"/>
            <a:ext cx="5486400" cy="228600"/>
          </a:xfrm>
          <a:prstGeom prst="rect">
            <a:avLst/>
          </a:prstGeom>
          <a:noFill/>
          <a:ln/>
        </p:spPr>
        <p:txBody>
          <a:bodyPr wrap="square" rtlCol="0" anchor="ctr"/>
          <a:lstStyle/>
          <a:p>
            <a:pPr marL="0" indent="0" algn="l">
              <a:buNone/>
            </a:pPr>
            <a:r>
              <a:rPr lang="en-US" sz="850" dirty="0">
                <a:solidFill>
                  <a:srgbClr val="5B6178"/>
                </a:solidFill>
                <a:latin typeface="Calibri" pitchFamily="34" charset="0"/>
                <a:ea typeface="Calibri" pitchFamily="34" charset="-122"/>
                <a:cs typeface="Calibri" pitchFamily="34" charset="-120"/>
              </a:rPr>
              <a:t>Java &amp; Full-Stack Interview Prep</a:t>
            </a:r>
            <a:endParaRPr lang="en-US" sz="85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Shape 0"/>
          <p:cNvSpPr/>
          <p:nvPr/>
        </p:nvSpPr>
        <p:spPr>
          <a:xfrm>
            <a:off x="502920" y="384048"/>
            <a:ext cx="3474720" cy="310896"/>
          </a:xfrm>
          <a:prstGeom prst="roundRect">
            <a:avLst>
              <a:gd name="adj" fmla="val 23529"/>
            </a:avLst>
          </a:prstGeom>
          <a:solidFill>
            <a:srgbClr val="E8A33D"/>
          </a:solidFill>
          <a:ln/>
        </p:spPr>
      </p:sp>
      <p:sp>
        <p:nvSpPr>
          <p:cNvPr id="3" name="Text 1"/>
          <p:cNvSpPr/>
          <p:nvPr/>
        </p:nvSpPr>
        <p:spPr>
          <a:xfrm>
            <a:off x="502920" y="384048"/>
            <a:ext cx="3474720" cy="310896"/>
          </a:xfrm>
          <a:prstGeom prst="rect">
            <a:avLst/>
          </a:prstGeom>
          <a:noFill/>
          <a:ln/>
        </p:spPr>
        <p:txBody>
          <a:bodyPr wrap="square" rtlCol="0" anchor="ctr"/>
          <a:lstStyle/>
          <a:p>
            <a:pPr marL="0" indent="0" algn="ctr">
              <a:buNone/>
            </a:pPr>
            <a:r>
              <a:rPr lang="en-US" sz="1100" b="1" kern="0" spc="100" dirty="0">
                <a:solidFill>
                  <a:srgbClr val="1B2340"/>
                </a:solidFill>
                <a:latin typeface="Calibri" pitchFamily="34" charset="0"/>
                <a:ea typeface="Calibri" pitchFamily="34" charset="-122"/>
                <a:cs typeface="Calibri" pitchFamily="34" charset="-120"/>
              </a:rPr>
              <a:t>SQL &amp; DATABASES</a:t>
            </a:r>
            <a:endParaRPr lang="en-US" sz="1100" dirty="0"/>
          </a:p>
        </p:txBody>
      </p:sp>
      <p:sp>
        <p:nvSpPr>
          <p:cNvPr id="4" name="Text 2"/>
          <p:cNvSpPr/>
          <p:nvPr/>
        </p:nvSpPr>
        <p:spPr>
          <a:xfrm>
            <a:off x="502920" y="786384"/>
            <a:ext cx="11155680" cy="868680"/>
          </a:xfrm>
          <a:prstGeom prst="rect">
            <a:avLst/>
          </a:prstGeom>
          <a:noFill/>
          <a:ln/>
        </p:spPr>
        <p:txBody>
          <a:bodyPr wrap="square" rtlCol="0" anchor="t"/>
          <a:lstStyle/>
          <a:p>
            <a:pPr marL="0" indent="0">
              <a:lnSpc>
                <a:spcPct val="102000"/>
              </a:lnSpc>
              <a:buNone/>
            </a:pPr>
            <a:r>
              <a:rPr lang="en-US" sz="2500" b="1" dirty="0">
                <a:solidFill>
                  <a:srgbClr val="1B2340"/>
                </a:solidFill>
                <a:latin typeface="Century Schoolbook" pitchFamily="34" charset="0"/>
                <a:ea typeface="Century Schoolbook" pitchFamily="34" charset="-122"/>
                <a:cs typeface="Century Schoolbook" pitchFamily="34" charset="-120"/>
              </a:rPr>
              <a:t>What is Database Normalization? (1NF, 2NF, 3NF)</a:t>
            </a:r>
            <a:endParaRPr lang="en-US" sz="2500" dirty="0"/>
          </a:p>
        </p:txBody>
      </p:sp>
      <p:sp>
        <p:nvSpPr>
          <p:cNvPr id="5" name="Shape 3"/>
          <p:cNvSpPr/>
          <p:nvPr/>
        </p:nvSpPr>
        <p:spPr>
          <a:xfrm>
            <a:off x="502920" y="1810512"/>
            <a:ext cx="164592" cy="274320"/>
          </a:xfrm>
          <a:prstGeom prst="roundRect">
            <a:avLst>
              <a:gd name="adj" fmla="val 22222"/>
            </a:avLst>
          </a:prstGeom>
          <a:solidFill>
            <a:srgbClr val="E8A33D"/>
          </a:solidFill>
          <a:ln/>
        </p:spPr>
      </p:sp>
      <p:sp>
        <p:nvSpPr>
          <p:cNvPr id="6" name="Text 4"/>
          <p:cNvSpPr/>
          <p:nvPr/>
        </p:nvSpPr>
        <p:spPr>
          <a:xfrm>
            <a:off x="758952" y="1783080"/>
            <a:ext cx="4315968" cy="329184"/>
          </a:xfrm>
          <a:prstGeom prst="rect">
            <a:avLst/>
          </a:prstGeom>
          <a:noFill/>
          <a:ln/>
        </p:spPr>
        <p:txBody>
          <a:bodyPr wrap="square" rtlCol="0" anchor="ctr"/>
          <a:lstStyle/>
          <a:p>
            <a:pPr marL="0" indent="0">
              <a:buNone/>
            </a:pPr>
            <a:r>
              <a:rPr lang="en-US" sz="1300" b="1" kern="0" spc="50" dirty="0">
                <a:solidFill>
                  <a:srgbClr val="1B2340"/>
                </a:solidFill>
                <a:latin typeface="Calibri" pitchFamily="34" charset="0"/>
                <a:ea typeface="Calibri" pitchFamily="34" charset="-122"/>
                <a:cs typeface="Calibri" pitchFamily="34" charset="-120"/>
              </a:rPr>
              <a:t>DEFINITION / CONCEPT</a:t>
            </a:r>
            <a:endParaRPr lang="en-US" sz="1300" dirty="0"/>
          </a:p>
        </p:txBody>
      </p:sp>
      <p:sp>
        <p:nvSpPr>
          <p:cNvPr id="7" name="Shape 5"/>
          <p:cNvSpPr/>
          <p:nvPr/>
        </p:nvSpPr>
        <p:spPr>
          <a:xfrm>
            <a:off x="502920" y="2121408"/>
            <a:ext cx="11201400" cy="914400"/>
          </a:xfrm>
          <a:prstGeom prst="roundRect">
            <a:avLst>
              <a:gd name="adj" fmla="val 8000"/>
            </a:avLst>
          </a:prstGeom>
          <a:solidFill>
            <a:srgbClr val="F7F7FA"/>
          </a:solidFill>
          <a:ln w="12700">
            <a:solidFill>
              <a:srgbClr val="E4E6EF"/>
            </a:solidFill>
            <a:prstDash val="solid"/>
          </a:ln>
        </p:spPr>
      </p:sp>
      <p:sp>
        <p:nvSpPr>
          <p:cNvPr id="8" name="Text 6"/>
          <p:cNvSpPr/>
          <p:nvPr/>
        </p:nvSpPr>
        <p:spPr>
          <a:xfrm>
            <a:off x="758952" y="2304288"/>
            <a:ext cx="10689336" cy="548640"/>
          </a:xfrm>
          <a:prstGeom prst="rect">
            <a:avLst/>
          </a:prstGeom>
          <a:noFill/>
          <a:ln/>
        </p:spPr>
        <p:txBody>
          <a:bodyPr wrap="square" lIns="0" tIns="0" rIns="0" bIns="0" rtlCol="0" anchor="t"/>
          <a:lstStyle/>
          <a:p>
            <a:pPr marL="0" indent="0">
              <a:lnSpc>
                <a:spcPct val="115000"/>
              </a:lnSpc>
              <a:buNone/>
            </a:pPr>
            <a:r>
              <a:rPr lang="en-US" sz="1450" dirty="0">
                <a:solidFill>
                  <a:srgbClr val="1B2340"/>
                </a:solidFill>
                <a:latin typeface="Calibri" pitchFamily="34" charset="0"/>
                <a:ea typeface="Calibri" pitchFamily="34" charset="-122"/>
                <a:cs typeface="Calibri" pitchFamily="34" charset="-120"/>
              </a:rPr>
              <a:t>Normalization is the process of organizing database tables to reduce data redundancy and improve data integrity, done in progressive stages called Normal Forms.</a:t>
            </a:r>
            <a:endParaRPr lang="en-US" sz="1450" dirty="0"/>
          </a:p>
        </p:txBody>
      </p:sp>
      <p:sp>
        <p:nvSpPr>
          <p:cNvPr id="9" name="Shape 7"/>
          <p:cNvSpPr/>
          <p:nvPr/>
        </p:nvSpPr>
        <p:spPr>
          <a:xfrm>
            <a:off x="502920" y="3200400"/>
            <a:ext cx="164592" cy="274320"/>
          </a:xfrm>
          <a:prstGeom prst="roundRect">
            <a:avLst>
              <a:gd name="adj" fmla="val 22222"/>
            </a:avLst>
          </a:prstGeom>
          <a:solidFill>
            <a:srgbClr val="3FBFAE"/>
          </a:solidFill>
          <a:ln/>
        </p:spPr>
      </p:sp>
      <p:sp>
        <p:nvSpPr>
          <p:cNvPr id="10" name="Text 8"/>
          <p:cNvSpPr/>
          <p:nvPr/>
        </p:nvSpPr>
        <p:spPr>
          <a:xfrm>
            <a:off x="758952" y="3172968"/>
            <a:ext cx="4315968" cy="329184"/>
          </a:xfrm>
          <a:prstGeom prst="rect">
            <a:avLst/>
          </a:prstGeom>
          <a:noFill/>
          <a:ln/>
        </p:spPr>
        <p:txBody>
          <a:bodyPr wrap="square" rtlCol="0" anchor="ctr"/>
          <a:lstStyle/>
          <a:p>
            <a:pPr marL="0" indent="0">
              <a:buNone/>
            </a:pPr>
            <a:r>
              <a:rPr lang="en-US" sz="1300" b="1" kern="0" spc="50" dirty="0">
                <a:solidFill>
                  <a:srgbClr val="1B2340"/>
                </a:solidFill>
                <a:latin typeface="Calibri" pitchFamily="34" charset="0"/>
                <a:ea typeface="Calibri" pitchFamily="34" charset="-122"/>
                <a:cs typeface="Calibri" pitchFamily="34" charset="-120"/>
              </a:rPr>
              <a:t>EXPLANATION</a:t>
            </a:r>
            <a:endParaRPr lang="en-US" sz="1300" dirty="0"/>
          </a:p>
        </p:txBody>
      </p:sp>
      <p:sp>
        <p:nvSpPr>
          <p:cNvPr id="11" name="Text 9"/>
          <p:cNvSpPr/>
          <p:nvPr/>
        </p:nvSpPr>
        <p:spPr>
          <a:xfrm>
            <a:off x="502920" y="3529584"/>
            <a:ext cx="6858000" cy="2331720"/>
          </a:xfrm>
          <a:prstGeom prst="rect">
            <a:avLst/>
          </a:prstGeom>
          <a:noFill/>
          <a:ln/>
        </p:spPr>
        <p:txBody>
          <a:bodyPr wrap="square" lIns="0" tIns="0" rIns="0" bIns="0" rtlCol="0" anchor="t"/>
          <a:lstStyle/>
          <a:p>
            <a:pPr marL="177800" indent="-177800">
              <a:spcAft>
                <a:spcPts val="800"/>
              </a:spcAft>
              <a:buSzPct val="100000"/>
              <a:buChar char="•"/>
            </a:pPr>
            <a:r>
              <a:rPr lang="en-US" sz="1300" dirty="0">
                <a:solidFill>
                  <a:srgbClr val="1B2340"/>
                </a:solidFill>
                <a:latin typeface="Calibri" pitchFamily="34" charset="0"/>
                <a:ea typeface="Calibri" pitchFamily="34" charset="-122"/>
                <a:cs typeface="Calibri" pitchFamily="34" charset="-120"/>
              </a:rPr>
              <a:t>1NF - each column holds atomic (indivisible) values, no repeating groups</a:t>
            </a:r>
            <a:endParaRPr lang="en-US" sz="1300" dirty="0"/>
          </a:p>
          <a:p>
            <a:pPr marL="177800" indent="-177800">
              <a:spcAft>
                <a:spcPts val="800"/>
              </a:spcAft>
              <a:buSzPct val="100000"/>
              <a:buChar char="•"/>
            </a:pPr>
            <a:r>
              <a:rPr lang="en-US" sz="1300" dirty="0">
                <a:solidFill>
                  <a:srgbClr val="1B2340"/>
                </a:solidFill>
                <a:latin typeface="Calibri" pitchFamily="34" charset="0"/>
                <a:ea typeface="Calibri" pitchFamily="34" charset="-122"/>
                <a:cs typeface="Calibri" pitchFamily="34" charset="-120"/>
              </a:rPr>
              <a:t>2NF - meets 1NF, and every non-key column depends on the whole primary key (removes partial dependency)</a:t>
            </a:r>
            <a:endParaRPr lang="en-US" sz="1300" dirty="0"/>
          </a:p>
          <a:p>
            <a:pPr marL="177800" indent="-177800">
              <a:spcAft>
                <a:spcPts val="800"/>
              </a:spcAft>
              <a:buSzPct val="100000"/>
              <a:buChar char="•"/>
            </a:pPr>
            <a:r>
              <a:rPr lang="en-US" sz="1300" dirty="0">
                <a:solidFill>
                  <a:srgbClr val="1B2340"/>
                </a:solidFill>
                <a:latin typeface="Calibri" pitchFamily="34" charset="0"/>
                <a:ea typeface="Calibri" pitchFamily="34" charset="-122"/>
                <a:cs typeface="Calibri" pitchFamily="34" charset="-120"/>
              </a:rPr>
              <a:t>3NF - meets 2NF, and no non-key column depends on another non-key column (removes transitive dependency)</a:t>
            </a:r>
            <a:endParaRPr lang="en-US" sz="1300" dirty="0"/>
          </a:p>
          <a:p>
            <a:pPr marL="177800" indent="-177800">
              <a:spcAft>
                <a:spcPts val="800"/>
              </a:spcAft>
              <a:buSzPct val="100000"/>
              <a:buChar char="•"/>
            </a:pPr>
            <a:r>
              <a:rPr lang="en-US" sz="1300" dirty="0">
                <a:solidFill>
                  <a:srgbClr val="1B2340"/>
                </a:solidFill>
                <a:latin typeface="Calibri" pitchFamily="34" charset="0"/>
                <a:ea typeface="Calibri" pitchFamily="34" charset="-122"/>
                <a:cs typeface="Calibri" pitchFamily="34" charset="-120"/>
              </a:rPr>
              <a:t>Normalization reduces duplicate data but may require more joins to retrieve it</a:t>
            </a:r>
            <a:endParaRPr lang="en-US" sz="1300" dirty="0"/>
          </a:p>
        </p:txBody>
      </p:sp>
      <p:sp>
        <p:nvSpPr>
          <p:cNvPr id="12" name="Shape 10"/>
          <p:cNvSpPr/>
          <p:nvPr/>
        </p:nvSpPr>
        <p:spPr>
          <a:xfrm>
            <a:off x="7589520" y="3200400"/>
            <a:ext cx="4114800" cy="2194560"/>
          </a:xfrm>
          <a:prstGeom prst="roundRect">
            <a:avLst>
              <a:gd name="adj" fmla="val 3333"/>
            </a:avLst>
          </a:prstGeom>
          <a:solidFill>
            <a:srgbClr val="FDF3E3"/>
          </a:solidFill>
          <a:ln/>
        </p:spPr>
      </p:sp>
      <p:sp>
        <p:nvSpPr>
          <p:cNvPr id="13" name="Text 11"/>
          <p:cNvSpPr/>
          <p:nvPr/>
        </p:nvSpPr>
        <p:spPr>
          <a:xfrm>
            <a:off x="7790688" y="3310128"/>
            <a:ext cx="3712464" cy="274320"/>
          </a:xfrm>
          <a:prstGeom prst="rect">
            <a:avLst/>
          </a:prstGeom>
          <a:noFill/>
          <a:ln/>
        </p:spPr>
        <p:txBody>
          <a:bodyPr wrap="square" rtlCol="0" anchor="ctr"/>
          <a:lstStyle/>
          <a:p>
            <a:pPr marL="0" indent="0">
              <a:buNone/>
            </a:pPr>
            <a:r>
              <a:rPr lang="en-US" sz="1100" b="1" kern="0" spc="50" dirty="0">
                <a:solidFill>
                  <a:srgbClr val="C9862A"/>
                </a:solidFill>
                <a:latin typeface="Calibri" pitchFamily="34" charset="0"/>
                <a:ea typeface="Calibri" pitchFamily="34" charset="-122"/>
                <a:cs typeface="Calibri" pitchFamily="34" charset="-120"/>
              </a:rPr>
              <a:t>💡 REAL-LIFE ANALOGY</a:t>
            </a:r>
            <a:endParaRPr lang="en-US" sz="1100" dirty="0"/>
          </a:p>
        </p:txBody>
      </p:sp>
      <p:sp>
        <p:nvSpPr>
          <p:cNvPr id="14" name="Text 12"/>
          <p:cNvSpPr/>
          <p:nvPr/>
        </p:nvSpPr>
        <p:spPr>
          <a:xfrm>
            <a:off x="7790688" y="3602736"/>
            <a:ext cx="3712464" cy="1664208"/>
          </a:xfrm>
          <a:prstGeom prst="rect">
            <a:avLst/>
          </a:prstGeom>
          <a:noFill/>
          <a:ln/>
        </p:spPr>
        <p:txBody>
          <a:bodyPr wrap="square" lIns="0" tIns="0" rIns="0" bIns="0" rtlCol="0" anchor="t"/>
          <a:lstStyle/>
          <a:p>
            <a:pPr marL="0" indent="0">
              <a:lnSpc>
                <a:spcPct val="110000"/>
              </a:lnSpc>
              <a:buNone/>
            </a:pPr>
            <a:r>
              <a:rPr lang="en-US" sz="1250" i="1" dirty="0">
                <a:solidFill>
                  <a:srgbClr val="1B2340"/>
                </a:solidFill>
                <a:latin typeface="Calibri" pitchFamily="34" charset="0"/>
                <a:ea typeface="Calibri" pitchFamily="34" charset="-122"/>
                <a:cs typeface="Calibri" pitchFamily="34" charset="-120"/>
              </a:rPr>
              <a:t>It's like organizing a messy filing cabinet into clearly labeled folders so information isn't duplicated across multiple files, and updating one fact doesn't mean hunting down five copies.</a:t>
            </a:r>
            <a:endParaRPr lang="en-US" sz="1250" dirty="0"/>
          </a:p>
        </p:txBody>
      </p:sp>
      <p:sp>
        <p:nvSpPr>
          <p:cNvPr id="15" name="Shape 13"/>
          <p:cNvSpPr/>
          <p:nvPr/>
        </p:nvSpPr>
        <p:spPr>
          <a:xfrm>
            <a:off x="502920" y="5870448"/>
            <a:ext cx="11201400" cy="603504"/>
          </a:xfrm>
          <a:prstGeom prst="roundRect">
            <a:avLst>
              <a:gd name="adj" fmla="val 12121"/>
            </a:avLst>
          </a:prstGeom>
          <a:solidFill>
            <a:srgbClr val="1B2340"/>
          </a:solidFill>
          <a:ln/>
        </p:spPr>
      </p:sp>
      <p:sp>
        <p:nvSpPr>
          <p:cNvPr id="16" name="Text 14"/>
          <p:cNvSpPr/>
          <p:nvPr/>
        </p:nvSpPr>
        <p:spPr>
          <a:xfrm>
            <a:off x="731520" y="5961888"/>
            <a:ext cx="10744200" cy="256032"/>
          </a:xfrm>
          <a:prstGeom prst="rect">
            <a:avLst/>
          </a:prstGeom>
          <a:noFill/>
          <a:ln/>
        </p:spPr>
        <p:txBody>
          <a:bodyPr wrap="square" rtlCol="0" anchor="ctr"/>
          <a:lstStyle/>
          <a:p>
            <a:pPr marL="0" indent="0">
              <a:buNone/>
            </a:pPr>
            <a:r>
              <a:rPr lang="en-US" sz="1050" b="1" kern="0" spc="80" dirty="0">
                <a:solidFill>
                  <a:srgbClr val="E8A33D"/>
                </a:solidFill>
                <a:latin typeface="Calibri" pitchFamily="34" charset="0"/>
                <a:ea typeface="Calibri" pitchFamily="34" charset="-122"/>
                <a:cs typeface="Calibri" pitchFamily="34" charset="-120"/>
              </a:rPr>
              <a:t>ONE-LINE INTERVIEW ANSWER</a:t>
            </a:r>
            <a:endParaRPr lang="en-US" sz="1050" dirty="0"/>
          </a:p>
        </p:txBody>
      </p:sp>
      <p:sp>
        <p:nvSpPr>
          <p:cNvPr id="17" name="Text 15"/>
          <p:cNvSpPr/>
          <p:nvPr/>
        </p:nvSpPr>
        <p:spPr>
          <a:xfrm>
            <a:off x="731520" y="6217920"/>
            <a:ext cx="10744200" cy="146304"/>
          </a:xfrm>
          <a:prstGeom prst="rect">
            <a:avLst/>
          </a:prstGeom>
          <a:noFill/>
          <a:ln/>
        </p:spPr>
        <p:txBody>
          <a:bodyPr wrap="square" lIns="0" tIns="0" rIns="0" bIns="0" rtlCol="0" anchor="t"/>
          <a:lstStyle/>
          <a:p>
            <a:pPr marL="0" indent="0">
              <a:lnSpc>
                <a:spcPct val="105000"/>
              </a:lnSpc>
              <a:buNone/>
            </a:pPr>
            <a:r>
              <a:rPr lang="en-US" sz="1250" dirty="0">
                <a:solidFill>
                  <a:srgbClr val="FFFFFF"/>
                </a:solidFill>
                <a:latin typeface="Calibri" pitchFamily="34" charset="0"/>
                <a:ea typeface="Calibri" pitchFamily="34" charset="-122"/>
                <a:cs typeface="Calibri" pitchFamily="34" charset="-120"/>
              </a:rPr>
              <a:t>Normalization organizes tables through stages (1NF, 2NF, 3NF) to reduce redundancy and keep data consistent.</a:t>
            </a:r>
            <a:endParaRPr lang="en-US" sz="1250" dirty="0"/>
          </a:p>
        </p:txBody>
      </p:sp>
      <p:sp>
        <p:nvSpPr>
          <p:cNvPr id="18" name="Text 16"/>
          <p:cNvSpPr/>
          <p:nvPr/>
        </p:nvSpPr>
        <p:spPr>
          <a:xfrm>
            <a:off x="457200" y="6583680"/>
            <a:ext cx="5486400" cy="228600"/>
          </a:xfrm>
          <a:prstGeom prst="rect">
            <a:avLst/>
          </a:prstGeom>
          <a:noFill/>
          <a:ln/>
        </p:spPr>
        <p:txBody>
          <a:bodyPr wrap="square" rtlCol="0" anchor="ctr"/>
          <a:lstStyle/>
          <a:p>
            <a:pPr marL="0" indent="0" algn="l">
              <a:buNone/>
            </a:pPr>
            <a:r>
              <a:rPr lang="en-US" sz="850" dirty="0">
                <a:solidFill>
                  <a:srgbClr val="5B6178"/>
                </a:solidFill>
                <a:latin typeface="Calibri" pitchFamily="34" charset="0"/>
                <a:ea typeface="Calibri" pitchFamily="34" charset="-122"/>
                <a:cs typeface="Calibri" pitchFamily="34" charset="-120"/>
              </a:rPr>
              <a:t>Java &amp; Full-Stack Interview Prep</a:t>
            </a:r>
            <a:endParaRPr lang="en-US" sz="85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Shape 0"/>
          <p:cNvSpPr/>
          <p:nvPr/>
        </p:nvSpPr>
        <p:spPr>
          <a:xfrm>
            <a:off x="502920" y="384048"/>
            <a:ext cx="3474720" cy="310896"/>
          </a:xfrm>
          <a:prstGeom prst="roundRect">
            <a:avLst>
              <a:gd name="adj" fmla="val 23529"/>
            </a:avLst>
          </a:prstGeom>
          <a:solidFill>
            <a:srgbClr val="E8A33D"/>
          </a:solidFill>
          <a:ln/>
        </p:spPr>
      </p:sp>
      <p:sp>
        <p:nvSpPr>
          <p:cNvPr id="3" name="Text 1"/>
          <p:cNvSpPr/>
          <p:nvPr/>
        </p:nvSpPr>
        <p:spPr>
          <a:xfrm>
            <a:off x="502920" y="384048"/>
            <a:ext cx="3474720" cy="310896"/>
          </a:xfrm>
          <a:prstGeom prst="rect">
            <a:avLst/>
          </a:prstGeom>
          <a:noFill/>
          <a:ln/>
        </p:spPr>
        <p:txBody>
          <a:bodyPr wrap="square" rtlCol="0" anchor="ctr"/>
          <a:lstStyle/>
          <a:p>
            <a:pPr marL="0" indent="0" algn="ctr">
              <a:buNone/>
            </a:pPr>
            <a:r>
              <a:rPr lang="en-US" sz="1100" b="1" kern="0" spc="100" dirty="0">
                <a:solidFill>
                  <a:srgbClr val="1B2340"/>
                </a:solidFill>
                <a:latin typeface="Calibri" pitchFamily="34" charset="0"/>
                <a:ea typeface="Calibri" pitchFamily="34" charset="-122"/>
                <a:cs typeface="Calibri" pitchFamily="34" charset="-120"/>
              </a:rPr>
              <a:t>SQL &amp; DATABASES</a:t>
            </a:r>
            <a:endParaRPr lang="en-US" sz="1100" dirty="0"/>
          </a:p>
        </p:txBody>
      </p:sp>
      <p:sp>
        <p:nvSpPr>
          <p:cNvPr id="4" name="Text 2"/>
          <p:cNvSpPr/>
          <p:nvPr/>
        </p:nvSpPr>
        <p:spPr>
          <a:xfrm>
            <a:off x="502920" y="786384"/>
            <a:ext cx="11155680" cy="868680"/>
          </a:xfrm>
          <a:prstGeom prst="rect">
            <a:avLst/>
          </a:prstGeom>
          <a:noFill/>
          <a:ln/>
        </p:spPr>
        <p:txBody>
          <a:bodyPr wrap="square" rtlCol="0" anchor="t"/>
          <a:lstStyle/>
          <a:p>
            <a:pPr marL="0" indent="0">
              <a:lnSpc>
                <a:spcPct val="102000"/>
              </a:lnSpc>
              <a:buNone/>
            </a:pPr>
            <a:r>
              <a:rPr lang="en-US" sz="2500" b="1" dirty="0">
                <a:solidFill>
                  <a:srgbClr val="1B2340"/>
                </a:solidFill>
                <a:latin typeface="Century Schoolbook" pitchFamily="34" charset="0"/>
                <a:ea typeface="Century Schoolbook" pitchFamily="34" charset="-122"/>
                <a:cs typeface="Century Schoolbook" pitchFamily="34" charset="-120"/>
              </a:rPr>
              <a:t>SQL vs MongoDB vs PostgreSQL - what's the difference?</a:t>
            </a:r>
            <a:endParaRPr lang="en-US" sz="2500" dirty="0"/>
          </a:p>
        </p:txBody>
      </p:sp>
      <p:sp>
        <p:nvSpPr>
          <p:cNvPr id="5" name="Shape 3"/>
          <p:cNvSpPr/>
          <p:nvPr/>
        </p:nvSpPr>
        <p:spPr>
          <a:xfrm>
            <a:off x="502920" y="1810512"/>
            <a:ext cx="164592" cy="274320"/>
          </a:xfrm>
          <a:prstGeom prst="roundRect">
            <a:avLst>
              <a:gd name="adj" fmla="val 22222"/>
            </a:avLst>
          </a:prstGeom>
          <a:solidFill>
            <a:srgbClr val="E8A33D"/>
          </a:solidFill>
          <a:ln/>
        </p:spPr>
      </p:sp>
      <p:sp>
        <p:nvSpPr>
          <p:cNvPr id="6" name="Text 4"/>
          <p:cNvSpPr/>
          <p:nvPr/>
        </p:nvSpPr>
        <p:spPr>
          <a:xfrm>
            <a:off x="758952" y="1783080"/>
            <a:ext cx="4315968" cy="329184"/>
          </a:xfrm>
          <a:prstGeom prst="rect">
            <a:avLst/>
          </a:prstGeom>
          <a:noFill/>
          <a:ln/>
        </p:spPr>
        <p:txBody>
          <a:bodyPr wrap="square" rtlCol="0" anchor="ctr"/>
          <a:lstStyle/>
          <a:p>
            <a:pPr marL="0" indent="0">
              <a:buNone/>
            </a:pPr>
            <a:r>
              <a:rPr lang="en-US" sz="1300" b="1" kern="0" spc="50" dirty="0">
                <a:solidFill>
                  <a:srgbClr val="1B2340"/>
                </a:solidFill>
                <a:latin typeface="Calibri" pitchFamily="34" charset="0"/>
                <a:ea typeface="Calibri" pitchFamily="34" charset="-122"/>
                <a:cs typeface="Calibri" pitchFamily="34" charset="-120"/>
              </a:rPr>
              <a:t>DEFINITION / CONCEPT</a:t>
            </a:r>
            <a:endParaRPr lang="en-US" sz="1300" dirty="0"/>
          </a:p>
        </p:txBody>
      </p:sp>
      <p:sp>
        <p:nvSpPr>
          <p:cNvPr id="7" name="Shape 5"/>
          <p:cNvSpPr/>
          <p:nvPr/>
        </p:nvSpPr>
        <p:spPr>
          <a:xfrm>
            <a:off x="502920" y="2121408"/>
            <a:ext cx="11201400" cy="914400"/>
          </a:xfrm>
          <a:prstGeom prst="roundRect">
            <a:avLst>
              <a:gd name="adj" fmla="val 8000"/>
            </a:avLst>
          </a:prstGeom>
          <a:solidFill>
            <a:srgbClr val="F7F7FA"/>
          </a:solidFill>
          <a:ln w="12700">
            <a:solidFill>
              <a:srgbClr val="E4E6EF"/>
            </a:solidFill>
            <a:prstDash val="solid"/>
          </a:ln>
        </p:spPr>
      </p:sp>
      <p:sp>
        <p:nvSpPr>
          <p:cNvPr id="8" name="Text 6"/>
          <p:cNvSpPr/>
          <p:nvPr/>
        </p:nvSpPr>
        <p:spPr>
          <a:xfrm>
            <a:off x="758952" y="2304288"/>
            <a:ext cx="10689336" cy="548640"/>
          </a:xfrm>
          <a:prstGeom prst="rect">
            <a:avLst/>
          </a:prstGeom>
          <a:noFill/>
          <a:ln/>
        </p:spPr>
        <p:txBody>
          <a:bodyPr wrap="square" lIns="0" tIns="0" rIns="0" bIns="0" rtlCol="0" anchor="t"/>
          <a:lstStyle/>
          <a:p>
            <a:pPr marL="0" indent="0">
              <a:lnSpc>
                <a:spcPct val="115000"/>
              </a:lnSpc>
              <a:buNone/>
            </a:pPr>
            <a:r>
              <a:rPr lang="en-US" sz="1450" dirty="0">
                <a:solidFill>
                  <a:srgbClr val="1B2340"/>
                </a:solidFill>
                <a:latin typeface="Calibri" pitchFamily="34" charset="0"/>
                <a:ea typeface="Calibri" pitchFamily="34" charset="-122"/>
                <a:cs typeface="Calibri" pitchFamily="34" charset="-120"/>
              </a:rPr>
              <a:t>These represent different types of database systems, each suited to different kinds of data and use cases.</a:t>
            </a:r>
            <a:endParaRPr lang="en-US" sz="1450" dirty="0"/>
          </a:p>
        </p:txBody>
      </p:sp>
      <p:sp>
        <p:nvSpPr>
          <p:cNvPr id="9" name="Shape 7"/>
          <p:cNvSpPr/>
          <p:nvPr/>
        </p:nvSpPr>
        <p:spPr>
          <a:xfrm>
            <a:off x="502920" y="3200400"/>
            <a:ext cx="164592" cy="274320"/>
          </a:xfrm>
          <a:prstGeom prst="roundRect">
            <a:avLst>
              <a:gd name="adj" fmla="val 22222"/>
            </a:avLst>
          </a:prstGeom>
          <a:solidFill>
            <a:srgbClr val="3FBFAE"/>
          </a:solidFill>
          <a:ln/>
        </p:spPr>
      </p:sp>
      <p:sp>
        <p:nvSpPr>
          <p:cNvPr id="10" name="Text 8"/>
          <p:cNvSpPr/>
          <p:nvPr/>
        </p:nvSpPr>
        <p:spPr>
          <a:xfrm>
            <a:off x="758952" y="3172968"/>
            <a:ext cx="4315968" cy="329184"/>
          </a:xfrm>
          <a:prstGeom prst="rect">
            <a:avLst/>
          </a:prstGeom>
          <a:noFill/>
          <a:ln/>
        </p:spPr>
        <p:txBody>
          <a:bodyPr wrap="square" rtlCol="0" anchor="ctr"/>
          <a:lstStyle/>
          <a:p>
            <a:pPr marL="0" indent="0">
              <a:buNone/>
            </a:pPr>
            <a:r>
              <a:rPr lang="en-US" sz="1300" b="1" kern="0" spc="50" dirty="0">
                <a:solidFill>
                  <a:srgbClr val="1B2340"/>
                </a:solidFill>
                <a:latin typeface="Calibri" pitchFamily="34" charset="0"/>
                <a:ea typeface="Calibri" pitchFamily="34" charset="-122"/>
                <a:cs typeface="Calibri" pitchFamily="34" charset="-120"/>
              </a:rPr>
              <a:t>EXPLANATION</a:t>
            </a:r>
            <a:endParaRPr lang="en-US" sz="1300" dirty="0"/>
          </a:p>
        </p:txBody>
      </p:sp>
      <p:sp>
        <p:nvSpPr>
          <p:cNvPr id="11" name="Text 9"/>
          <p:cNvSpPr/>
          <p:nvPr/>
        </p:nvSpPr>
        <p:spPr>
          <a:xfrm>
            <a:off x="502920" y="3529584"/>
            <a:ext cx="6858000" cy="2331720"/>
          </a:xfrm>
          <a:prstGeom prst="rect">
            <a:avLst/>
          </a:prstGeom>
          <a:noFill/>
          <a:ln/>
        </p:spPr>
        <p:txBody>
          <a:bodyPr wrap="square" lIns="0" tIns="0" rIns="0" bIns="0" rtlCol="0" anchor="t"/>
          <a:lstStyle/>
          <a:p>
            <a:pPr marL="177800" indent="-177800">
              <a:spcAft>
                <a:spcPts val="800"/>
              </a:spcAft>
              <a:buSzPct val="100000"/>
              <a:buChar char="•"/>
            </a:pPr>
            <a:r>
              <a:rPr lang="en-US" sz="1300" dirty="0">
                <a:solidFill>
                  <a:srgbClr val="1B2340"/>
                </a:solidFill>
                <a:latin typeface="Calibri" pitchFamily="34" charset="0"/>
                <a:ea typeface="Calibri" pitchFamily="34" charset="-122"/>
                <a:cs typeface="Calibri" pitchFamily="34" charset="-120"/>
              </a:rPr>
              <a:t>SQL (relational databases in general, e.g. MySQL) - stores data in structured tables with fixed schemas and relationships</a:t>
            </a:r>
            <a:endParaRPr lang="en-US" sz="1300" dirty="0"/>
          </a:p>
          <a:p>
            <a:pPr marL="177800" indent="-177800">
              <a:spcAft>
                <a:spcPts val="800"/>
              </a:spcAft>
              <a:buSzPct val="100000"/>
              <a:buChar char="•"/>
            </a:pPr>
            <a:r>
              <a:rPr lang="en-US" sz="1300" dirty="0">
                <a:solidFill>
                  <a:srgbClr val="1B2340"/>
                </a:solidFill>
                <a:latin typeface="Calibri" pitchFamily="34" charset="0"/>
                <a:ea typeface="Calibri" pitchFamily="34" charset="-122"/>
                <a:cs typeface="Calibri" pitchFamily="34" charset="-120"/>
              </a:rPr>
              <a:t>PostgreSQL - a powerful, open-source relational (SQL) database known for advanced features and standards compliance</a:t>
            </a:r>
            <a:endParaRPr lang="en-US" sz="1300" dirty="0"/>
          </a:p>
          <a:p>
            <a:pPr marL="177800" indent="-177800">
              <a:spcAft>
                <a:spcPts val="800"/>
              </a:spcAft>
              <a:buSzPct val="100000"/>
              <a:buChar char="•"/>
            </a:pPr>
            <a:r>
              <a:rPr lang="en-US" sz="1300" dirty="0">
                <a:solidFill>
                  <a:srgbClr val="1B2340"/>
                </a:solidFill>
                <a:latin typeface="Calibri" pitchFamily="34" charset="0"/>
                <a:ea typeface="Calibri" pitchFamily="34" charset="-122"/>
                <a:cs typeface="Calibri" pitchFamily="34" charset="-120"/>
              </a:rPr>
              <a:t>MongoDB - a NoSQL, document-based database that stores flexible, JSON-like data without a fixed schema</a:t>
            </a:r>
            <a:endParaRPr lang="en-US" sz="1300" dirty="0"/>
          </a:p>
          <a:p>
            <a:pPr marL="177800" indent="-177800">
              <a:spcAft>
                <a:spcPts val="800"/>
              </a:spcAft>
              <a:buSzPct val="100000"/>
              <a:buChar char="•"/>
            </a:pPr>
            <a:r>
              <a:rPr lang="en-US" sz="1300" dirty="0">
                <a:solidFill>
                  <a:srgbClr val="1B2340"/>
                </a:solidFill>
                <a:latin typeface="Calibri" pitchFamily="34" charset="0"/>
                <a:ea typeface="Calibri" pitchFamily="34" charset="-122"/>
                <a:cs typeface="Calibri" pitchFamily="34" charset="-120"/>
              </a:rPr>
              <a:t>Choose SQL/PostgreSQL for structured, relational data; choose MongoDB for flexible, fast-changing, unstructured data</a:t>
            </a:r>
            <a:endParaRPr lang="en-US" sz="1300" dirty="0"/>
          </a:p>
        </p:txBody>
      </p:sp>
      <p:sp>
        <p:nvSpPr>
          <p:cNvPr id="12" name="Shape 10"/>
          <p:cNvSpPr/>
          <p:nvPr/>
        </p:nvSpPr>
        <p:spPr>
          <a:xfrm>
            <a:off x="7589520" y="3200400"/>
            <a:ext cx="4114800" cy="2194560"/>
          </a:xfrm>
          <a:prstGeom prst="roundRect">
            <a:avLst>
              <a:gd name="adj" fmla="val 3333"/>
            </a:avLst>
          </a:prstGeom>
          <a:solidFill>
            <a:srgbClr val="FDF3E3"/>
          </a:solidFill>
          <a:ln/>
        </p:spPr>
      </p:sp>
      <p:sp>
        <p:nvSpPr>
          <p:cNvPr id="13" name="Text 11"/>
          <p:cNvSpPr/>
          <p:nvPr/>
        </p:nvSpPr>
        <p:spPr>
          <a:xfrm>
            <a:off x="7790688" y="3310128"/>
            <a:ext cx="3712464" cy="274320"/>
          </a:xfrm>
          <a:prstGeom prst="rect">
            <a:avLst/>
          </a:prstGeom>
          <a:noFill/>
          <a:ln/>
        </p:spPr>
        <p:txBody>
          <a:bodyPr wrap="square" rtlCol="0" anchor="ctr"/>
          <a:lstStyle/>
          <a:p>
            <a:pPr marL="0" indent="0">
              <a:buNone/>
            </a:pPr>
            <a:r>
              <a:rPr lang="en-US" sz="1100" b="1" kern="0" spc="50" dirty="0">
                <a:solidFill>
                  <a:srgbClr val="C9862A"/>
                </a:solidFill>
                <a:latin typeface="Calibri" pitchFamily="34" charset="0"/>
                <a:ea typeface="Calibri" pitchFamily="34" charset="-122"/>
                <a:cs typeface="Calibri" pitchFamily="34" charset="-120"/>
              </a:rPr>
              <a:t>💡 REAL-LIFE ANALOGY</a:t>
            </a:r>
            <a:endParaRPr lang="en-US" sz="1100" dirty="0"/>
          </a:p>
        </p:txBody>
      </p:sp>
      <p:sp>
        <p:nvSpPr>
          <p:cNvPr id="14" name="Text 12"/>
          <p:cNvSpPr/>
          <p:nvPr/>
        </p:nvSpPr>
        <p:spPr>
          <a:xfrm>
            <a:off x="7790688" y="3602736"/>
            <a:ext cx="3712464" cy="1664208"/>
          </a:xfrm>
          <a:prstGeom prst="rect">
            <a:avLst/>
          </a:prstGeom>
          <a:noFill/>
          <a:ln/>
        </p:spPr>
        <p:txBody>
          <a:bodyPr wrap="square" lIns="0" tIns="0" rIns="0" bIns="0" rtlCol="0" anchor="t"/>
          <a:lstStyle/>
          <a:p>
            <a:pPr marL="0" indent="0">
              <a:lnSpc>
                <a:spcPct val="110000"/>
              </a:lnSpc>
              <a:buNone/>
            </a:pPr>
            <a:r>
              <a:rPr lang="en-US" sz="1250" i="1" dirty="0">
                <a:solidFill>
                  <a:srgbClr val="1B2340"/>
                </a:solidFill>
                <a:latin typeface="Calibri" pitchFamily="34" charset="0"/>
                <a:ea typeface="Calibri" pitchFamily="34" charset="-122"/>
                <a:cs typeface="Calibri" pitchFamily="34" charset="-120"/>
              </a:rPr>
              <a:t>A relational database (SQL/PostgreSQL) is like a strict spreadsheet with fixed columns for every row. MongoDB is like a folder of sticky notes, where each note can have different information written on it.</a:t>
            </a:r>
            <a:endParaRPr lang="en-US" sz="1250" dirty="0"/>
          </a:p>
        </p:txBody>
      </p:sp>
      <p:sp>
        <p:nvSpPr>
          <p:cNvPr id="15" name="Shape 13"/>
          <p:cNvSpPr/>
          <p:nvPr/>
        </p:nvSpPr>
        <p:spPr>
          <a:xfrm>
            <a:off x="502920" y="5870448"/>
            <a:ext cx="11201400" cy="603504"/>
          </a:xfrm>
          <a:prstGeom prst="roundRect">
            <a:avLst>
              <a:gd name="adj" fmla="val 12121"/>
            </a:avLst>
          </a:prstGeom>
          <a:solidFill>
            <a:srgbClr val="1B2340"/>
          </a:solidFill>
          <a:ln/>
        </p:spPr>
      </p:sp>
      <p:sp>
        <p:nvSpPr>
          <p:cNvPr id="16" name="Text 14"/>
          <p:cNvSpPr/>
          <p:nvPr/>
        </p:nvSpPr>
        <p:spPr>
          <a:xfrm>
            <a:off x="731520" y="5961888"/>
            <a:ext cx="10744200" cy="256032"/>
          </a:xfrm>
          <a:prstGeom prst="rect">
            <a:avLst/>
          </a:prstGeom>
          <a:noFill/>
          <a:ln/>
        </p:spPr>
        <p:txBody>
          <a:bodyPr wrap="square" rtlCol="0" anchor="ctr"/>
          <a:lstStyle/>
          <a:p>
            <a:pPr marL="0" indent="0">
              <a:buNone/>
            </a:pPr>
            <a:r>
              <a:rPr lang="en-US" sz="1050" b="1" kern="0" spc="80" dirty="0">
                <a:solidFill>
                  <a:srgbClr val="E8A33D"/>
                </a:solidFill>
                <a:latin typeface="Calibri" pitchFamily="34" charset="0"/>
                <a:ea typeface="Calibri" pitchFamily="34" charset="-122"/>
                <a:cs typeface="Calibri" pitchFamily="34" charset="-120"/>
              </a:rPr>
              <a:t>ONE-LINE INTERVIEW ANSWER</a:t>
            </a:r>
            <a:endParaRPr lang="en-US" sz="1050" dirty="0"/>
          </a:p>
        </p:txBody>
      </p:sp>
      <p:sp>
        <p:nvSpPr>
          <p:cNvPr id="17" name="Text 15"/>
          <p:cNvSpPr/>
          <p:nvPr/>
        </p:nvSpPr>
        <p:spPr>
          <a:xfrm>
            <a:off x="731520" y="6217920"/>
            <a:ext cx="10744200" cy="146304"/>
          </a:xfrm>
          <a:prstGeom prst="rect">
            <a:avLst/>
          </a:prstGeom>
          <a:noFill/>
          <a:ln/>
        </p:spPr>
        <p:txBody>
          <a:bodyPr wrap="square" lIns="0" tIns="0" rIns="0" bIns="0" rtlCol="0" anchor="t"/>
          <a:lstStyle/>
          <a:p>
            <a:pPr marL="0" indent="0">
              <a:lnSpc>
                <a:spcPct val="105000"/>
              </a:lnSpc>
              <a:buNone/>
            </a:pPr>
            <a:r>
              <a:rPr lang="en-US" sz="1250" dirty="0">
                <a:solidFill>
                  <a:srgbClr val="FFFFFF"/>
                </a:solidFill>
                <a:latin typeface="Calibri" pitchFamily="34" charset="0"/>
                <a:ea typeface="Calibri" pitchFamily="34" charset="-122"/>
                <a:cs typeface="Calibri" pitchFamily="34" charset="-120"/>
              </a:rPr>
              <a:t>SQL databases store structured, related data in tables; PostgreSQL is a robust SQL database; MongoDB is a flexible NoSQL, document-based database.</a:t>
            </a:r>
            <a:endParaRPr lang="en-US" sz="1250" dirty="0"/>
          </a:p>
        </p:txBody>
      </p:sp>
      <p:sp>
        <p:nvSpPr>
          <p:cNvPr id="18" name="Text 16"/>
          <p:cNvSpPr/>
          <p:nvPr/>
        </p:nvSpPr>
        <p:spPr>
          <a:xfrm>
            <a:off x="457200" y="6583680"/>
            <a:ext cx="5486400" cy="228600"/>
          </a:xfrm>
          <a:prstGeom prst="rect">
            <a:avLst/>
          </a:prstGeom>
          <a:noFill/>
          <a:ln/>
        </p:spPr>
        <p:txBody>
          <a:bodyPr wrap="square" rtlCol="0" anchor="ctr"/>
          <a:lstStyle/>
          <a:p>
            <a:pPr marL="0" indent="0" algn="l">
              <a:buNone/>
            </a:pPr>
            <a:r>
              <a:rPr lang="en-US" sz="850" dirty="0">
                <a:solidFill>
                  <a:srgbClr val="5B6178"/>
                </a:solidFill>
                <a:latin typeface="Calibri" pitchFamily="34" charset="0"/>
                <a:ea typeface="Calibri" pitchFamily="34" charset="-122"/>
                <a:cs typeface="Calibri" pitchFamily="34" charset="-120"/>
              </a:rPr>
              <a:t>Java &amp; Full-Stack Interview Prep</a:t>
            </a:r>
            <a:endParaRPr lang="en-US" sz="85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1B2340"/>
        </a:solidFill>
        <a:effectLst/>
      </p:bgPr>
    </p:bg>
    <p:spTree>
      <p:nvGrpSpPr>
        <p:cNvPr id="1" name=""/>
        <p:cNvGrpSpPr/>
        <p:nvPr/>
      </p:nvGrpSpPr>
      <p:grpSpPr>
        <a:xfrm>
          <a:off x="0" y="0"/>
          <a:ext cx="0" cy="0"/>
          <a:chOff x="0" y="0"/>
          <a:chExt cx="0" cy="0"/>
        </a:xfrm>
      </p:grpSpPr>
      <p:sp>
        <p:nvSpPr>
          <p:cNvPr id="2" name="Shape 0"/>
          <p:cNvSpPr/>
          <p:nvPr/>
        </p:nvSpPr>
        <p:spPr>
          <a:xfrm>
            <a:off x="9692640" y="-1463040"/>
            <a:ext cx="4206240" cy="4206240"/>
          </a:xfrm>
          <a:prstGeom prst="ellipse">
            <a:avLst/>
          </a:prstGeom>
          <a:solidFill>
            <a:srgbClr val="232B4D"/>
          </a:solidFill>
          <a:ln/>
        </p:spPr>
      </p:sp>
      <p:sp>
        <p:nvSpPr>
          <p:cNvPr id="3" name="Text 1"/>
          <p:cNvSpPr/>
          <p:nvPr/>
        </p:nvSpPr>
        <p:spPr>
          <a:xfrm>
            <a:off x="822960" y="1920240"/>
            <a:ext cx="2743200" cy="1463040"/>
          </a:xfrm>
          <a:prstGeom prst="rect">
            <a:avLst/>
          </a:prstGeom>
          <a:noFill/>
          <a:ln/>
        </p:spPr>
        <p:txBody>
          <a:bodyPr wrap="square" rtlCol="0" anchor="ctr"/>
          <a:lstStyle/>
          <a:p>
            <a:pPr marL="0" indent="0">
              <a:buNone/>
            </a:pPr>
            <a:r>
              <a:rPr lang="en-US" sz="6400" b="1" dirty="0">
                <a:solidFill>
                  <a:srgbClr val="232B4D"/>
                </a:solidFill>
                <a:latin typeface="Century Schoolbook" pitchFamily="34" charset="0"/>
                <a:ea typeface="Century Schoolbook" pitchFamily="34" charset="-122"/>
                <a:cs typeface="Century Schoolbook" pitchFamily="34" charset="-120"/>
              </a:rPr>
              <a:t>06</a:t>
            </a:r>
            <a:endParaRPr lang="en-US" sz="6400" dirty="0"/>
          </a:p>
        </p:txBody>
      </p:sp>
      <p:sp>
        <p:nvSpPr>
          <p:cNvPr id="4" name="Shape 2"/>
          <p:cNvSpPr/>
          <p:nvPr/>
        </p:nvSpPr>
        <p:spPr>
          <a:xfrm>
            <a:off x="868680" y="3383280"/>
            <a:ext cx="1005840" cy="82296"/>
          </a:xfrm>
          <a:prstGeom prst="rect">
            <a:avLst/>
          </a:prstGeom>
          <a:solidFill>
            <a:srgbClr val="E8A33D"/>
          </a:solidFill>
          <a:ln/>
        </p:spPr>
      </p:sp>
      <p:sp>
        <p:nvSpPr>
          <p:cNvPr id="5" name="Text 3"/>
          <p:cNvSpPr/>
          <p:nvPr/>
        </p:nvSpPr>
        <p:spPr>
          <a:xfrm>
            <a:off x="822960" y="3520440"/>
            <a:ext cx="9601200" cy="1005840"/>
          </a:xfrm>
          <a:prstGeom prst="rect">
            <a:avLst/>
          </a:prstGeom>
          <a:noFill/>
          <a:ln/>
        </p:spPr>
        <p:txBody>
          <a:bodyPr wrap="square" rtlCol="0" anchor="ctr"/>
          <a:lstStyle/>
          <a:p>
            <a:pPr marL="0" indent="0">
              <a:buNone/>
            </a:pPr>
            <a:r>
              <a:rPr lang="en-US" sz="3800" b="1" dirty="0">
                <a:solidFill>
                  <a:srgbClr val="FFFFFF"/>
                </a:solidFill>
                <a:latin typeface="Century Schoolbook" pitchFamily="34" charset="0"/>
                <a:ea typeface="Century Schoolbook" pitchFamily="34" charset="-122"/>
                <a:cs typeface="Century Schoolbook" pitchFamily="34" charset="-120"/>
              </a:rPr>
              <a:t>DSA Coding Practice</a:t>
            </a:r>
            <a:endParaRPr lang="en-US" sz="3800" dirty="0"/>
          </a:p>
        </p:txBody>
      </p:sp>
      <p:sp>
        <p:nvSpPr>
          <p:cNvPr id="6" name="Text 4"/>
          <p:cNvSpPr/>
          <p:nvPr/>
        </p:nvSpPr>
        <p:spPr>
          <a:xfrm>
            <a:off x="822960" y="4434840"/>
            <a:ext cx="8229600" cy="457200"/>
          </a:xfrm>
          <a:prstGeom prst="rect">
            <a:avLst/>
          </a:prstGeom>
          <a:noFill/>
          <a:ln/>
        </p:spPr>
        <p:txBody>
          <a:bodyPr wrap="square" rtlCol="0" anchor="ctr"/>
          <a:lstStyle/>
          <a:p>
            <a:pPr marL="0" indent="0">
              <a:buNone/>
            </a:pPr>
            <a:r>
              <a:rPr lang="en-US" sz="1400" i="1" dirty="0">
                <a:solidFill>
                  <a:srgbClr val="C3C8DC"/>
                </a:solidFill>
                <a:latin typeface="Calibri" pitchFamily="34" charset="0"/>
                <a:ea typeface="Calibri" pitchFamily="34" charset="-122"/>
                <a:cs typeface="Calibri" pitchFamily="34" charset="-120"/>
              </a:rPr>
              <a:t>18 slides covering commonly asked interview questions</a:t>
            </a:r>
            <a:endParaRPr lang="en-US" sz="1400" dirty="0"/>
          </a:p>
        </p:txBody>
      </p:sp>
      <p:sp>
        <p:nvSpPr>
          <p:cNvPr id="7" name="Text 5"/>
          <p:cNvSpPr/>
          <p:nvPr/>
        </p:nvSpPr>
        <p:spPr>
          <a:xfrm>
            <a:off x="457200" y="6583680"/>
            <a:ext cx="5486400" cy="228600"/>
          </a:xfrm>
          <a:prstGeom prst="rect">
            <a:avLst/>
          </a:prstGeom>
          <a:noFill/>
          <a:ln/>
        </p:spPr>
        <p:txBody>
          <a:bodyPr wrap="square" rtlCol="0" anchor="ctr"/>
          <a:lstStyle/>
          <a:p>
            <a:pPr marL="0" indent="0" algn="l">
              <a:buNone/>
            </a:pPr>
            <a:r>
              <a:rPr lang="en-US" sz="850" dirty="0">
                <a:solidFill>
                  <a:srgbClr val="5B6178"/>
                </a:solidFill>
                <a:latin typeface="Calibri" pitchFamily="34" charset="0"/>
                <a:ea typeface="Calibri" pitchFamily="34" charset="-122"/>
                <a:cs typeface="Calibri" pitchFamily="34" charset="-120"/>
              </a:rPr>
              <a:t>Java &amp; Full-Stack Interview Prep</a:t>
            </a:r>
            <a:endParaRPr lang="en-US" sz="85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Shape 0"/>
          <p:cNvSpPr/>
          <p:nvPr/>
        </p:nvSpPr>
        <p:spPr>
          <a:xfrm>
            <a:off x="502920" y="384048"/>
            <a:ext cx="4279392" cy="310896"/>
          </a:xfrm>
          <a:prstGeom prst="roundRect">
            <a:avLst>
              <a:gd name="adj" fmla="val 23529"/>
            </a:avLst>
          </a:prstGeom>
          <a:solidFill>
            <a:srgbClr val="E8A33D"/>
          </a:solidFill>
          <a:ln/>
        </p:spPr>
      </p:sp>
      <p:sp>
        <p:nvSpPr>
          <p:cNvPr id="3" name="Text 1"/>
          <p:cNvSpPr/>
          <p:nvPr/>
        </p:nvSpPr>
        <p:spPr>
          <a:xfrm>
            <a:off x="502920" y="384048"/>
            <a:ext cx="4279392" cy="310896"/>
          </a:xfrm>
          <a:prstGeom prst="rect">
            <a:avLst/>
          </a:prstGeom>
          <a:noFill/>
          <a:ln/>
        </p:spPr>
        <p:txBody>
          <a:bodyPr wrap="square" rtlCol="0" anchor="ctr"/>
          <a:lstStyle/>
          <a:p>
            <a:pPr marL="0" indent="0" algn="ctr">
              <a:buNone/>
            </a:pPr>
            <a:r>
              <a:rPr lang="en-US" sz="1100" b="1" kern="0" spc="100" dirty="0">
                <a:solidFill>
                  <a:srgbClr val="1B2340"/>
                </a:solidFill>
                <a:latin typeface="Calibri" pitchFamily="34" charset="0"/>
                <a:ea typeface="Calibri" pitchFamily="34" charset="-122"/>
                <a:cs typeface="Calibri" pitchFamily="34" charset="-120"/>
              </a:rPr>
              <a:t>DSA CODING PRACTICE</a:t>
            </a:r>
            <a:endParaRPr lang="en-US" sz="1100" dirty="0"/>
          </a:p>
        </p:txBody>
      </p:sp>
      <p:sp>
        <p:nvSpPr>
          <p:cNvPr id="4" name="Text 2"/>
          <p:cNvSpPr/>
          <p:nvPr/>
        </p:nvSpPr>
        <p:spPr>
          <a:xfrm>
            <a:off x="502920" y="786384"/>
            <a:ext cx="11155680" cy="868680"/>
          </a:xfrm>
          <a:prstGeom prst="rect">
            <a:avLst/>
          </a:prstGeom>
          <a:noFill/>
          <a:ln/>
        </p:spPr>
        <p:txBody>
          <a:bodyPr wrap="square" rtlCol="0" anchor="t"/>
          <a:lstStyle/>
          <a:p>
            <a:pPr marL="0" indent="0">
              <a:lnSpc>
                <a:spcPct val="102000"/>
              </a:lnSpc>
              <a:buNone/>
            </a:pPr>
            <a:r>
              <a:rPr lang="en-US" sz="2500" b="1" dirty="0">
                <a:solidFill>
                  <a:srgbClr val="1B2340"/>
                </a:solidFill>
                <a:latin typeface="Century Schoolbook" pitchFamily="34" charset="0"/>
                <a:ea typeface="Century Schoolbook" pitchFamily="34" charset="-122"/>
                <a:cs typeface="Century Schoolbook" pitchFamily="34" charset="-120"/>
              </a:rPr>
              <a:t>How do you check if a String or Number is a Palindrome?</a:t>
            </a:r>
            <a:endParaRPr lang="en-US" sz="2500" dirty="0"/>
          </a:p>
        </p:txBody>
      </p:sp>
      <p:sp>
        <p:nvSpPr>
          <p:cNvPr id="5" name="Shape 3"/>
          <p:cNvSpPr/>
          <p:nvPr/>
        </p:nvSpPr>
        <p:spPr>
          <a:xfrm>
            <a:off x="502920" y="1874520"/>
            <a:ext cx="164592" cy="274320"/>
          </a:xfrm>
          <a:prstGeom prst="roundRect">
            <a:avLst>
              <a:gd name="adj" fmla="val 22222"/>
            </a:avLst>
          </a:prstGeom>
          <a:solidFill>
            <a:srgbClr val="E8A33D"/>
          </a:solidFill>
          <a:ln/>
        </p:spPr>
      </p:sp>
      <p:sp>
        <p:nvSpPr>
          <p:cNvPr id="6" name="Text 4"/>
          <p:cNvSpPr/>
          <p:nvPr/>
        </p:nvSpPr>
        <p:spPr>
          <a:xfrm>
            <a:off x="758952" y="1847088"/>
            <a:ext cx="7059168" cy="329184"/>
          </a:xfrm>
          <a:prstGeom prst="rect">
            <a:avLst/>
          </a:prstGeom>
          <a:noFill/>
          <a:ln/>
        </p:spPr>
        <p:txBody>
          <a:bodyPr wrap="square" rtlCol="0" anchor="ctr"/>
          <a:lstStyle/>
          <a:p>
            <a:pPr marL="0" indent="0">
              <a:buNone/>
            </a:pPr>
            <a:r>
              <a:rPr lang="en-US" sz="1300" b="1" kern="0" spc="50" dirty="0">
                <a:solidFill>
                  <a:srgbClr val="1B2340"/>
                </a:solidFill>
                <a:latin typeface="Calibri" pitchFamily="34" charset="0"/>
                <a:ea typeface="Calibri" pitchFamily="34" charset="-122"/>
                <a:cs typeface="Calibri" pitchFamily="34" charset="-120"/>
              </a:rPr>
              <a:t>DEFINITION / CONCEPT</a:t>
            </a:r>
            <a:endParaRPr lang="en-US" sz="1300" dirty="0"/>
          </a:p>
        </p:txBody>
      </p:sp>
      <p:sp>
        <p:nvSpPr>
          <p:cNvPr id="7" name="Shape 5"/>
          <p:cNvSpPr/>
          <p:nvPr/>
        </p:nvSpPr>
        <p:spPr>
          <a:xfrm>
            <a:off x="502920" y="2194560"/>
            <a:ext cx="11201400" cy="1188720"/>
          </a:xfrm>
          <a:prstGeom prst="roundRect">
            <a:avLst>
              <a:gd name="adj" fmla="val 6154"/>
            </a:avLst>
          </a:prstGeom>
          <a:solidFill>
            <a:srgbClr val="F7F7FA"/>
          </a:solidFill>
          <a:ln w="12700">
            <a:solidFill>
              <a:srgbClr val="E4E6EF"/>
            </a:solidFill>
            <a:prstDash val="solid"/>
          </a:ln>
        </p:spPr>
      </p:sp>
      <p:sp>
        <p:nvSpPr>
          <p:cNvPr id="8" name="Text 6"/>
          <p:cNvSpPr/>
          <p:nvPr/>
        </p:nvSpPr>
        <p:spPr>
          <a:xfrm>
            <a:off x="758952" y="2377440"/>
            <a:ext cx="10689336" cy="822960"/>
          </a:xfrm>
          <a:prstGeom prst="rect">
            <a:avLst/>
          </a:prstGeom>
          <a:noFill/>
          <a:ln/>
        </p:spPr>
        <p:txBody>
          <a:bodyPr wrap="square" lIns="0" tIns="0" rIns="0" bIns="0" rtlCol="0" anchor="t"/>
          <a:lstStyle/>
          <a:p>
            <a:pPr marL="0" indent="0">
              <a:lnSpc>
                <a:spcPct val="115000"/>
              </a:lnSpc>
              <a:buNone/>
            </a:pPr>
            <a:r>
              <a:rPr lang="en-US" sz="1450" dirty="0">
                <a:solidFill>
                  <a:srgbClr val="1B2340"/>
                </a:solidFill>
                <a:latin typeface="Calibri" pitchFamily="34" charset="0"/>
                <a:ea typeface="Calibri" pitchFamily="34" charset="-122"/>
                <a:cs typeface="Calibri" pitchFamily="34" charset="-120"/>
              </a:rPr>
              <a:t>A palindrome reads the same forwards and backwards. For a String, we compare it with its reverse. For a Number, we reverse its digits and compare with the original.</a:t>
            </a:r>
            <a:endParaRPr lang="en-US" sz="1450" dirty="0"/>
          </a:p>
        </p:txBody>
      </p:sp>
      <p:sp>
        <p:nvSpPr>
          <p:cNvPr id="9" name="Shape 7"/>
          <p:cNvSpPr/>
          <p:nvPr/>
        </p:nvSpPr>
        <p:spPr>
          <a:xfrm>
            <a:off x="502920" y="3611880"/>
            <a:ext cx="164592" cy="274320"/>
          </a:xfrm>
          <a:prstGeom prst="roundRect">
            <a:avLst>
              <a:gd name="adj" fmla="val 22222"/>
            </a:avLst>
          </a:prstGeom>
          <a:solidFill>
            <a:srgbClr val="3FBFAE"/>
          </a:solidFill>
          <a:ln/>
        </p:spPr>
      </p:sp>
      <p:sp>
        <p:nvSpPr>
          <p:cNvPr id="10" name="Text 8"/>
          <p:cNvSpPr/>
          <p:nvPr/>
        </p:nvSpPr>
        <p:spPr>
          <a:xfrm>
            <a:off x="758952" y="3584448"/>
            <a:ext cx="7059168" cy="329184"/>
          </a:xfrm>
          <a:prstGeom prst="rect">
            <a:avLst/>
          </a:prstGeom>
          <a:noFill/>
          <a:ln/>
        </p:spPr>
        <p:txBody>
          <a:bodyPr wrap="square" rtlCol="0" anchor="ctr"/>
          <a:lstStyle/>
          <a:p>
            <a:pPr marL="0" indent="0">
              <a:buNone/>
            </a:pPr>
            <a:r>
              <a:rPr lang="en-US" sz="1300" b="1" kern="0" spc="50" dirty="0">
                <a:solidFill>
                  <a:srgbClr val="1B2340"/>
                </a:solidFill>
                <a:latin typeface="Calibri" pitchFamily="34" charset="0"/>
                <a:ea typeface="Calibri" pitchFamily="34" charset="-122"/>
                <a:cs typeface="Calibri" pitchFamily="34" charset="-120"/>
              </a:rPr>
              <a:t>APPROACH - HOW TO SOLVE IT</a:t>
            </a:r>
            <a:endParaRPr lang="en-US" sz="1300" dirty="0"/>
          </a:p>
        </p:txBody>
      </p:sp>
      <p:sp>
        <p:nvSpPr>
          <p:cNvPr id="11" name="Text 9"/>
          <p:cNvSpPr/>
          <p:nvPr/>
        </p:nvSpPr>
        <p:spPr>
          <a:xfrm>
            <a:off x="502920" y="3950208"/>
            <a:ext cx="10607040" cy="2468880"/>
          </a:xfrm>
          <a:prstGeom prst="rect">
            <a:avLst/>
          </a:prstGeom>
          <a:noFill/>
          <a:ln/>
        </p:spPr>
        <p:txBody>
          <a:bodyPr wrap="square" lIns="0" tIns="0" rIns="0" bIns="0" rtlCol="0" anchor="t"/>
          <a:lstStyle/>
          <a:p>
            <a:pPr marL="177800" indent="-177800">
              <a:spcAft>
                <a:spcPts val="1200"/>
              </a:spcAft>
              <a:buSzPct val="100000"/>
              <a:buChar char="•"/>
            </a:pPr>
            <a:r>
              <a:rPr lang="en-US" sz="1450" dirty="0">
                <a:solidFill>
                  <a:srgbClr val="1B2340"/>
                </a:solidFill>
                <a:latin typeface="Calibri" pitchFamily="34" charset="0"/>
                <a:ea typeface="Calibri" pitchFamily="34" charset="-122"/>
                <a:cs typeface="Calibri" pitchFamily="34" charset="-120"/>
              </a:rPr>
              <a:t>A String is a palindrome if it equals its own reverse (e.g. 'madam')</a:t>
            </a:r>
            <a:endParaRPr lang="en-US" sz="1450" dirty="0"/>
          </a:p>
          <a:p>
            <a:pPr marL="177800" indent="-177800">
              <a:spcAft>
                <a:spcPts val="1200"/>
              </a:spcAft>
              <a:buSzPct val="100000"/>
              <a:buChar char="•"/>
            </a:pPr>
            <a:r>
              <a:rPr lang="en-US" sz="1450" dirty="0">
                <a:solidFill>
                  <a:srgbClr val="1B2340"/>
                </a:solidFill>
                <a:latin typeface="Calibri" pitchFamily="34" charset="0"/>
                <a:ea typeface="Calibri" pitchFamily="34" charset="-122"/>
                <a:cs typeface="Calibri" pitchFamily="34" charset="-120"/>
              </a:rPr>
              <a:t>A Number is a palindrome if reversing its digits gives back the same number (e.g. 121)</a:t>
            </a:r>
            <a:endParaRPr lang="en-US" sz="1450" dirty="0"/>
          </a:p>
          <a:p>
            <a:pPr marL="177800" indent="-177800">
              <a:spcAft>
                <a:spcPts val="1200"/>
              </a:spcAft>
              <a:buSzPct val="100000"/>
              <a:buChar char="•"/>
            </a:pPr>
            <a:r>
              <a:rPr lang="en-US" sz="1450" dirty="0">
                <a:solidFill>
                  <a:srgbClr val="1B2340"/>
                </a:solidFill>
                <a:latin typeface="Calibri" pitchFamily="34" charset="0"/>
                <a:ea typeface="Calibri" pitchFamily="34" charset="-122"/>
                <a:cs typeface="Calibri" pitchFamily="34" charset="-120"/>
              </a:rPr>
              <a:t>Common interview twist: check only the alphanumeric characters, ignoring case and spaces</a:t>
            </a:r>
            <a:endParaRPr lang="en-US" sz="1450" dirty="0"/>
          </a:p>
          <a:p>
            <a:pPr marL="177800" indent="-177800">
              <a:spcAft>
                <a:spcPts val="1200"/>
              </a:spcAft>
              <a:buSzPct val="100000"/>
              <a:buChar char="•"/>
            </a:pPr>
            <a:r>
              <a:rPr lang="en-US" sz="1450" dirty="0">
                <a:solidFill>
                  <a:srgbClr val="1B2340"/>
                </a:solidFill>
                <a:latin typeface="Calibri" pitchFamily="34" charset="0"/>
                <a:ea typeface="Calibri" pitchFamily="34" charset="-122"/>
                <a:cs typeface="Calibri" pitchFamily="34" charset="-120"/>
              </a:rPr>
              <a:t>This tests string manipulation and loop/pointer logic - a very common warm-up question</a:t>
            </a:r>
            <a:endParaRPr lang="en-US" sz="1450" dirty="0"/>
          </a:p>
        </p:txBody>
      </p:sp>
      <p:sp>
        <p:nvSpPr>
          <p:cNvPr id="12" name="Shape 10"/>
          <p:cNvSpPr/>
          <p:nvPr/>
        </p:nvSpPr>
        <p:spPr>
          <a:xfrm>
            <a:off x="9052560" y="5394960"/>
            <a:ext cx="2651760" cy="822960"/>
          </a:xfrm>
          <a:prstGeom prst="roundRect">
            <a:avLst>
              <a:gd name="adj" fmla="val 11111"/>
            </a:avLst>
          </a:prstGeom>
          <a:solidFill>
            <a:srgbClr val="1B2340"/>
          </a:solidFill>
          <a:ln/>
        </p:spPr>
      </p:sp>
      <p:sp>
        <p:nvSpPr>
          <p:cNvPr id="13" name="Text 11"/>
          <p:cNvSpPr/>
          <p:nvPr/>
        </p:nvSpPr>
        <p:spPr>
          <a:xfrm>
            <a:off x="9052560" y="5394960"/>
            <a:ext cx="2651760" cy="822960"/>
          </a:xfrm>
          <a:prstGeom prst="rect">
            <a:avLst/>
          </a:prstGeom>
          <a:noFill/>
          <a:ln/>
        </p:spPr>
        <p:txBody>
          <a:bodyPr wrap="square" rtlCol="0" anchor="ctr"/>
          <a:lstStyle/>
          <a:p>
            <a:pPr marL="0" indent="0" algn="ctr">
              <a:buNone/>
            </a:pPr>
            <a:r>
              <a:rPr lang="en-US" sz="1250" b="1" dirty="0">
                <a:solidFill>
                  <a:srgbClr val="E8A33D"/>
                </a:solidFill>
                <a:latin typeface="Calibri" pitchFamily="34" charset="0"/>
                <a:ea typeface="Calibri" pitchFamily="34" charset="-122"/>
                <a:cs typeface="Calibri" pitchFamily="34" charset="-120"/>
              </a:rPr>
              <a:t>See code on</a:t>
            </a:r>
            <a:endParaRPr lang="en-US" sz="1250" dirty="0"/>
          </a:p>
          <a:p>
            <a:pPr marL="0" indent="0" algn="ctr">
              <a:buNone/>
            </a:pPr>
            <a:r>
              <a:rPr lang="en-US" sz="1250" b="1" dirty="0">
                <a:solidFill>
                  <a:srgbClr val="E8A33D"/>
                </a:solidFill>
                <a:latin typeface="Calibri" pitchFamily="34" charset="0"/>
                <a:ea typeface="Calibri" pitchFamily="34" charset="-122"/>
                <a:cs typeface="Calibri" pitchFamily="34" charset="-120"/>
              </a:rPr>
              <a:t>the next slide →</a:t>
            </a:r>
            <a:endParaRPr lang="en-US" sz="1250" dirty="0"/>
          </a:p>
        </p:txBody>
      </p:sp>
      <p:sp>
        <p:nvSpPr>
          <p:cNvPr id="14" name="Text 12"/>
          <p:cNvSpPr/>
          <p:nvPr/>
        </p:nvSpPr>
        <p:spPr>
          <a:xfrm>
            <a:off x="457200" y="6583680"/>
            <a:ext cx="5486400" cy="228600"/>
          </a:xfrm>
          <a:prstGeom prst="rect">
            <a:avLst/>
          </a:prstGeom>
          <a:noFill/>
          <a:ln/>
        </p:spPr>
        <p:txBody>
          <a:bodyPr wrap="square" rtlCol="0" anchor="ctr"/>
          <a:lstStyle/>
          <a:p>
            <a:pPr marL="0" indent="0" algn="l">
              <a:buNone/>
            </a:pPr>
            <a:r>
              <a:rPr lang="en-US" sz="850" dirty="0">
                <a:solidFill>
                  <a:srgbClr val="5B6178"/>
                </a:solidFill>
                <a:latin typeface="Calibri" pitchFamily="34" charset="0"/>
                <a:ea typeface="Calibri" pitchFamily="34" charset="-122"/>
                <a:cs typeface="Calibri" pitchFamily="34" charset="-120"/>
              </a:rPr>
              <a:t>Java &amp; Full-Stack Interview Prep</a:t>
            </a:r>
            <a:endParaRPr lang="en-US" sz="85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Shape 0"/>
          <p:cNvSpPr/>
          <p:nvPr/>
        </p:nvSpPr>
        <p:spPr>
          <a:xfrm>
            <a:off x="502920" y="384048"/>
            <a:ext cx="4279392" cy="310896"/>
          </a:xfrm>
          <a:prstGeom prst="roundRect">
            <a:avLst>
              <a:gd name="adj" fmla="val 23529"/>
            </a:avLst>
          </a:prstGeom>
          <a:solidFill>
            <a:srgbClr val="E8A33D"/>
          </a:solidFill>
          <a:ln/>
        </p:spPr>
      </p:sp>
      <p:sp>
        <p:nvSpPr>
          <p:cNvPr id="3" name="Text 1"/>
          <p:cNvSpPr/>
          <p:nvPr/>
        </p:nvSpPr>
        <p:spPr>
          <a:xfrm>
            <a:off x="502920" y="384048"/>
            <a:ext cx="4279392" cy="310896"/>
          </a:xfrm>
          <a:prstGeom prst="rect">
            <a:avLst/>
          </a:prstGeom>
          <a:noFill/>
          <a:ln/>
        </p:spPr>
        <p:txBody>
          <a:bodyPr wrap="square" rtlCol="0" anchor="ctr"/>
          <a:lstStyle/>
          <a:p>
            <a:pPr marL="0" indent="0" algn="ctr">
              <a:buNone/>
            </a:pPr>
            <a:r>
              <a:rPr lang="en-US" sz="1100" b="1" kern="0" spc="100" dirty="0">
                <a:solidFill>
                  <a:srgbClr val="1B2340"/>
                </a:solidFill>
                <a:latin typeface="Calibri" pitchFamily="34" charset="0"/>
                <a:ea typeface="Calibri" pitchFamily="34" charset="-122"/>
                <a:cs typeface="Calibri" pitchFamily="34" charset="-120"/>
              </a:rPr>
              <a:t>DSA CODING PRACTICE</a:t>
            </a:r>
            <a:endParaRPr lang="en-US" sz="1100" dirty="0"/>
          </a:p>
        </p:txBody>
      </p:sp>
      <p:sp>
        <p:nvSpPr>
          <p:cNvPr id="4" name="Text 2"/>
          <p:cNvSpPr/>
          <p:nvPr/>
        </p:nvSpPr>
        <p:spPr>
          <a:xfrm>
            <a:off x="502920" y="786384"/>
            <a:ext cx="11155680" cy="868680"/>
          </a:xfrm>
          <a:prstGeom prst="rect">
            <a:avLst/>
          </a:prstGeom>
          <a:noFill/>
          <a:ln/>
        </p:spPr>
        <p:txBody>
          <a:bodyPr wrap="square" rtlCol="0" anchor="t"/>
          <a:lstStyle/>
          <a:p>
            <a:pPr marL="0" indent="0">
              <a:lnSpc>
                <a:spcPct val="102000"/>
              </a:lnSpc>
              <a:buNone/>
            </a:pPr>
            <a:r>
              <a:rPr lang="en-US" sz="2500" b="1" dirty="0">
                <a:solidFill>
                  <a:srgbClr val="1B2340"/>
                </a:solidFill>
                <a:latin typeface="Century Schoolbook" pitchFamily="34" charset="0"/>
                <a:ea typeface="Century Schoolbook" pitchFamily="34" charset="-122"/>
                <a:cs typeface="Century Schoolbook" pitchFamily="34" charset="-120"/>
              </a:rPr>
              <a:t>Palindrome Check - Code &amp; Explanation</a:t>
            </a:r>
            <a:endParaRPr lang="en-US" sz="2500" dirty="0"/>
          </a:p>
        </p:txBody>
      </p:sp>
      <p:sp>
        <p:nvSpPr>
          <p:cNvPr id="5" name="Shape 3"/>
          <p:cNvSpPr/>
          <p:nvPr/>
        </p:nvSpPr>
        <p:spPr>
          <a:xfrm>
            <a:off x="502920" y="1810512"/>
            <a:ext cx="164592" cy="274320"/>
          </a:xfrm>
          <a:prstGeom prst="roundRect">
            <a:avLst>
              <a:gd name="adj" fmla="val 22222"/>
            </a:avLst>
          </a:prstGeom>
          <a:solidFill>
            <a:srgbClr val="E8A33D"/>
          </a:solidFill>
          <a:ln/>
        </p:spPr>
      </p:sp>
      <p:sp>
        <p:nvSpPr>
          <p:cNvPr id="6" name="Text 4"/>
          <p:cNvSpPr/>
          <p:nvPr/>
        </p:nvSpPr>
        <p:spPr>
          <a:xfrm>
            <a:off x="758952" y="1783080"/>
            <a:ext cx="5230368" cy="329184"/>
          </a:xfrm>
          <a:prstGeom prst="rect">
            <a:avLst/>
          </a:prstGeom>
          <a:noFill/>
          <a:ln/>
        </p:spPr>
        <p:txBody>
          <a:bodyPr wrap="square" rtlCol="0" anchor="ctr"/>
          <a:lstStyle/>
          <a:p>
            <a:pPr marL="0" indent="0">
              <a:buNone/>
            </a:pPr>
            <a:r>
              <a:rPr lang="en-US" sz="1300" b="1" kern="0" spc="50" dirty="0">
                <a:solidFill>
                  <a:srgbClr val="1B2340"/>
                </a:solidFill>
                <a:latin typeface="Calibri" pitchFamily="34" charset="0"/>
                <a:ea typeface="Calibri" pitchFamily="34" charset="-122"/>
                <a:cs typeface="Calibri" pitchFamily="34" charset="-120"/>
              </a:rPr>
              <a:t>EXAMPLE - CODE</a:t>
            </a:r>
            <a:endParaRPr lang="en-US" sz="1300" dirty="0"/>
          </a:p>
        </p:txBody>
      </p:sp>
      <p:sp>
        <p:nvSpPr>
          <p:cNvPr id="7" name="Shape 5"/>
          <p:cNvSpPr/>
          <p:nvPr/>
        </p:nvSpPr>
        <p:spPr>
          <a:xfrm>
            <a:off x="502920" y="2121408"/>
            <a:ext cx="5486400" cy="2884805"/>
          </a:xfrm>
          <a:prstGeom prst="roundRect">
            <a:avLst>
              <a:gd name="adj" fmla="val 2536"/>
            </a:avLst>
          </a:prstGeom>
          <a:solidFill>
            <a:srgbClr val="1E1E2E"/>
          </a:solidFill>
          <a:ln/>
        </p:spPr>
      </p:sp>
      <p:sp>
        <p:nvSpPr>
          <p:cNvPr id="8" name="Shape 6"/>
          <p:cNvSpPr/>
          <p:nvPr/>
        </p:nvSpPr>
        <p:spPr>
          <a:xfrm>
            <a:off x="640080" y="2249424"/>
            <a:ext cx="100584" cy="100584"/>
          </a:xfrm>
          <a:prstGeom prst="ellipse">
            <a:avLst/>
          </a:prstGeom>
          <a:solidFill>
            <a:srgbClr val="FF5F56"/>
          </a:solidFill>
          <a:ln/>
        </p:spPr>
      </p:sp>
      <p:sp>
        <p:nvSpPr>
          <p:cNvPr id="9" name="Shape 7"/>
          <p:cNvSpPr/>
          <p:nvPr/>
        </p:nvSpPr>
        <p:spPr>
          <a:xfrm>
            <a:off x="795528" y="2249424"/>
            <a:ext cx="100584" cy="100584"/>
          </a:xfrm>
          <a:prstGeom prst="ellipse">
            <a:avLst/>
          </a:prstGeom>
          <a:solidFill>
            <a:srgbClr val="FFBD2E"/>
          </a:solidFill>
          <a:ln/>
        </p:spPr>
      </p:sp>
      <p:sp>
        <p:nvSpPr>
          <p:cNvPr id="10" name="Shape 8"/>
          <p:cNvSpPr/>
          <p:nvPr/>
        </p:nvSpPr>
        <p:spPr>
          <a:xfrm>
            <a:off x="950976" y="2249424"/>
            <a:ext cx="100584" cy="100584"/>
          </a:xfrm>
          <a:prstGeom prst="ellipse">
            <a:avLst/>
          </a:prstGeom>
          <a:solidFill>
            <a:srgbClr val="27C93F"/>
          </a:solidFill>
          <a:ln/>
        </p:spPr>
      </p:sp>
      <p:sp>
        <p:nvSpPr>
          <p:cNvPr id="11" name="Text 9"/>
          <p:cNvSpPr/>
          <p:nvPr/>
        </p:nvSpPr>
        <p:spPr>
          <a:xfrm>
            <a:off x="1143000" y="2167128"/>
            <a:ext cx="4572000" cy="274320"/>
          </a:xfrm>
          <a:prstGeom prst="rect">
            <a:avLst/>
          </a:prstGeom>
          <a:noFill/>
          <a:ln/>
        </p:spPr>
        <p:txBody>
          <a:bodyPr wrap="square" rtlCol="0" anchor="ctr"/>
          <a:lstStyle/>
          <a:p>
            <a:pPr marL="0" indent="0" algn="r">
              <a:buNone/>
            </a:pPr>
            <a:r>
              <a:rPr lang="en-US" sz="1000" dirty="0">
                <a:solidFill>
                  <a:srgbClr val="8A90AC"/>
                </a:solidFill>
                <a:latin typeface="Courier New" pitchFamily="34" charset="0"/>
                <a:ea typeface="Courier New" pitchFamily="34" charset="-122"/>
                <a:cs typeface="Courier New" pitchFamily="34" charset="-120"/>
              </a:rPr>
              <a:t>Main.java</a:t>
            </a:r>
            <a:endParaRPr lang="en-US" sz="1000" dirty="0"/>
          </a:p>
        </p:txBody>
      </p:sp>
      <p:sp>
        <p:nvSpPr>
          <p:cNvPr id="12" name="Text 10"/>
          <p:cNvSpPr/>
          <p:nvPr/>
        </p:nvSpPr>
        <p:spPr>
          <a:xfrm>
            <a:off x="731520" y="2487168"/>
            <a:ext cx="5029200" cy="2427605"/>
          </a:xfrm>
          <a:prstGeom prst="rect">
            <a:avLst/>
          </a:prstGeom>
          <a:noFill/>
          <a:ln/>
        </p:spPr>
        <p:txBody>
          <a:bodyPr wrap="square" lIns="0" tIns="0" rIns="0" bIns="0" rtlCol="0" anchor="t"/>
          <a:lstStyle/>
          <a:p>
            <a:pPr marL="0" indent="0">
              <a:lnSpc>
                <a:spcPct val="120000"/>
              </a:lnSpc>
              <a:buNone/>
            </a:pPr>
            <a:r>
              <a:rPr lang="en-US" sz="1100" dirty="0">
                <a:solidFill>
                  <a:srgbClr val="D4D4E0"/>
                </a:solidFill>
                <a:latin typeface="Courier New" pitchFamily="34" charset="0"/>
                <a:ea typeface="Courier New" pitchFamily="34" charset="-122"/>
                <a:cs typeface="Courier New" pitchFamily="34" charset="-120"/>
              </a:rPr>
              <a:t>boolean isPalindrome(String s) {</a:t>
            </a:r>
            <a:endParaRPr lang="en-US" sz="1100" dirty="0"/>
          </a:p>
          <a:p>
            <a:pPr marL="0" indent="0">
              <a:lnSpc>
                <a:spcPct val="120000"/>
              </a:lnSpc>
              <a:buNone/>
            </a:pPr>
            <a:r>
              <a:rPr lang="en-US" sz="1100" dirty="0">
                <a:solidFill>
                  <a:srgbClr val="D4D4E0"/>
                </a:solidFill>
                <a:latin typeface="Courier New" pitchFamily="34" charset="0"/>
                <a:ea typeface="Courier New" pitchFamily="34" charset="-122"/>
                <a:cs typeface="Courier New" pitchFamily="34" charset="-120"/>
              </a:rPr>
              <a:t>    int left = 0, right = s.length() - 1;</a:t>
            </a:r>
            <a:endParaRPr lang="en-US" sz="1100" dirty="0"/>
          </a:p>
          <a:p>
            <a:pPr marL="0" indent="0">
              <a:lnSpc>
                <a:spcPct val="120000"/>
              </a:lnSpc>
              <a:buNone/>
            </a:pPr>
            <a:r>
              <a:rPr lang="en-US" sz="1100" dirty="0">
                <a:solidFill>
                  <a:srgbClr val="D4D4E0"/>
                </a:solidFill>
                <a:latin typeface="Courier New" pitchFamily="34" charset="0"/>
                <a:ea typeface="Courier New" pitchFamily="34" charset="-122"/>
                <a:cs typeface="Courier New" pitchFamily="34" charset="-120"/>
              </a:rPr>
              <a:t>    while (left &lt; right) {</a:t>
            </a:r>
            <a:endParaRPr lang="en-US" sz="1100" dirty="0"/>
          </a:p>
          <a:p>
            <a:pPr marL="0" indent="0">
              <a:lnSpc>
                <a:spcPct val="120000"/>
              </a:lnSpc>
              <a:buNone/>
            </a:pPr>
            <a:r>
              <a:rPr lang="en-US" sz="1100" dirty="0">
                <a:solidFill>
                  <a:srgbClr val="D4D4E0"/>
                </a:solidFill>
                <a:latin typeface="Courier New" pitchFamily="34" charset="0"/>
                <a:ea typeface="Courier New" pitchFamily="34" charset="-122"/>
                <a:cs typeface="Courier New" pitchFamily="34" charset="-120"/>
              </a:rPr>
              <a:t>        if (s.charAt(left) != s.charAt(right)) {</a:t>
            </a:r>
            <a:endParaRPr lang="en-US" sz="1100" dirty="0"/>
          </a:p>
          <a:p>
            <a:pPr marL="0" indent="0">
              <a:lnSpc>
                <a:spcPct val="120000"/>
              </a:lnSpc>
              <a:buNone/>
            </a:pPr>
            <a:r>
              <a:rPr lang="en-US" sz="1100" dirty="0">
                <a:solidFill>
                  <a:srgbClr val="D4D4E0"/>
                </a:solidFill>
                <a:latin typeface="Courier New" pitchFamily="34" charset="0"/>
                <a:ea typeface="Courier New" pitchFamily="34" charset="-122"/>
                <a:cs typeface="Courier New" pitchFamily="34" charset="-120"/>
              </a:rPr>
              <a:t>            return false;</a:t>
            </a:r>
            <a:endParaRPr lang="en-US" sz="1100" dirty="0"/>
          </a:p>
          <a:p>
            <a:pPr marL="0" indent="0">
              <a:lnSpc>
                <a:spcPct val="120000"/>
              </a:lnSpc>
              <a:buNone/>
            </a:pPr>
            <a:r>
              <a:rPr lang="en-US" sz="1100" dirty="0">
                <a:solidFill>
                  <a:srgbClr val="D4D4E0"/>
                </a:solidFill>
                <a:latin typeface="Courier New" pitchFamily="34" charset="0"/>
                <a:ea typeface="Courier New" pitchFamily="34" charset="-122"/>
                <a:cs typeface="Courier New" pitchFamily="34" charset="-120"/>
              </a:rPr>
              <a:t>        }</a:t>
            </a:r>
            <a:endParaRPr lang="en-US" sz="1100" dirty="0"/>
          </a:p>
          <a:p>
            <a:pPr marL="0" indent="0">
              <a:lnSpc>
                <a:spcPct val="120000"/>
              </a:lnSpc>
              <a:buNone/>
            </a:pPr>
            <a:r>
              <a:rPr lang="en-US" sz="1100" dirty="0">
                <a:solidFill>
                  <a:srgbClr val="D4D4E0"/>
                </a:solidFill>
                <a:latin typeface="Courier New" pitchFamily="34" charset="0"/>
                <a:ea typeface="Courier New" pitchFamily="34" charset="-122"/>
                <a:cs typeface="Courier New" pitchFamily="34" charset="-120"/>
              </a:rPr>
              <a:t>        left++;</a:t>
            </a:r>
            <a:endParaRPr lang="en-US" sz="1100" dirty="0"/>
          </a:p>
          <a:p>
            <a:pPr marL="0" indent="0">
              <a:lnSpc>
                <a:spcPct val="120000"/>
              </a:lnSpc>
              <a:buNone/>
            </a:pPr>
            <a:r>
              <a:rPr lang="en-US" sz="1100" dirty="0">
                <a:solidFill>
                  <a:srgbClr val="D4D4E0"/>
                </a:solidFill>
                <a:latin typeface="Courier New" pitchFamily="34" charset="0"/>
                <a:ea typeface="Courier New" pitchFamily="34" charset="-122"/>
                <a:cs typeface="Courier New" pitchFamily="34" charset="-120"/>
              </a:rPr>
              <a:t>        right--;</a:t>
            </a:r>
            <a:endParaRPr lang="en-US" sz="1100" dirty="0"/>
          </a:p>
          <a:p>
            <a:pPr marL="0" indent="0">
              <a:lnSpc>
                <a:spcPct val="120000"/>
              </a:lnSpc>
              <a:buNone/>
            </a:pPr>
            <a:r>
              <a:rPr lang="en-US" sz="1100" dirty="0">
                <a:solidFill>
                  <a:srgbClr val="D4D4E0"/>
                </a:solidFill>
                <a:latin typeface="Courier New" pitchFamily="34" charset="0"/>
                <a:ea typeface="Courier New" pitchFamily="34" charset="-122"/>
                <a:cs typeface="Courier New" pitchFamily="34" charset="-120"/>
              </a:rPr>
              <a:t>    }</a:t>
            </a:r>
            <a:endParaRPr lang="en-US" sz="1100" dirty="0"/>
          </a:p>
          <a:p>
            <a:pPr marL="0" indent="0">
              <a:lnSpc>
                <a:spcPct val="120000"/>
              </a:lnSpc>
              <a:buNone/>
            </a:pPr>
            <a:r>
              <a:rPr lang="en-US" sz="1100" dirty="0">
                <a:solidFill>
                  <a:srgbClr val="D4D4E0"/>
                </a:solidFill>
                <a:latin typeface="Courier New" pitchFamily="34" charset="0"/>
                <a:ea typeface="Courier New" pitchFamily="34" charset="-122"/>
                <a:cs typeface="Courier New" pitchFamily="34" charset="-120"/>
              </a:rPr>
              <a:t>    return true;</a:t>
            </a:r>
            <a:endParaRPr lang="en-US" sz="1100" dirty="0"/>
          </a:p>
          <a:p>
            <a:pPr marL="0" indent="0">
              <a:lnSpc>
                <a:spcPct val="120000"/>
              </a:lnSpc>
              <a:buNone/>
            </a:pPr>
            <a:r>
              <a:rPr lang="en-US" sz="1100" dirty="0">
                <a:solidFill>
                  <a:srgbClr val="D4D4E0"/>
                </a:solidFill>
                <a:latin typeface="Courier New" pitchFamily="34" charset="0"/>
                <a:ea typeface="Courier New" pitchFamily="34" charset="-122"/>
                <a:cs typeface="Courier New" pitchFamily="34" charset="-120"/>
              </a:rPr>
              <a:t>}</a:t>
            </a:r>
            <a:endParaRPr lang="en-US" sz="1100" dirty="0"/>
          </a:p>
        </p:txBody>
      </p:sp>
      <p:sp>
        <p:nvSpPr>
          <p:cNvPr id="13" name="Shape 11"/>
          <p:cNvSpPr/>
          <p:nvPr/>
        </p:nvSpPr>
        <p:spPr>
          <a:xfrm>
            <a:off x="502920" y="5189093"/>
            <a:ext cx="5486400" cy="868680"/>
          </a:xfrm>
          <a:prstGeom prst="roundRect">
            <a:avLst>
              <a:gd name="adj" fmla="val 8421"/>
            </a:avLst>
          </a:prstGeom>
          <a:solidFill>
            <a:srgbClr val="1B2340"/>
          </a:solidFill>
          <a:ln/>
        </p:spPr>
      </p:sp>
      <p:sp>
        <p:nvSpPr>
          <p:cNvPr id="14" name="Text 12"/>
          <p:cNvSpPr/>
          <p:nvPr/>
        </p:nvSpPr>
        <p:spPr>
          <a:xfrm>
            <a:off x="731520" y="5280533"/>
            <a:ext cx="5029200" cy="256032"/>
          </a:xfrm>
          <a:prstGeom prst="rect">
            <a:avLst/>
          </a:prstGeom>
          <a:noFill/>
          <a:ln/>
        </p:spPr>
        <p:txBody>
          <a:bodyPr wrap="square" rtlCol="0" anchor="ctr"/>
          <a:lstStyle/>
          <a:p>
            <a:pPr marL="0" indent="0">
              <a:buNone/>
            </a:pPr>
            <a:r>
              <a:rPr lang="en-US" sz="1050" b="1" kern="0" spc="80" dirty="0">
                <a:solidFill>
                  <a:srgbClr val="E8A33D"/>
                </a:solidFill>
                <a:latin typeface="Calibri" pitchFamily="34" charset="0"/>
                <a:ea typeface="Calibri" pitchFamily="34" charset="-122"/>
                <a:cs typeface="Calibri" pitchFamily="34" charset="-120"/>
              </a:rPr>
              <a:t>ONE-LINE INTERVIEW ANSWER</a:t>
            </a:r>
            <a:endParaRPr lang="en-US" sz="1050" dirty="0"/>
          </a:p>
        </p:txBody>
      </p:sp>
      <p:sp>
        <p:nvSpPr>
          <p:cNvPr id="15" name="Text 13"/>
          <p:cNvSpPr/>
          <p:nvPr/>
        </p:nvSpPr>
        <p:spPr>
          <a:xfrm>
            <a:off x="731520" y="5536565"/>
            <a:ext cx="5029200" cy="411480"/>
          </a:xfrm>
          <a:prstGeom prst="rect">
            <a:avLst/>
          </a:prstGeom>
          <a:noFill/>
          <a:ln/>
        </p:spPr>
        <p:txBody>
          <a:bodyPr wrap="square" lIns="0" tIns="0" rIns="0" bIns="0" rtlCol="0" anchor="t"/>
          <a:lstStyle/>
          <a:p>
            <a:pPr marL="0" indent="0">
              <a:lnSpc>
                <a:spcPct val="105000"/>
              </a:lnSpc>
              <a:buNone/>
            </a:pPr>
            <a:r>
              <a:rPr lang="en-US" sz="1250" dirty="0">
                <a:solidFill>
                  <a:srgbClr val="FFFFFF"/>
                </a:solidFill>
                <a:latin typeface="Calibri" pitchFamily="34" charset="0"/>
                <a:ea typeface="Calibri" pitchFamily="34" charset="-122"/>
                <a:cs typeface="Calibri" pitchFamily="34" charset="-120"/>
              </a:rPr>
              <a:t>A palindrome check compares a string with its reverse (or uses two pointers moving inward) to confirm it reads the same both ways.</a:t>
            </a:r>
            <a:endParaRPr lang="en-US" sz="1250" dirty="0"/>
          </a:p>
        </p:txBody>
      </p:sp>
      <p:sp>
        <p:nvSpPr>
          <p:cNvPr id="16" name="Shape 14"/>
          <p:cNvSpPr/>
          <p:nvPr/>
        </p:nvSpPr>
        <p:spPr>
          <a:xfrm>
            <a:off x="6263640" y="1810512"/>
            <a:ext cx="164592" cy="274320"/>
          </a:xfrm>
          <a:prstGeom prst="roundRect">
            <a:avLst>
              <a:gd name="adj" fmla="val 22222"/>
            </a:avLst>
          </a:prstGeom>
          <a:solidFill>
            <a:srgbClr val="3FBFAE"/>
          </a:solidFill>
          <a:ln/>
        </p:spPr>
      </p:sp>
      <p:sp>
        <p:nvSpPr>
          <p:cNvPr id="17" name="Text 15"/>
          <p:cNvSpPr/>
          <p:nvPr/>
        </p:nvSpPr>
        <p:spPr>
          <a:xfrm>
            <a:off x="6519672" y="1783080"/>
            <a:ext cx="5184648" cy="329184"/>
          </a:xfrm>
          <a:prstGeom prst="rect">
            <a:avLst/>
          </a:prstGeom>
          <a:noFill/>
          <a:ln/>
        </p:spPr>
        <p:txBody>
          <a:bodyPr wrap="square" rtlCol="0" anchor="ctr"/>
          <a:lstStyle/>
          <a:p>
            <a:pPr marL="0" indent="0">
              <a:buNone/>
            </a:pPr>
            <a:r>
              <a:rPr lang="en-US" sz="1300" b="1" kern="0" spc="50" dirty="0">
                <a:solidFill>
                  <a:srgbClr val="1B2340"/>
                </a:solidFill>
                <a:latin typeface="Calibri" pitchFamily="34" charset="0"/>
                <a:ea typeface="Calibri" pitchFamily="34" charset="-122"/>
                <a:cs typeface="Calibri" pitchFamily="34" charset="-120"/>
              </a:rPr>
              <a:t>EXPLANATION</a:t>
            </a:r>
            <a:endParaRPr lang="en-US" sz="1300" dirty="0"/>
          </a:p>
        </p:txBody>
      </p:sp>
      <p:sp>
        <p:nvSpPr>
          <p:cNvPr id="18" name="Text 16"/>
          <p:cNvSpPr/>
          <p:nvPr/>
        </p:nvSpPr>
        <p:spPr>
          <a:xfrm>
            <a:off x="6263640" y="2139696"/>
            <a:ext cx="5440680" cy="2011680"/>
          </a:xfrm>
          <a:prstGeom prst="rect">
            <a:avLst/>
          </a:prstGeom>
          <a:noFill/>
          <a:ln/>
        </p:spPr>
        <p:txBody>
          <a:bodyPr wrap="square" lIns="0" tIns="0" rIns="0" bIns="0" rtlCol="0" anchor="t"/>
          <a:lstStyle/>
          <a:p>
            <a:pPr marL="177800" indent="-177800">
              <a:spcAft>
                <a:spcPts val="800"/>
              </a:spcAft>
              <a:buSzPct val="100000"/>
              <a:buChar char="•"/>
            </a:pPr>
            <a:r>
              <a:rPr lang="en-US" sz="1250" dirty="0">
                <a:solidFill>
                  <a:srgbClr val="1B2340"/>
                </a:solidFill>
                <a:latin typeface="Calibri" pitchFamily="34" charset="0"/>
                <a:ea typeface="Calibri" pitchFamily="34" charset="-122"/>
                <a:cs typeface="Calibri" pitchFamily="34" charset="-120"/>
              </a:rPr>
              <a:t>Two pointers start from both ends of the string and move toward the centre</a:t>
            </a:r>
            <a:endParaRPr lang="en-US" sz="1250" dirty="0"/>
          </a:p>
          <a:p>
            <a:pPr marL="177800" indent="-177800">
              <a:spcAft>
                <a:spcPts val="800"/>
              </a:spcAft>
              <a:buSzPct val="100000"/>
              <a:buChar char="•"/>
            </a:pPr>
            <a:r>
              <a:rPr lang="en-US" sz="1250" dirty="0">
                <a:solidFill>
                  <a:srgbClr val="1B2340"/>
                </a:solidFill>
                <a:latin typeface="Calibri" pitchFamily="34" charset="0"/>
                <a:ea typeface="Calibri" pitchFamily="34" charset="-122"/>
                <a:cs typeface="Calibri" pitchFamily="34" charset="-120"/>
              </a:rPr>
              <a:t>If characters at both pointers ever differ, it's not a palindrome</a:t>
            </a:r>
            <a:endParaRPr lang="en-US" sz="1250" dirty="0"/>
          </a:p>
          <a:p>
            <a:pPr marL="177800" indent="-177800">
              <a:spcAft>
                <a:spcPts val="800"/>
              </a:spcAft>
              <a:buSzPct val="100000"/>
              <a:buChar char="•"/>
            </a:pPr>
            <a:r>
              <a:rPr lang="en-US" sz="1250" dirty="0">
                <a:solidFill>
                  <a:srgbClr val="1B2340"/>
                </a:solidFill>
                <a:latin typeface="Calibri" pitchFamily="34" charset="0"/>
                <a:ea typeface="Calibri" pitchFamily="34" charset="-122"/>
                <a:cs typeface="Calibri" pitchFamily="34" charset="-120"/>
              </a:rPr>
              <a:t>If the pointers cross without a mismatch, the string is a palindrome</a:t>
            </a:r>
            <a:endParaRPr lang="en-US" sz="1250" dirty="0"/>
          </a:p>
          <a:p>
            <a:pPr marL="177800" indent="-177800">
              <a:spcAft>
                <a:spcPts val="800"/>
              </a:spcAft>
              <a:buSzPct val="100000"/>
              <a:buChar char="•"/>
            </a:pPr>
            <a:r>
              <a:rPr lang="en-US" sz="1250" dirty="0">
                <a:solidFill>
                  <a:srgbClr val="1B2340"/>
                </a:solidFill>
                <a:latin typeface="Calibri" pitchFamily="34" charset="0"/>
                <a:ea typeface="Calibri" pitchFamily="34" charset="-122"/>
                <a:cs typeface="Calibri" pitchFamily="34" charset="-120"/>
              </a:rPr>
              <a:t>Time complexity is O(n), and it needs no extra memory beyond two index variables</a:t>
            </a:r>
            <a:endParaRPr lang="en-US" sz="1250" dirty="0"/>
          </a:p>
        </p:txBody>
      </p:sp>
      <p:sp>
        <p:nvSpPr>
          <p:cNvPr id="19" name="Shape 17"/>
          <p:cNvSpPr/>
          <p:nvPr/>
        </p:nvSpPr>
        <p:spPr>
          <a:xfrm>
            <a:off x="6263640" y="4261104"/>
            <a:ext cx="5440680" cy="1783080"/>
          </a:xfrm>
          <a:prstGeom prst="roundRect">
            <a:avLst>
              <a:gd name="adj" fmla="val 4103"/>
            </a:avLst>
          </a:prstGeom>
          <a:solidFill>
            <a:srgbClr val="FDF3E3"/>
          </a:solidFill>
          <a:ln/>
        </p:spPr>
      </p:sp>
      <p:sp>
        <p:nvSpPr>
          <p:cNvPr id="20" name="Text 18"/>
          <p:cNvSpPr/>
          <p:nvPr/>
        </p:nvSpPr>
        <p:spPr>
          <a:xfrm>
            <a:off x="6464808" y="4370832"/>
            <a:ext cx="5038344" cy="274320"/>
          </a:xfrm>
          <a:prstGeom prst="rect">
            <a:avLst/>
          </a:prstGeom>
          <a:noFill/>
          <a:ln/>
        </p:spPr>
        <p:txBody>
          <a:bodyPr wrap="square" rtlCol="0" anchor="ctr"/>
          <a:lstStyle/>
          <a:p>
            <a:pPr marL="0" indent="0">
              <a:buNone/>
            </a:pPr>
            <a:r>
              <a:rPr lang="en-US" sz="1100" b="1" kern="0" spc="50" dirty="0">
                <a:solidFill>
                  <a:srgbClr val="C9862A"/>
                </a:solidFill>
                <a:latin typeface="Calibri" pitchFamily="34" charset="0"/>
                <a:ea typeface="Calibri" pitchFamily="34" charset="-122"/>
                <a:cs typeface="Calibri" pitchFamily="34" charset="-120"/>
              </a:rPr>
              <a:t>💡 REAL-LIFE ANALOGY</a:t>
            </a:r>
            <a:endParaRPr lang="en-US" sz="1100" dirty="0"/>
          </a:p>
        </p:txBody>
      </p:sp>
      <p:sp>
        <p:nvSpPr>
          <p:cNvPr id="21" name="Text 19"/>
          <p:cNvSpPr/>
          <p:nvPr/>
        </p:nvSpPr>
        <p:spPr>
          <a:xfrm>
            <a:off x="6464808" y="4663440"/>
            <a:ext cx="5038344" cy="1252728"/>
          </a:xfrm>
          <a:prstGeom prst="rect">
            <a:avLst/>
          </a:prstGeom>
          <a:noFill/>
          <a:ln/>
        </p:spPr>
        <p:txBody>
          <a:bodyPr wrap="square" lIns="0" tIns="0" rIns="0" bIns="0" rtlCol="0" anchor="t"/>
          <a:lstStyle/>
          <a:p>
            <a:pPr marL="0" indent="0">
              <a:lnSpc>
                <a:spcPct val="110000"/>
              </a:lnSpc>
              <a:buNone/>
            </a:pPr>
            <a:r>
              <a:rPr lang="en-US" sz="1250" i="1" dirty="0">
                <a:solidFill>
                  <a:srgbClr val="1B2340"/>
                </a:solidFill>
                <a:latin typeface="Calibri" pitchFamily="34" charset="0"/>
                <a:ea typeface="Calibri" pitchFamily="34" charset="-122"/>
                <a:cs typeface="Calibri" pitchFamily="34" charset="-120"/>
              </a:rPr>
              <a:t>It's like checking if a word is spelled the same from both ends - reading 'MADAM' from the left and the right at the same time and matching each letter.</a:t>
            </a:r>
            <a:endParaRPr lang="en-US" sz="1250" dirty="0"/>
          </a:p>
        </p:txBody>
      </p:sp>
      <p:sp>
        <p:nvSpPr>
          <p:cNvPr id="22" name="Text 20"/>
          <p:cNvSpPr/>
          <p:nvPr/>
        </p:nvSpPr>
        <p:spPr>
          <a:xfrm>
            <a:off x="457200" y="6583680"/>
            <a:ext cx="5486400" cy="228600"/>
          </a:xfrm>
          <a:prstGeom prst="rect">
            <a:avLst/>
          </a:prstGeom>
          <a:noFill/>
          <a:ln/>
        </p:spPr>
        <p:txBody>
          <a:bodyPr wrap="square" rtlCol="0" anchor="ctr"/>
          <a:lstStyle/>
          <a:p>
            <a:pPr marL="0" indent="0" algn="l">
              <a:buNone/>
            </a:pPr>
            <a:r>
              <a:rPr lang="en-US" sz="850" dirty="0">
                <a:solidFill>
                  <a:srgbClr val="5B6178"/>
                </a:solidFill>
                <a:latin typeface="Calibri" pitchFamily="34" charset="0"/>
                <a:ea typeface="Calibri" pitchFamily="34" charset="-122"/>
                <a:cs typeface="Calibri" pitchFamily="34" charset="-120"/>
              </a:rPr>
              <a:t>Java &amp; Full-Stack Interview Prep</a:t>
            </a:r>
            <a:endParaRPr lang="en-US" sz="85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Shape 0"/>
          <p:cNvSpPr/>
          <p:nvPr/>
        </p:nvSpPr>
        <p:spPr>
          <a:xfrm>
            <a:off x="502920" y="384048"/>
            <a:ext cx="4279392" cy="310896"/>
          </a:xfrm>
          <a:prstGeom prst="roundRect">
            <a:avLst>
              <a:gd name="adj" fmla="val 23529"/>
            </a:avLst>
          </a:prstGeom>
          <a:solidFill>
            <a:srgbClr val="E8A33D"/>
          </a:solidFill>
          <a:ln/>
        </p:spPr>
      </p:sp>
      <p:sp>
        <p:nvSpPr>
          <p:cNvPr id="3" name="Text 1"/>
          <p:cNvSpPr/>
          <p:nvPr/>
        </p:nvSpPr>
        <p:spPr>
          <a:xfrm>
            <a:off x="502920" y="384048"/>
            <a:ext cx="4279392" cy="310896"/>
          </a:xfrm>
          <a:prstGeom prst="rect">
            <a:avLst/>
          </a:prstGeom>
          <a:noFill/>
          <a:ln/>
        </p:spPr>
        <p:txBody>
          <a:bodyPr wrap="square" rtlCol="0" anchor="ctr"/>
          <a:lstStyle/>
          <a:p>
            <a:pPr marL="0" indent="0" algn="ctr">
              <a:buNone/>
            </a:pPr>
            <a:r>
              <a:rPr lang="en-US" sz="1100" b="1" kern="0" spc="100" dirty="0">
                <a:solidFill>
                  <a:srgbClr val="1B2340"/>
                </a:solidFill>
                <a:latin typeface="Calibri" pitchFamily="34" charset="0"/>
                <a:ea typeface="Calibri" pitchFamily="34" charset="-122"/>
                <a:cs typeface="Calibri" pitchFamily="34" charset="-120"/>
              </a:rPr>
              <a:t>DSA CODING PRACTICE</a:t>
            </a:r>
            <a:endParaRPr lang="en-US" sz="1100" dirty="0"/>
          </a:p>
        </p:txBody>
      </p:sp>
      <p:sp>
        <p:nvSpPr>
          <p:cNvPr id="4" name="Text 2"/>
          <p:cNvSpPr/>
          <p:nvPr/>
        </p:nvSpPr>
        <p:spPr>
          <a:xfrm>
            <a:off x="502920" y="786384"/>
            <a:ext cx="11155680" cy="868680"/>
          </a:xfrm>
          <a:prstGeom prst="rect">
            <a:avLst/>
          </a:prstGeom>
          <a:noFill/>
          <a:ln/>
        </p:spPr>
        <p:txBody>
          <a:bodyPr wrap="square" rtlCol="0" anchor="t"/>
          <a:lstStyle/>
          <a:p>
            <a:pPr marL="0" indent="0">
              <a:lnSpc>
                <a:spcPct val="102000"/>
              </a:lnSpc>
              <a:buNone/>
            </a:pPr>
            <a:r>
              <a:rPr lang="en-US" sz="2500" b="1" dirty="0">
                <a:solidFill>
                  <a:srgbClr val="1B2340"/>
                </a:solidFill>
                <a:latin typeface="Century Schoolbook" pitchFamily="34" charset="0"/>
                <a:ea typeface="Century Schoolbook" pitchFamily="34" charset="-122"/>
                <a:cs typeface="Century Schoolbook" pitchFamily="34" charset="-120"/>
              </a:rPr>
              <a:t>How do you reverse a String without using a built-in function?</a:t>
            </a:r>
            <a:endParaRPr lang="en-US" sz="2500" dirty="0"/>
          </a:p>
        </p:txBody>
      </p:sp>
      <p:sp>
        <p:nvSpPr>
          <p:cNvPr id="5" name="Shape 3"/>
          <p:cNvSpPr/>
          <p:nvPr/>
        </p:nvSpPr>
        <p:spPr>
          <a:xfrm>
            <a:off x="502920" y="1874520"/>
            <a:ext cx="164592" cy="274320"/>
          </a:xfrm>
          <a:prstGeom prst="roundRect">
            <a:avLst>
              <a:gd name="adj" fmla="val 22222"/>
            </a:avLst>
          </a:prstGeom>
          <a:solidFill>
            <a:srgbClr val="E8A33D"/>
          </a:solidFill>
          <a:ln/>
        </p:spPr>
      </p:sp>
      <p:sp>
        <p:nvSpPr>
          <p:cNvPr id="6" name="Text 4"/>
          <p:cNvSpPr/>
          <p:nvPr/>
        </p:nvSpPr>
        <p:spPr>
          <a:xfrm>
            <a:off x="758952" y="1847088"/>
            <a:ext cx="7059168" cy="329184"/>
          </a:xfrm>
          <a:prstGeom prst="rect">
            <a:avLst/>
          </a:prstGeom>
          <a:noFill/>
          <a:ln/>
        </p:spPr>
        <p:txBody>
          <a:bodyPr wrap="square" rtlCol="0" anchor="ctr"/>
          <a:lstStyle/>
          <a:p>
            <a:pPr marL="0" indent="0">
              <a:buNone/>
            </a:pPr>
            <a:r>
              <a:rPr lang="en-US" sz="1300" b="1" kern="0" spc="50" dirty="0">
                <a:solidFill>
                  <a:srgbClr val="1B2340"/>
                </a:solidFill>
                <a:latin typeface="Calibri" pitchFamily="34" charset="0"/>
                <a:ea typeface="Calibri" pitchFamily="34" charset="-122"/>
                <a:cs typeface="Calibri" pitchFamily="34" charset="-120"/>
              </a:rPr>
              <a:t>DEFINITION / CONCEPT</a:t>
            </a:r>
            <a:endParaRPr lang="en-US" sz="1300" dirty="0"/>
          </a:p>
        </p:txBody>
      </p:sp>
      <p:sp>
        <p:nvSpPr>
          <p:cNvPr id="7" name="Shape 5"/>
          <p:cNvSpPr/>
          <p:nvPr/>
        </p:nvSpPr>
        <p:spPr>
          <a:xfrm>
            <a:off x="502920" y="2194560"/>
            <a:ext cx="11201400" cy="1188720"/>
          </a:xfrm>
          <a:prstGeom prst="roundRect">
            <a:avLst>
              <a:gd name="adj" fmla="val 6154"/>
            </a:avLst>
          </a:prstGeom>
          <a:solidFill>
            <a:srgbClr val="F7F7FA"/>
          </a:solidFill>
          <a:ln w="12700">
            <a:solidFill>
              <a:srgbClr val="E4E6EF"/>
            </a:solidFill>
            <a:prstDash val="solid"/>
          </a:ln>
        </p:spPr>
      </p:sp>
      <p:sp>
        <p:nvSpPr>
          <p:cNvPr id="8" name="Text 6"/>
          <p:cNvSpPr/>
          <p:nvPr/>
        </p:nvSpPr>
        <p:spPr>
          <a:xfrm>
            <a:off x="758952" y="2377440"/>
            <a:ext cx="10689336" cy="822960"/>
          </a:xfrm>
          <a:prstGeom prst="rect">
            <a:avLst/>
          </a:prstGeom>
          <a:noFill/>
          <a:ln/>
        </p:spPr>
        <p:txBody>
          <a:bodyPr wrap="square" lIns="0" tIns="0" rIns="0" bIns="0" rtlCol="0" anchor="t"/>
          <a:lstStyle/>
          <a:p>
            <a:pPr marL="0" indent="0">
              <a:lnSpc>
                <a:spcPct val="115000"/>
              </a:lnSpc>
              <a:buNone/>
            </a:pPr>
            <a:r>
              <a:rPr lang="en-US" sz="1450" dirty="0">
                <a:solidFill>
                  <a:srgbClr val="1B2340"/>
                </a:solidFill>
                <a:latin typeface="Calibri" pitchFamily="34" charset="0"/>
                <a:ea typeface="Calibri" pitchFamily="34" charset="-122"/>
                <a:cs typeface="Calibri" pitchFamily="34" charset="-120"/>
              </a:rPr>
              <a:t>Reversing a string means rearranging its characters in the opposite order, without relying on a library method like reverse().</a:t>
            </a:r>
            <a:endParaRPr lang="en-US" sz="1450" dirty="0"/>
          </a:p>
        </p:txBody>
      </p:sp>
      <p:sp>
        <p:nvSpPr>
          <p:cNvPr id="9" name="Shape 7"/>
          <p:cNvSpPr/>
          <p:nvPr/>
        </p:nvSpPr>
        <p:spPr>
          <a:xfrm>
            <a:off x="502920" y="3611880"/>
            <a:ext cx="164592" cy="274320"/>
          </a:xfrm>
          <a:prstGeom prst="roundRect">
            <a:avLst>
              <a:gd name="adj" fmla="val 22222"/>
            </a:avLst>
          </a:prstGeom>
          <a:solidFill>
            <a:srgbClr val="3FBFAE"/>
          </a:solidFill>
          <a:ln/>
        </p:spPr>
      </p:sp>
      <p:sp>
        <p:nvSpPr>
          <p:cNvPr id="10" name="Text 8"/>
          <p:cNvSpPr/>
          <p:nvPr/>
        </p:nvSpPr>
        <p:spPr>
          <a:xfrm>
            <a:off x="758952" y="3584448"/>
            <a:ext cx="7059168" cy="329184"/>
          </a:xfrm>
          <a:prstGeom prst="rect">
            <a:avLst/>
          </a:prstGeom>
          <a:noFill/>
          <a:ln/>
        </p:spPr>
        <p:txBody>
          <a:bodyPr wrap="square" rtlCol="0" anchor="ctr"/>
          <a:lstStyle/>
          <a:p>
            <a:pPr marL="0" indent="0">
              <a:buNone/>
            </a:pPr>
            <a:r>
              <a:rPr lang="en-US" sz="1300" b="1" kern="0" spc="50" dirty="0">
                <a:solidFill>
                  <a:srgbClr val="1B2340"/>
                </a:solidFill>
                <a:latin typeface="Calibri" pitchFamily="34" charset="0"/>
                <a:ea typeface="Calibri" pitchFamily="34" charset="-122"/>
                <a:cs typeface="Calibri" pitchFamily="34" charset="-120"/>
              </a:rPr>
              <a:t>APPROACH - HOW TO SOLVE IT</a:t>
            </a:r>
            <a:endParaRPr lang="en-US" sz="1300" dirty="0"/>
          </a:p>
        </p:txBody>
      </p:sp>
      <p:sp>
        <p:nvSpPr>
          <p:cNvPr id="11" name="Text 9"/>
          <p:cNvSpPr/>
          <p:nvPr/>
        </p:nvSpPr>
        <p:spPr>
          <a:xfrm>
            <a:off x="502920" y="3950208"/>
            <a:ext cx="10607040" cy="2468880"/>
          </a:xfrm>
          <a:prstGeom prst="rect">
            <a:avLst/>
          </a:prstGeom>
          <a:noFill/>
          <a:ln/>
        </p:spPr>
        <p:txBody>
          <a:bodyPr wrap="square" lIns="0" tIns="0" rIns="0" bIns="0" rtlCol="0" anchor="t"/>
          <a:lstStyle/>
          <a:p>
            <a:pPr marL="177800" indent="-177800">
              <a:spcAft>
                <a:spcPts val="1200"/>
              </a:spcAft>
              <a:buSzPct val="100000"/>
              <a:buChar char="•"/>
            </a:pPr>
            <a:r>
              <a:rPr lang="en-US" sz="1450" dirty="0">
                <a:solidFill>
                  <a:srgbClr val="1B2340"/>
                </a:solidFill>
                <a:latin typeface="Calibri" pitchFamily="34" charset="0"/>
                <a:ea typeface="Calibri" pitchFamily="34" charset="-122"/>
                <a:cs typeface="Calibri" pitchFamily="34" charset="-120"/>
              </a:rPr>
              <a:t>Convert the string to a character array so individual characters can be swapped</a:t>
            </a:r>
            <a:endParaRPr lang="en-US" sz="1450" dirty="0"/>
          </a:p>
          <a:p>
            <a:pPr marL="177800" indent="-177800">
              <a:spcAft>
                <a:spcPts val="1200"/>
              </a:spcAft>
              <a:buSzPct val="100000"/>
              <a:buChar char="•"/>
            </a:pPr>
            <a:r>
              <a:rPr lang="en-US" sz="1450" dirty="0">
                <a:solidFill>
                  <a:srgbClr val="1B2340"/>
                </a:solidFill>
                <a:latin typeface="Calibri" pitchFamily="34" charset="0"/>
                <a:ea typeface="Calibri" pitchFamily="34" charset="-122"/>
                <a:cs typeface="Calibri" pitchFamily="34" charset="-120"/>
              </a:rPr>
              <a:t>Use two pointers - one at the start, one at the end</a:t>
            </a:r>
            <a:endParaRPr lang="en-US" sz="1450" dirty="0"/>
          </a:p>
          <a:p>
            <a:pPr marL="177800" indent="-177800">
              <a:spcAft>
                <a:spcPts val="1200"/>
              </a:spcAft>
              <a:buSzPct val="100000"/>
              <a:buChar char="•"/>
            </a:pPr>
            <a:r>
              <a:rPr lang="en-US" sz="1450" dirty="0">
                <a:solidFill>
                  <a:srgbClr val="1B2340"/>
                </a:solidFill>
                <a:latin typeface="Calibri" pitchFamily="34" charset="0"/>
                <a:ea typeface="Calibri" pitchFamily="34" charset="-122"/>
                <a:cs typeface="Calibri" pitchFamily="34" charset="-120"/>
              </a:rPr>
              <a:t>Swap the characters and move both pointers toward the middle</a:t>
            </a:r>
            <a:endParaRPr lang="en-US" sz="1450" dirty="0"/>
          </a:p>
          <a:p>
            <a:pPr marL="177800" indent="-177800">
              <a:spcAft>
                <a:spcPts val="1200"/>
              </a:spcAft>
              <a:buSzPct val="100000"/>
              <a:buChar char="•"/>
            </a:pPr>
            <a:r>
              <a:rPr lang="en-US" sz="1450" dirty="0">
                <a:solidFill>
                  <a:srgbClr val="1B2340"/>
                </a:solidFill>
                <a:latin typeface="Calibri" pitchFamily="34" charset="0"/>
                <a:ea typeface="Calibri" pitchFamily="34" charset="-122"/>
                <a:cs typeface="Calibri" pitchFamily="34" charset="-120"/>
              </a:rPr>
              <a:t>Interviewers ask this to test understanding of arrays, loops, and in-place logic</a:t>
            </a:r>
            <a:endParaRPr lang="en-US" sz="1450" dirty="0"/>
          </a:p>
        </p:txBody>
      </p:sp>
      <p:sp>
        <p:nvSpPr>
          <p:cNvPr id="12" name="Shape 10"/>
          <p:cNvSpPr/>
          <p:nvPr/>
        </p:nvSpPr>
        <p:spPr>
          <a:xfrm>
            <a:off x="9052560" y="5394960"/>
            <a:ext cx="2651760" cy="822960"/>
          </a:xfrm>
          <a:prstGeom prst="roundRect">
            <a:avLst>
              <a:gd name="adj" fmla="val 11111"/>
            </a:avLst>
          </a:prstGeom>
          <a:solidFill>
            <a:srgbClr val="1B2340"/>
          </a:solidFill>
          <a:ln/>
        </p:spPr>
      </p:sp>
      <p:sp>
        <p:nvSpPr>
          <p:cNvPr id="13" name="Text 11"/>
          <p:cNvSpPr/>
          <p:nvPr/>
        </p:nvSpPr>
        <p:spPr>
          <a:xfrm>
            <a:off x="9052560" y="5394960"/>
            <a:ext cx="2651760" cy="822960"/>
          </a:xfrm>
          <a:prstGeom prst="rect">
            <a:avLst/>
          </a:prstGeom>
          <a:noFill/>
          <a:ln/>
        </p:spPr>
        <p:txBody>
          <a:bodyPr wrap="square" rtlCol="0" anchor="ctr"/>
          <a:lstStyle/>
          <a:p>
            <a:pPr marL="0" indent="0" algn="ctr">
              <a:buNone/>
            </a:pPr>
            <a:r>
              <a:rPr lang="en-US" sz="1250" b="1" dirty="0">
                <a:solidFill>
                  <a:srgbClr val="E8A33D"/>
                </a:solidFill>
                <a:latin typeface="Calibri" pitchFamily="34" charset="0"/>
                <a:ea typeface="Calibri" pitchFamily="34" charset="-122"/>
                <a:cs typeface="Calibri" pitchFamily="34" charset="-120"/>
              </a:rPr>
              <a:t>See code on</a:t>
            </a:r>
            <a:endParaRPr lang="en-US" sz="1250" dirty="0"/>
          </a:p>
          <a:p>
            <a:pPr marL="0" indent="0" algn="ctr">
              <a:buNone/>
            </a:pPr>
            <a:r>
              <a:rPr lang="en-US" sz="1250" b="1" dirty="0">
                <a:solidFill>
                  <a:srgbClr val="E8A33D"/>
                </a:solidFill>
                <a:latin typeface="Calibri" pitchFamily="34" charset="0"/>
                <a:ea typeface="Calibri" pitchFamily="34" charset="-122"/>
                <a:cs typeface="Calibri" pitchFamily="34" charset="-120"/>
              </a:rPr>
              <a:t>the next slide →</a:t>
            </a:r>
            <a:endParaRPr lang="en-US" sz="1250" dirty="0"/>
          </a:p>
        </p:txBody>
      </p:sp>
      <p:sp>
        <p:nvSpPr>
          <p:cNvPr id="14" name="Text 12"/>
          <p:cNvSpPr/>
          <p:nvPr/>
        </p:nvSpPr>
        <p:spPr>
          <a:xfrm>
            <a:off x="457200" y="6583680"/>
            <a:ext cx="5486400" cy="228600"/>
          </a:xfrm>
          <a:prstGeom prst="rect">
            <a:avLst/>
          </a:prstGeom>
          <a:noFill/>
          <a:ln/>
        </p:spPr>
        <p:txBody>
          <a:bodyPr wrap="square" rtlCol="0" anchor="ctr"/>
          <a:lstStyle/>
          <a:p>
            <a:pPr marL="0" indent="0" algn="l">
              <a:buNone/>
            </a:pPr>
            <a:r>
              <a:rPr lang="en-US" sz="850" dirty="0">
                <a:solidFill>
                  <a:srgbClr val="5B6178"/>
                </a:solidFill>
                <a:latin typeface="Calibri" pitchFamily="34" charset="0"/>
                <a:ea typeface="Calibri" pitchFamily="34" charset="-122"/>
                <a:cs typeface="Calibri" pitchFamily="34" charset="-120"/>
              </a:rPr>
              <a:t>Java &amp; Full-Stack Interview Prep</a:t>
            </a:r>
            <a:endParaRPr lang="en-US" sz="85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Shape 0"/>
          <p:cNvSpPr/>
          <p:nvPr/>
        </p:nvSpPr>
        <p:spPr>
          <a:xfrm>
            <a:off x="502920" y="384048"/>
            <a:ext cx="4279392" cy="310896"/>
          </a:xfrm>
          <a:prstGeom prst="roundRect">
            <a:avLst>
              <a:gd name="adj" fmla="val 23529"/>
            </a:avLst>
          </a:prstGeom>
          <a:solidFill>
            <a:srgbClr val="E8A33D"/>
          </a:solidFill>
          <a:ln/>
        </p:spPr>
      </p:sp>
      <p:sp>
        <p:nvSpPr>
          <p:cNvPr id="3" name="Text 1"/>
          <p:cNvSpPr/>
          <p:nvPr/>
        </p:nvSpPr>
        <p:spPr>
          <a:xfrm>
            <a:off x="502920" y="384048"/>
            <a:ext cx="4279392" cy="310896"/>
          </a:xfrm>
          <a:prstGeom prst="rect">
            <a:avLst/>
          </a:prstGeom>
          <a:noFill/>
          <a:ln/>
        </p:spPr>
        <p:txBody>
          <a:bodyPr wrap="square" rtlCol="0" anchor="ctr"/>
          <a:lstStyle/>
          <a:p>
            <a:pPr marL="0" indent="0" algn="ctr">
              <a:buNone/>
            </a:pPr>
            <a:r>
              <a:rPr lang="en-US" sz="1100" b="1" kern="0" spc="100" dirty="0">
                <a:solidFill>
                  <a:srgbClr val="1B2340"/>
                </a:solidFill>
                <a:latin typeface="Calibri" pitchFamily="34" charset="0"/>
                <a:ea typeface="Calibri" pitchFamily="34" charset="-122"/>
                <a:cs typeface="Calibri" pitchFamily="34" charset="-120"/>
              </a:rPr>
              <a:t>DSA CODING PRACTICE</a:t>
            </a:r>
            <a:endParaRPr lang="en-US" sz="1100" dirty="0"/>
          </a:p>
        </p:txBody>
      </p:sp>
      <p:sp>
        <p:nvSpPr>
          <p:cNvPr id="4" name="Text 2"/>
          <p:cNvSpPr/>
          <p:nvPr/>
        </p:nvSpPr>
        <p:spPr>
          <a:xfrm>
            <a:off x="502920" y="786384"/>
            <a:ext cx="11155680" cy="868680"/>
          </a:xfrm>
          <a:prstGeom prst="rect">
            <a:avLst/>
          </a:prstGeom>
          <a:noFill/>
          <a:ln/>
        </p:spPr>
        <p:txBody>
          <a:bodyPr wrap="square" rtlCol="0" anchor="t"/>
          <a:lstStyle/>
          <a:p>
            <a:pPr marL="0" indent="0">
              <a:lnSpc>
                <a:spcPct val="102000"/>
              </a:lnSpc>
              <a:buNone/>
            </a:pPr>
            <a:r>
              <a:rPr lang="en-US" sz="2500" b="1" dirty="0">
                <a:solidFill>
                  <a:srgbClr val="1B2340"/>
                </a:solidFill>
                <a:latin typeface="Century Schoolbook" pitchFamily="34" charset="0"/>
                <a:ea typeface="Century Schoolbook" pitchFamily="34" charset="-122"/>
                <a:cs typeface="Century Schoolbook" pitchFamily="34" charset="-120"/>
              </a:rPr>
              <a:t>Reverse a String - Code &amp; Explanation</a:t>
            </a:r>
            <a:endParaRPr lang="en-US" sz="2500" dirty="0"/>
          </a:p>
        </p:txBody>
      </p:sp>
      <p:sp>
        <p:nvSpPr>
          <p:cNvPr id="5" name="Shape 3"/>
          <p:cNvSpPr/>
          <p:nvPr/>
        </p:nvSpPr>
        <p:spPr>
          <a:xfrm>
            <a:off x="502920" y="1810512"/>
            <a:ext cx="164592" cy="274320"/>
          </a:xfrm>
          <a:prstGeom prst="roundRect">
            <a:avLst>
              <a:gd name="adj" fmla="val 22222"/>
            </a:avLst>
          </a:prstGeom>
          <a:solidFill>
            <a:srgbClr val="E8A33D"/>
          </a:solidFill>
          <a:ln/>
        </p:spPr>
      </p:sp>
      <p:sp>
        <p:nvSpPr>
          <p:cNvPr id="6" name="Text 4"/>
          <p:cNvSpPr/>
          <p:nvPr/>
        </p:nvSpPr>
        <p:spPr>
          <a:xfrm>
            <a:off x="758952" y="1783080"/>
            <a:ext cx="5230368" cy="329184"/>
          </a:xfrm>
          <a:prstGeom prst="rect">
            <a:avLst/>
          </a:prstGeom>
          <a:noFill/>
          <a:ln/>
        </p:spPr>
        <p:txBody>
          <a:bodyPr wrap="square" rtlCol="0" anchor="ctr"/>
          <a:lstStyle/>
          <a:p>
            <a:pPr marL="0" indent="0">
              <a:buNone/>
            </a:pPr>
            <a:r>
              <a:rPr lang="en-US" sz="1300" b="1" kern="0" spc="50" dirty="0">
                <a:solidFill>
                  <a:srgbClr val="1B2340"/>
                </a:solidFill>
                <a:latin typeface="Calibri" pitchFamily="34" charset="0"/>
                <a:ea typeface="Calibri" pitchFamily="34" charset="-122"/>
                <a:cs typeface="Calibri" pitchFamily="34" charset="-120"/>
              </a:rPr>
              <a:t>EXAMPLE - CODE</a:t>
            </a:r>
            <a:endParaRPr lang="en-US" sz="1300" dirty="0"/>
          </a:p>
        </p:txBody>
      </p:sp>
      <p:sp>
        <p:nvSpPr>
          <p:cNvPr id="7" name="Shape 5"/>
          <p:cNvSpPr/>
          <p:nvPr/>
        </p:nvSpPr>
        <p:spPr>
          <a:xfrm>
            <a:off x="502920" y="2121408"/>
            <a:ext cx="5486400" cy="2628900"/>
          </a:xfrm>
          <a:prstGeom prst="roundRect">
            <a:avLst>
              <a:gd name="adj" fmla="val 2783"/>
            </a:avLst>
          </a:prstGeom>
          <a:solidFill>
            <a:srgbClr val="1E1E2E"/>
          </a:solidFill>
          <a:ln/>
        </p:spPr>
      </p:sp>
      <p:sp>
        <p:nvSpPr>
          <p:cNvPr id="8" name="Shape 6"/>
          <p:cNvSpPr/>
          <p:nvPr/>
        </p:nvSpPr>
        <p:spPr>
          <a:xfrm>
            <a:off x="640080" y="2249424"/>
            <a:ext cx="100584" cy="100584"/>
          </a:xfrm>
          <a:prstGeom prst="ellipse">
            <a:avLst/>
          </a:prstGeom>
          <a:solidFill>
            <a:srgbClr val="FF5F56"/>
          </a:solidFill>
          <a:ln/>
        </p:spPr>
      </p:sp>
      <p:sp>
        <p:nvSpPr>
          <p:cNvPr id="9" name="Shape 7"/>
          <p:cNvSpPr/>
          <p:nvPr/>
        </p:nvSpPr>
        <p:spPr>
          <a:xfrm>
            <a:off x="795528" y="2249424"/>
            <a:ext cx="100584" cy="100584"/>
          </a:xfrm>
          <a:prstGeom prst="ellipse">
            <a:avLst/>
          </a:prstGeom>
          <a:solidFill>
            <a:srgbClr val="FFBD2E"/>
          </a:solidFill>
          <a:ln/>
        </p:spPr>
      </p:sp>
      <p:sp>
        <p:nvSpPr>
          <p:cNvPr id="10" name="Shape 8"/>
          <p:cNvSpPr/>
          <p:nvPr/>
        </p:nvSpPr>
        <p:spPr>
          <a:xfrm>
            <a:off x="950976" y="2249424"/>
            <a:ext cx="100584" cy="100584"/>
          </a:xfrm>
          <a:prstGeom prst="ellipse">
            <a:avLst/>
          </a:prstGeom>
          <a:solidFill>
            <a:srgbClr val="27C93F"/>
          </a:solidFill>
          <a:ln/>
        </p:spPr>
      </p:sp>
      <p:sp>
        <p:nvSpPr>
          <p:cNvPr id="11" name="Text 9"/>
          <p:cNvSpPr/>
          <p:nvPr/>
        </p:nvSpPr>
        <p:spPr>
          <a:xfrm>
            <a:off x="1143000" y="2167128"/>
            <a:ext cx="4572000" cy="274320"/>
          </a:xfrm>
          <a:prstGeom prst="rect">
            <a:avLst/>
          </a:prstGeom>
          <a:noFill/>
          <a:ln/>
        </p:spPr>
        <p:txBody>
          <a:bodyPr wrap="square" rtlCol="0" anchor="ctr"/>
          <a:lstStyle/>
          <a:p>
            <a:pPr marL="0" indent="0" algn="r">
              <a:buNone/>
            </a:pPr>
            <a:r>
              <a:rPr lang="en-US" sz="1000" dirty="0">
                <a:solidFill>
                  <a:srgbClr val="8A90AC"/>
                </a:solidFill>
                <a:latin typeface="Courier New" pitchFamily="34" charset="0"/>
                <a:ea typeface="Courier New" pitchFamily="34" charset="-122"/>
                <a:cs typeface="Courier New" pitchFamily="34" charset="-120"/>
              </a:rPr>
              <a:t>Main.java</a:t>
            </a:r>
            <a:endParaRPr lang="en-US" sz="1000" dirty="0"/>
          </a:p>
        </p:txBody>
      </p:sp>
      <p:sp>
        <p:nvSpPr>
          <p:cNvPr id="12" name="Text 10"/>
          <p:cNvSpPr/>
          <p:nvPr/>
        </p:nvSpPr>
        <p:spPr>
          <a:xfrm>
            <a:off x="731520" y="2487168"/>
            <a:ext cx="5029200" cy="2171700"/>
          </a:xfrm>
          <a:prstGeom prst="rect">
            <a:avLst/>
          </a:prstGeom>
          <a:noFill/>
          <a:ln/>
        </p:spPr>
        <p:txBody>
          <a:bodyPr wrap="square" lIns="0" tIns="0" rIns="0" bIns="0" rtlCol="0" anchor="t"/>
          <a:lstStyle/>
          <a:p>
            <a:pPr marL="0" indent="0">
              <a:lnSpc>
                <a:spcPct val="120000"/>
              </a:lnSpc>
              <a:buNone/>
            </a:pPr>
            <a:r>
              <a:rPr lang="en-US" sz="1200" dirty="0">
                <a:solidFill>
                  <a:srgbClr val="D4D4E0"/>
                </a:solidFill>
                <a:latin typeface="Courier New" pitchFamily="34" charset="0"/>
                <a:ea typeface="Courier New" pitchFamily="34" charset="-122"/>
                <a:cs typeface="Courier New" pitchFamily="34" charset="-120"/>
              </a:rPr>
              <a:t>String reverseString(String s) {</a:t>
            </a:r>
            <a:endParaRPr lang="en-US" sz="1200" dirty="0"/>
          </a:p>
          <a:p>
            <a:pPr marL="0" indent="0">
              <a:lnSpc>
                <a:spcPct val="120000"/>
              </a:lnSpc>
              <a:buNone/>
            </a:pPr>
            <a:r>
              <a:rPr lang="en-US" sz="1200" dirty="0">
                <a:solidFill>
                  <a:srgbClr val="D4D4E0"/>
                </a:solidFill>
                <a:latin typeface="Courier New" pitchFamily="34" charset="0"/>
                <a:ea typeface="Courier New" pitchFamily="34" charset="-122"/>
                <a:cs typeface="Courier New" pitchFamily="34" charset="-120"/>
              </a:rPr>
              <a:t>    char[] c = s.toCharArray();</a:t>
            </a:r>
            <a:endParaRPr lang="en-US" sz="1200" dirty="0"/>
          </a:p>
          <a:p>
            <a:pPr marL="0" indent="0">
              <a:lnSpc>
                <a:spcPct val="120000"/>
              </a:lnSpc>
              <a:buNone/>
            </a:pPr>
            <a:r>
              <a:rPr lang="en-US" sz="1200" dirty="0">
                <a:solidFill>
                  <a:srgbClr val="D4D4E0"/>
                </a:solidFill>
                <a:latin typeface="Courier New" pitchFamily="34" charset="0"/>
                <a:ea typeface="Courier New" pitchFamily="34" charset="-122"/>
                <a:cs typeface="Courier New" pitchFamily="34" charset="-120"/>
              </a:rPr>
              <a:t>    int l = 0, r = c.length - 1;</a:t>
            </a:r>
            <a:endParaRPr lang="en-US" sz="1200" dirty="0"/>
          </a:p>
          <a:p>
            <a:pPr marL="0" indent="0">
              <a:lnSpc>
                <a:spcPct val="120000"/>
              </a:lnSpc>
              <a:buNone/>
            </a:pPr>
            <a:r>
              <a:rPr lang="en-US" sz="1200" dirty="0">
                <a:solidFill>
                  <a:srgbClr val="D4D4E0"/>
                </a:solidFill>
                <a:latin typeface="Courier New" pitchFamily="34" charset="0"/>
                <a:ea typeface="Courier New" pitchFamily="34" charset="-122"/>
                <a:cs typeface="Courier New" pitchFamily="34" charset="-120"/>
              </a:rPr>
              <a:t>    while (l &lt; r) {</a:t>
            </a:r>
            <a:endParaRPr lang="en-US" sz="1200" dirty="0"/>
          </a:p>
          <a:p>
            <a:pPr marL="0" indent="0">
              <a:lnSpc>
                <a:spcPct val="120000"/>
              </a:lnSpc>
              <a:buNone/>
            </a:pPr>
            <a:r>
              <a:rPr lang="en-US" sz="1200" dirty="0">
                <a:solidFill>
                  <a:srgbClr val="D4D4E0"/>
                </a:solidFill>
                <a:latin typeface="Courier New" pitchFamily="34" charset="0"/>
                <a:ea typeface="Courier New" pitchFamily="34" charset="-122"/>
                <a:cs typeface="Courier New" pitchFamily="34" charset="-120"/>
              </a:rPr>
              <a:t>        char t = c[l]; c[l] = c[r]; c[r] = t;</a:t>
            </a:r>
            <a:endParaRPr lang="en-US" sz="1200" dirty="0"/>
          </a:p>
          <a:p>
            <a:pPr marL="0" indent="0">
              <a:lnSpc>
                <a:spcPct val="120000"/>
              </a:lnSpc>
              <a:buNone/>
            </a:pPr>
            <a:r>
              <a:rPr lang="en-US" sz="1200" dirty="0">
                <a:solidFill>
                  <a:srgbClr val="D4D4E0"/>
                </a:solidFill>
                <a:latin typeface="Courier New" pitchFamily="34" charset="0"/>
                <a:ea typeface="Courier New" pitchFamily="34" charset="-122"/>
                <a:cs typeface="Courier New" pitchFamily="34" charset="-120"/>
              </a:rPr>
              <a:t>        l++; r--;</a:t>
            </a:r>
            <a:endParaRPr lang="en-US" sz="1200" dirty="0"/>
          </a:p>
          <a:p>
            <a:pPr marL="0" indent="0">
              <a:lnSpc>
                <a:spcPct val="120000"/>
              </a:lnSpc>
              <a:buNone/>
            </a:pPr>
            <a:r>
              <a:rPr lang="en-US" sz="1200" dirty="0">
                <a:solidFill>
                  <a:srgbClr val="D4D4E0"/>
                </a:solidFill>
                <a:latin typeface="Courier New" pitchFamily="34" charset="0"/>
                <a:ea typeface="Courier New" pitchFamily="34" charset="-122"/>
                <a:cs typeface="Courier New" pitchFamily="34" charset="-120"/>
              </a:rPr>
              <a:t>    }</a:t>
            </a:r>
            <a:endParaRPr lang="en-US" sz="1200" dirty="0"/>
          </a:p>
          <a:p>
            <a:pPr marL="0" indent="0">
              <a:lnSpc>
                <a:spcPct val="120000"/>
              </a:lnSpc>
              <a:buNone/>
            </a:pPr>
            <a:r>
              <a:rPr lang="en-US" sz="1200" dirty="0">
                <a:solidFill>
                  <a:srgbClr val="D4D4E0"/>
                </a:solidFill>
                <a:latin typeface="Courier New" pitchFamily="34" charset="0"/>
                <a:ea typeface="Courier New" pitchFamily="34" charset="-122"/>
                <a:cs typeface="Courier New" pitchFamily="34" charset="-120"/>
              </a:rPr>
              <a:t>    return new String(c);</a:t>
            </a:r>
            <a:endParaRPr lang="en-US" sz="1200" dirty="0"/>
          </a:p>
          <a:p>
            <a:pPr marL="0" indent="0">
              <a:lnSpc>
                <a:spcPct val="120000"/>
              </a:lnSpc>
              <a:buNone/>
            </a:pPr>
            <a:r>
              <a:rPr lang="en-US" sz="1200" dirty="0">
                <a:solidFill>
                  <a:srgbClr val="D4D4E0"/>
                </a:solidFill>
                <a:latin typeface="Courier New" pitchFamily="34" charset="0"/>
                <a:ea typeface="Courier New" pitchFamily="34" charset="-122"/>
                <a:cs typeface="Courier New" pitchFamily="34" charset="-120"/>
              </a:rPr>
              <a:t>}</a:t>
            </a:r>
            <a:endParaRPr lang="en-US" sz="1200" dirty="0"/>
          </a:p>
        </p:txBody>
      </p:sp>
      <p:sp>
        <p:nvSpPr>
          <p:cNvPr id="13" name="Shape 11"/>
          <p:cNvSpPr/>
          <p:nvPr/>
        </p:nvSpPr>
        <p:spPr>
          <a:xfrm>
            <a:off x="502920" y="4933188"/>
            <a:ext cx="5486400" cy="868680"/>
          </a:xfrm>
          <a:prstGeom prst="roundRect">
            <a:avLst>
              <a:gd name="adj" fmla="val 8421"/>
            </a:avLst>
          </a:prstGeom>
          <a:solidFill>
            <a:srgbClr val="1B2340"/>
          </a:solidFill>
          <a:ln/>
        </p:spPr>
      </p:sp>
      <p:sp>
        <p:nvSpPr>
          <p:cNvPr id="14" name="Text 12"/>
          <p:cNvSpPr/>
          <p:nvPr/>
        </p:nvSpPr>
        <p:spPr>
          <a:xfrm>
            <a:off x="731520" y="5024628"/>
            <a:ext cx="5029200" cy="256032"/>
          </a:xfrm>
          <a:prstGeom prst="rect">
            <a:avLst/>
          </a:prstGeom>
          <a:noFill/>
          <a:ln/>
        </p:spPr>
        <p:txBody>
          <a:bodyPr wrap="square" rtlCol="0" anchor="ctr"/>
          <a:lstStyle/>
          <a:p>
            <a:pPr marL="0" indent="0">
              <a:buNone/>
            </a:pPr>
            <a:r>
              <a:rPr lang="en-US" sz="1050" b="1" kern="0" spc="80" dirty="0">
                <a:solidFill>
                  <a:srgbClr val="E8A33D"/>
                </a:solidFill>
                <a:latin typeface="Calibri" pitchFamily="34" charset="0"/>
                <a:ea typeface="Calibri" pitchFamily="34" charset="-122"/>
                <a:cs typeface="Calibri" pitchFamily="34" charset="-120"/>
              </a:rPr>
              <a:t>ONE-LINE INTERVIEW ANSWER</a:t>
            </a:r>
            <a:endParaRPr lang="en-US" sz="1050" dirty="0"/>
          </a:p>
        </p:txBody>
      </p:sp>
      <p:sp>
        <p:nvSpPr>
          <p:cNvPr id="15" name="Text 13"/>
          <p:cNvSpPr/>
          <p:nvPr/>
        </p:nvSpPr>
        <p:spPr>
          <a:xfrm>
            <a:off x="731520" y="5280660"/>
            <a:ext cx="5029200" cy="411480"/>
          </a:xfrm>
          <a:prstGeom prst="rect">
            <a:avLst/>
          </a:prstGeom>
          <a:noFill/>
          <a:ln/>
        </p:spPr>
        <p:txBody>
          <a:bodyPr wrap="square" lIns="0" tIns="0" rIns="0" bIns="0" rtlCol="0" anchor="t"/>
          <a:lstStyle/>
          <a:p>
            <a:pPr marL="0" indent="0">
              <a:lnSpc>
                <a:spcPct val="105000"/>
              </a:lnSpc>
              <a:buNone/>
            </a:pPr>
            <a:r>
              <a:rPr lang="en-US" sz="1250" dirty="0">
                <a:solidFill>
                  <a:srgbClr val="FFFFFF"/>
                </a:solidFill>
                <a:latin typeface="Calibri" pitchFamily="34" charset="0"/>
                <a:ea typeface="Calibri" pitchFamily="34" charset="-122"/>
                <a:cs typeface="Calibri" pitchFamily="34" charset="-120"/>
              </a:rPr>
              <a:t>A string can be reversed in-place using two pointers that swap characters from both ends until they meet in the middle.</a:t>
            </a:r>
            <a:endParaRPr lang="en-US" sz="1250" dirty="0"/>
          </a:p>
        </p:txBody>
      </p:sp>
      <p:sp>
        <p:nvSpPr>
          <p:cNvPr id="16" name="Shape 14"/>
          <p:cNvSpPr/>
          <p:nvPr/>
        </p:nvSpPr>
        <p:spPr>
          <a:xfrm>
            <a:off x="6263640" y="1810512"/>
            <a:ext cx="164592" cy="274320"/>
          </a:xfrm>
          <a:prstGeom prst="roundRect">
            <a:avLst>
              <a:gd name="adj" fmla="val 22222"/>
            </a:avLst>
          </a:prstGeom>
          <a:solidFill>
            <a:srgbClr val="3FBFAE"/>
          </a:solidFill>
          <a:ln/>
        </p:spPr>
      </p:sp>
      <p:sp>
        <p:nvSpPr>
          <p:cNvPr id="17" name="Text 15"/>
          <p:cNvSpPr/>
          <p:nvPr/>
        </p:nvSpPr>
        <p:spPr>
          <a:xfrm>
            <a:off x="6519672" y="1783080"/>
            <a:ext cx="5184648" cy="329184"/>
          </a:xfrm>
          <a:prstGeom prst="rect">
            <a:avLst/>
          </a:prstGeom>
          <a:noFill/>
          <a:ln/>
        </p:spPr>
        <p:txBody>
          <a:bodyPr wrap="square" rtlCol="0" anchor="ctr"/>
          <a:lstStyle/>
          <a:p>
            <a:pPr marL="0" indent="0">
              <a:buNone/>
            </a:pPr>
            <a:r>
              <a:rPr lang="en-US" sz="1300" b="1" kern="0" spc="50" dirty="0">
                <a:solidFill>
                  <a:srgbClr val="1B2340"/>
                </a:solidFill>
                <a:latin typeface="Calibri" pitchFamily="34" charset="0"/>
                <a:ea typeface="Calibri" pitchFamily="34" charset="-122"/>
                <a:cs typeface="Calibri" pitchFamily="34" charset="-120"/>
              </a:rPr>
              <a:t>EXPLANATION</a:t>
            </a:r>
            <a:endParaRPr lang="en-US" sz="1300" dirty="0"/>
          </a:p>
        </p:txBody>
      </p:sp>
      <p:sp>
        <p:nvSpPr>
          <p:cNvPr id="18" name="Text 16"/>
          <p:cNvSpPr/>
          <p:nvPr/>
        </p:nvSpPr>
        <p:spPr>
          <a:xfrm>
            <a:off x="6263640" y="2139696"/>
            <a:ext cx="5440680" cy="2011680"/>
          </a:xfrm>
          <a:prstGeom prst="rect">
            <a:avLst/>
          </a:prstGeom>
          <a:noFill/>
          <a:ln/>
        </p:spPr>
        <p:txBody>
          <a:bodyPr wrap="square" lIns="0" tIns="0" rIns="0" bIns="0" rtlCol="0" anchor="t"/>
          <a:lstStyle/>
          <a:p>
            <a:pPr marL="177800" indent="-177800">
              <a:spcAft>
                <a:spcPts val="800"/>
              </a:spcAft>
              <a:buSzPct val="100000"/>
              <a:buChar char="•"/>
            </a:pPr>
            <a:r>
              <a:rPr lang="en-US" sz="1250" dirty="0">
                <a:solidFill>
                  <a:srgbClr val="1B2340"/>
                </a:solidFill>
                <a:latin typeface="Calibri" pitchFamily="34" charset="0"/>
                <a:ea typeface="Calibri" pitchFamily="34" charset="-122"/>
                <a:cs typeface="Calibri" pitchFamily="34" charset="-120"/>
              </a:rPr>
              <a:t>The string is converted into a char array for in-place swapping</a:t>
            </a:r>
            <a:endParaRPr lang="en-US" sz="1250" dirty="0"/>
          </a:p>
          <a:p>
            <a:pPr marL="177800" indent="-177800">
              <a:spcAft>
                <a:spcPts val="800"/>
              </a:spcAft>
              <a:buSzPct val="100000"/>
              <a:buChar char="•"/>
            </a:pPr>
            <a:r>
              <a:rPr lang="en-US" sz="1250" dirty="0">
                <a:solidFill>
                  <a:srgbClr val="1B2340"/>
                </a:solidFill>
                <a:latin typeface="Calibri" pitchFamily="34" charset="0"/>
                <a:ea typeface="Calibri" pitchFamily="34" charset="-122"/>
                <a:cs typeface="Calibri" pitchFamily="34" charset="-120"/>
              </a:rPr>
              <a:t>Two pointers move toward each other, swapping characters at each step</a:t>
            </a:r>
            <a:endParaRPr lang="en-US" sz="1250" dirty="0"/>
          </a:p>
          <a:p>
            <a:pPr marL="177800" indent="-177800">
              <a:spcAft>
                <a:spcPts val="800"/>
              </a:spcAft>
              <a:buSzPct val="100000"/>
              <a:buChar char="•"/>
            </a:pPr>
            <a:r>
              <a:rPr lang="en-US" sz="1250" dirty="0">
                <a:solidFill>
                  <a:srgbClr val="1B2340"/>
                </a:solidFill>
                <a:latin typeface="Calibri" pitchFamily="34" charset="0"/>
                <a:ea typeface="Calibri" pitchFamily="34" charset="-122"/>
                <a:cs typeface="Calibri" pitchFamily="34" charset="-120"/>
              </a:rPr>
              <a:t>The loop runs only until the pointers meet in the middle</a:t>
            </a:r>
            <a:endParaRPr lang="en-US" sz="1250" dirty="0"/>
          </a:p>
          <a:p>
            <a:pPr marL="177800" indent="-177800">
              <a:spcAft>
                <a:spcPts val="800"/>
              </a:spcAft>
              <a:buSzPct val="100000"/>
              <a:buChar char="•"/>
            </a:pPr>
            <a:r>
              <a:rPr lang="en-US" sz="1250" dirty="0">
                <a:solidFill>
                  <a:srgbClr val="1B2340"/>
                </a:solidFill>
                <a:latin typeface="Calibri" pitchFamily="34" charset="0"/>
                <a:ea typeface="Calibri" pitchFamily="34" charset="-122"/>
                <a:cs typeface="Calibri" pitchFamily="34" charset="-120"/>
              </a:rPr>
              <a:t>This approach is O(n) time and uses no extra array, just swaps</a:t>
            </a:r>
            <a:endParaRPr lang="en-US" sz="1250" dirty="0"/>
          </a:p>
        </p:txBody>
      </p:sp>
      <p:sp>
        <p:nvSpPr>
          <p:cNvPr id="19" name="Shape 17"/>
          <p:cNvSpPr/>
          <p:nvPr/>
        </p:nvSpPr>
        <p:spPr>
          <a:xfrm>
            <a:off x="6263640" y="4261104"/>
            <a:ext cx="5440680" cy="1783080"/>
          </a:xfrm>
          <a:prstGeom prst="roundRect">
            <a:avLst>
              <a:gd name="adj" fmla="val 4103"/>
            </a:avLst>
          </a:prstGeom>
          <a:solidFill>
            <a:srgbClr val="FDF3E3"/>
          </a:solidFill>
          <a:ln/>
        </p:spPr>
      </p:sp>
      <p:sp>
        <p:nvSpPr>
          <p:cNvPr id="20" name="Text 18"/>
          <p:cNvSpPr/>
          <p:nvPr/>
        </p:nvSpPr>
        <p:spPr>
          <a:xfrm>
            <a:off x="6464808" y="4370832"/>
            <a:ext cx="5038344" cy="274320"/>
          </a:xfrm>
          <a:prstGeom prst="rect">
            <a:avLst/>
          </a:prstGeom>
          <a:noFill/>
          <a:ln/>
        </p:spPr>
        <p:txBody>
          <a:bodyPr wrap="square" rtlCol="0" anchor="ctr"/>
          <a:lstStyle/>
          <a:p>
            <a:pPr marL="0" indent="0">
              <a:buNone/>
            </a:pPr>
            <a:r>
              <a:rPr lang="en-US" sz="1100" b="1" kern="0" spc="50" dirty="0">
                <a:solidFill>
                  <a:srgbClr val="C9862A"/>
                </a:solidFill>
                <a:latin typeface="Calibri" pitchFamily="34" charset="0"/>
                <a:ea typeface="Calibri" pitchFamily="34" charset="-122"/>
                <a:cs typeface="Calibri" pitchFamily="34" charset="-120"/>
              </a:rPr>
              <a:t>💡 REAL-LIFE ANALOGY</a:t>
            </a:r>
            <a:endParaRPr lang="en-US" sz="1100" dirty="0"/>
          </a:p>
        </p:txBody>
      </p:sp>
      <p:sp>
        <p:nvSpPr>
          <p:cNvPr id="21" name="Text 19"/>
          <p:cNvSpPr/>
          <p:nvPr/>
        </p:nvSpPr>
        <p:spPr>
          <a:xfrm>
            <a:off x="6464808" y="4663440"/>
            <a:ext cx="5038344" cy="1252728"/>
          </a:xfrm>
          <a:prstGeom prst="rect">
            <a:avLst/>
          </a:prstGeom>
          <a:noFill/>
          <a:ln/>
        </p:spPr>
        <p:txBody>
          <a:bodyPr wrap="square" lIns="0" tIns="0" rIns="0" bIns="0" rtlCol="0" anchor="t"/>
          <a:lstStyle/>
          <a:p>
            <a:pPr marL="0" indent="0">
              <a:lnSpc>
                <a:spcPct val="110000"/>
              </a:lnSpc>
              <a:buNone/>
            </a:pPr>
            <a:r>
              <a:rPr lang="en-US" sz="1250" i="1" dirty="0">
                <a:solidFill>
                  <a:srgbClr val="1B2340"/>
                </a:solidFill>
                <a:latin typeface="Calibri" pitchFamily="34" charset="0"/>
                <a:ea typeface="Calibri" pitchFamily="34" charset="-122"/>
                <a:cs typeface="Calibri" pitchFamily="34" charset="-120"/>
              </a:rPr>
              <a:t>It's like two people standing at opposite ends of a line of people and swapping positions with each other, walking toward the middle until they meet.</a:t>
            </a:r>
            <a:endParaRPr lang="en-US" sz="1250" dirty="0"/>
          </a:p>
        </p:txBody>
      </p:sp>
      <p:sp>
        <p:nvSpPr>
          <p:cNvPr id="22" name="Text 20"/>
          <p:cNvSpPr/>
          <p:nvPr/>
        </p:nvSpPr>
        <p:spPr>
          <a:xfrm>
            <a:off x="457200" y="6583680"/>
            <a:ext cx="5486400" cy="228600"/>
          </a:xfrm>
          <a:prstGeom prst="rect">
            <a:avLst/>
          </a:prstGeom>
          <a:noFill/>
          <a:ln/>
        </p:spPr>
        <p:txBody>
          <a:bodyPr wrap="square" rtlCol="0" anchor="ctr"/>
          <a:lstStyle/>
          <a:p>
            <a:pPr marL="0" indent="0" algn="l">
              <a:buNone/>
            </a:pPr>
            <a:r>
              <a:rPr lang="en-US" sz="850" dirty="0">
                <a:solidFill>
                  <a:srgbClr val="5B6178"/>
                </a:solidFill>
                <a:latin typeface="Calibri" pitchFamily="34" charset="0"/>
                <a:ea typeface="Calibri" pitchFamily="34" charset="-122"/>
                <a:cs typeface="Calibri" pitchFamily="34" charset="-120"/>
              </a:rPr>
              <a:t>Java &amp; Full-Stack Interview Prep</a:t>
            </a:r>
            <a:endParaRPr lang="en-US" sz="85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Shape 0"/>
          <p:cNvSpPr/>
          <p:nvPr/>
        </p:nvSpPr>
        <p:spPr>
          <a:xfrm>
            <a:off x="502920" y="384048"/>
            <a:ext cx="4279392" cy="310896"/>
          </a:xfrm>
          <a:prstGeom prst="roundRect">
            <a:avLst>
              <a:gd name="adj" fmla="val 23529"/>
            </a:avLst>
          </a:prstGeom>
          <a:solidFill>
            <a:srgbClr val="E8A33D"/>
          </a:solidFill>
          <a:ln/>
        </p:spPr>
      </p:sp>
      <p:sp>
        <p:nvSpPr>
          <p:cNvPr id="3" name="Text 1"/>
          <p:cNvSpPr/>
          <p:nvPr/>
        </p:nvSpPr>
        <p:spPr>
          <a:xfrm>
            <a:off x="502920" y="384048"/>
            <a:ext cx="4279392" cy="310896"/>
          </a:xfrm>
          <a:prstGeom prst="rect">
            <a:avLst/>
          </a:prstGeom>
          <a:noFill/>
          <a:ln/>
        </p:spPr>
        <p:txBody>
          <a:bodyPr wrap="square" rtlCol="0" anchor="ctr"/>
          <a:lstStyle/>
          <a:p>
            <a:pPr marL="0" indent="0" algn="ctr">
              <a:buNone/>
            </a:pPr>
            <a:r>
              <a:rPr lang="en-US" sz="1100" b="1" kern="0" spc="100" dirty="0">
                <a:solidFill>
                  <a:srgbClr val="1B2340"/>
                </a:solidFill>
                <a:latin typeface="Calibri" pitchFamily="34" charset="0"/>
                <a:ea typeface="Calibri" pitchFamily="34" charset="-122"/>
                <a:cs typeface="Calibri" pitchFamily="34" charset="-120"/>
              </a:rPr>
              <a:t>DSA CODING PRACTICE</a:t>
            </a:r>
            <a:endParaRPr lang="en-US" sz="1100" dirty="0"/>
          </a:p>
        </p:txBody>
      </p:sp>
      <p:sp>
        <p:nvSpPr>
          <p:cNvPr id="4" name="Text 2"/>
          <p:cNvSpPr/>
          <p:nvPr/>
        </p:nvSpPr>
        <p:spPr>
          <a:xfrm>
            <a:off x="502920" y="786384"/>
            <a:ext cx="11155680" cy="868680"/>
          </a:xfrm>
          <a:prstGeom prst="rect">
            <a:avLst/>
          </a:prstGeom>
          <a:noFill/>
          <a:ln/>
        </p:spPr>
        <p:txBody>
          <a:bodyPr wrap="square" rtlCol="0" anchor="t"/>
          <a:lstStyle/>
          <a:p>
            <a:pPr marL="0" indent="0">
              <a:lnSpc>
                <a:spcPct val="102000"/>
              </a:lnSpc>
              <a:buNone/>
            </a:pPr>
            <a:r>
              <a:rPr lang="en-US" sz="2500" b="1" dirty="0">
                <a:solidFill>
                  <a:srgbClr val="1B2340"/>
                </a:solidFill>
                <a:latin typeface="Century Schoolbook" pitchFamily="34" charset="0"/>
                <a:ea typeface="Century Schoolbook" pitchFamily="34" charset="-122"/>
                <a:cs typeface="Century Schoolbook" pitchFamily="34" charset="-120"/>
              </a:rPr>
              <a:t>How do you find the Largest or Nth Largest element in an Array?</a:t>
            </a:r>
            <a:endParaRPr lang="en-US" sz="2500" dirty="0"/>
          </a:p>
        </p:txBody>
      </p:sp>
      <p:sp>
        <p:nvSpPr>
          <p:cNvPr id="5" name="Shape 3"/>
          <p:cNvSpPr/>
          <p:nvPr/>
        </p:nvSpPr>
        <p:spPr>
          <a:xfrm>
            <a:off x="502920" y="1874520"/>
            <a:ext cx="164592" cy="274320"/>
          </a:xfrm>
          <a:prstGeom prst="roundRect">
            <a:avLst>
              <a:gd name="adj" fmla="val 22222"/>
            </a:avLst>
          </a:prstGeom>
          <a:solidFill>
            <a:srgbClr val="E8A33D"/>
          </a:solidFill>
          <a:ln/>
        </p:spPr>
      </p:sp>
      <p:sp>
        <p:nvSpPr>
          <p:cNvPr id="6" name="Text 4"/>
          <p:cNvSpPr/>
          <p:nvPr/>
        </p:nvSpPr>
        <p:spPr>
          <a:xfrm>
            <a:off x="758952" y="1847088"/>
            <a:ext cx="7059168" cy="329184"/>
          </a:xfrm>
          <a:prstGeom prst="rect">
            <a:avLst/>
          </a:prstGeom>
          <a:noFill/>
          <a:ln/>
        </p:spPr>
        <p:txBody>
          <a:bodyPr wrap="square" rtlCol="0" anchor="ctr"/>
          <a:lstStyle/>
          <a:p>
            <a:pPr marL="0" indent="0">
              <a:buNone/>
            </a:pPr>
            <a:r>
              <a:rPr lang="en-US" sz="1300" b="1" kern="0" spc="50" dirty="0">
                <a:solidFill>
                  <a:srgbClr val="1B2340"/>
                </a:solidFill>
                <a:latin typeface="Calibri" pitchFamily="34" charset="0"/>
                <a:ea typeface="Calibri" pitchFamily="34" charset="-122"/>
                <a:cs typeface="Calibri" pitchFamily="34" charset="-120"/>
              </a:rPr>
              <a:t>DEFINITION / CONCEPT</a:t>
            </a:r>
            <a:endParaRPr lang="en-US" sz="1300" dirty="0"/>
          </a:p>
        </p:txBody>
      </p:sp>
      <p:sp>
        <p:nvSpPr>
          <p:cNvPr id="7" name="Shape 5"/>
          <p:cNvSpPr/>
          <p:nvPr/>
        </p:nvSpPr>
        <p:spPr>
          <a:xfrm>
            <a:off x="502920" y="2194560"/>
            <a:ext cx="11201400" cy="1188720"/>
          </a:xfrm>
          <a:prstGeom prst="roundRect">
            <a:avLst>
              <a:gd name="adj" fmla="val 6154"/>
            </a:avLst>
          </a:prstGeom>
          <a:solidFill>
            <a:srgbClr val="F7F7FA"/>
          </a:solidFill>
          <a:ln w="12700">
            <a:solidFill>
              <a:srgbClr val="E4E6EF"/>
            </a:solidFill>
            <a:prstDash val="solid"/>
          </a:ln>
        </p:spPr>
      </p:sp>
      <p:sp>
        <p:nvSpPr>
          <p:cNvPr id="8" name="Text 6"/>
          <p:cNvSpPr/>
          <p:nvPr/>
        </p:nvSpPr>
        <p:spPr>
          <a:xfrm>
            <a:off x="758952" y="2377440"/>
            <a:ext cx="10689336" cy="822960"/>
          </a:xfrm>
          <a:prstGeom prst="rect">
            <a:avLst/>
          </a:prstGeom>
          <a:noFill/>
          <a:ln/>
        </p:spPr>
        <p:txBody>
          <a:bodyPr wrap="square" lIns="0" tIns="0" rIns="0" bIns="0" rtlCol="0" anchor="t"/>
          <a:lstStyle/>
          <a:p>
            <a:pPr marL="0" indent="0">
              <a:lnSpc>
                <a:spcPct val="115000"/>
              </a:lnSpc>
              <a:buNone/>
            </a:pPr>
            <a:r>
              <a:rPr lang="en-US" sz="1450" dirty="0">
                <a:solidFill>
                  <a:srgbClr val="1B2340"/>
                </a:solidFill>
                <a:latin typeface="Calibri" pitchFamily="34" charset="0"/>
                <a:ea typeface="Calibri" pitchFamily="34" charset="-122"/>
                <a:cs typeface="Calibri" pitchFamily="34" charset="-120"/>
              </a:rPr>
              <a:t>This means finding either the single maximum value, or the value that would rank Nth if the array were sorted in descending order (handling duplicates carefully).</a:t>
            </a:r>
            <a:endParaRPr lang="en-US" sz="1450" dirty="0"/>
          </a:p>
        </p:txBody>
      </p:sp>
      <p:sp>
        <p:nvSpPr>
          <p:cNvPr id="9" name="Shape 7"/>
          <p:cNvSpPr/>
          <p:nvPr/>
        </p:nvSpPr>
        <p:spPr>
          <a:xfrm>
            <a:off x="502920" y="3611880"/>
            <a:ext cx="164592" cy="274320"/>
          </a:xfrm>
          <a:prstGeom prst="roundRect">
            <a:avLst>
              <a:gd name="adj" fmla="val 22222"/>
            </a:avLst>
          </a:prstGeom>
          <a:solidFill>
            <a:srgbClr val="3FBFAE"/>
          </a:solidFill>
          <a:ln/>
        </p:spPr>
      </p:sp>
      <p:sp>
        <p:nvSpPr>
          <p:cNvPr id="10" name="Text 8"/>
          <p:cNvSpPr/>
          <p:nvPr/>
        </p:nvSpPr>
        <p:spPr>
          <a:xfrm>
            <a:off x="758952" y="3584448"/>
            <a:ext cx="7059168" cy="329184"/>
          </a:xfrm>
          <a:prstGeom prst="rect">
            <a:avLst/>
          </a:prstGeom>
          <a:noFill/>
          <a:ln/>
        </p:spPr>
        <p:txBody>
          <a:bodyPr wrap="square" rtlCol="0" anchor="ctr"/>
          <a:lstStyle/>
          <a:p>
            <a:pPr marL="0" indent="0">
              <a:buNone/>
            </a:pPr>
            <a:r>
              <a:rPr lang="en-US" sz="1300" b="1" kern="0" spc="50" dirty="0">
                <a:solidFill>
                  <a:srgbClr val="1B2340"/>
                </a:solidFill>
                <a:latin typeface="Calibri" pitchFamily="34" charset="0"/>
                <a:ea typeface="Calibri" pitchFamily="34" charset="-122"/>
                <a:cs typeface="Calibri" pitchFamily="34" charset="-120"/>
              </a:rPr>
              <a:t>APPROACH - HOW TO SOLVE IT</a:t>
            </a:r>
            <a:endParaRPr lang="en-US" sz="1300" dirty="0"/>
          </a:p>
        </p:txBody>
      </p:sp>
      <p:sp>
        <p:nvSpPr>
          <p:cNvPr id="11" name="Text 9"/>
          <p:cNvSpPr/>
          <p:nvPr/>
        </p:nvSpPr>
        <p:spPr>
          <a:xfrm>
            <a:off x="502920" y="3950208"/>
            <a:ext cx="10607040" cy="2468880"/>
          </a:xfrm>
          <a:prstGeom prst="rect">
            <a:avLst/>
          </a:prstGeom>
          <a:noFill/>
          <a:ln/>
        </p:spPr>
        <p:txBody>
          <a:bodyPr wrap="square" lIns="0" tIns="0" rIns="0" bIns="0" rtlCol="0" anchor="t"/>
          <a:lstStyle/>
          <a:p>
            <a:pPr marL="177800" indent="-177800">
              <a:spcAft>
                <a:spcPts val="1200"/>
              </a:spcAft>
              <a:buSzPct val="100000"/>
              <a:buChar char="•"/>
            </a:pPr>
            <a:r>
              <a:rPr lang="en-US" sz="1450" dirty="0">
                <a:solidFill>
                  <a:srgbClr val="1B2340"/>
                </a:solidFill>
                <a:latin typeface="Calibri" pitchFamily="34" charset="0"/>
                <a:ea typeface="Calibri" pitchFamily="34" charset="-122"/>
                <a:cs typeface="Calibri" pitchFamily="34" charset="-120"/>
              </a:rPr>
              <a:t>For the largest element, scan the array once and keep track of the maximum seen so far</a:t>
            </a:r>
            <a:endParaRPr lang="en-US" sz="1450" dirty="0"/>
          </a:p>
          <a:p>
            <a:pPr marL="177800" indent="-177800">
              <a:spcAft>
                <a:spcPts val="1200"/>
              </a:spcAft>
              <a:buSzPct val="100000"/>
              <a:buChar char="•"/>
            </a:pPr>
            <a:r>
              <a:rPr lang="en-US" sz="1450" dirty="0">
                <a:solidFill>
                  <a:srgbClr val="1B2340"/>
                </a:solidFill>
                <a:latin typeface="Calibri" pitchFamily="34" charset="0"/>
                <a:ea typeface="Calibri" pitchFamily="34" charset="-122"/>
                <a:cs typeface="Calibri" pitchFamily="34" charset="-120"/>
              </a:rPr>
              <a:t>For the Nth largest, sort the array in descending order and pick index (N-1)</a:t>
            </a:r>
            <a:endParaRPr lang="en-US" sz="1450" dirty="0"/>
          </a:p>
          <a:p>
            <a:pPr marL="177800" indent="-177800">
              <a:spcAft>
                <a:spcPts val="1200"/>
              </a:spcAft>
              <a:buSzPct val="100000"/>
              <a:buChar char="•"/>
            </a:pPr>
            <a:r>
              <a:rPr lang="en-US" sz="1450" dirty="0">
                <a:solidFill>
                  <a:srgbClr val="1B2340"/>
                </a:solidFill>
                <a:latin typeface="Calibri" pitchFamily="34" charset="0"/>
                <a:ea typeface="Calibri" pitchFamily="34" charset="-122"/>
                <a:cs typeface="Calibri" pitchFamily="34" charset="-120"/>
              </a:rPr>
              <a:t>For distinct Nth largest values (ignoring duplicates), use a Set or track multiple 'best-so-far' variables</a:t>
            </a:r>
            <a:endParaRPr lang="en-US" sz="1450" dirty="0"/>
          </a:p>
          <a:p>
            <a:pPr marL="177800" indent="-177800">
              <a:spcAft>
                <a:spcPts val="1200"/>
              </a:spcAft>
              <a:buSzPct val="100000"/>
              <a:buChar char="•"/>
            </a:pPr>
            <a:r>
              <a:rPr lang="en-US" sz="1450" dirty="0">
                <a:solidFill>
                  <a:srgbClr val="1B2340"/>
                </a:solidFill>
                <a:latin typeface="Calibri" pitchFamily="34" charset="0"/>
                <a:ea typeface="Calibri" pitchFamily="34" charset="-122"/>
                <a:cs typeface="Calibri" pitchFamily="34" charset="-120"/>
              </a:rPr>
              <a:t>Interviewers often follow up by asking for an O(n) approach without full sorting</a:t>
            </a:r>
            <a:endParaRPr lang="en-US" sz="1450" dirty="0"/>
          </a:p>
        </p:txBody>
      </p:sp>
      <p:sp>
        <p:nvSpPr>
          <p:cNvPr id="12" name="Shape 10"/>
          <p:cNvSpPr/>
          <p:nvPr/>
        </p:nvSpPr>
        <p:spPr>
          <a:xfrm>
            <a:off x="9052560" y="5394960"/>
            <a:ext cx="2651760" cy="822960"/>
          </a:xfrm>
          <a:prstGeom prst="roundRect">
            <a:avLst>
              <a:gd name="adj" fmla="val 11111"/>
            </a:avLst>
          </a:prstGeom>
          <a:solidFill>
            <a:srgbClr val="1B2340"/>
          </a:solidFill>
          <a:ln/>
        </p:spPr>
      </p:sp>
      <p:sp>
        <p:nvSpPr>
          <p:cNvPr id="13" name="Text 11"/>
          <p:cNvSpPr/>
          <p:nvPr/>
        </p:nvSpPr>
        <p:spPr>
          <a:xfrm>
            <a:off x="9052560" y="5394960"/>
            <a:ext cx="2651760" cy="822960"/>
          </a:xfrm>
          <a:prstGeom prst="rect">
            <a:avLst/>
          </a:prstGeom>
          <a:noFill/>
          <a:ln/>
        </p:spPr>
        <p:txBody>
          <a:bodyPr wrap="square" rtlCol="0" anchor="ctr"/>
          <a:lstStyle/>
          <a:p>
            <a:pPr marL="0" indent="0" algn="ctr">
              <a:buNone/>
            </a:pPr>
            <a:r>
              <a:rPr lang="en-US" sz="1250" b="1" dirty="0">
                <a:solidFill>
                  <a:srgbClr val="E8A33D"/>
                </a:solidFill>
                <a:latin typeface="Calibri" pitchFamily="34" charset="0"/>
                <a:ea typeface="Calibri" pitchFamily="34" charset="-122"/>
                <a:cs typeface="Calibri" pitchFamily="34" charset="-120"/>
              </a:rPr>
              <a:t>See code on</a:t>
            </a:r>
            <a:endParaRPr lang="en-US" sz="1250" dirty="0"/>
          </a:p>
          <a:p>
            <a:pPr marL="0" indent="0" algn="ctr">
              <a:buNone/>
            </a:pPr>
            <a:r>
              <a:rPr lang="en-US" sz="1250" b="1" dirty="0">
                <a:solidFill>
                  <a:srgbClr val="E8A33D"/>
                </a:solidFill>
                <a:latin typeface="Calibri" pitchFamily="34" charset="0"/>
                <a:ea typeface="Calibri" pitchFamily="34" charset="-122"/>
                <a:cs typeface="Calibri" pitchFamily="34" charset="-120"/>
              </a:rPr>
              <a:t>the next slide →</a:t>
            </a:r>
            <a:endParaRPr lang="en-US" sz="1250" dirty="0"/>
          </a:p>
        </p:txBody>
      </p:sp>
      <p:sp>
        <p:nvSpPr>
          <p:cNvPr id="14" name="Text 12"/>
          <p:cNvSpPr/>
          <p:nvPr/>
        </p:nvSpPr>
        <p:spPr>
          <a:xfrm>
            <a:off x="457200" y="6583680"/>
            <a:ext cx="5486400" cy="228600"/>
          </a:xfrm>
          <a:prstGeom prst="rect">
            <a:avLst/>
          </a:prstGeom>
          <a:noFill/>
          <a:ln/>
        </p:spPr>
        <p:txBody>
          <a:bodyPr wrap="square" rtlCol="0" anchor="ctr"/>
          <a:lstStyle/>
          <a:p>
            <a:pPr marL="0" indent="0" algn="l">
              <a:buNone/>
            </a:pPr>
            <a:r>
              <a:rPr lang="en-US" sz="850" dirty="0">
                <a:solidFill>
                  <a:srgbClr val="5B6178"/>
                </a:solidFill>
                <a:latin typeface="Calibri" pitchFamily="34" charset="0"/>
                <a:ea typeface="Calibri" pitchFamily="34" charset="-122"/>
                <a:cs typeface="Calibri" pitchFamily="34" charset="-120"/>
              </a:rPr>
              <a:t>Java &amp; Full-Stack Interview Prep</a:t>
            </a:r>
            <a:endParaRPr lang="en-US" sz="85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Shape 0"/>
          <p:cNvSpPr/>
          <p:nvPr/>
        </p:nvSpPr>
        <p:spPr>
          <a:xfrm>
            <a:off x="502920" y="384048"/>
            <a:ext cx="4279392" cy="310896"/>
          </a:xfrm>
          <a:prstGeom prst="roundRect">
            <a:avLst>
              <a:gd name="adj" fmla="val 23529"/>
            </a:avLst>
          </a:prstGeom>
          <a:solidFill>
            <a:srgbClr val="E8A33D"/>
          </a:solidFill>
          <a:ln/>
        </p:spPr>
      </p:sp>
      <p:sp>
        <p:nvSpPr>
          <p:cNvPr id="3" name="Text 1"/>
          <p:cNvSpPr/>
          <p:nvPr/>
        </p:nvSpPr>
        <p:spPr>
          <a:xfrm>
            <a:off x="502920" y="384048"/>
            <a:ext cx="4279392" cy="310896"/>
          </a:xfrm>
          <a:prstGeom prst="rect">
            <a:avLst/>
          </a:prstGeom>
          <a:noFill/>
          <a:ln/>
        </p:spPr>
        <p:txBody>
          <a:bodyPr wrap="square" rtlCol="0" anchor="ctr"/>
          <a:lstStyle/>
          <a:p>
            <a:pPr marL="0" indent="0" algn="ctr">
              <a:buNone/>
            </a:pPr>
            <a:r>
              <a:rPr lang="en-US" sz="1100" b="1" kern="0" spc="100" dirty="0">
                <a:solidFill>
                  <a:srgbClr val="1B2340"/>
                </a:solidFill>
                <a:latin typeface="Calibri" pitchFamily="34" charset="0"/>
                <a:ea typeface="Calibri" pitchFamily="34" charset="-122"/>
                <a:cs typeface="Calibri" pitchFamily="34" charset="-120"/>
              </a:rPr>
              <a:t>DSA CODING PRACTICE</a:t>
            </a:r>
            <a:endParaRPr lang="en-US" sz="1100" dirty="0"/>
          </a:p>
        </p:txBody>
      </p:sp>
      <p:sp>
        <p:nvSpPr>
          <p:cNvPr id="4" name="Text 2"/>
          <p:cNvSpPr/>
          <p:nvPr/>
        </p:nvSpPr>
        <p:spPr>
          <a:xfrm>
            <a:off x="502920" y="786384"/>
            <a:ext cx="11155680" cy="868680"/>
          </a:xfrm>
          <a:prstGeom prst="rect">
            <a:avLst/>
          </a:prstGeom>
          <a:noFill/>
          <a:ln/>
        </p:spPr>
        <p:txBody>
          <a:bodyPr wrap="square" rtlCol="0" anchor="t"/>
          <a:lstStyle/>
          <a:p>
            <a:pPr marL="0" indent="0">
              <a:lnSpc>
                <a:spcPct val="102000"/>
              </a:lnSpc>
              <a:buNone/>
            </a:pPr>
            <a:r>
              <a:rPr lang="en-US" sz="2500" b="1" dirty="0">
                <a:solidFill>
                  <a:srgbClr val="1B2340"/>
                </a:solidFill>
                <a:latin typeface="Century Schoolbook" pitchFamily="34" charset="0"/>
                <a:ea typeface="Century Schoolbook" pitchFamily="34" charset="-122"/>
                <a:cs typeface="Century Schoolbook" pitchFamily="34" charset="-120"/>
              </a:rPr>
              <a:t>Largest / Nth Largest Element - Code &amp; Explanation</a:t>
            </a:r>
            <a:endParaRPr lang="en-US" sz="2500" dirty="0"/>
          </a:p>
        </p:txBody>
      </p:sp>
      <p:sp>
        <p:nvSpPr>
          <p:cNvPr id="5" name="Shape 3"/>
          <p:cNvSpPr/>
          <p:nvPr/>
        </p:nvSpPr>
        <p:spPr>
          <a:xfrm>
            <a:off x="502920" y="1810512"/>
            <a:ext cx="164592" cy="274320"/>
          </a:xfrm>
          <a:prstGeom prst="roundRect">
            <a:avLst>
              <a:gd name="adj" fmla="val 22222"/>
            </a:avLst>
          </a:prstGeom>
          <a:solidFill>
            <a:srgbClr val="E8A33D"/>
          </a:solidFill>
          <a:ln/>
        </p:spPr>
      </p:sp>
      <p:sp>
        <p:nvSpPr>
          <p:cNvPr id="6" name="Text 4"/>
          <p:cNvSpPr/>
          <p:nvPr/>
        </p:nvSpPr>
        <p:spPr>
          <a:xfrm>
            <a:off x="758952" y="1783080"/>
            <a:ext cx="5230368" cy="329184"/>
          </a:xfrm>
          <a:prstGeom prst="rect">
            <a:avLst/>
          </a:prstGeom>
          <a:noFill/>
          <a:ln/>
        </p:spPr>
        <p:txBody>
          <a:bodyPr wrap="square" rtlCol="0" anchor="ctr"/>
          <a:lstStyle/>
          <a:p>
            <a:pPr marL="0" indent="0">
              <a:buNone/>
            </a:pPr>
            <a:r>
              <a:rPr lang="en-US" sz="1300" b="1" kern="0" spc="50" dirty="0">
                <a:solidFill>
                  <a:srgbClr val="1B2340"/>
                </a:solidFill>
                <a:latin typeface="Calibri" pitchFamily="34" charset="0"/>
                <a:ea typeface="Calibri" pitchFamily="34" charset="-122"/>
                <a:cs typeface="Calibri" pitchFamily="34" charset="-120"/>
              </a:rPr>
              <a:t>EXAMPLE - CODE</a:t>
            </a:r>
            <a:endParaRPr lang="en-US" sz="1300" dirty="0"/>
          </a:p>
        </p:txBody>
      </p:sp>
      <p:sp>
        <p:nvSpPr>
          <p:cNvPr id="7" name="Shape 5"/>
          <p:cNvSpPr/>
          <p:nvPr/>
        </p:nvSpPr>
        <p:spPr>
          <a:xfrm>
            <a:off x="502920" y="2121408"/>
            <a:ext cx="5486400" cy="1920240"/>
          </a:xfrm>
          <a:prstGeom prst="roundRect">
            <a:avLst>
              <a:gd name="adj" fmla="val 3810"/>
            </a:avLst>
          </a:prstGeom>
          <a:solidFill>
            <a:srgbClr val="1E1E2E"/>
          </a:solidFill>
          <a:ln/>
        </p:spPr>
      </p:sp>
      <p:sp>
        <p:nvSpPr>
          <p:cNvPr id="8" name="Shape 6"/>
          <p:cNvSpPr/>
          <p:nvPr/>
        </p:nvSpPr>
        <p:spPr>
          <a:xfrm>
            <a:off x="640080" y="2249424"/>
            <a:ext cx="100584" cy="100584"/>
          </a:xfrm>
          <a:prstGeom prst="ellipse">
            <a:avLst/>
          </a:prstGeom>
          <a:solidFill>
            <a:srgbClr val="FF5F56"/>
          </a:solidFill>
          <a:ln/>
        </p:spPr>
      </p:sp>
      <p:sp>
        <p:nvSpPr>
          <p:cNvPr id="9" name="Shape 7"/>
          <p:cNvSpPr/>
          <p:nvPr/>
        </p:nvSpPr>
        <p:spPr>
          <a:xfrm>
            <a:off x="795528" y="2249424"/>
            <a:ext cx="100584" cy="100584"/>
          </a:xfrm>
          <a:prstGeom prst="ellipse">
            <a:avLst/>
          </a:prstGeom>
          <a:solidFill>
            <a:srgbClr val="FFBD2E"/>
          </a:solidFill>
          <a:ln/>
        </p:spPr>
      </p:sp>
      <p:sp>
        <p:nvSpPr>
          <p:cNvPr id="10" name="Shape 8"/>
          <p:cNvSpPr/>
          <p:nvPr/>
        </p:nvSpPr>
        <p:spPr>
          <a:xfrm>
            <a:off x="950976" y="2249424"/>
            <a:ext cx="100584" cy="100584"/>
          </a:xfrm>
          <a:prstGeom prst="ellipse">
            <a:avLst/>
          </a:prstGeom>
          <a:solidFill>
            <a:srgbClr val="27C93F"/>
          </a:solidFill>
          <a:ln/>
        </p:spPr>
      </p:sp>
      <p:sp>
        <p:nvSpPr>
          <p:cNvPr id="11" name="Text 9"/>
          <p:cNvSpPr/>
          <p:nvPr/>
        </p:nvSpPr>
        <p:spPr>
          <a:xfrm>
            <a:off x="1143000" y="2167128"/>
            <a:ext cx="4572000" cy="274320"/>
          </a:xfrm>
          <a:prstGeom prst="rect">
            <a:avLst/>
          </a:prstGeom>
          <a:noFill/>
          <a:ln/>
        </p:spPr>
        <p:txBody>
          <a:bodyPr wrap="square" rtlCol="0" anchor="ctr"/>
          <a:lstStyle/>
          <a:p>
            <a:pPr marL="0" indent="0" algn="r">
              <a:buNone/>
            </a:pPr>
            <a:r>
              <a:rPr lang="en-US" sz="1000" dirty="0">
                <a:solidFill>
                  <a:srgbClr val="8A90AC"/>
                </a:solidFill>
                <a:latin typeface="Courier New" pitchFamily="34" charset="0"/>
                <a:ea typeface="Courier New" pitchFamily="34" charset="-122"/>
                <a:cs typeface="Courier New" pitchFamily="34" charset="-120"/>
              </a:rPr>
              <a:t>Main.java</a:t>
            </a:r>
            <a:endParaRPr lang="en-US" sz="1000" dirty="0"/>
          </a:p>
        </p:txBody>
      </p:sp>
      <p:sp>
        <p:nvSpPr>
          <p:cNvPr id="12" name="Text 10"/>
          <p:cNvSpPr/>
          <p:nvPr/>
        </p:nvSpPr>
        <p:spPr>
          <a:xfrm>
            <a:off x="731520" y="2487168"/>
            <a:ext cx="5029200" cy="1463040"/>
          </a:xfrm>
          <a:prstGeom prst="rect">
            <a:avLst/>
          </a:prstGeom>
          <a:noFill/>
          <a:ln/>
        </p:spPr>
        <p:txBody>
          <a:bodyPr wrap="square" lIns="0" tIns="0" rIns="0" bIns="0" rtlCol="0" anchor="t"/>
          <a:lstStyle/>
          <a:p>
            <a:pPr marL="0" indent="0">
              <a:lnSpc>
                <a:spcPct val="120000"/>
              </a:lnSpc>
              <a:buNone/>
            </a:pPr>
            <a:r>
              <a:rPr lang="en-US" sz="1200" dirty="0">
                <a:solidFill>
                  <a:srgbClr val="D4D4E0"/>
                </a:solidFill>
                <a:latin typeface="Courier New" pitchFamily="34" charset="0"/>
                <a:ea typeface="Courier New" pitchFamily="34" charset="-122"/>
                <a:cs typeface="Courier New" pitchFamily="34" charset="-120"/>
              </a:rPr>
              <a:t>int findNthLargest(int[] arr, int n) {</a:t>
            </a:r>
            <a:endParaRPr lang="en-US" sz="1200" dirty="0"/>
          </a:p>
          <a:p>
            <a:pPr marL="0" indent="0">
              <a:lnSpc>
                <a:spcPct val="120000"/>
              </a:lnSpc>
              <a:buNone/>
            </a:pPr>
            <a:r>
              <a:rPr lang="en-US" sz="1200" dirty="0">
                <a:solidFill>
                  <a:srgbClr val="D4D4E0"/>
                </a:solidFill>
                <a:latin typeface="Courier New" pitchFamily="34" charset="0"/>
                <a:ea typeface="Courier New" pitchFamily="34" charset="-122"/>
                <a:cs typeface="Courier New" pitchFamily="34" charset="-120"/>
              </a:rPr>
              <a:t>    Integer[] boxed = Arrays.stream(arr)</a:t>
            </a:r>
            <a:endParaRPr lang="en-US" sz="1200" dirty="0"/>
          </a:p>
          <a:p>
            <a:pPr marL="0" indent="0">
              <a:lnSpc>
                <a:spcPct val="120000"/>
              </a:lnSpc>
              <a:buNone/>
            </a:pPr>
            <a:r>
              <a:rPr lang="en-US" sz="1200" dirty="0">
                <a:solidFill>
                  <a:srgbClr val="D4D4E0"/>
                </a:solidFill>
                <a:latin typeface="Courier New" pitchFamily="34" charset="0"/>
                <a:ea typeface="Courier New" pitchFamily="34" charset="-122"/>
                <a:cs typeface="Courier New" pitchFamily="34" charset="-120"/>
              </a:rPr>
              <a:t>        .boxed().toArray(Integer[]::new);</a:t>
            </a:r>
            <a:endParaRPr lang="en-US" sz="1200" dirty="0"/>
          </a:p>
          <a:p>
            <a:pPr marL="0" indent="0">
              <a:lnSpc>
                <a:spcPct val="120000"/>
              </a:lnSpc>
              <a:buNone/>
            </a:pPr>
            <a:r>
              <a:rPr lang="en-US" sz="1200" dirty="0">
                <a:solidFill>
                  <a:srgbClr val="D4D4E0"/>
                </a:solidFill>
                <a:latin typeface="Courier New" pitchFamily="34" charset="0"/>
                <a:ea typeface="Courier New" pitchFamily="34" charset="-122"/>
                <a:cs typeface="Courier New" pitchFamily="34" charset="-120"/>
              </a:rPr>
              <a:t>    Arrays.sort(boxed, Collections.reverseOrder());</a:t>
            </a:r>
            <a:endParaRPr lang="en-US" sz="1200" dirty="0"/>
          </a:p>
          <a:p>
            <a:pPr marL="0" indent="0">
              <a:lnSpc>
                <a:spcPct val="120000"/>
              </a:lnSpc>
              <a:buNone/>
            </a:pPr>
            <a:r>
              <a:rPr lang="en-US" sz="1200" dirty="0">
                <a:solidFill>
                  <a:srgbClr val="D4D4E0"/>
                </a:solidFill>
                <a:latin typeface="Courier New" pitchFamily="34" charset="0"/>
                <a:ea typeface="Courier New" pitchFamily="34" charset="-122"/>
                <a:cs typeface="Courier New" pitchFamily="34" charset="-120"/>
              </a:rPr>
              <a:t>    return boxed[n - 1];</a:t>
            </a:r>
            <a:endParaRPr lang="en-US" sz="1200" dirty="0"/>
          </a:p>
          <a:p>
            <a:pPr marL="0" indent="0">
              <a:lnSpc>
                <a:spcPct val="120000"/>
              </a:lnSpc>
              <a:buNone/>
            </a:pPr>
            <a:r>
              <a:rPr lang="en-US" sz="1200" dirty="0">
                <a:solidFill>
                  <a:srgbClr val="D4D4E0"/>
                </a:solidFill>
                <a:latin typeface="Courier New" pitchFamily="34" charset="0"/>
                <a:ea typeface="Courier New" pitchFamily="34" charset="-122"/>
                <a:cs typeface="Courier New" pitchFamily="34" charset="-120"/>
              </a:rPr>
              <a:t>}</a:t>
            </a:r>
            <a:endParaRPr lang="en-US" sz="1200" dirty="0"/>
          </a:p>
        </p:txBody>
      </p:sp>
      <p:sp>
        <p:nvSpPr>
          <p:cNvPr id="13" name="Shape 11"/>
          <p:cNvSpPr/>
          <p:nvPr/>
        </p:nvSpPr>
        <p:spPr>
          <a:xfrm>
            <a:off x="502920" y="4224528"/>
            <a:ext cx="5486400" cy="868680"/>
          </a:xfrm>
          <a:prstGeom prst="roundRect">
            <a:avLst>
              <a:gd name="adj" fmla="val 8421"/>
            </a:avLst>
          </a:prstGeom>
          <a:solidFill>
            <a:srgbClr val="1B2340"/>
          </a:solidFill>
          <a:ln/>
        </p:spPr>
      </p:sp>
      <p:sp>
        <p:nvSpPr>
          <p:cNvPr id="14" name="Text 12"/>
          <p:cNvSpPr/>
          <p:nvPr/>
        </p:nvSpPr>
        <p:spPr>
          <a:xfrm>
            <a:off x="731520" y="4315968"/>
            <a:ext cx="5029200" cy="256032"/>
          </a:xfrm>
          <a:prstGeom prst="rect">
            <a:avLst/>
          </a:prstGeom>
          <a:noFill/>
          <a:ln/>
        </p:spPr>
        <p:txBody>
          <a:bodyPr wrap="square" rtlCol="0" anchor="ctr"/>
          <a:lstStyle/>
          <a:p>
            <a:pPr marL="0" indent="0">
              <a:buNone/>
            </a:pPr>
            <a:r>
              <a:rPr lang="en-US" sz="1050" b="1" kern="0" spc="80" dirty="0">
                <a:solidFill>
                  <a:srgbClr val="E8A33D"/>
                </a:solidFill>
                <a:latin typeface="Calibri" pitchFamily="34" charset="0"/>
                <a:ea typeface="Calibri" pitchFamily="34" charset="-122"/>
                <a:cs typeface="Calibri" pitchFamily="34" charset="-120"/>
              </a:rPr>
              <a:t>ONE-LINE INTERVIEW ANSWER</a:t>
            </a:r>
            <a:endParaRPr lang="en-US" sz="1050" dirty="0"/>
          </a:p>
        </p:txBody>
      </p:sp>
      <p:sp>
        <p:nvSpPr>
          <p:cNvPr id="15" name="Text 13"/>
          <p:cNvSpPr/>
          <p:nvPr/>
        </p:nvSpPr>
        <p:spPr>
          <a:xfrm>
            <a:off x="731520" y="4572000"/>
            <a:ext cx="5029200" cy="411480"/>
          </a:xfrm>
          <a:prstGeom prst="rect">
            <a:avLst/>
          </a:prstGeom>
          <a:noFill/>
          <a:ln/>
        </p:spPr>
        <p:txBody>
          <a:bodyPr wrap="square" lIns="0" tIns="0" rIns="0" bIns="0" rtlCol="0" anchor="t"/>
          <a:lstStyle/>
          <a:p>
            <a:pPr marL="0" indent="0">
              <a:lnSpc>
                <a:spcPct val="105000"/>
              </a:lnSpc>
              <a:buNone/>
            </a:pPr>
            <a:r>
              <a:rPr lang="en-US" sz="1250" dirty="0">
                <a:solidFill>
                  <a:srgbClr val="FFFFFF"/>
                </a:solidFill>
                <a:latin typeface="Calibri" pitchFamily="34" charset="0"/>
                <a:ea typeface="Calibri" pitchFamily="34" charset="-122"/>
                <a:cs typeface="Calibri" pitchFamily="34" charset="-120"/>
              </a:rPr>
              <a:t>The largest element is found with a single scan (O(n)); the Nth largest is typically found by sorting descending and indexing, or with duplicate removal for distinct ranks.</a:t>
            </a:r>
            <a:endParaRPr lang="en-US" sz="1250" dirty="0"/>
          </a:p>
        </p:txBody>
      </p:sp>
      <p:sp>
        <p:nvSpPr>
          <p:cNvPr id="16" name="Shape 14"/>
          <p:cNvSpPr/>
          <p:nvPr/>
        </p:nvSpPr>
        <p:spPr>
          <a:xfrm>
            <a:off x="6263640" y="1810512"/>
            <a:ext cx="164592" cy="274320"/>
          </a:xfrm>
          <a:prstGeom prst="roundRect">
            <a:avLst>
              <a:gd name="adj" fmla="val 22222"/>
            </a:avLst>
          </a:prstGeom>
          <a:solidFill>
            <a:srgbClr val="3FBFAE"/>
          </a:solidFill>
          <a:ln/>
        </p:spPr>
      </p:sp>
      <p:sp>
        <p:nvSpPr>
          <p:cNvPr id="17" name="Text 15"/>
          <p:cNvSpPr/>
          <p:nvPr/>
        </p:nvSpPr>
        <p:spPr>
          <a:xfrm>
            <a:off x="6519672" y="1783080"/>
            <a:ext cx="5184648" cy="329184"/>
          </a:xfrm>
          <a:prstGeom prst="rect">
            <a:avLst/>
          </a:prstGeom>
          <a:noFill/>
          <a:ln/>
        </p:spPr>
        <p:txBody>
          <a:bodyPr wrap="square" rtlCol="0" anchor="ctr"/>
          <a:lstStyle/>
          <a:p>
            <a:pPr marL="0" indent="0">
              <a:buNone/>
            </a:pPr>
            <a:r>
              <a:rPr lang="en-US" sz="1300" b="1" kern="0" spc="50" dirty="0">
                <a:solidFill>
                  <a:srgbClr val="1B2340"/>
                </a:solidFill>
                <a:latin typeface="Calibri" pitchFamily="34" charset="0"/>
                <a:ea typeface="Calibri" pitchFamily="34" charset="-122"/>
                <a:cs typeface="Calibri" pitchFamily="34" charset="-120"/>
              </a:rPr>
              <a:t>EXPLANATION</a:t>
            </a:r>
            <a:endParaRPr lang="en-US" sz="1300" dirty="0"/>
          </a:p>
        </p:txBody>
      </p:sp>
      <p:sp>
        <p:nvSpPr>
          <p:cNvPr id="18" name="Text 16"/>
          <p:cNvSpPr/>
          <p:nvPr/>
        </p:nvSpPr>
        <p:spPr>
          <a:xfrm>
            <a:off x="6263640" y="2139696"/>
            <a:ext cx="5440680" cy="2011680"/>
          </a:xfrm>
          <a:prstGeom prst="rect">
            <a:avLst/>
          </a:prstGeom>
          <a:noFill/>
          <a:ln/>
        </p:spPr>
        <p:txBody>
          <a:bodyPr wrap="square" lIns="0" tIns="0" rIns="0" bIns="0" rtlCol="0" anchor="t"/>
          <a:lstStyle/>
          <a:p>
            <a:pPr marL="177800" indent="-177800">
              <a:spcAft>
                <a:spcPts val="800"/>
              </a:spcAft>
              <a:buSzPct val="100000"/>
              <a:buChar char="•"/>
            </a:pPr>
            <a:r>
              <a:rPr lang="en-US" sz="1250" dirty="0">
                <a:solidFill>
                  <a:srgbClr val="1B2340"/>
                </a:solidFill>
                <a:latin typeface="Calibri" pitchFamily="34" charset="0"/>
                <a:ea typeface="Calibri" pitchFamily="34" charset="-122"/>
                <a:cs typeface="Calibri" pitchFamily="34" charset="-120"/>
              </a:rPr>
              <a:t>max keeps track of the biggest value found while scanning once, giving O(n) time</a:t>
            </a:r>
            <a:endParaRPr lang="en-US" sz="1250" dirty="0"/>
          </a:p>
          <a:p>
            <a:pPr marL="177800" indent="-177800">
              <a:spcAft>
                <a:spcPts val="800"/>
              </a:spcAft>
              <a:buSzPct val="100000"/>
              <a:buChar char="•"/>
            </a:pPr>
            <a:r>
              <a:rPr lang="en-US" sz="1250" dirty="0">
                <a:solidFill>
                  <a:srgbClr val="1B2340"/>
                </a:solidFill>
                <a:latin typeface="Calibri" pitchFamily="34" charset="0"/>
                <a:ea typeface="Calibri" pitchFamily="34" charset="-122"/>
                <a:cs typeface="Calibri" pitchFamily="34" charset="-120"/>
              </a:rPr>
              <a:t>For the Nth largest, sorting descending and picking index N-1 is the simplest approach (O(n log n))</a:t>
            </a:r>
            <a:endParaRPr lang="en-US" sz="1250" dirty="0"/>
          </a:p>
          <a:p>
            <a:pPr marL="177800" indent="-177800">
              <a:spcAft>
                <a:spcPts val="800"/>
              </a:spcAft>
              <a:buSzPct val="100000"/>
              <a:buChar char="•"/>
            </a:pPr>
            <a:r>
              <a:rPr lang="en-US" sz="1250" dirty="0">
                <a:solidFill>
                  <a:srgbClr val="1B2340"/>
                </a:solidFill>
                <a:latin typeface="Calibri" pitchFamily="34" charset="0"/>
                <a:ea typeface="Calibri" pitchFamily="34" charset="-122"/>
                <a:cs typeface="Calibri" pitchFamily="34" charset="-120"/>
              </a:rPr>
              <a:t>To handle duplicate values as one rank, first remove duplicates using a Set before sorting</a:t>
            </a:r>
            <a:endParaRPr lang="en-US" sz="1250" dirty="0"/>
          </a:p>
          <a:p>
            <a:pPr marL="177800" indent="-177800">
              <a:spcAft>
                <a:spcPts val="800"/>
              </a:spcAft>
              <a:buSzPct val="100000"/>
              <a:buChar char="•"/>
            </a:pPr>
            <a:r>
              <a:rPr lang="en-US" sz="1250" dirty="0">
                <a:solidFill>
                  <a:srgbClr val="1B2340"/>
                </a:solidFill>
                <a:latin typeface="Calibri" pitchFamily="34" charset="0"/>
                <a:ea typeface="Calibri" pitchFamily="34" charset="-122"/>
                <a:cs typeface="Calibri" pitchFamily="34" charset="-120"/>
              </a:rPr>
              <a:t>A single scan avoids the overhead of sorting when you only need the single largest value</a:t>
            </a:r>
            <a:endParaRPr lang="en-US" sz="1250" dirty="0"/>
          </a:p>
        </p:txBody>
      </p:sp>
      <p:sp>
        <p:nvSpPr>
          <p:cNvPr id="19" name="Shape 17"/>
          <p:cNvSpPr/>
          <p:nvPr/>
        </p:nvSpPr>
        <p:spPr>
          <a:xfrm>
            <a:off x="6263640" y="4261104"/>
            <a:ext cx="5440680" cy="1783080"/>
          </a:xfrm>
          <a:prstGeom prst="roundRect">
            <a:avLst>
              <a:gd name="adj" fmla="val 4103"/>
            </a:avLst>
          </a:prstGeom>
          <a:solidFill>
            <a:srgbClr val="FDF3E3"/>
          </a:solidFill>
          <a:ln/>
        </p:spPr>
      </p:sp>
      <p:sp>
        <p:nvSpPr>
          <p:cNvPr id="20" name="Text 18"/>
          <p:cNvSpPr/>
          <p:nvPr/>
        </p:nvSpPr>
        <p:spPr>
          <a:xfrm>
            <a:off x="6464808" y="4370832"/>
            <a:ext cx="5038344" cy="274320"/>
          </a:xfrm>
          <a:prstGeom prst="rect">
            <a:avLst/>
          </a:prstGeom>
          <a:noFill/>
          <a:ln/>
        </p:spPr>
        <p:txBody>
          <a:bodyPr wrap="square" rtlCol="0" anchor="ctr"/>
          <a:lstStyle/>
          <a:p>
            <a:pPr marL="0" indent="0">
              <a:buNone/>
            </a:pPr>
            <a:r>
              <a:rPr lang="en-US" sz="1100" b="1" kern="0" spc="50" dirty="0">
                <a:solidFill>
                  <a:srgbClr val="C9862A"/>
                </a:solidFill>
                <a:latin typeface="Calibri" pitchFamily="34" charset="0"/>
                <a:ea typeface="Calibri" pitchFamily="34" charset="-122"/>
                <a:cs typeface="Calibri" pitchFamily="34" charset="-120"/>
              </a:rPr>
              <a:t>💡 REAL-LIFE ANALOGY</a:t>
            </a:r>
            <a:endParaRPr lang="en-US" sz="1100" dirty="0"/>
          </a:p>
        </p:txBody>
      </p:sp>
      <p:sp>
        <p:nvSpPr>
          <p:cNvPr id="21" name="Text 19"/>
          <p:cNvSpPr/>
          <p:nvPr/>
        </p:nvSpPr>
        <p:spPr>
          <a:xfrm>
            <a:off x="6464808" y="4663440"/>
            <a:ext cx="5038344" cy="1252728"/>
          </a:xfrm>
          <a:prstGeom prst="rect">
            <a:avLst/>
          </a:prstGeom>
          <a:noFill/>
          <a:ln/>
        </p:spPr>
        <p:txBody>
          <a:bodyPr wrap="square" lIns="0" tIns="0" rIns="0" bIns="0" rtlCol="0" anchor="t"/>
          <a:lstStyle/>
          <a:p>
            <a:pPr marL="0" indent="0">
              <a:lnSpc>
                <a:spcPct val="110000"/>
              </a:lnSpc>
              <a:buNone/>
            </a:pPr>
            <a:r>
              <a:rPr lang="en-US" sz="1250" i="1" dirty="0">
                <a:solidFill>
                  <a:srgbClr val="1B2340"/>
                </a:solidFill>
                <a:latin typeface="Calibri" pitchFamily="34" charset="0"/>
                <a:ea typeface="Calibri" pitchFamily="34" charset="-122"/>
                <a:cs typeface="Calibri" pitchFamily="34" charset="-120"/>
              </a:rPr>
              <a:t>Finding the largest is like scanning a row of people and remembering the tallest one seen so far. Finding the Nth largest is like lining everyone up from tallest to shortest and counting down to position N.</a:t>
            </a:r>
            <a:endParaRPr lang="en-US" sz="1250" dirty="0"/>
          </a:p>
        </p:txBody>
      </p:sp>
      <p:sp>
        <p:nvSpPr>
          <p:cNvPr id="22" name="Text 20"/>
          <p:cNvSpPr/>
          <p:nvPr/>
        </p:nvSpPr>
        <p:spPr>
          <a:xfrm>
            <a:off x="457200" y="6583680"/>
            <a:ext cx="5486400" cy="228600"/>
          </a:xfrm>
          <a:prstGeom prst="rect">
            <a:avLst/>
          </a:prstGeom>
          <a:noFill/>
          <a:ln/>
        </p:spPr>
        <p:txBody>
          <a:bodyPr wrap="square" rtlCol="0" anchor="ctr"/>
          <a:lstStyle/>
          <a:p>
            <a:pPr marL="0" indent="0" algn="l">
              <a:buNone/>
            </a:pPr>
            <a:r>
              <a:rPr lang="en-US" sz="850" dirty="0">
                <a:solidFill>
                  <a:srgbClr val="5B6178"/>
                </a:solidFill>
                <a:latin typeface="Calibri" pitchFamily="34" charset="0"/>
                <a:ea typeface="Calibri" pitchFamily="34" charset="-122"/>
                <a:cs typeface="Calibri" pitchFamily="34" charset="-120"/>
              </a:rPr>
              <a:t>Java &amp; Full-Stack Interview Prep</a:t>
            </a:r>
            <a:endParaRPr lang="en-US" sz="85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Shape 0"/>
          <p:cNvSpPr/>
          <p:nvPr/>
        </p:nvSpPr>
        <p:spPr>
          <a:xfrm>
            <a:off x="502920" y="384048"/>
            <a:ext cx="4279392" cy="310896"/>
          </a:xfrm>
          <a:prstGeom prst="roundRect">
            <a:avLst>
              <a:gd name="adj" fmla="val 23529"/>
            </a:avLst>
          </a:prstGeom>
          <a:solidFill>
            <a:srgbClr val="E8A33D"/>
          </a:solidFill>
          <a:ln/>
        </p:spPr>
      </p:sp>
      <p:sp>
        <p:nvSpPr>
          <p:cNvPr id="3" name="Text 1"/>
          <p:cNvSpPr/>
          <p:nvPr/>
        </p:nvSpPr>
        <p:spPr>
          <a:xfrm>
            <a:off x="502920" y="384048"/>
            <a:ext cx="4279392" cy="310896"/>
          </a:xfrm>
          <a:prstGeom prst="rect">
            <a:avLst/>
          </a:prstGeom>
          <a:noFill/>
          <a:ln/>
        </p:spPr>
        <p:txBody>
          <a:bodyPr wrap="square" rtlCol="0" anchor="ctr"/>
          <a:lstStyle/>
          <a:p>
            <a:pPr marL="0" indent="0" algn="ctr">
              <a:buNone/>
            </a:pPr>
            <a:r>
              <a:rPr lang="en-US" sz="1100" b="1" kern="0" spc="100" dirty="0">
                <a:solidFill>
                  <a:srgbClr val="1B2340"/>
                </a:solidFill>
                <a:latin typeface="Calibri" pitchFamily="34" charset="0"/>
                <a:ea typeface="Calibri" pitchFamily="34" charset="-122"/>
                <a:cs typeface="Calibri" pitchFamily="34" charset="-120"/>
              </a:rPr>
              <a:t>DSA CODING PRACTICE</a:t>
            </a:r>
            <a:endParaRPr lang="en-US" sz="1100" dirty="0"/>
          </a:p>
        </p:txBody>
      </p:sp>
      <p:sp>
        <p:nvSpPr>
          <p:cNvPr id="4" name="Text 2"/>
          <p:cNvSpPr/>
          <p:nvPr/>
        </p:nvSpPr>
        <p:spPr>
          <a:xfrm>
            <a:off x="502920" y="786384"/>
            <a:ext cx="11155680" cy="868680"/>
          </a:xfrm>
          <a:prstGeom prst="rect">
            <a:avLst/>
          </a:prstGeom>
          <a:noFill/>
          <a:ln/>
        </p:spPr>
        <p:txBody>
          <a:bodyPr wrap="square" rtlCol="0" anchor="t"/>
          <a:lstStyle/>
          <a:p>
            <a:pPr marL="0" indent="0">
              <a:lnSpc>
                <a:spcPct val="102000"/>
              </a:lnSpc>
              <a:buNone/>
            </a:pPr>
            <a:r>
              <a:rPr lang="en-US" sz="2500" b="1" dirty="0">
                <a:solidFill>
                  <a:srgbClr val="1B2340"/>
                </a:solidFill>
                <a:latin typeface="Century Schoolbook" pitchFamily="34" charset="0"/>
                <a:ea typeface="Century Schoolbook" pitchFamily="34" charset="-122"/>
                <a:cs typeface="Century Schoolbook" pitchFamily="34" charset="-120"/>
              </a:rPr>
              <a:t>How do you remove duplicate elements from an Array or List?</a:t>
            </a:r>
            <a:endParaRPr lang="en-US" sz="2500" dirty="0"/>
          </a:p>
        </p:txBody>
      </p:sp>
      <p:sp>
        <p:nvSpPr>
          <p:cNvPr id="5" name="Shape 3"/>
          <p:cNvSpPr/>
          <p:nvPr/>
        </p:nvSpPr>
        <p:spPr>
          <a:xfrm>
            <a:off x="502920" y="1874520"/>
            <a:ext cx="164592" cy="274320"/>
          </a:xfrm>
          <a:prstGeom prst="roundRect">
            <a:avLst>
              <a:gd name="adj" fmla="val 22222"/>
            </a:avLst>
          </a:prstGeom>
          <a:solidFill>
            <a:srgbClr val="E8A33D"/>
          </a:solidFill>
          <a:ln/>
        </p:spPr>
      </p:sp>
      <p:sp>
        <p:nvSpPr>
          <p:cNvPr id="6" name="Text 4"/>
          <p:cNvSpPr/>
          <p:nvPr/>
        </p:nvSpPr>
        <p:spPr>
          <a:xfrm>
            <a:off x="758952" y="1847088"/>
            <a:ext cx="7059168" cy="329184"/>
          </a:xfrm>
          <a:prstGeom prst="rect">
            <a:avLst/>
          </a:prstGeom>
          <a:noFill/>
          <a:ln/>
        </p:spPr>
        <p:txBody>
          <a:bodyPr wrap="square" rtlCol="0" anchor="ctr"/>
          <a:lstStyle/>
          <a:p>
            <a:pPr marL="0" indent="0">
              <a:buNone/>
            </a:pPr>
            <a:r>
              <a:rPr lang="en-US" sz="1300" b="1" kern="0" spc="50" dirty="0">
                <a:solidFill>
                  <a:srgbClr val="1B2340"/>
                </a:solidFill>
                <a:latin typeface="Calibri" pitchFamily="34" charset="0"/>
                <a:ea typeface="Calibri" pitchFamily="34" charset="-122"/>
                <a:cs typeface="Calibri" pitchFamily="34" charset="-120"/>
              </a:rPr>
              <a:t>DEFINITION / CONCEPT</a:t>
            </a:r>
            <a:endParaRPr lang="en-US" sz="1300" dirty="0"/>
          </a:p>
        </p:txBody>
      </p:sp>
      <p:sp>
        <p:nvSpPr>
          <p:cNvPr id="7" name="Shape 5"/>
          <p:cNvSpPr/>
          <p:nvPr/>
        </p:nvSpPr>
        <p:spPr>
          <a:xfrm>
            <a:off x="502920" y="2194560"/>
            <a:ext cx="11201400" cy="1188720"/>
          </a:xfrm>
          <a:prstGeom prst="roundRect">
            <a:avLst>
              <a:gd name="adj" fmla="val 6154"/>
            </a:avLst>
          </a:prstGeom>
          <a:solidFill>
            <a:srgbClr val="F7F7FA"/>
          </a:solidFill>
          <a:ln w="12700">
            <a:solidFill>
              <a:srgbClr val="E4E6EF"/>
            </a:solidFill>
            <a:prstDash val="solid"/>
          </a:ln>
        </p:spPr>
      </p:sp>
      <p:sp>
        <p:nvSpPr>
          <p:cNvPr id="8" name="Text 6"/>
          <p:cNvSpPr/>
          <p:nvPr/>
        </p:nvSpPr>
        <p:spPr>
          <a:xfrm>
            <a:off x="758952" y="2377440"/>
            <a:ext cx="10689336" cy="822960"/>
          </a:xfrm>
          <a:prstGeom prst="rect">
            <a:avLst/>
          </a:prstGeom>
          <a:noFill/>
          <a:ln/>
        </p:spPr>
        <p:txBody>
          <a:bodyPr wrap="square" lIns="0" tIns="0" rIns="0" bIns="0" rtlCol="0" anchor="t"/>
          <a:lstStyle/>
          <a:p>
            <a:pPr marL="0" indent="0">
              <a:lnSpc>
                <a:spcPct val="115000"/>
              </a:lnSpc>
              <a:buNone/>
            </a:pPr>
            <a:r>
              <a:rPr lang="en-US" sz="1450" dirty="0">
                <a:solidFill>
                  <a:srgbClr val="1B2340"/>
                </a:solidFill>
                <a:latin typeface="Calibri" pitchFamily="34" charset="0"/>
                <a:ea typeface="Calibri" pitchFamily="34" charset="-122"/>
                <a:cs typeface="Calibri" pitchFamily="34" charset="-120"/>
              </a:rPr>
              <a:t>This means keeping only the first occurrence of each value and discarding any repeats, often while preserving the original order.</a:t>
            </a:r>
            <a:endParaRPr lang="en-US" sz="1450" dirty="0"/>
          </a:p>
        </p:txBody>
      </p:sp>
      <p:sp>
        <p:nvSpPr>
          <p:cNvPr id="9" name="Shape 7"/>
          <p:cNvSpPr/>
          <p:nvPr/>
        </p:nvSpPr>
        <p:spPr>
          <a:xfrm>
            <a:off x="502920" y="3611880"/>
            <a:ext cx="164592" cy="274320"/>
          </a:xfrm>
          <a:prstGeom prst="roundRect">
            <a:avLst>
              <a:gd name="adj" fmla="val 22222"/>
            </a:avLst>
          </a:prstGeom>
          <a:solidFill>
            <a:srgbClr val="3FBFAE"/>
          </a:solidFill>
          <a:ln/>
        </p:spPr>
      </p:sp>
      <p:sp>
        <p:nvSpPr>
          <p:cNvPr id="10" name="Text 8"/>
          <p:cNvSpPr/>
          <p:nvPr/>
        </p:nvSpPr>
        <p:spPr>
          <a:xfrm>
            <a:off x="758952" y="3584448"/>
            <a:ext cx="7059168" cy="329184"/>
          </a:xfrm>
          <a:prstGeom prst="rect">
            <a:avLst/>
          </a:prstGeom>
          <a:noFill/>
          <a:ln/>
        </p:spPr>
        <p:txBody>
          <a:bodyPr wrap="square" rtlCol="0" anchor="ctr"/>
          <a:lstStyle/>
          <a:p>
            <a:pPr marL="0" indent="0">
              <a:buNone/>
            </a:pPr>
            <a:r>
              <a:rPr lang="en-US" sz="1300" b="1" kern="0" spc="50" dirty="0">
                <a:solidFill>
                  <a:srgbClr val="1B2340"/>
                </a:solidFill>
                <a:latin typeface="Calibri" pitchFamily="34" charset="0"/>
                <a:ea typeface="Calibri" pitchFamily="34" charset="-122"/>
                <a:cs typeface="Calibri" pitchFamily="34" charset="-120"/>
              </a:rPr>
              <a:t>APPROACH - HOW TO SOLVE IT</a:t>
            </a:r>
            <a:endParaRPr lang="en-US" sz="1300" dirty="0"/>
          </a:p>
        </p:txBody>
      </p:sp>
      <p:sp>
        <p:nvSpPr>
          <p:cNvPr id="11" name="Text 9"/>
          <p:cNvSpPr/>
          <p:nvPr/>
        </p:nvSpPr>
        <p:spPr>
          <a:xfrm>
            <a:off x="502920" y="3950208"/>
            <a:ext cx="10607040" cy="2468880"/>
          </a:xfrm>
          <a:prstGeom prst="rect">
            <a:avLst/>
          </a:prstGeom>
          <a:noFill/>
          <a:ln/>
        </p:spPr>
        <p:txBody>
          <a:bodyPr wrap="square" lIns="0" tIns="0" rIns="0" bIns="0" rtlCol="0" anchor="t"/>
          <a:lstStyle/>
          <a:p>
            <a:pPr marL="177800" indent="-177800">
              <a:spcAft>
                <a:spcPts val="1200"/>
              </a:spcAft>
              <a:buSzPct val="100000"/>
              <a:buChar char="•"/>
            </a:pPr>
            <a:r>
              <a:rPr lang="en-US" sz="1450" dirty="0">
                <a:solidFill>
                  <a:srgbClr val="1B2340"/>
                </a:solidFill>
                <a:latin typeface="Calibri" pitchFamily="34" charset="0"/>
                <a:ea typeface="Calibri" pitchFamily="34" charset="-122"/>
                <a:cs typeface="Calibri" pitchFamily="34" charset="-120"/>
              </a:rPr>
              <a:t>A HashSet automatically ignores duplicate values when elements are added to it</a:t>
            </a:r>
            <a:endParaRPr lang="en-US" sz="1450" dirty="0"/>
          </a:p>
          <a:p>
            <a:pPr marL="177800" indent="-177800">
              <a:spcAft>
                <a:spcPts val="1200"/>
              </a:spcAft>
              <a:buSzPct val="100000"/>
              <a:buChar char="•"/>
            </a:pPr>
            <a:r>
              <a:rPr lang="en-US" sz="1450" dirty="0">
                <a:solidFill>
                  <a:srgbClr val="1B2340"/>
                </a:solidFill>
                <a:latin typeface="Calibri" pitchFamily="34" charset="0"/>
                <a:ea typeface="Calibri" pitchFamily="34" charset="-122"/>
                <a:cs typeface="Calibri" pitchFamily="34" charset="-120"/>
              </a:rPr>
              <a:t>To preserve insertion order while removing duplicates, use a LinkedHashSet</a:t>
            </a:r>
            <a:endParaRPr lang="en-US" sz="1450" dirty="0"/>
          </a:p>
          <a:p>
            <a:pPr marL="177800" indent="-177800">
              <a:spcAft>
                <a:spcPts val="1200"/>
              </a:spcAft>
              <a:buSzPct val="100000"/>
              <a:buChar char="•"/>
            </a:pPr>
            <a:r>
              <a:rPr lang="en-US" sz="1450" dirty="0">
                <a:solidFill>
                  <a:srgbClr val="1B2340"/>
                </a:solidFill>
                <a:latin typeface="Calibri" pitchFamily="34" charset="0"/>
                <a:ea typeface="Calibri" pitchFamily="34" charset="-122"/>
                <a:cs typeface="Calibri" pitchFamily="34" charset="-120"/>
              </a:rPr>
              <a:t>For a sorted array, duplicates can be removed in-place using two pointers, in O(n) time</a:t>
            </a:r>
            <a:endParaRPr lang="en-US" sz="1450" dirty="0"/>
          </a:p>
          <a:p>
            <a:pPr marL="177800" indent="-177800">
              <a:spcAft>
                <a:spcPts val="1200"/>
              </a:spcAft>
              <a:buSzPct val="100000"/>
              <a:buChar char="•"/>
            </a:pPr>
            <a:r>
              <a:rPr lang="en-US" sz="1450" dirty="0">
                <a:solidFill>
                  <a:srgbClr val="1B2340"/>
                </a:solidFill>
                <a:latin typeface="Calibri" pitchFamily="34" charset="0"/>
                <a:ea typeface="Calibri" pitchFamily="34" charset="-122"/>
                <a:cs typeface="Calibri" pitchFamily="34" charset="-120"/>
              </a:rPr>
              <a:t>This question tests knowledge of Set data structures and in-place array manipulation</a:t>
            </a:r>
            <a:endParaRPr lang="en-US" sz="1450" dirty="0"/>
          </a:p>
        </p:txBody>
      </p:sp>
      <p:sp>
        <p:nvSpPr>
          <p:cNvPr id="12" name="Shape 10"/>
          <p:cNvSpPr/>
          <p:nvPr/>
        </p:nvSpPr>
        <p:spPr>
          <a:xfrm>
            <a:off x="9052560" y="5394960"/>
            <a:ext cx="2651760" cy="822960"/>
          </a:xfrm>
          <a:prstGeom prst="roundRect">
            <a:avLst>
              <a:gd name="adj" fmla="val 11111"/>
            </a:avLst>
          </a:prstGeom>
          <a:solidFill>
            <a:srgbClr val="1B2340"/>
          </a:solidFill>
          <a:ln/>
        </p:spPr>
      </p:sp>
      <p:sp>
        <p:nvSpPr>
          <p:cNvPr id="13" name="Text 11"/>
          <p:cNvSpPr/>
          <p:nvPr/>
        </p:nvSpPr>
        <p:spPr>
          <a:xfrm>
            <a:off x="9052560" y="5394960"/>
            <a:ext cx="2651760" cy="822960"/>
          </a:xfrm>
          <a:prstGeom prst="rect">
            <a:avLst/>
          </a:prstGeom>
          <a:noFill/>
          <a:ln/>
        </p:spPr>
        <p:txBody>
          <a:bodyPr wrap="square" rtlCol="0" anchor="ctr"/>
          <a:lstStyle/>
          <a:p>
            <a:pPr marL="0" indent="0" algn="ctr">
              <a:buNone/>
            </a:pPr>
            <a:r>
              <a:rPr lang="en-US" sz="1250" b="1" dirty="0">
                <a:solidFill>
                  <a:srgbClr val="E8A33D"/>
                </a:solidFill>
                <a:latin typeface="Calibri" pitchFamily="34" charset="0"/>
                <a:ea typeface="Calibri" pitchFamily="34" charset="-122"/>
                <a:cs typeface="Calibri" pitchFamily="34" charset="-120"/>
              </a:rPr>
              <a:t>See code on</a:t>
            </a:r>
            <a:endParaRPr lang="en-US" sz="1250" dirty="0"/>
          </a:p>
          <a:p>
            <a:pPr marL="0" indent="0" algn="ctr">
              <a:buNone/>
            </a:pPr>
            <a:r>
              <a:rPr lang="en-US" sz="1250" b="1" dirty="0">
                <a:solidFill>
                  <a:srgbClr val="E8A33D"/>
                </a:solidFill>
                <a:latin typeface="Calibri" pitchFamily="34" charset="0"/>
                <a:ea typeface="Calibri" pitchFamily="34" charset="-122"/>
                <a:cs typeface="Calibri" pitchFamily="34" charset="-120"/>
              </a:rPr>
              <a:t>the next slide →</a:t>
            </a:r>
            <a:endParaRPr lang="en-US" sz="1250" dirty="0"/>
          </a:p>
        </p:txBody>
      </p:sp>
      <p:sp>
        <p:nvSpPr>
          <p:cNvPr id="14" name="Text 12"/>
          <p:cNvSpPr/>
          <p:nvPr/>
        </p:nvSpPr>
        <p:spPr>
          <a:xfrm>
            <a:off x="457200" y="6583680"/>
            <a:ext cx="5486400" cy="228600"/>
          </a:xfrm>
          <a:prstGeom prst="rect">
            <a:avLst/>
          </a:prstGeom>
          <a:noFill/>
          <a:ln/>
        </p:spPr>
        <p:txBody>
          <a:bodyPr wrap="square" rtlCol="0" anchor="ctr"/>
          <a:lstStyle/>
          <a:p>
            <a:pPr marL="0" indent="0" algn="l">
              <a:buNone/>
            </a:pPr>
            <a:r>
              <a:rPr lang="en-US" sz="850" dirty="0">
                <a:solidFill>
                  <a:srgbClr val="5B6178"/>
                </a:solidFill>
                <a:latin typeface="Calibri" pitchFamily="34" charset="0"/>
                <a:ea typeface="Calibri" pitchFamily="34" charset="-122"/>
                <a:cs typeface="Calibri" pitchFamily="34" charset="-120"/>
              </a:rPr>
              <a:t>Java &amp; Full-Stack Interview Prep</a:t>
            </a:r>
            <a:endParaRPr lang="en-US" sz="85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Shape 0"/>
          <p:cNvSpPr/>
          <p:nvPr/>
        </p:nvSpPr>
        <p:spPr>
          <a:xfrm>
            <a:off x="502920" y="384048"/>
            <a:ext cx="4279392" cy="310896"/>
          </a:xfrm>
          <a:prstGeom prst="roundRect">
            <a:avLst>
              <a:gd name="adj" fmla="val 23529"/>
            </a:avLst>
          </a:prstGeom>
          <a:solidFill>
            <a:srgbClr val="E8A33D"/>
          </a:solidFill>
          <a:ln/>
        </p:spPr>
      </p:sp>
      <p:sp>
        <p:nvSpPr>
          <p:cNvPr id="3" name="Text 1"/>
          <p:cNvSpPr/>
          <p:nvPr/>
        </p:nvSpPr>
        <p:spPr>
          <a:xfrm>
            <a:off x="502920" y="384048"/>
            <a:ext cx="4279392" cy="310896"/>
          </a:xfrm>
          <a:prstGeom prst="rect">
            <a:avLst/>
          </a:prstGeom>
          <a:noFill/>
          <a:ln/>
        </p:spPr>
        <p:txBody>
          <a:bodyPr wrap="square" rtlCol="0" anchor="ctr"/>
          <a:lstStyle/>
          <a:p>
            <a:pPr marL="0" indent="0" algn="ctr">
              <a:buNone/>
            </a:pPr>
            <a:r>
              <a:rPr lang="en-US" sz="1100" b="1" kern="0" spc="100" dirty="0">
                <a:solidFill>
                  <a:srgbClr val="1B2340"/>
                </a:solidFill>
                <a:latin typeface="Calibri" pitchFamily="34" charset="0"/>
                <a:ea typeface="Calibri" pitchFamily="34" charset="-122"/>
                <a:cs typeface="Calibri" pitchFamily="34" charset="-120"/>
              </a:rPr>
              <a:t>DSA CODING PRACTICE</a:t>
            </a:r>
            <a:endParaRPr lang="en-US" sz="1100" dirty="0"/>
          </a:p>
        </p:txBody>
      </p:sp>
      <p:sp>
        <p:nvSpPr>
          <p:cNvPr id="4" name="Text 2"/>
          <p:cNvSpPr/>
          <p:nvPr/>
        </p:nvSpPr>
        <p:spPr>
          <a:xfrm>
            <a:off x="502920" y="786384"/>
            <a:ext cx="11155680" cy="868680"/>
          </a:xfrm>
          <a:prstGeom prst="rect">
            <a:avLst/>
          </a:prstGeom>
          <a:noFill/>
          <a:ln/>
        </p:spPr>
        <p:txBody>
          <a:bodyPr wrap="square" rtlCol="0" anchor="t"/>
          <a:lstStyle/>
          <a:p>
            <a:pPr marL="0" indent="0">
              <a:lnSpc>
                <a:spcPct val="102000"/>
              </a:lnSpc>
              <a:buNone/>
            </a:pPr>
            <a:r>
              <a:rPr lang="en-US" sz="2500" b="1" dirty="0">
                <a:solidFill>
                  <a:srgbClr val="1B2340"/>
                </a:solidFill>
                <a:latin typeface="Century Schoolbook" pitchFamily="34" charset="0"/>
                <a:ea typeface="Century Schoolbook" pitchFamily="34" charset="-122"/>
                <a:cs typeface="Century Schoolbook" pitchFamily="34" charset="-120"/>
              </a:rPr>
              <a:t>Remove Duplicates - Code &amp; Explanation</a:t>
            </a:r>
            <a:endParaRPr lang="en-US" sz="2500" dirty="0"/>
          </a:p>
        </p:txBody>
      </p:sp>
      <p:sp>
        <p:nvSpPr>
          <p:cNvPr id="5" name="Shape 3"/>
          <p:cNvSpPr/>
          <p:nvPr/>
        </p:nvSpPr>
        <p:spPr>
          <a:xfrm>
            <a:off x="502920" y="1810512"/>
            <a:ext cx="164592" cy="274320"/>
          </a:xfrm>
          <a:prstGeom prst="roundRect">
            <a:avLst>
              <a:gd name="adj" fmla="val 22222"/>
            </a:avLst>
          </a:prstGeom>
          <a:solidFill>
            <a:srgbClr val="E8A33D"/>
          </a:solidFill>
          <a:ln/>
        </p:spPr>
      </p:sp>
      <p:sp>
        <p:nvSpPr>
          <p:cNvPr id="6" name="Text 4"/>
          <p:cNvSpPr/>
          <p:nvPr/>
        </p:nvSpPr>
        <p:spPr>
          <a:xfrm>
            <a:off x="758952" y="1783080"/>
            <a:ext cx="5230368" cy="329184"/>
          </a:xfrm>
          <a:prstGeom prst="rect">
            <a:avLst/>
          </a:prstGeom>
          <a:noFill/>
          <a:ln/>
        </p:spPr>
        <p:txBody>
          <a:bodyPr wrap="square" rtlCol="0" anchor="ctr"/>
          <a:lstStyle/>
          <a:p>
            <a:pPr marL="0" indent="0">
              <a:buNone/>
            </a:pPr>
            <a:r>
              <a:rPr lang="en-US" sz="1300" b="1" kern="0" spc="50" dirty="0">
                <a:solidFill>
                  <a:srgbClr val="1B2340"/>
                </a:solidFill>
                <a:latin typeface="Calibri" pitchFamily="34" charset="0"/>
                <a:ea typeface="Calibri" pitchFamily="34" charset="-122"/>
                <a:cs typeface="Calibri" pitchFamily="34" charset="-120"/>
              </a:rPr>
              <a:t>EXAMPLE - CODE</a:t>
            </a:r>
            <a:endParaRPr lang="en-US" sz="1300" dirty="0"/>
          </a:p>
        </p:txBody>
      </p:sp>
      <p:sp>
        <p:nvSpPr>
          <p:cNvPr id="7" name="Shape 5"/>
          <p:cNvSpPr/>
          <p:nvPr/>
        </p:nvSpPr>
        <p:spPr>
          <a:xfrm>
            <a:off x="502920" y="2121408"/>
            <a:ext cx="5486400" cy="1920240"/>
          </a:xfrm>
          <a:prstGeom prst="roundRect">
            <a:avLst>
              <a:gd name="adj" fmla="val 3810"/>
            </a:avLst>
          </a:prstGeom>
          <a:solidFill>
            <a:srgbClr val="1E1E2E"/>
          </a:solidFill>
          <a:ln/>
        </p:spPr>
      </p:sp>
      <p:sp>
        <p:nvSpPr>
          <p:cNvPr id="8" name="Shape 6"/>
          <p:cNvSpPr/>
          <p:nvPr/>
        </p:nvSpPr>
        <p:spPr>
          <a:xfrm>
            <a:off x="640080" y="2249424"/>
            <a:ext cx="100584" cy="100584"/>
          </a:xfrm>
          <a:prstGeom prst="ellipse">
            <a:avLst/>
          </a:prstGeom>
          <a:solidFill>
            <a:srgbClr val="FF5F56"/>
          </a:solidFill>
          <a:ln/>
        </p:spPr>
      </p:sp>
      <p:sp>
        <p:nvSpPr>
          <p:cNvPr id="9" name="Shape 7"/>
          <p:cNvSpPr/>
          <p:nvPr/>
        </p:nvSpPr>
        <p:spPr>
          <a:xfrm>
            <a:off x="795528" y="2249424"/>
            <a:ext cx="100584" cy="100584"/>
          </a:xfrm>
          <a:prstGeom prst="ellipse">
            <a:avLst/>
          </a:prstGeom>
          <a:solidFill>
            <a:srgbClr val="FFBD2E"/>
          </a:solidFill>
          <a:ln/>
        </p:spPr>
      </p:sp>
      <p:sp>
        <p:nvSpPr>
          <p:cNvPr id="10" name="Shape 8"/>
          <p:cNvSpPr/>
          <p:nvPr/>
        </p:nvSpPr>
        <p:spPr>
          <a:xfrm>
            <a:off x="950976" y="2249424"/>
            <a:ext cx="100584" cy="100584"/>
          </a:xfrm>
          <a:prstGeom prst="ellipse">
            <a:avLst/>
          </a:prstGeom>
          <a:solidFill>
            <a:srgbClr val="27C93F"/>
          </a:solidFill>
          <a:ln/>
        </p:spPr>
      </p:sp>
      <p:sp>
        <p:nvSpPr>
          <p:cNvPr id="11" name="Text 9"/>
          <p:cNvSpPr/>
          <p:nvPr/>
        </p:nvSpPr>
        <p:spPr>
          <a:xfrm>
            <a:off x="1143000" y="2167128"/>
            <a:ext cx="4572000" cy="274320"/>
          </a:xfrm>
          <a:prstGeom prst="rect">
            <a:avLst/>
          </a:prstGeom>
          <a:noFill/>
          <a:ln/>
        </p:spPr>
        <p:txBody>
          <a:bodyPr wrap="square" rtlCol="0" anchor="ctr"/>
          <a:lstStyle/>
          <a:p>
            <a:pPr marL="0" indent="0" algn="r">
              <a:buNone/>
            </a:pPr>
            <a:r>
              <a:rPr lang="en-US" sz="1000" dirty="0">
                <a:solidFill>
                  <a:srgbClr val="8A90AC"/>
                </a:solidFill>
                <a:latin typeface="Courier New" pitchFamily="34" charset="0"/>
                <a:ea typeface="Courier New" pitchFamily="34" charset="-122"/>
                <a:cs typeface="Courier New" pitchFamily="34" charset="-120"/>
              </a:rPr>
              <a:t>Main.java</a:t>
            </a:r>
            <a:endParaRPr lang="en-US" sz="1000" dirty="0"/>
          </a:p>
        </p:txBody>
      </p:sp>
      <p:sp>
        <p:nvSpPr>
          <p:cNvPr id="12" name="Text 10"/>
          <p:cNvSpPr/>
          <p:nvPr/>
        </p:nvSpPr>
        <p:spPr>
          <a:xfrm>
            <a:off x="731520" y="2487168"/>
            <a:ext cx="5029200" cy="1463040"/>
          </a:xfrm>
          <a:prstGeom prst="rect">
            <a:avLst/>
          </a:prstGeom>
          <a:noFill/>
          <a:ln/>
        </p:spPr>
        <p:txBody>
          <a:bodyPr wrap="square" lIns="0" tIns="0" rIns="0" bIns="0" rtlCol="0" anchor="t"/>
          <a:lstStyle/>
          <a:p>
            <a:pPr marL="0" indent="0">
              <a:lnSpc>
                <a:spcPct val="120000"/>
              </a:lnSpc>
              <a:buNone/>
            </a:pPr>
            <a:r>
              <a:rPr lang="en-US" sz="1200" dirty="0">
                <a:solidFill>
                  <a:srgbClr val="D4D4E0"/>
                </a:solidFill>
                <a:latin typeface="Courier New" pitchFamily="34" charset="0"/>
                <a:ea typeface="Courier New" pitchFamily="34" charset="-122"/>
                <a:cs typeface="Courier New" pitchFamily="34" charset="-120"/>
              </a:rPr>
              <a:t>int[] removeDuplicates(int[] arr) {</a:t>
            </a:r>
            <a:endParaRPr lang="en-US" sz="1200" dirty="0"/>
          </a:p>
          <a:p>
            <a:pPr marL="0" indent="0">
              <a:lnSpc>
                <a:spcPct val="120000"/>
              </a:lnSpc>
              <a:buNone/>
            </a:pPr>
            <a:r>
              <a:rPr lang="en-US" sz="1200" dirty="0">
                <a:solidFill>
                  <a:srgbClr val="D4D4E0"/>
                </a:solidFill>
                <a:latin typeface="Courier New" pitchFamily="34" charset="0"/>
                <a:ea typeface="Courier New" pitchFamily="34" charset="-122"/>
                <a:cs typeface="Courier New" pitchFamily="34" charset="-120"/>
              </a:rPr>
              <a:t>    LinkedHashSet&lt;Integer&gt; set = new LinkedHashSet&lt;&gt;();</a:t>
            </a:r>
            <a:endParaRPr lang="en-US" sz="1200" dirty="0"/>
          </a:p>
          <a:p>
            <a:pPr marL="0" indent="0">
              <a:lnSpc>
                <a:spcPct val="120000"/>
              </a:lnSpc>
              <a:buNone/>
            </a:pPr>
            <a:r>
              <a:rPr lang="en-US" sz="1200" dirty="0">
                <a:solidFill>
                  <a:srgbClr val="D4D4E0"/>
                </a:solidFill>
                <a:latin typeface="Courier New" pitchFamily="34" charset="0"/>
                <a:ea typeface="Courier New" pitchFamily="34" charset="-122"/>
                <a:cs typeface="Courier New" pitchFamily="34" charset="-120"/>
              </a:rPr>
              <a:t>    for (int num : arr) set.add(num);</a:t>
            </a:r>
            <a:endParaRPr lang="en-US" sz="1200" dirty="0"/>
          </a:p>
          <a:p>
            <a:pPr marL="0" indent="0">
              <a:lnSpc>
                <a:spcPct val="120000"/>
              </a:lnSpc>
              <a:buNone/>
            </a:pPr>
            <a:r>
              <a:rPr lang="en-US" sz="1200" dirty="0">
                <a:solidFill>
                  <a:srgbClr val="D4D4E0"/>
                </a:solidFill>
                <a:latin typeface="Courier New" pitchFamily="34" charset="0"/>
                <a:ea typeface="Courier New" pitchFamily="34" charset="-122"/>
                <a:cs typeface="Courier New" pitchFamily="34" charset="-120"/>
              </a:rPr>
              <a:t>    return set.stream()</a:t>
            </a:r>
            <a:endParaRPr lang="en-US" sz="1200" dirty="0"/>
          </a:p>
          <a:p>
            <a:pPr marL="0" indent="0">
              <a:lnSpc>
                <a:spcPct val="120000"/>
              </a:lnSpc>
              <a:buNone/>
            </a:pPr>
            <a:r>
              <a:rPr lang="en-US" sz="1200" dirty="0">
                <a:solidFill>
                  <a:srgbClr val="D4D4E0"/>
                </a:solidFill>
                <a:latin typeface="Courier New" pitchFamily="34" charset="0"/>
                <a:ea typeface="Courier New" pitchFamily="34" charset="-122"/>
                <a:cs typeface="Courier New" pitchFamily="34" charset="-120"/>
              </a:rPr>
              <a:t>        .mapToInt(Integer::intValue).toArray();</a:t>
            </a:r>
            <a:endParaRPr lang="en-US" sz="1200" dirty="0"/>
          </a:p>
          <a:p>
            <a:pPr marL="0" indent="0">
              <a:lnSpc>
                <a:spcPct val="120000"/>
              </a:lnSpc>
              <a:buNone/>
            </a:pPr>
            <a:r>
              <a:rPr lang="en-US" sz="1200" dirty="0">
                <a:solidFill>
                  <a:srgbClr val="D4D4E0"/>
                </a:solidFill>
                <a:latin typeface="Courier New" pitchFamily="34" charset="0"/>
                <a:ea typeface="Courier New" pitchFamily="34" charset="-122"/>
                <a:cs typeface="Courier New" pitchFamily="34" charset="-120"/>
              </a:rPr>
              <a:t>}</a:t>
            </a:r>
            <a:endParaRPr lang="en-US" sz="1200" dirty="0"/>
          </a:p>
        </p:txBody>
      </p:sp>
      <p:sp>
        <p:nvSpPr>
          <p:cNvPr id="13" name="Shape 11"/>
          <p:cNvSpPr/>
          <p:nvPr/>
        </p:nvSpPr>
        <p:spPr>
          <a:xfrm>
            <a:off x="502920" y="4224528"/>
            <a:ext cx="5486400" cy="868680"/>
          </a:xfrm>
          <a:prstGeom prst="roundRect">
            <a:avLst>
              <a:gd name="adj" fmla="val 8421"/>
            </a:avLst>
          </a:prstGeom>
          <a:solidFill>
            <a:srgbClr val="1B2340"/>
          </a:solidFill>
          <a:ln/>
        </p:spPr>
      </p:sp>
      <p:sp>
        <p:nvSpPr>
          <p:cNvPr id="14" name="Text 12"/>
          <p:cNvSpPr/>
          <p:nvPr/>
        </p:nvSpPr>
        <p:spPr>
          <a:xfrm>
            <a:off x="731520" y="4315968"/>
            <a:ext cx="5029200" cy="256032"/>
          </a:xfrm>
          <a:prstGeom prst="rect">
            <a:avLst/>
          </a:prstGeom>
          <a:noFill/>
          <a:ln/>
        </p:spPr>
        <p:txBody>
          <a:bodyPr wrap="square" rtlCol="0" anchor="ctr"/>
          <a:lstStyle/>
          <a:p>
            <a:pPr marL="0" indent="0">
              <a:buNone/>
            </a:pPr>
            <a:r>
              <a:rPr lang="en-US" sz="1050" b="1" kern="0" spc="80" dirty="0">
                <a:solidFill>
                  <a:srgbClr val="E8A33D"/>
                </a:solidFill>
                <a:latin typeface="Calibri" pitchFamily="34" charset="0"/>
                <a:ea typeface="Calibri" pitchFamily="34" charset="-122"/>
                <a:cs typeface="Calibri" pitchFamily="34" charset="-120"/>
              </a:rPr>
              <a:t>ONE-LINE INTERVIEW ANSWER</a:t>
            </a:r>
            <a:endParaRPr lang="en-US" sz="1050" dirty="0"/>
          </a:p>
        </p:txBody>
      </p:sp>
      <p:sp>
        <p:nvSpPr>
          <p:cNvPr id="15" name="Text 13"/>
          <p:cNvSpPr/>
          <p:nvPr/>
        </p:nvSpPr>
        <p:spPr>
          <a:xfrm>
            <a:off x="731520" y="4572000"/>
            <a:ext cx="5029200" cy="411480"/>
          </a:xfrm>
          <a:prstGeom prst="rect">
            <a:avLst/>
          </a:prstGeom>
          <a:noFill/>
          <a:ln/>
        </p:spPr>
        <p:txBody>
          <a:bodyPr wrap="square" lIns="0" tIns="0" rIns="0" bIns="0" rtlCol="0" anchor="t"/>
          <a:lstStyle/>
          <a:p>
            <a:pPr marL="0" indent="0">
              <a:lnSpc>
                <a:spcPct val="105000"/>
              </a:lnSpc>
              <a:buNone/>
            </a:pPr>
            <a:r>
              <a:rPr lang="en-US" sz="1250" dirty="0">
                <a:solidFill>
                  <a:srgbClr val="FFFFFF"/>
                </a:solidFill>
                <a:latin typeface="Calibri" pitchFamily="34" charset="0"/>
                <a:ea typeface="Calibri" pitchFamily="34" charset="-122"/>
                <a:cs typeface="Calibri" pitchFamily="34" charset="-120"/>
              </a:rPr>
              <a:t>Duplicates can be removed by adding elements into a LinkedHashSet, which automatically discards repeats while keeping order.</a:t>
            </a:r>
            <a:endParaRPr lang="en-US" sz="1250" dirty="0"/>
          </a:p>
        </p:txBody>
      </p:sp>
      <p:sp>
        <p:nvSpPr>
          <p:cNvPr id="16" name="Shape 14"/>
          <p:cNvSpPr/>
          <p:nvPr/>
        </p:nvSpPr>
        <p:spPr>
          <a:xfrm>
            <a:off x="6263640" y="1810512"/>
            <a:ext cx="164592" cy="274320"/>
          </a:xfrm>
          <a:prstGeom prst="roundRect">
            <a:avLst>
              <a:gd name="adj" fmla="val 22222"/>
            </a:avLst>
          </a:prstGeom>
          <a:solidFill>
            <a:srgbClr val="3FBFAE"/>
          </a:solidFill>
          <a:ln/>
        </p:spPr>
      </p:sp>
      <p:sp>
        <p:nvSpPr>
          <p:cNvPr id="17" name="Text 15"/>
          <p:cNvSpPr/>
          <p:nvPr/>
        </p:nvSpPr>
        <p:spPr>
          <a:xfrm>
            <a:off x="6519672" y="1783080"/>
            <a:ext cx="5184648" cy="329184"/>
          </a:xfrm>
          <a:prstGeom prst="rect">
            <a:avLst/>
          </a:prstGeom>
          <a:noFill/>
          <a:ln/>
        </p:spPr>
        <p:txBody>
          <a:bodyPr wrap="square" rtlCol="0" anchor="ctr"/>
          <a:lstStyle/>
          <a:p>
            <a:pPr marL="0" indent="0">
              <a:buNone/>
            </a:pPr>
            <a:r>
              <a:rPr lang="en-US" sz="1300" b="1" kern="0" spc="50" dirty="0">
                <a:solidFill>
                  <a:srgbClr val="1B2340"/>
                </a:solidFill>
                <a:latin typeface="Calibri" pitchFamily="34" charset="0"/>
                <a:ea typeface="Calibri" pitchFamily="34" charset="-122"/>
                <a:cs typeface="Calibri" pitchFamily="34" charset="-120"/>
              </a:rPr>
              <a:t>EXPLANATION</a:t>
            </a:r>
            <a:endParaRPr lang="en-US" sz="1300" dirty="0"/>
          </a:p>
        </p:txBody>
      </p:sp>
      <p:sp>
        <p:nvSpPr>
          <p:cNvPr id="18" name="Text 16"/>
          <p:cNvSpPr/>
          <p:nvPr/>
        </p:nvSpPr>
        <p:spPr>
          <a:xfrm>
            <a:off x="6263640" y="2139696"/>
            <a:ext cx="5440680" cy="2011680"/>
          </a:xfrm>
          <a:prstGeom prst="rect">
            <a:avLst/>
          </a:prstGeom>
          <a:noFill/>
          <a:ln/>
        </p:spPr>
        <p:txBody>
          <a:bodyPr wrap="square" lIns="0" tIns="0" rIns="0" bIns="0" rtlCol="0" anchor="t"/>
          <a:lstStyle/>
          <a:p>
            <a:pPr marL="177800" indent="-177800">
              <a:spcAft>
                <a:spcPts val="800"/>
              </a:spcAft>
              <a:buSzPct val="100000"/>
              <a:buChar char="•"/>
            </a:pPr>
            <a:r>
              <a:rPr lang="en-US" sz="1250" dirty="0">
                <a:solidFill>
                  <a:srgbClr val="1B2340"/>
                </a:solidFill>
                <a:latin typeface="Calibri" pitchFamily="34" charset="0"/>
                <a:ea typeface="Calibri" pitchFamily="34" charset="-122"/>
                <a:cs typeface="Calibri" pitchFamily="34" charset="-120"/>
              </a:rPr>
              <a:t>A LinkedHashSet is used because it removes duplicates automatically while keeping insertion order</a:t>
            </a:r>
            <a:endParaRPr lang="en-US" sz="1250" dirty="0"/>
          </a:p>
          <a:p>
            <a:pPr marL="177800" indent="-177800">
              <a:spcAft>
                <a:spcPts val="800"/>
              </a:spcAft>
              <a:buSzPct val="100000"/>
              <a:buChar char="•"/>
            </a:pPr>
            <a:r>
              <a:rPr lang="en-US" sz="1250" dirty="0">
                <a:solidFill>
                  <a:srgbClr val="1B2340"/>
                </a:solidFill>
                <a:latin typeface="Calibri" pitchFamily="34" charset="0"/>
                <a:ea typeface="Calibri" pitchFamily="34" charset="-122"/>
                <a:cs typeface="Calibri" pitchFamily="34" charset="-120"/>
              </a:rPr>
              <a:t>Each element from the array is added to the set one by one</a:t>
            </a:r>
            <a:endParaRPr lang="en-US" sz="1250" dirty="0"/>
          </a:p>
          <a:p>
            <a:pPr marL="177800" indent="-177800">
              <a:spcAft>
                <a:spcPts val="800"/>
              </a:spcAft>
              <a:buSzPct val="100000"/>
              <a:buChar char="•"/>
            </a:pPr>
            <a:r>
              <a:rPr lang="en-US" sz="1250" dirty="0">
                <a:solidFill>
                  <a:srgbClr val="1B2340"/>
                </a:solidFill>
                <a:latin typeface="Calibri" pitchFamily="34" charset="0"/>
                <a:ea typeface="Calibri" pitchFamily="34" charset="-122"/>
                <a:cs typeface="Calibri" pitchFamily="34" charset="-120"/>
              </a:rPr>
              <a:t>Since a Set cannot hold duplicate values, repeats are simply ignored</a:t>
            </a:r>
            <a:endParaRPr lang="en-US" sz="1250" dirty="0"/>
          </a:p>
          <a:p>
            <a:pPr marL="177800" indent="-177800">
              <a:spcAft>
                <a:spcPts val="800"/>
              </a:spcAft>
              <a:buSzPct val="100000"/>
              <a:buChar char="•"/>
            </a:pPr>
            <a:r>
              <a:rPr lang="en-US" sz="1250" dirty="0">
                <a:solidFill>
                  <a:srgbClr val="1B2340"/>
                </a:solidFill>
                <a:latin typeface="Calibri" pitchFamily="34" charset="0"/>
                <a:ea typeface="Calibri" pitchFamily="34" charset="-122"/>
                <a:cs typeface="Calibri" pitchFamily="34" charset="-120"/>
              </a:rPr>
              <a:t>The set is then converted back into an array or list if needed</a:t>
            </a:r>
            <a:endParaRPr lang="en-US" sz="1250" dirty="0"/>
          </a:p>
        </p:txBody>
      </p:sp>
      <p:sp>
        <p:nvSpPr>
          <p:cNvPr id="19" name="Shape 17"/>
          <p:cNvSpPr/>
          <p:nvPr/>
        </p:nvSpPr>
        <p:spPr>
          <a:xfrm>
            <a:off x="6263640" y="4261104"/>
            <a:ext cx="5440680" cy="1783080"/>
          </a:xfrm>
          <a:prstGeom prst="roundRect">
            <a:avLst>
              <a:gd name="adj" fmla="val 4103"/>
            </a:avLst>
          </a:prstGeom>
          <a:solidFill>
            <a:srgbClr val="FDF3E3"/>
          </a:solidFill>
          <a:ln/>
        </p:spPr>
      </p:sp>
      <p:sp>
        <p:nvSpPr>
          <p:cNvPr id="20" name="Text 18"/>
          <p:cNvSpPr/>
          <p:nvPr/>
        </p:nvSpPr>
        <p:spPr>
          <a:xfrm>
            <a:off x="6464808" y="4370832"/>
            <a:ext cx="5038344" cy="274320"/>
          </a:xfrm>
          <a:prstGeom prst="rect">
            <a:avLst/>
          </a:prstGeom>
          <a:noFill/>
          <a:ln/>
        </p:spPr>
        <p:txBody>
          <a:bodyPr wrap="square" rtlCol="0" anchor="ctr"/>
          <a:lstStyle/>
          <a:p>
            <a:pPr marL="0" indent="0">
              <a:buNone/>
            </a:pPr>
            <a:r>
              <a:rPr lang="en-US" sz="1100" b="1" kern="0" spc="50" dirty="0">
                <a:solidFill>
                  <a:srgbClr val="C9862A"/>
                </a:solidFill>
                <a:latin typeface="Calibri" pitchFamily="34" charset="0"/>
                <a:ea typeface="Calibri" pitchFamily="34" charset="-122"/>
                <a:cs typeface="Calibri" pitchFamily="34" charset="-120"/>
              </a:rPr>
              <a:t>💡 REAL-LIFE ANALOGY</a:t>
            </a:r>
            <a:endParaRPr lang="en-US" sz="1100" dirty="0"/>
          </a:p>
        </p:txBody>
      </p:sp>
      <p:sp>
        <p:nvSpPr>
          <p:cNvPr id="21" name="Text 19"/>
          <p:cNvSpPr/>
          <p:nvPr/>
        </p:nvSpPr>
        <p:spPr>
          <a:xfrm>
            <a:off x="6464808" y="4663440"/>
            <a:ext cx="5038344" cy="1252728"/>
          </a:xfrm>
          <a:prstGeom prst="rect">
            <a:avLst/>
          </a:prstGeom>
          <a:noFill/>
          <a:ln/>
        </p:spPr>
        <p:txBody>
          <a:bodyPr wrap="square" lIns="0" tIns="0" rIns="0" bIns="0" rtlCol="0" anchor="t"/>
          <a:lstStyle/>
          <a:p>
            <a:pPr marL="0" indent="0">
              <a:lnSpc>
                <a:spcPct val="110000"/>
              </a:lnSpc>
              <a:buNone/>
            </a:pPr>
            <a:r>
              <a:rPr lang="en-US" sz="1250" i="1" dirty="0">
                <a:solidFill>
                  <a:srgbClr val="1B2340"/>
                </a:solidFill>
                <a:latin typeface="Calibri" pitchFamily="34" charset="0"/>
                <a:ea typeface="Calibri" pitchFamily="34" charset="-122"/>
                <a:cs typeface="Calibri" pitchFamily="34" charset="-120"/>
              </a:rPr>
              <a:t>It's like a bouncer at a club checking a guest list - anyone already checked in doesn't get double-counted, no matter how many times they try to enter again.</a:t>
            </a:r>
            <a:endParaRPr lang="en-US" sz="1250" dirty="0"/>
          </a:p>
        </p:txBody>
      </p:sp>
      <p:sp>
        <p:nvSpPr>
          <p:cNvPr id="22" name="Text 20"/>
          <p:cNvSpPr/>
          <p:nvPr/>
        </p:nvSpPr>
        <p:spPr>
          <a:xfrm>
            <a:off x="457200" y="6583680"/>
            <a:ext cx="5486400" cy="228600"/>
          </a:xfrm>
          <a:prstGeom prst="rect">
            <a:avLst/>
          </a:prstGeom>
          <a:noFill/>
          <a:ln/>
        </p:spPr>
        <p:txBody>
          <a:bodyPr wrap="square" rtlCol="0" anchor="ctr"/>
          <a:lstStyle/>
          <a:p>
            <a:pPr marL="0" indent="0" algn="l">
              <a:buNone/>
            </a:pPr>
            <a:r>
              <a:rPr lang="en-US" sz="850" dirty="0">
                <a:solidFill>
                  <a:srgbClr val="5B6178"/>
                </a:solidFill>
                <a:latin typeface="Calibri" pitchFamily="34" charset="0"/>
                <a:ea typeface="Calibri" pitchFamily="34" charset="-122"/>
                <a:cs typeface="Calibri" pitchFamily="34" charset="-120"/>
              </a:rPr>
              <a:t>Java &amp; Full-Stack Interview Prep</a:t>
            </a:r>
            <a:endParaRPr lang="en-US" sz="85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Shape 0"/>
          <p:cNvSpPr/>
          <p:nvPr/>
        </p:nvSpPr>
        <p:spPr>
          <a:xfrm>
            <a:off x="502920" y="384048"/>
            <a:ext cx="4279392" cy="310896"/>
          </a:xfrm>
          <a:prstGeom prst="roundRect">
            <a:avLst>
              <a:gd name="adj" fmla="val 23529"/>
            </a:avLst>
          </a:prstGeom>
          <a:solidFill>
            <a:srgbClr val="E8A33D"/>
          </a:solidFill>
          <a:ln/>
        </p:spPr>
      </p:sp>
      <p:sp>
        <p:nvSpPr>
          <p:cNvPr id="3" name="Text 1"/>
          <p:cNvSpPr/>
          <p:nvPr/>
        </p:nvSpPr>
        <p:spPr>
          <a:xfrm>
            <a:off x="502920" y="384048"/>
            <a:ext cx="4279392" cy="310896"/>
          </a:xfrm>
          <a:prstGeom prst="rect">
            <a:avLst/>
          </a:prstGeom>
          <a:noFill/>
          <a:ln/>
        </p:spPr>
        <p:txBody>
          <a:bodyPr wrap="square" rtlCol="0" anchor="ctr"/>
          <a:lstStyle/>
          <a:p>
            <a:pPr marL="0" indent="0" algn="ctr">
              <a:buNone/>
            </a:pPr>
            <a:r>
              <a:rPr lang="en-US" sz="1100" b="1" kern="0" spc="100" dirty="0">
                <a:solidFill>
                  <a:srgbClr val="1B2340"/>
                </a:solidFill>
                <a:latin typeface="Calibri" pitchFamily="34" charset="0"/>
                <a:ea typeface="Calibri" pitchFamily="34" charset="-122"/>
                <a:cs typeface="Calibri" pitchFamily="34" charset="-120"/>
              </a:rPr>
              <a:t>DSA CODING PRACTICE</a:t>
            </a:r>
            <a:endParaRPr lang="en-US" sz="1100" dirty="0"/>
          </a:p>
        </p:txBody>
      </p:sp>
      <p:sp>
        <p:nvSpPr>
          <p:cNvPr id="4" name="Text 2"/>
          <p:cNvSpPr/>
          <p:nvPr/>
        </p:nvSpPr>
        <p:spPr>
          <a:xfrm>
            <a:off x="502920" y="786384"/>
            <a:ext cx="11155680" cy="868680"/>
          </a:xfrm>
          <a:prstGeom prst="rect">
            <a:avLst/>
          </a:prstGeom>
          <a:noFill/>
          <a:ln/>
        </p:spPr>
        <p:txBody>
          <a:bodyPr wrap="square" rtlCol="0" anchor="t"/>
          <a:lstStyle/>
          <a:p>
            <a:pPr marL="0" indent="0">
              <a:lnSpc>
                <a:spcPct val="102000"/>
              </a:lnSpc>
              <a:buNone/>
            </a:pPr>
            <a:r>
              <a:rPr lang="en-US" sz="2500" b="1" dirty="0">
                <a:solidFill>
                  <a:srgbClr val="1B2340"/>
                </a:solidFill>
                <a:latin typeface="Century Schoolbook" pitchFamily="34" charset="0"/>
                <a:ea typeface="Century Schoolbook" pitchFamily="34" charset="-122"/>
                <a:cs typeface="Century Schoolbook" pitchFamily="34" charset="-120"/>
              </a:rPr>
              <a:t>How does Bubble Sort work?</a:t>
            </a:r>
            <a:endParaRPr lang="en-US" sz="2500" dirty="0"/>
          </a:p>
        </p:txBody>
      </p:sp>
      <p:sp>
        <p:nvSpPr>
          <p:cNvPr id="5" name="Shape 3"/>
          <p:cNvSpPr/>
          <p:nvPr/>
        </p:nvSpPr>
        <p:spPr>
          <a:xfrm>
            <a:off x="502920" y="1874520"/>
            <a:ext cx="164592" cy="274320"/>
          </a:xfrm>
          <a:prstGeom prst="roundRect">
            <a:avLst>
              <a:gd name="adj" fmla="val 22222"/>
            </a:avLst>
          </a:prstGeom>
          <a:solidFill>
            <a:srgbClr val="E8A33D"/>
          </a:solidFill>
          <a:ln/>
        </p:spPr>
      </p:sp>
      <p:sp>
        <p:nvSpPr>
          <p:cNvPr id="6" name="Text 4"/>
          <p:cNvSpPr/>
          <p:nvPr/>
        </p:nvSpPr>
        <p:spPr>
          <a:xfrm>
            <a:off x="758952" y="1847088"/>
            <a:ext cx="7059168" cy="329184"/>
          </a:xfrm>
          <a:prstGeom prst="rect">
            <a:avLst/>
          </a:prstGeom>
          <a:noFill/>
          <a:ln/>
        </p:spPr>
        <p:txBody>
          <a:bodyPr wrap="square" rtlCol="0" anchor="ctr"/>
          <a:lstStyle/>
          <a:p>
            <a:pPr marL="0" indent="0">
              <a:buNone/>
            </a:pPr>
            <a:r>
              <a:rPr lang="en-US" sz="1300" b="1" kern="0" spc="50" dirty="0">
                <a:solidFill>
                  <a:srgbClr val="1B2340"/>
                </a:solidFill>
                <a:latin typeface="Calibri" pitchFamily="34" charset="0"/>
                <a:ea typeface="Calibri" pitchFamily="34" charset="-122"/>
                <a:cs typeface="Calibri" pitchFamily="34" charset="-120"/>
              </a:rPr>
              <a:t>DEFINITION / CONCEPT</a:t>
            </a:r>
            <a:endParaRPr lang="en-US" sz="1300" dirty="0"/>
          </a:p>
        </p:txBody>
      </p:sp>
      <p:sp>
        <p:nvSpPr>
          <p:cNvPr id="7" name="Shape 5"/>
          <p:cNvSpPr/>
          <p:nvPr/>
        </p:nvSpPr>
        <p:spPr>
          <a:xfrm>
            <a:off x="502920" y="2194560"/>
            <a:ext cx="11201400" cy="1188720"/>
          </a:xfrm>
          <a:prstGeom prst="roundRect">
            <a:avLst>
              <a:gd name="adj" fmla="val 6154"/>
            </a:avLst>
          </a:prstGeom>
          <a:solidFill>
            <a:srgbClr val="F7F7FA"/>
          </a:solidFill>
          <a:ln w="12700">
            <a:solidFill>
              <a:srgbClr val="E4E6EF"/>
            </a:solidFill>
            <a:prstDash val="solid"/>
          </a:ln>
        </p:spPr>
      </p:sp>
      <p:sp>
        <p:nvSpPr>
          <p:cNvPr id="8" name="Text 6"/>
          <p:cNvSpPr/>
          <p:nvPr/>
        </p:nvSpPr>
        <p:spPr>
          <a:xfrm>
            <a:off x="758952" y="2377440"/>
            <a:ext cx="10689336" cy="822960"/>
          </a:xfrm>
          <a:prstGeom prst="rect">
            <a:avLst/>
          </a:prstGeom>
          <a:noFill/>
          <a:ln/>
        </p:spPr>
        <p:txBody>
          <a:bodyPr wrap="square" lIns="0" tIns="0" rIns="0" bIns="0" rtlCol="0" anchor="t"/>
          <a:lstStyle/>
          <a:p>
            <a:pPr marL="0" indent="0">
              <a:lnSpc>
                <a:spcPct val="115000"/>
              </a:lnSpc>
              <a:buNone/>
            </a:pPr>
            <a:r>
              <a:rPr lang="en-US" sz="1450" dirty="0">
                <a:solidFill>
                  <a:srgbClr val="1B2340"/>
                </a:solidFill>
                <a:latin typeface="Calibri" pitchFamily="34" charset="0"/>
                <a:ea typeface="Calibri" pitchFamily="34" charset="-122"/>
                <a:cs typeface="Calibri" pitchFamily="34" charset="-120"/>
              </a:rPr>
              <a:t>Bubble Sort is a simple sorting algorithm that repeatedly compares adjacent elements and swaps them if they are in the wrong order, until the whole array is sorted.</a:t>
            </a:r>
            <a:endParaRPr lang="en-US" sz="1450" dirty="0"/>
          </a:p>
        </p:txBody>
      </p:sp>
      <p:sp>
        <p:nvSpPr>
          <p:cNvPr id="9" name="Shape 7"/>
          <p:cNvSpPr/>
          <p:nvPr/>
        </p:nvSpPr>
        <p:spPr>
          <a:xfrm>
            <a:off x="502920" y="3611880"/>
            <a:ext cx="164592" cy="274320"/>
          </a:xfrm>
          <a:prstGeom prst="roundRect">
            <a:avLst>
              <a:gd name="adj" fmla="val 22222"/>
            </a:avLst>
          </a:prstGeom>
          <a:solidFill>
            <a:srgbClr val="3FBFAE"/>
          </a:solidFill>
          <a:ln/>
        </p:spPr>
      </p:sp>
      <p:sp>
        <p:nvSpPr>
          <p:cNvPr id="10" name="Text 8"/>
          <p:cNvSpPr/>
          <p:nvPr/>
        </p:nvSpPr>
        <p:spPr>
          <a:xfrm>
            <a:off x="758952" y="3584448"/>
            <a:ext cx="7059168" cy="329184"/>
          </a:xfrm>
          <a:prstGeom prst="rect">
            <a:avLst/>
          </a:prstGeom>
          <a:noFill/>
          <a:ln/>
        </p:spPr>
        <p:txBody>
          <a:bodyPr wrap="square" rtlCol="0" anchor="ctr"/>
          <a:lstStyle/>
          <a:p>
            <a:pPr marL="0" indent="0">
              <a:buNone/>
            </a:pPr>
            <a:r>
              <a:rPr lang="en-US" sz="1300" b="1" kern="0" spc="50" dirty="0">
                <a:solidFill>
                  <a:srgbClr val="1B2340"/>
                </a:solidFill>
                <a:latin typeface="Calibri" pitchFamily="34" charset="0"/>
                <a:ea typeface="Calibri" pitchFamily="34" charset="-122"/>
                <a:cs typeface="Calibri" pitchFamily="34" charset="-120"/>
              </a:rPr>
              <a:t>APPROACH - HOW TO SOLVE IT</a:t>
            </a:r>
            <a:endParaRPr lang="en-US" sz="1300" dirty="0"/>
          </a:p>
        </p:txBody>
      </p:sp>
      <p:sp>
        <p:nvSpPr>
          <p:cNvPr id="11" name="Text 9"/>
          <p:cNvSpPr/>
          <p:nvPr/>
        </p:nvSpPr>
        <p:spPr>
          <a:xfrm>
            <a:off x="502920" y="3950208"/>
            <a:ext cx="10607040" cy="2468880"/>
          </a:xfrm>
          <a:prstGeom prst="rect">
            <a:avLst/>
          </a:prstGeom>
          <a:noFill/>
          <a:ln/>
        </p:spPr>
        <p:txBody>
          <a:bodyPr wrap="square" lIns="0" tIns="0" rIns="0" bIns="0" rtlCol="0" anchor="t"/>
          <a:lstStyle/>
          <a:p>
            <a:pPr marL="177800" indent="-177800">
              <a:spcAft>
                <a:spcPts val="1200"/>
              </a:spcAft>
              <a:buSzPct val="100000"/>
              <a:buChar char="•"/>
            </a:pPr>
            <a:r>
              <a:rPr lang="en-US" sz="1450" dirty="0">
                <a:solidFill>
                  <a:srgbClr val="1B2340"/>
                </a:solidFill>
                <a:latin typeface="Calibri" pitchFamily="34" charset="0"/>
                <a:ea typeface="Calibri" pitchFamily="34" charset="-122"/>
                <a:cs typeface="Calibri" pitchFamily="34" charset="-120"/>
              </a:rPr>
              <a:t>Compare each pair of adjacent elements in the array</a:t>
            </a:r>
            <a:endParaRPr lang="en-US" sz="1450" dirty="0"/>
          </a:p>
          <a:p>
            <a:pPr marL="177800" indent="-177800">
              <a:spcAft>
                <a:spcPts val="1200"/>
              </a:spcAft>
              <a:buSzPct val="100000"/>
              <a:buChar char="•"/>
            </a:pPr>
            <a:r>
              <a:rPr lang="en-US" sz="1450" dirty="0">
                <a:solidFill>
                  <a:srgbClr val="1B2340"/>
                </a:solidFill>
                <a:latin typeface="Calibri" pitchFamily="34" charset="0"/>
                <a:ea typeface="Calibri" pitchFamily="34" charset="-122"/>
                <a:cs typeface="Calibri" pitchFamily="34" charset="-120"/>
              </a:rPr>
              <a:t>Swap them if the left element is greater than the right one</a:t>
            </a:r>
            <a:endParaRPr lang="en-US" sz="1450" dirty="0"/>
          </a:p>
          <a:p>
            <a:pPr marL="177800" indent="-177800">
              <a:spcAft>
                <a:spcPts val="1200"/>
              </a:spcAft>
              <a:buSzPct val="100000"/>
              <a:buChar char="•"/>
            </a:pPr>
            <a:r>
              <a:rPr lang="en-US" sz="1450" dirty="0">
                <a:solidFill>
                  <a:srgbClr val="1B2340"/>
                </a:solidFill>
                <a:latin typeface="Calibri" pitchFamily="34" charset="0"/>
                <a:ea typeface="Calibri" pitchFamily="34" charset="-122"/>
                <a:cs typeface="Calibri" pitchFamily="34" charset="-120"/>
              </a:rPr>
              <a:t>After each full pass, the largest remaining element 'bubbles up' to its correct position at the end</a:t>
            </a:r>
            <a:endParaRPr lang="en-US" sz="1450" dirty="0"/>
          </a:p>
          <a:p>
            <a:pPr marL="177800" indent="-177800">
              <a:spcAft>
                <a:spcPts val="1200"/>
              </a:spcAft>
              <a:buSzPct val="100000"/>
              <a:buChar char="•"/>
            </a:pPr>
            <a:r>
              <a:rPr lang="en-US" sz="1450" dirty="0">
                <a:solidFill>
                  <a:srgbClr val="1B2340"/>
                </a:solidFill>
                <a:latin typeface="Calibri" pitchFamily="34" charset="0"/>
                <a:ea typeface="Calibri" pitchFamily="34" charset="-122"/>
                <a:cs typeface="Calibri" pitchFamily="34" charset="-120"/>
              </a:rPr>
              <a:t>Repeat the passes until no swaps are needed - the array is then fully sorted</a:t>
            </a:r>
            <a:endParaRPr lang="en-US" sz="1450" dirty="0"/>
          </a:p>
        </p:txBody>
      </p:sp>
      <p:sp>
        <p:nvSpPr>
          <p:cNvPr id="12" name="Shape 10"/>
          <p:cNvSpPr/>
          <p:nvPr/>
        </p:nvSpPr>
        <p:spPr>
          <a:xfrm>
            <a:off x="9052560" y="5394960"/>
            <a:ext cx="2651760" cy="822960"/>
          </a:xfrm>
          <a:prstGeom prst="roundRect">
            <a:avLst>
              <a:gd name="adj" fmla="val 11111"/>
            </a:avLst>
          </a:prstGeom>
          <a:solidFill>
            <a:srgbClr val="1B2340"/>
          </a:solidFill>
          <a:ln/>
        </p:spPr>
      </p:sp>
      <p:sp>
        <p:nvSpPr>
          <p:cNvPr id="13" name="Text 11"/>
          <p:cNvSpPr/>
          <p:nvPr/>
        </p:nvSpPr>
        <p:spPr>
          <a:xfrm>
            <a:off x="9052560" y="5394960"/>
            <a:ext cx="2651760" cy="822960"/>
          </a:xfrm>
          <a:prstGeom prst="rect">
            <a:avLst/>
          </a:prstGeom>
          <a:noFill/>
          <a:ln/>
        </p:spPr>
        <p:txBody>
          <a:bodyPr wrap="square" rtlCol="0" anchor="ctr"/>
          <a:lstStyle/>
          <a:p>
            <a:pPr marL="0" indent="0" algn="ctr">
              <a:buNone/>
            </a:pPr>
            <a:r>
              <a:rPr lang="en-US" sz="1250" b="1" dirty="0">
                <a:solidFill>
                  <a:srgbClr val="E8A33D"/>
                </a:solidFill>
                <a:latin typeface="Calibri" pitchFamily="34" charset="0"/>
                <a:ea typeface="Calibri" pitchFamily="34" charset="-122"/>
                <a:cs typeface="Calibri" pitchFamily="34" charset="-120"/>
              </a:rPr>
              <a:t>See code on</a:t>
            </a:r>
            <a:endParaRPr lang="en-US" sz="1250" dirty="0"/>
          </a:p>
          <a:p>
            <a:pPr marL="0" indent="0" algn="ctr">
              <a:buNone/>
            </a:pPr>
            <a:r>
              <a:rPr lang="en-US" sz="1250" b="1" dirty="0">
                <a:solidFill>
                  <a:srgbClr val="E8A33D"/>
                </a:solidFill>
                <a:latin typeface="Calibri" pitchFamily="34" charset="0"/>
                <a:ea typeface="Calibri" pitchFamily="34" charset="-122"/>
                <a:cs typeface="Calibri" pitchFamily="34" charset="-120"/>
              </a:rPr>
              <a:t>the next slide →</a:t>
            </a:r>
            <a:endParaRPr lang="en-US" sz="1250" dirty="0"/>
          </a:p>
        </p:txBody>
      </p:sp>
      <p:sp>
        <p:nvSpPr>
          <p:cNvPr id="14" name="Text 12"/>
          <p:cNvSpPr/>
          <p:nvPr/>
        </p:nvSpPr>
        <p:spPr>
          <a:xfrm>
            <a:off x="457200" y="6583680"/>
            <a:ext cx="5486400" cy="228600"/>
          </a:xfrm>
          <a:prstGeom prst="rect">
            <a:avLst/>
          </a:prstGeom>
          <a:noFill/>
          <a:ln/>
        </p:spPr>
        <p:txBody>
          <a:bodyPr wrap="square" rtlCol="0" anchor="ctr"/>
          <a:lstStyle/>
          <a:p>
            <a:pPr marL="0" indent="0" algn="l">
              <a:buNone/>
            </a:pPr>
            <a:r>
              <a:rPr lang="en-US" sz="850" dirty="0">
                <a:solidFill>
                  <a:srgbClr val="5B6178"/>
                </a:solidFill>
                <a:latin typeface="Calibri" pitchFamily="34" charset="0"/>
                <a:ea typeface="Calibri" pitchFamily="34" charset="-122"/>
                <a:cs typeface="Calibri" pitchFamily="34" charset="-120"/>
              </a:rPr>
              <a:t>Java &amp; Full-Stack Interview Prep</a:t>
            </a:r>
            <a:endParaRPr lang="en-US" sz="85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Shape 0"/>
          <p:cNvSpPr/>
          <p:nvPr/>
        </p:nvSpPr>
        <p:spPr>
          <a:xfrm>
            <a:off x="502920" y="384048"/>
            <a:ext cx="4279392" cy="310896"/>
          </a:xfrm>
          <a:prstGeom prst="roundRect">
            <a:avLst>
              <a:gd name="adj" fmla="val 23529"/>
            </a:avLst>
          </a:prstGeom>
          <a:solidFill>
            <a:srgbClr val="E8A33D"/>
          </a:solidFill>
          <a:ln/>
        </p:spPr>
      </p:sp>
      <p:sp>
        <p:nvSpPr>
          <p:cNvPr id="3" name="Text 1"/>
          <p:cNvSpPr/>
          <p:nvPr/>
        </p:nvSpPr>
        <p:spPr>
          <a:xfrm>
            <a:off x="502920" y="384048"/>
            <a:ext cx="4279392" cy="310896"/>
          </a:xfrm>
          <a:prstGeom prst="rect">
            <a:avLst/>
          </a:prstGeom>
          <a:noFill/>
          <a:ln/>
        </p:spPr>
        <p:txBody>
          <a:bodyPr wrap="square" rtlCol="0" anchor="ctr"/>
          <a:lstStyle/>
          <a:p>
            <a:pPr marL="0" indent="0" algn="ctr">
              <a:buNone/>
            </a:pPr>
            <a:r>
              <a:rPr lang="en-US" sz="1100" b="1" kern="0" spc="100" dirty="0">
                <a:solidFill>
                  <a:srgbClr val="1B2340"/>
                </a:solidFill>
                <a:latin typeface="Calibri" pitchFamily="34" charset="0"/>
                <a:ea typeface="Calibri" pitchFamily="34" charset="-122"/>
                <a:cs typeface="Calibri" pitchFamily="34" charset="-120"/>
              </a:rPr>
              <a:t>DSA CODING PRACTICE</a:t>
            </a:r>
            <a:endParaRPr lang="en-US" sz="1100" dirty="0"/>
          </a:p>
        </p:txBody>
      </p:sp>
      <p:sp>
        <p:nvSpPr>
          <p:cNvPr id="4" name="Text 2"/>
          <p:cNvSpPr/>
          <p:nvPr/>
        </p:nvSpPr>
        <p:spPr>
          <a:xfrm>
            <a:off x="502920" y="786384"/>
            <a:ext cx="11155680" cy="868680"/>
          </a:xfrm>
          <a:prstGeom prst="rect">
            <a:avLst/>
          </a:prstGeom>
          <a:noFill/>
          <a:ln/>
        </p:spPr>
        <p:txBody>
          <a:bodyPr wrap="square" rtlCol="0" anchor="t"/>
          <a:lstStyle/>
          <a:p>
            <a:pPr marL="0" indent="0">
              <a:lnSpc>
                <a:spcPct val="102000"/>
              </a:lnSpc>
              <a:buNone/>
            </a:pPr>
            <a:r>
              <a:rPr lang="en-US" sz="2500" b="1" dirty="0">
                <a:solidFill>
                  <a:srgbClr val="1B2340"/>
                </a:solidFill>
                <a:latin typeface="Century Schoolbook" pitchFamily="34" charset="0"/>
                <a:ea typeface="Century Schoolbook" pitchFamily="34" charset="-122"/>
                <a:cs typeface="Century Schoolbook" pitchFamily="34" charset="-120"/>
              </a:rPr>
              <a:t>Bubble Sort - Code &amp; Explanation</a:t>
            </a:r>
            <a:endParaRPr lang="en-US" sz="2500" dirty="0"/>
          </a:p>
        </p:txBody>
      </p:sp>
      <p:sp>
        <p:nvSpPr>
          <p:cNvPr id="5" name="Shape 3"/>
          <p:cNvSpPr/>
          <p:nvPr/>
        </p:nvSpPr>
        <p:spPr>
          <a:xfrm>
            <a:off x="502920" y="1810512"/>
            <a:ext cx="164592" cy="274320"/>
          </a:xfrm>
          <a:prstGeom prst="roundRect">
            <a:avLst>
              <a:gd name="adj" fmla="val 22222"/>
            </a:avLst>
          </a:prstGeom>
          <a:solidFill>
            <a:srgbClr val="E8A33D"/>
          </a:solidFill>
          <a:ln/>
        </p:spPr>
      </p:sp>
      <p:sp>
        <p:nvSpPr>
          <p:cNvPr id="6" name="Text 4"/>
          <p:cNvSpPr/>
          <p:nvPr/>
        </p:nvSpPr>
        <p:spPr>
          <a:xfrm>
            <a:off x="758952" y="1783080"/>
            <a:ext cx="5230368" cy="329184"/>
          </a:xfrm>
          <a:prstGeom prst="rect">
            <a:avLst/>
          </a:prstGeom>
          <a:noFill/>
          <a:ln/>
        </p:spPr>
        <p:txBody>
          <a:bodyPr wrap="square" rtlCol="0" anchor="ctr"/>
          <a:lstStyle/>
          <a:p>
            <a:pPr marL="0" indent="0">
              <a:buNone/>
            </a:pPr>
            <a:r>
              <a:rPr lang="en-US" sz="1300" b="1" kern="0" spc="50" dirty="0">
                <a:solidFill>
                  <a:srgbClr val="1B2340"/>
                </a:solidFill>
                <a:latin typeface="Calibri" pitchFamily="34" charset="0"/>
                <a:ea typeface="Calibri" pitchFamily="34" charset="-122"/>
                <a:cs typeface="Calibri" pitchFamily="34" charset="-120"/>
              </a:rPr>
              <a:t>EXAMPLE - CODE</a:t>
            </a:r>
            <a:endParaRPr lang="en-US" sz="1300" dirty="0"/>
          </a:p>
        </p:txBody>
      </p:sp>
      <p:sp>
        <p:nvSpPr>
          <p:cNvPr id="7" name="Shape 5"/>
          <p:cNvSpPr/>
          <p:nvPr/>
        </p:nvSpPr>
        <p:spPr>
          <a:xfrm>
            <a:off x="502920" y="2121408"/>
            <a:ext cx="5486400" cy="2884805"/>
          </a:xfrm>
          <a:prstGeom prst="roundRect">
            <a:avLst>
              <a:gd name="adj" fmla="val 2536"/>
            </a:avLst>
          </a:prstGeom>
          <a:solidFill>
            <a:srgbClr val="1E1E2E"/>
          </a:solidFill>
          <a:ln/>
        </p:spPr>
      </p:sp>
      <p:sp>
        <p:nvSpPr>
          <p:cNvPr id="8" name="Shape 6"/>
          <p:cNvSpPr/>
          <p:nvPr/>
        </p:nvSpPr>
        <p:spPr>
          <a:xfrm>
            <a:off x="640080" y="2249424"/>
            <a:ext cx="100584" cy="100584"/>
          </a:xfrm>
          <a:prstGeom prst="ellipse">
            <a:avLst/>
          </a:prstGeom>
          <a:solidFill>
            <a:srgbClr val="FF5F56"/>
          </a:solidFill>
          <a:ln/>
        </p:spPr>
      </p:sp>
      <p:sp>
        <p:nvSpPr>
          <p:cNvPr id="9" name="Shape 7"/>
          <p:cNvSpPr/>
          <p:nvPr/>
        </p:nvSpPr>
        <p:spPr>
          <a:xfrm>
            <a:off x="795528" y="2249424"/>
            <a:ext cx="100584" cy="100584"/>
          </a:xfrm>
          <a:prstGeom prst="ellipse">
            <a:avLst/>
          </a:prstGeom>
          <a:solidFill>
            <a:srgbClr val="FFBD2E"/>
          </a:solidFill>
          <a:ln/>
        </p:spPr>
      </p:sp>
      <p:sp>
        <p:nvSpPr>
          <p:cNvPr id="10" name="Shape 8"/>
          <p:cNvSpPr/>
          <p:nvPr/>
        </p:nvSpPr>
        <p:spPr>
          <a:xfrm>
            <a:off x="950976" y="2249424"/>
            <a:ext cx="100584" cy="100584"/>
          </a:xfrm>
          <a:prstGeom prst="ellipse">
            <a:avLst/>
          </a:prstGeom>
          <a:solidFill>
            <a:srgbClr val="27C93F"/>
          </a:solidFill>
          <a:ln/>
        </p:spPr>
      </p:sp>
      <p:sp>
        <p:nvSpPr>
          <p:cNvPr id="11" name="Text 9"/>
          <p:cNvSpPr/>
          <p:nvPr/>
        </p:nvSpPr>
        <p:spPr>
          <a:xfrm>
            <a:off x="1143000" y="2167128"/>
            <a:ext cx="4572000" cy="274320"/>
          </a:xfrm>
          <a:prstGeom prst="rect">
            <a:avLst/>
          </a:prstGeom>
          <a:noFill/>
          <a:ln/>
        </p:spPr>
        <p:txBody>
          <a:bodyPr wrap="square" rtlCol="0" anchor="ctr"/>
          <a:lstStyle/>
          <a:p>
            <a:pPr marL="0" indent="0" algn="r">
              <a:buNone/>
            </a:pPr>
            <a:r>
              <a:rPr lang="en-US" sz="1000" dirty="0">
                <a:solidFill>
                  <a:srgbClr val="8A90AC"/>
                </a:solidFill>
                <a:latin typeface="Courier New" pitchFamily="34" charset="0"/>
                <a:ea typeface="Courier New" pitchFamily="34" charset="-122"/>
                <a:cs typeface="Courier New" pitchFamily="34" charset="-120"/>
              </a:rPr>
              <a:t>Main.java</a:t>
            </a:r>
            <a:endParaRPr lang="en-US" sz="1000" dirty="0"/>
          </a:p>
        </p:txBody>
      </p:sp>
      <p:sp>
        <p:nvSpPr>
          <p:cNvPr id="12" name="Text 10"/>
          <p:cNvSpPr/>
          <p:nvPr/>
        </p:nvSpPr>
        <p:spPr>
          <a:xfrm>
            <a:off x="731520" y="2487168"/>
            <a:ext cx="5029200" cy="2427605"/>
          </a:xfrm>
          <a:prstGeom prst="rect">
            <a:avLst/>
          </a:prstGeom>
          <a:noFill/>
          <a:ln/>
        </p:spPr>
        <p:txBody>
          <a:bodyPr wrap="square" lIns="0" tIns="0" rIns="0" bIns="0" rtlCol="0" anchor="t"/>
          <a:lstStyle/>
          <a:p>
            <a:pPr marL="0" indent="0">
              <a:lnSpc>
                <a:spcPct val="120000"/>
              </a:lnSpc>
              <a:buNone/>
            </a:pPr>
            <a:r>
              <a:rPr lang="en-US" sz="1100" dirty="0">
                <a:solidFill>
                  <a:srgbClr val="D4D4E0"/>
                </a:solidFill>
                <a:latin typeface="Courier New" pitchFamily="34" charset="0"/>
                <a:ea typeface="Courier New" pitchFamily="34" charset="-122"/>
                <a:cs typeface="Courier New" pitchFamily="34" charset="-120"/>
              </a:rPr>
              <a:t>void bubbleSort(int[] arr) {</a:t>
            </a:r>
            <a:endParaRPr lang="en-US" sz="1100" dirty="0"/>
          </a:p>
          <a:p>
            <a:pPr marL="0" indent="0">
              <a:lnSpc>
                <a:spcPct val="120000"/>
              </a:lnSpc>
              <a:buNone/>
            </a:pPr>
            <a:r>
              <a:rPr lang="en-US" sz="1100" dirty="0">
                <a:solidFill>
                  <a:srgbClr val="D4D4E0"/>
                </a:solidFill>
                <a:latin typeface="Courier New" pitchFamily="34" charset="0"/>
                <a:ea typeface="Courier New" pitchFamily="34" charset="-122"/>
                <a:cs typeface="Courier New" pitchFamily="34" charset="-120"/>
              </a:rPr>
              <a:t>    for (int i = 0; i &lt; arr.length - 1; i++) {</a:t>
            </a:r>
            <a:endParaRPr lang="en-US" sz="1100" dirty="0"/>
          </a:p>
          <a:p>
            <a:pPr marL="0" indent="0">
              <a:lnSpc>
                <a:spcPct val="120000"/>
              </a:lnSpc>
              <a:buNone/>
            </a:pPr>
            <a:r>
              <a:rPr lang="en-US" sz="1100" dirty="0">
                <a:solidFill>
                  <a:srgbClr val="D4D4E0"/>
                </a:solidFill>
                <a:latin typeface="Courier New" pitchFamily="34" charset="0"/>
                <a:ea typeface="Courier New" pitchFamily="34" charset="-122"/>
                <a:cs typeface="Courier New" pitchFamily="34" charset="-120"/>
              </a:rPr>
              <a:t>        for (int j = 0; j &lt; arr.length - 1 - i; j++) {</a:t>
            </a:r>
            <a:endParaRPr lang="en-US" sz="1100" dirty="0"/>
          </a:p>
          <a:p>
            <a:pPr marL="0" indent="0">
              <a:lnSpc>
                <a:spcPct val="120000"/>
              </a:lnSpc>
              <a:buNone/>
            </a:pPr>
            <a:r>
              <a:rPr lang="en-US" sz="1100" dirty="0">
                <a:solidFill>
                  <a:srgbClr val="D4D4E0"/>
                </a:solidFill>
                <a:latin typeface="Courier New" pitchFamily="34" charset="0"/>
                <a:ea typeface="Courier New" pitchFamily="34" charset="-122"/>
                <a:cs typeface="Courier New" pitchFamily="34" charset="-120"/>
              </a:rPr>
              <a:t>            if (arr[j] &gt; arr[j + 1]) {</a:t>
            </a:r>
            <a:endParaRPr lang="en-US" sz="1100" dirty="0"/>
          </a:p>
          <a:p>
            <a:pPr marL="0" indent="0">
              <a:lnSpc>
                <a:spcPct val="120000"/>
              </a:lnSpc>
              <a:buNone/>
            </a:pPr>
            <a:r>
              <a:rPr lang="en-US" sz="1100" dirty="0">
                <a:solidFill>
                  <a:srgbClr val="D4D4E0"/>
                </a:solidFill>
                <a:latin typeface="Courier New" pitchFamily="34" charset="0"/>
                <a:ea typeface="Courier New" pitchFamily="34" charset="-122"/>
                <a:cs typeface="Courier New" pitchFamily="34" charset="-120"/>
              </a:rPr>
              <a:t>                int t = arr[j];</a:t>
            </a:r>
            <a:endParaRPr lang="en-US" sz="1100" dirty="0"/>
          </a:p>
          <a:p>
            <a:pPr marL="0" indent="0">
              <a:lnSpc>
                <a:spcPct val="120000"/>
              </a:lnSpc>
              <a:buNone/>
            </a:pPr>
            <a:r>
              <a:rPr lang="en-US" sz="1100" dirty="0">
                <a:solidFill>
                  <a:srgbClr val="D4D4E0"/>
                </a:solidFill>
                <a:latin typeface="Courier New" pitchFamily="34" charset="0"/>
                <a:ea typeface="Courier New" pitchFamily="34" charset="-122"/>
                <a:cs typeface="Courier New" pitchFamily="34" charset="-120"/>
              </a:rPr>
              <a:t>                arr[j] = arr[j+1];</a:t>
            </a:r>
            <a:endParaRPr lang="en-US" sz="1100" dirty="0"/>
          </a:p>
          <a:p>
            <a:pPr marL="0" indent="0">
              <a:lnSpc>
                <a:spcPct val="120000"/>
              </a:lnSpc>
              <a:buNone/>
            </a:pPr>
            <a:r>
              <a:rPr lang="en-US" sz="1100" dirty="0">
                <a:solidFill>
                  <a:srgbClr val="D4D4E0"/>
                </a:solidFill>
                <a:latin typeface="Courier New" pitchFamily="34" charset="0"/>
                <a:ea typeface="Courier New" pitchFamily="34" charset="-122"/>
                <a:cs typeface="Courier New" pitchFamily="34" charset="-120"/>
              </a:rPr>
              <a:t>                arr[j+1] = t;</a:t>
            </a:r>
            <a:endParaRPr lang="en-US" sz="1100" dirty="0"/>
          </a:p>
          <a:p>
            <a:pPr marL="0" indent="0">
              <a:lnSpc>
                <a:spcPct val="120000"/>
              </a:lnSpc>
              <a:buNone/>
            </a:pPr>
            <a:r>
              <a:rPr lang="en-US" sz="1100" dirty="0">
                <a:solidFill>
                  <a:srgbClr val="D4D4E0"/>
                </a:solidFill>
                <a:latin typeface="Courier New" pitchFamily="34" charset="0"/>
                <a:ea typeface="Courier New" pitchFamily="34" charset="-122"/>
                <a:cs typeface="Courier New" pitchFamily="34" charset="-120"/>
              </a:rPr>
              <a:t>            }</a:t>
            </a:r>
            <a:endParaRPr lang="en-US" sz="1100" dirty="0"/>
          </a:p>
          <a:p>
            <a:pPr marL="0" indent="0">
              <a:lnSpc>
                <a:spcPct val="120000"/>
              </a:lnSpc>
              <a:buNone/>
            </a:pPr>
            <a:r>
              <a:rPr lang="en-US" sz="1100" dirty="0">
                <a:solidFill>
                  <a:srgbClr val="D4D4E0"/>
                </a:solidFill>
                <a:latin typeface="Courier New" pitchFamily="34" charset="0"/>
                <a:ea typeface="Courier New" pitchFamily="34" charset="-122"/>
                <a:cs typeface="Courier New" pitchFamily="34" charset="-120"/>
              </a:rPr>
              <a:t>        }</a:t>
            </a:r>
            <a:endParaRPr lang="en-US" sz="1100" dirty="0"/>
          </a:p>
          <a:p>
            <a:pPr marL="0" indent="0">
              <a:lnSpc>
                <a:spcPct val="120000"/>
              </a:lnSpc>
              <a:buNone/>
            </a:pPr>
            <a:r>
              <a:rPr lang="en-US" sz="1100" dirty="0">
                <a:solidFill>
                  <a:srgbClr val="D4D4E0"/>
                </a:solidFill>
                <a:latin typeface="Courier New" pitchFamily="34" charset="0"/>
                <a:ea typeface="Courier New" pitchFamily="34" charset="-122"/>
                <a:cs typeface="Courier New" pitchFamily="34" charset="-120"/>
              </a:rPr>
              <a:t>    }</a:t>
            </a:r>
            <a:endParaRPr lang="en-US" sz="1100" dirty="0"/>
          </a:p>
          <a:p>
            <a:pPr marL="0" indent="0">
              <a:lnSpc>
                <a:spcPct val="120000"/>
              </a:lnSpc>
              <a:buNone/>
            </a:pPr>
            <a:r>
              <a:rPr lang="en-US" sz="1100" dirty="0">
                <a:solidFill>
                  <a:srgbClr val="D4D4E0"/>
                </a:solidFill>
                <a:latin typeface="Courier New" pitchFamily="34" charset="0"/>
                <a:ea typeface="Courier New" pitchFamily="34" charset="-122"/>
                <a:cs typeface="Courier New" pitchFamily="34" charset="-120"/>
              </a:rPr>
              <a:t>}</a:t>
            </a:r>
            <a:endParaRPr lang="en-US" sz="1100" dirty="0"/>
          </a:p>
        </p:txBody>
      </p:sp>
      <p:sp>
        <p:nvSpPr>
          <p:cNvPr id="13" name="Shape 11"/>
          <p:cNvSpPr/>
          <p:nvPr/>
        </p:nvSpPr>
        <p:spPr>
          <a:xfrm>
            <a:off x="502920" y="5189093"/>
            <a:ext cx="5486400" cy="868680"/>
          </a:xfrm>
          <a:prstGeom prst="roundRect">
            <a:avLst>
              <a:gd name="adj" fmla="val 8421"/>
            </a:avLst>
          </a:prstGeom>
          <a:solidFill>
            <a:srgbClr val="1B2340"/>
          </a:solidFill>
          <a:ln/>
        </p:spPr>
      </p:sp>
      <p:sp>
        <p:nvSpPr>
          <p:cNvPr id="14" name="Text 12"/>
          <p:cNvSpPr/>
          <p:nvPr/>
        </p:nvSpPr>
        <p:spPr>
          <a:xfrm>
            <a:off x="731520" y="5280533"/>
            <a:ext cx="5029200" cy="256032"/>
          </a:xfrm>
          <a:prstGeom prst="rect">
            <a:avLst/>
          </a:prstGeom>
          <a:noFill/>
          <a:ln/>
        </p:spPr>
        <p:txBody>
          <a:bodyPr wrap="square" rtlCol="0" anchor="ctr"/>
          <a:lstStyle/>
          <a:p>
            <a:pPr marL="0" indent="0">
              <a:buNone/>
            </a:pPr>
            <a:r>
              <a:rPr lang="en-US" sz="1050" b="1" kern="0" spc="80" dirty="0">
                <a:solidFill>
                  <a:srgbClr val="E8A33D"/>
                </a:solidFill>
                <a:latin typeface="Calibri" pitchFamily="34" charset="0"/>
                <a:ea typeface="Calibri" pitchFamily="34" charset="-122"/>
                <a:cs typeface="Calibri" pitchFamily="34" charset="-120"/>
              </a:rPr>
              <a:t>ONE-LINE INTERVIEW ANSWER</a:t>
            </a:r>
            <a:endParaRPr lang="en-US" sz="1050" dirty="0"/>
          </a:p>
        </p:txBody>
      </p:sp>
      <p:sp>
        <p:nvSpPr>
          <p:cNvPr id="15" name="Text 13"/>
          <p:cNvSpPr/>
          <p:nvPr/>
        </p:nvSpPr>
        <p:spPr>
          <a:xfrm>
            <a:off x="731520" y="5536565"/>
            <a:ext cx="5029200" cy="411480"/>
          </a:xfrm>
          <a:prstGeom prst="rect">
            <a:avLst/>
          </a:prstGeom>
          <a:noFill/>
          <a:ln/>
        </p:spPr>
        <p:txBody>
          <a:bodyPr wrap="square" lIns="0" tIns="0" rIns="0" bIns="0" rtlCol="0" anchor="t"/>
          <a:lstStyle/>
          <a:p>
            <a:pPr marL="0" indent="0">
              <a:lnSpc>
                <a:spcPct val="105000"/>
              </a:lnSpc>
              <a:buNone/>
            </a:pPr>
            <a:r>
              <a:rPr lang="en-US" sz="1250" dirty="0">
                <a:solidFill>
                  <a:srgbClr val="FFFFFF"/>
                </a:solidFill>
                <a:latin typeface="Calibri" pitchFamily="34" charset="0"/>
                <a:ea typeface="Calibri" pitchFamily="34" charset="-122"/>
                <a:cs typeface="Calibri" pitchFamily="34" charset="-120"/>
              </a:rPr>
              <a:t>Bubble Sort repeatedly swaps adjacent out-of-order elements across multiple passes until the array is fully sorted, in O(n^2) time.</a:t>
            </a:r>
            <a:endParaRPr lang="en-US" sz="1250" dirty="0"/>
          </a:p>
        </p:txBody>
      </p:sp>
      <p:sp>
        <p:nvSpPr>
          <p:cNvPr id="16" name="Shape 14"/>
          <p:cNvSpPr/>
          <p:nvPr/>
        </p:nvSpPr>
        <p:spPr>
          <a:xfrm>
            <a:off x="6263640" y="1810512"/>
            <a:ext cx="164592" cy="274320"/>
          </a:xfrm>
          <a:prstGeom prst="roundRect">
            <a:avLst>
              <a:gd name="adj" fmla="val 22222"/>
            </a:avLst>
          </a:prstGeom>
          <a:solidFill>
            <a:srgbClr val="3FBFAE"/>
          </a:solidFill>
          <a:ln/>
        </p:spPr>
      </p:sp>
      <p:sp>
        <p:nvSpPr>
          <p:cNvPr id="17" name="Text 15"/>
          <p:cNvSpPr/>
          <p:nvPr/>
        </p:nvSpPr>
        <p:spPr>
          <a:xfrm>
            <a:off x="6519672" y="1783080"/>
            <a:ext cx="5184648" cy="329184"/>
          </a:xfrm>
          <a:prstGeom prst="rect">
            <a:avLst/>
          </a:prstGeom>
          <a:noFill/>
          <a:ln/>
        </p:spPr>
        <p:txBody>
          <a:bodyPr wrap="square" rtlCol="0" anchor="ctr"/>
          <a:lstStyle/>
          <a:p>
            <a:pPr marL="0" indent="0">
              <a:buNone/>
            </a:pPr>
            <a:r>
              <a:rPr lang="en-US" sz="1300" b="1" kern="0" spc="50" dirty="0">
                <a:solidFill>
                  <a:srgbClr val="1B2340"/>
                </a:solidFill>
                <a:latin typeface="Calibri" pitchFamily="34" charset="0"/>
                <a:ea typeface="Calibri" pitchFamily="34" charset="-122"/>
                <a:cs typeface="Calibri" pitchFamily="34" charset="-120"/>
              </a:rPr>
              <a:t>EXPLANATION</a:t>
            </a:r>
            <a:endParaRPr lang="en-US" sz="1300" dirty="0"/>
          </a:p>
        </p:txBody>
      </p:sp>
      <p:sp>
        <p:nvSpPr>
          <p:cNvPr id="18" name="Text 16"/>
          <p:cNvSpPr/>
          <p:nvPr/>
        </p:nvSpPr>
        <p:spPr>
          <a:xfrm>
            <a:off x="6263640" y="2139696"/>
            <a:ext cx="5440680" cy="2011680"/>
          </a:xfrm>
          <a:prstGeom prst="rect">
            <a:avLst/>
          </a:prstGeom>
          <a:noFill/>
          <a:ln/>
        </p:spPr>
        <p:txBody>
          <a:bodyPr wrap="square" lIns="0" tIns="0" rIns="0" bIns="0" rtlCol="0" anchor="t"/>
          <a:lstStyle/>
          <a:p>
            <a:pPr marL="177800" indent="-177800">
              <a:spcAft>
                <a:spcPts val="800"/>
              </a:spcAft>
              <a:buSzPct val="100000"/>
              <a:buChar char="•"/>
            </a:pPr>
            <a:r>
              <a:rPr lang="en-US" sz="1250" dirty="0">
                <a:solidFill>
                  <a:srgbClr val="1B2340"/>
                </a:solidFill>
                <a:latin typeface="Calibri" pitchFamily="34" charset="0"/>
                <a:ea typeface="Calibri" pitchFamily="34" charset="-122"/>
                <a:cs typeface="Calibri" pitchFamily="34" charset="-120"/>
              </a:rPr>
              <a:t>The outer loop controls how many passes are made through the array</a:t>
            </a:r>
            <a:endParaRPr lang="en-US" sz="1250" dirty="0"/>
          </a:p>
          <a:p>
            <a:pPr marL="177800" indent="-177800">
              <a:spcAft>
                <a:spcPts val="800"/>
              </a:spcAft>
              <a:buSzPct val="100000"/>
              <a:buChar char="•"/>
            </a:pPr>
            <a:r>
              <a:rPr lang="en-US" sz="1250" dirty="0">
                <a:solidFill>
                  <a:srgbClr val="1B2340"/>
                </a:solidFill>
                <a:latin typeface="Calibri" pitchFamily="34" charset="0"/>
                <a:ea typeface="Calibri" pitchFamily="34" charset="-122"/>
                <a:cs typeface="Calibri" pitchFamily="34" charset="-120"/>
              </a:rPr>
              <a:t>The inner loop compares each adjacent pair and swaps them if out of order</a:t>
            </a:r>
            <a:endParaRPr lang="en-US" sz="1250" dirty="0"/>
          </a:p>
          <a:p>
            <a:pPr marL="177800" indent="-177800">
              <a:spcAft>
                <a:spcPts val="800"/>
              </a:spcAft>
              <a:buSzPct val="100000"/>
              <a:buChar char="•"/>
            </a:pPr>
            <a:r>
              <a:rPr lang="en-US" sz="1250" dirty="0">
                <a:solidFill>
                  <a:srgbClr val="1B2340"/>
                </a:solidFill>
                <a:latin typeface="Calibri" pitchFamily="34" charset="0"/>
                <a:ea typeface="Calibri" pitchFamily="34" charset="-122"/>
                <a:cs typeface="Calibri" pitchFamily="34" charset="-120"/>
              </a:rPr>
              <a:t>After pass i, the i largest elements are already in their correct final positions</a:t>
            </a:r>
            <a:endParaRPr lang="en-US" sz="1250" dirty="0"/>
          </a:p>
          <a:p>
            <a:pPr marL="177800" indent="-177800">
              <a:spcAft>
                <a:spcPts val="800"/>
              </a:spcAft>
              <a:buSzPct val="100000"/>
              <a:buChar char="•"/>
            </a:pPr>
            <a:r>
              <a:rPr lang="en-US" sz="1250" dirty="0">
                <a:solidFill>
                  <a:srgbClr val="1B2340"/>
                </a:solidFill>
                <a:latin typeface="Calibri" pitchFamily="34" charset="0"/>
                <a:ea typeface="Calibri" pitchFamily="34" charset="-122"/>
                <a:cs typeface="Calibri" pitchFamily="34" charset="-120"/>
              </a:rPr>
              <a:t>Bubble Sort has O(n^2) time complexity - simple to write, but not efficient for large datasets</a:t>
            </a:r>
            <a:endParaRPr lang="en-US" sz="1250" dirty="0"/>
          </a:p>
        </p:txBody>
      </p:sp>
      <p:sp>
        <p:nvSpPr>
          <p:cNvPr id="19" name="Shape 17"/>
          <p:cNvSpPr/>
          <p:nvPr/>
        </p:nvSpPr>
        <p:spPr>
          <a:xfrm>
            <a:off x="6263640" y="4261104"/>
            <a:ext cx="5440680" cy="1783080"/>
          </a:xfrm>
          <a:prstGeom prst="roundRect">
            <a:avLst>
              <a:gd name="adj" fmla="val 4103"/>
            </a:avLst>
          </a:prstGeom>
          <a:solidFill>
            <a:srgbClr val="FDF3E3"/>
          </a:solidFill>
          <a:ln/>
        </p:spPr>
      </p:sp>
      <p:sp>
        <p:nvSpPr>
          <p:cNvPr id="20" name="Text 18"/>
          <p:cNvSpPr/>
          <p:nvPr/>
        </p:nvSpPr>
        <p:spPr>
          <a:xfrm>
            <a:off x="6464808" y="4370832"/>
            <a:ext cx="5038344" cy="274320"/>
          </a:xfrm>
          <a:prstGeom prst="rect">
            <a:avLst/>
          </a:prstGeom>
          <a:noFill/>
          <a:ln/>
        </p:spPr>
        <p:txBody>
          <a:bodyPr wrap="square" rtlCol="0" anchor="ctr"/>
          <a:lstStyle/>
          <a:p>
            <a:pPr marL="0" indent="0">
              <a:buNone/>
            </a:pPr>
            <a:r>
              <a:rPr lang="en-US" sz="1100" b="1" kern="0" spc="50" dirty="0">
                <a:solidFill>
                  <a:srgbClr val="C9862A"/>
                </a:solidFill>
                <a:latin typeface="Calibri" pitchFamily="34" charset="0"/>
                <a:ea typeface="Calibri" pitchFamily="34" charset="-122"/>
                <a:cs typeface="Calibri" pitchFamily="34" charset="-120"/>
              </a:rPr>
              <a:t>💡 REAL-LIFE ANALOGY</a:t>
            </a:r>
            <a:endParaRPr lang="en-US" sz="1100" dirty="0"/>
          </a:p>
        </p:txBody>
      </p:sp>
      <p:sp>
        <p:nvSpPr>
          <p:cNvPr id="21" name="Text 19"/>
          <p:cNvSpPr/>
          <p:nvPr/>
        </p:nvSpPr>
        <p:spPr>
          <a:xfrm>
            <a:off x="6464808" y="4663440"/>
            <a:ext cx="5038344" cy="1252728"/>
          </a:xfrm>
          <a:prstGeom prst="rect">
            <a:avLst/>
          </a:prstGeom>
          <a:noFill/>
          <a:ln/>
        </p:spPr>
        <p:txBody>
          <a:bodyPr wrap="square" lIns="0" tIns="0" rIns="0" bIns="0" rtlCol="0" anchor="t"/>
          <a:lstStyle/>
          <a:p>
            <a:pPr marL="0" indent="0">
              <a:lnSpc>
                <a:spcPct val="110000"/>
              </a:lnSpc>
              <a:buNone/>
            </a:pPr>
            <a:r>
              <a:rPr lang="en-US" sz="1250" i="1" dirty="0">
                <a:solidFill>
                  <a:srgbClr val="1B2340"/>
                </a:solidFill>
                <a:latin typeface="Calibri" pitchFamily="34" charset="0"/>
                <a:ea typeface="Calibri" pitchFamily="34" charset="-122"/>
                <a:cs typeface="Calibri" pitchFamily="34" charset="-120"/>
              </a:rPr>
              <a:t>It's like bubbles rising in water - the largest 'bubble' (biggest number) rises to the top (end of the array) first with each pass, until everything settles in order.</a:t>
            </a:r>
            <a:endParaRPr lang="en-US" sz="1250" dirty="0"/>
          </a:p>
        </p:txBody>
      </p:sp>
      <p:sp>
        <p:nvSpPr>
          <p:cNvPr id="22" name="Text 20"/>
          <p:cNvSpPr/>
          <p:nvPr/>
        </p:nvSpPr>
        <p:spPr>
          <a:xfrm>
            <a:off x="457200" y="6583680"/>
            <a:ext cx="5486400" cy="228600"/>
          </a:xfrm>
          <a:prstGeom prst="rect">
            <a:avLst/>
          </a:prstGeom>
          <a:noFill/>
          <a:ln/>
        </p:spPr>
        <p:txBody>
          <a:bodyPr wrap="square" rtlCol="0" anchor="ctr"/>
          <a:lstStyle/>
          <a:p>
            <a:pPr marL="0" indent="0" algn="l">
              <a:buNone/>
            </a:pPr>
            <a:r>
              <a:rPr lang="en-US" sz="850" dirty="0">
                <a:solidFill>
                  <a:srgbClr val="5B6178"/>
                </a:solidFill>
                <a:latin typeface="Calibri" pitchFamily="34" charset="0"/>
                <a:ea typeface="Calibri" pitchFamily="34" charset="-122"/>
                <a:cs typeface="Calibri" pitchFamily="34" charset="-120"/>
              </a:rPr>
              <a:t>Java &amp; Full-Stack Interview Prep</a:t>
            </a:r>
            <a:endParaRPr lang="en-US" sz="85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Shape 0"/>
          <p:cNvSpPr/>
          <p:nvPr/>
        </p:nvSpPr>
        <p:spPr>
          <a:xfrm>
            <a:off x="502920" y="384048"/>
            <a:ext cx="4279392" cy="310896"/>
          </a:xfrm>
          <a:prstGeom prst="roundRect">
            <a:avLst>
              <a:gd name="adj" fmla="val 23529"/>
            </a:avLst>
          </a:prstGeom>
          <a:solidFill>
            <a:srgbClr val="E8A33D"/>
          </a:solidFill>
          <a:ln/>
        </p:spPr>
      </p:sp>
      <p:sp>
        <p:nvSpPr>
          <p:cNvPr id="3" name="Text 1"/>
          <p:cNvSpPr/>
          <p:nvPr/>
        </p:nvSpPr>
        <p:spPr>
          <a:xfrm>
            <a:off x="502920" y="384048"/>
            <a:ext cx="4279392" cy="310896"/>
          </a:xfrm>
          <a:prstGeom prst="rect">
            <a:avLst/>
          </a:prstGeom>
          <a:noFill/>
          <a:ln/>
        </p:spPr>
        <p:txBody>
          <a:bodyPr wrap="square" rtlCol="0" anchor="ctr"/>
          <a:lstStyle/>
          <a:p>
            <a:pPr marL="0" indent="0" algn="ctr">
              <a:buNone/>
            </a:pPr>
            <a:r>
              <a:rPr lang="en-US" sz="1100" b="1" kern="0" spc="100" dirty="0">
                <a:solidFill>
                  <a:srgbClr val="1B2340"/>
                </a:solidFill>
                <a:latin typeface="Calibri" pitchFamily="34" charset="0"/>
                <a:ea typeface="Calibri" pitchFamily="34" charset="-122"/>
                <a:cs typeface="Calibri" pitchFamily="34" charset="-120"/>
              </a:rPr>
              <a:t>DSA CODING PRACTICE</a:t>
            </a:r>
            <a:endParaRPr lang="en-US" sz="1100" dirty="0"/>
          </a:p>
        </p:txBody>
      </p:sp>
      <p:sp>
        <p:nvSpPr>
          <p:cNvPr id="4" name="Text 2"/>
          <p:cNvSpPr/>
          <p:nvPr/>
        </p:nvSpPr>
        <p:spPr>
          <a:xfrm>
            <a:off x="502920" y="786384"/>
            <a:ext cx="11155680" cy="868680"/>
          </a:xfrm>
          <a:prstGeom prst="rect">
            <a:avLst/>
          </a:prstGeom>
          <a:noFill/>
          <a:ln/>
        </p:spPr>
        <p:txBody>
          <a:bodyPr wrap="square" rtlCol="0" anchor="t"/>
          <a:lstStyle/>
          <a:p>
            <a:pPr marL="0" indent="0">
              <a:lnSpc>
                <a:spcPct val="102000"/>
              </a:lnSpc>
              <a:buNone/>
            </a:pPr>
            <a:r>
              <a:rPr lang="en-US" sz="2500" b="1" dirty="0">
                <a:solidFill>
                  <a:srgbClr val="1B2340"/>
                </a:solidFill>
                <a:latin typeface="Century Schoolbook" pitchFamily="34" charset="0"/>
                <a:ea typeface="Century Schoolbook" pitchFamily="34" charset="-122"/>
                <a:cs typeface="Century Schoolbook" pitchFamily="34" charset="-120"/>
              </a:rPr>
              <a:t>How do you check if a Number is Prime?</a:t>
            </a:r>
            <a:endParaRPr lang="en-US" sz="2500" dirty="0"/>
          </a:p>
        </p:txBody>
      </p:sp>
      <p:sp>
        <p:nvSpPr>
          <p:cNvPr id="5" name="Shape 3"/>
          <p:cNvSpPr/>
          <p:nvPr/>
        </p:nvSpPr>
        <p:spPr>
          <a:xfrm>
            <a:off x="502920" y="1874520"/>
            <a:ext cx="164592" cy="274320"/>
          </a:xfrm>
          <a:prstGeom prst="roundRect">
            <a:avLst>
              <a:gd name="adj" fmla="val 22222"/>
            </a:avLst>
          </a:prstGeom>
          <a:solidFill>
            <a:srgbClr val="E8A33D"/>
          </a:solidFill>
          <a:ln/>
        </p:spPr>
      </p:sp>
      <p:sp>
        <p:nvSpPr>
          <p:cNvPr id="6" name="Text 4"/>
          <p:cNvSpPr/>
          <p:nvPr/>
        </p:nvSpPr>
        <p:spPr>
          <a:xfrm>
            <a:off x="758952" y="1847088"/>
            <a:ext cx="7059168" cy="329184"/>
          </a:xfrm>
          <a:prstGeom prst="rect">
            <a:avLst/>
          </a:prstGeom>
          <a:noFill/>
          <a:ln/>
        </p:spPr>
        <p:txBody>
          <a:bodyPr wrap="square" rtlCol="0" anchor="ctr"/>
          <a:lstStyle/>
          <a:p>
            <a:pPr marL="0" indent="0">
              <a:buNone/>
            </a:pPr>
            <a:r>
              <a:rPr lang="en-US" sz="1300" b="1" kern="0" spc="50" dirty="0">
                <a:solidFill>
                  <a:srgbClr val="1B2340"/>
                </a:solidFill>
                <a:latin typeface="Calibri" pitchFamily="34" charset="0"/>
                <a:ea typeface="Calibri" pitchFamily="34" charset="-122"/>
                <a:cs typeface="Calibri" pitchFamily="34" charset="-120"/>
              </a:rPr>
              <a:t>DEFINITION / CONCEPT</a:t>
            </a:r>
            <a:endParaRPr lang="en-US" sz="1300" dirty="0"/>
          </a:p>
        </p:txBody>
      </p:sp>
      <p:sp>
        <p:nvSpPr>
          <p:cNvPr id="7" name="Shape 5"/>
          <p:cNvSpPr/>
          <p:nvPr/>
        </p:nvSpPr>
        <p:spPr>
          <a:xfrm>
            <a:off x="502920" y="2194560"/>
            <a:ext cx="11201400" cy="1188720"/>
          </a:xfrm>
          <a:prstGeom prst="roundRect">
            <a:avLst>
              <a:gd name="adj" fmla="val 6154"/>
            </a:avLst>
          </a:prstGeom>
          <a:solidFill>
            <a:srgbClr val="F7F7FA"/>
          </a:solidFill>
          <a:ln w="12700">
            <a:solidFill>
              <a:srgbClr val="E4E6EF"/>
            </a:solidFill>
            <a:prstDash val="solid"/>
          </a:ln>
        </p:spPr>
      </p:sp>
      <p:sp>
        <p:nvSpPr>
          <p:cNvPr id="8" name="Text 6"/>
          <p:cNvSpPr/>
          <p:nvPr/>
        </p:nvSpPr>
        <p:spPr>
          <a:xfrm>
            <a:off x="758952" y="2377440"/>
            <a:ext cx="10689336" cy="822960"/>
          </a:xfrm>
          <a:prstGeom prst="rect">
            <a:avLst/>
          </a:prstGeom>
          <a:noFill/>
          <a:ln/>
        </p:spPr>
        <p:txBody>
          <a:bodyPr wrap="square" lIns="0" tIns="0" rIns="0" bIns="0" rtlCol="0" anchor="t"/>
          <a:lstStyle/>
          <a:p>
            <a:pPr marL="0" indent="0">
              <a:lnSpc>
                <a:spcPct val="115000"/>
              </a:lnSpc>
              <a:buNone/>
            </a:pPr>
            <a:r>
              <a:rPr lang="en-US" sz="1450" dirty="0">
                <a:solidFill>
                  <a:srgbClr val="1B2340"/>
                </a:solidFill>
                <a:latin typeface="Calibri" pitchFamily="34" charset="0"/>
                <a:ea typeface="Calibri" pitchFamily="34" charset="-122"/>
                <a:cs typeface="Calibri" pitchFamily="34" charset="-120"/>
              </a:rPr>
              <a:t>A prime number is a number greater than 1 that has no divisors other than 1 and itself. To check primality, we test whether any smaller number divides it evenly.</a:t>
            </a:r>
            <a:endParaRPr lang="en-US" sz="1450" dirty="0"/>
          </a:p>
        </p:txBody>
      </p:sp>
      <p:sp>
        <p:nvSpPr>
          <p:cNvPr id="9" name="Shape 7"/>
          <p:cNvSpPr/>
          <p:nvPr/>
        </p:nvSpPr>
        <p:spPr>
          <a:xfrm>
            <a:off x="502920" y="3611880"/>
            <a:ext cx="164592" cy="274320"/>
          </a:xfrm>
          <a:prstGeom prst="roundRect">
            <a:avLst>
              <a:gd name="adj" fmla="val 22222"/>
            </a:avLst>
          </a:prstGeom>
          <a:solidFill>
            <a:srgbClr val="3FBFAE"/>
          </a:solidFill>
          <a:ln/>
        </p:spPr>
      </p:sp>
      <p:sp>
        <p:nvSpPr>
          <p:cNvPr id="10" name="Text 8"/>
          <p:cNvSpPr/>
          <p:nvPr/>
        </p:nvSpPr>
        <p:spPr>
          <a:xfrm>
            <a:off x="758952" y="3584448"/>
            <a:ext cx="7059168" cy="329184"/>
          </a:xfrm>
          <a:prstGeom prst="rect">
            <a:avLst/>
          </a:prstGeom>
          <a:noFill/>
          <a:ln/>
        </p:spPr>
        <p:txBody>
          <a:bodyPr wrap="square" rtlCol="0" anchor="ctr"/>
          <a:lstStyle/>
          <a:p>
            <a:pPr marL="0" indent="0">
              <a:buNone/>
            </a:pPr>
            <a:r>
              <a:rPr lang="en-US" sz="1300" b="1" kern="0" spc="50" dirty="0">
                <a:solidFill>
                  <a:srgbClr val="1B2340"/>
                </a:solidFill>
                <a:latin typeface="Calibri" pitchFamily="34" charset="0"/>
                <a:ea typeface="Calibri" pitchFamily="34" charset="-122"/>
                <a:cs typeface="Calibri" pitchFamily="34" charset="-120"/>
              </a:rPr>
              <a:t>APPROACH - HOW TO SOLVE IT</a:t>
            </a:r>
            <a:endParaRPr lang="en-US" sz="1300" dirty="0"/>
          </a:p>
        </p:txBody>
      </p:sp>
      <p:sp>
        <p:nvSpPr>
          <p:cNvPr id="11" name="Text 9"/>
          <p:cNvSpPr/>
          <p:nvPr/>
        </p:nvSpPr>
        <p:spPr>
          <a:xfrm>
            <a:off x="502920" y="3950208"/>
            <a:ext cx="10607040" cy="2468880"/>
          </a:xfrm>
          <a:prstGeom prst="rect">
            <a:avLst/>
          </a:prstGeom>
          <a:noFill/>
          <a:ln/>
        </p:spPr>
        <p:txBody>
          <a:bodyPr wrap="square" lIns="0" tIns="0" rIns="0" bIns="0" rtlCol="0" anchor="t"/>
          <a:lstStyle/>
          <a:p>
            <a:pPr marL="177800" indent="-177800">
              <a:spcAft>
                <a:spcPts val="1200"/>
              </a:spcAft>
              <a:buSzPct val="100000"/>
              <a:buChar char="•"/>
            </a:pPr>
            <a:r>
              <a:rPr lang="en-US" sz="1450" dirty="0">
                <a:solidFill>
                  <a:srgbClr val="1B2340"/>
                </a:solidFill>
                <a:latin typeface="Calibri" pitchFamily="34" charset="0"/>
                <a:ea typeface="Calibri" pitchFamily="34" charset="-122"/>
                <a:cs typeface="Calibri" pitchFamily="34" charset="-120"/>
              </a:rPr>
              <a:t>Numbers less than or equal to 1 are never prime</a:t>
            </a:r>
            <a:endParaRPr lang="en-US" sz="1450" dirty="0"/>
          </a:p>
          <a:p>
            <a:pPr marL="177800" indent="-177800">
              <a:spcAft>
                <a:spcPts val="1200"/>
              </a:spcAft>
              <a:buSzPct val="100000"/>
              <a:buChar char="•"/>
            </a:pPr>
            <a:r>
              <a:rPr lang="en-US" sz="1450" dirty="0">
                <a:solidFill>
                  <a:srgbClr val="1B2340"/>
                </a:solidFill>
                <a:latin typeface="Calibri" pitchFamily="34" charset="0"/>
                <a:ea typeface="Calibri" pitchFamily="34" charset="-122"/>
                <a:cs typeface="Calibri" pitchFamily="34" charset="-120"/>
              </a:rPr>
              <a:t>Check for divisors starting from 2 up to the square root of the number - no need to check further</a:t>
            </a:r>
            <a:endParaRPr lang="en-US" sz="1450" dirty="0"/>
          </a:p>
          <a:p>
            <a:pPr marL="177800" indent="-177800">
              <a:spcAft>
                <a:spcPts val="1200"/>
              </a:spcAft>
              <a:buSzPct val="100000"/>
              <a:buChar char="•"/>
            </a:pPr>
            <a:r>
              <a:rPr lang="en-US" sz="1450" dirty="0">
                <a:solidFill>
                  <a:srgbClr val="1B2340"/>
                </a:solidFill>
                <a:latin typeface="Calibri" pitchFamily="34" charset="0"/>
                <a:ea typeface="Calibri" pitchFamily="34" charset="-122"/>
                <a:cs typeface="Calibri" pitchFamily="34" charset="-120"/>
              </a:rPr>
              <a:t>If any number divides evenly (remainder 0), the number is not prime</a:t>
            </a:r>
            <a:endParaRPr lang="en-US" sz="1450" dirty="0"/>
          </a:p>
          <a:p>
            <a:pPr marL="177800" indent="-177800">
              <a:spcAft>
                <a:spcPts val="1200"/>
              </a:spcAft>
              <a:buSzPct val="100000"/>
              <a:buChar char="•"/>
            </a:pPr>
            <a:r>
              <a:rPr lang="en-US" sz="1450" dirty="0">
                <a:solidFill>
                  <a:srgbClr val="1B2340"/>
                </a:solidFill>
                <a:latin typeface="Calibri" pitchFamily="34" charset="0"/>
                <a:ea typeface="Calibri" pitchFamily="34" charset="-122"/>
                <a:cs typeface="Calibri" pitchFamily="34" charset="-120"/>
              </a:rPr>
              <a:t>Checking only up to the square root makes this approach efficient, O(sqrt(n))</a:t>
            </a:r>
            <a:endParaRPr lang="en-US" sz="1450" dirty="0"/>
          </a:p>
        </p:txBody>
      </p:sp>
      <p:sp>
        <p:nvSpPr>
          <p:cNvPr id="12" name="Shape 10"/>
          <p:cNvSpPr/>
          <p:nvPr/>
        </p:nvSpPr>
        <p:spPr>
          <a:xfrm>
            <a:off x="9052560" y="5394960"/>
            <a:ext cx="2651760" cy="822960"/>
          </a:xfrm>
          <a:prstGeom prst="roundRect">
            <a:avLst>
              <a:gd name="adj" fmla="val 11111"/>
            </a:avLst>
          </a:prstGeom>
          <a:solidFill>
            <a:srgbClr val="1B2340"/>
          </a:solidFill>
          <a:ln/>
        </p:spPr>
      </p:sp>
      <p:sp>
        <p:nvSpPr>
          <p:cNvPr id="13" name="Text 11"/>
          <p:cNvSpPr/>
          <p:nvPr/>
        </p:nvSpPr>
        <p:spPr>
          <a:xfrm>
            <a:off x="9052560" y="5394960"/>
            <a:ext cx="2651760" cy="822960"/>
          </a:xfrm>
          <a:prstGeom prst="rect">
            <a:avLst/>
          </a:prstGeom>
          <a:noFill/>
          <a:ln/>
        </p:spPr>
        <p:txBody>
          <a:bodyPr wrap="square" rtlCol="0" anchor="ctr"/>
          <a:lstStyle/>
          <a:p>
            <a:pPr marL="0" indent="0" algn="ctr">
              <a:buNone/>
            </a:pPr>
            <a:r>
              <a:rPr lang="en-US" sz="1250" b="1" dirty="0">
                <a:solidFill>
                  <a:srgbClr val="E8A33D"/>
                </a:solidFill>
                <a:latin typeface="Calibri" pitchFamily="34" charset="0"/>
                <a:ea typeface="Calibri" pitchFamily="34" charset="-122"/>
                <a:cs typeface="Calibri" pitchFamily="34" charset="-120"/>
              </a:rPr>
              <a:t>See code on</a:t>
            </a:r>
            <a:endParaRPr lang="en-US" sz="1250" dirty="0"/>
          </a:p>
          <a:p>
            <a:pPr marL="0" indent="0" algn="ctr">
              <a:buNone/>
            </a:pPr>
            <a:r>
              <a:rPr lang="en-US" sz="1250" b="1" dirty="0">
                <a:solidFill>
                  <a:srgbClr val="E8A33D"/>
                </a:solidFill>
                <a:latin typeface="Calibri" pitchFamily="34" charset="0"/>
                <a:ea typeface="Calibri" pitchFamily="34" charset="-122"/>
                <a:cs typeface="Calibri" pitchFamily="34" charset="-120"/>
              </a:rPr>
              <a:t>the next slide →</a:t>
            </a:r>
            <a:endParaRPr lang="en-US" sz="1250" dirty="0"/>
          </a:p>
        </p:txBody>
      </p:sp>
      <p:sp>
        <p:nvSpPr>
          <p:cNvPr id="14" name="Text 12"/>
          <p:cNvSpPr/>
          <p:nvPr/>
        </p:nvSpPr>
        <p:spPr>
          <a:xfrm>
            <a:off x="457200" y="6583680"/>
            <a:ext cx="5486400" cy="228600"/>
          </a:xfrm>
          <a:prstGeom prst="rect">
            <a:avLst/>
          </a:prstGeom>
          <a:noFill/>
          <a:ln/>
        </p:spPr>
        <p:txBody>
          <a:bodyPr wrap="square" rtlCol="0" anchor="ctr"/>
          <a:lstStyle/>
          <a:p>
            <a:pPr marL="0" indent="0" algn="l">
              <a:buNone/>
            </a:pPr>
            <a:r>
              <a:rPr lang="en-US" sz="850" dirty="0">
                <a:solidFill>
                  <a:srgbClr val="5B6178"/>
                </a:solidFill>
                <a:latin typeface="Calibri" pitchFamily="34" charset="0"/>
                <a:ea typeface="Calibri" pitchFamily="34" charset="-122"/>
                <a:cs typeface="Calibri" pitchFamily="34" charset="-120"/>
              </a:rPr>
              <a:t>Java &amp; Full-Stack Interview Prep</a:t>
            </a:r>
            <a:endParaRPr lang="en-US" sz="85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Shape 0"/>
          <p:cNvSpPr/>
          <p:nvPr/>
        </p:nvSpPr>
        <p:spPr>
          <a:xfrm>
            <a:off x="502920" y="384048"/>
            <a:ext cx="4279392" cy="310896"/>
          </a:xfrm>
          <a:prstGeom prst="roundRect">
            <a:avLst>
              <a:gd name="adj" fmla="val 23529"/>
            </a:avLst>
          </a:prstGeom>
          <a:solidFill>
            <a:srgbClr val="E8A33D"/>
          </a:solidFill>
          <a:ln/>
        </p:spPr>
      </p:sp>
      <p:sp>
        <p:nvSpPr>
          <p:cNvPr id="3" name="Text 1"/>
          <p:cNvSpPr/>
          <p:nvPr/>
        </p:nvSpPr>
        <p:spPr>
          <a:xfrm>
            <a:off x="502920" y="384048"/>
            <a:ext cx="4279392" cy="310896"/>
          </a:xfrm>
          <a:prstGeom prst="rect">
            <a:avLst/>
          </a:prstGeom>
          <a:noFill/>
          <a:ln/>
        </p:spPr>
        <p:txBody>
          <a:bodyPr wrap="square" rtlCol="0" anchor="ctr"/>
          <a:lstStyle/>
          <a:p>
            <a:pPr marL="0" indent="0" algn="ctr">
              <a:buNone/>
            </a:pPr>
            <a:r>
              <a:rPr lang="en-US" sz="1100" b="1" kern="0" spc="100" dirty="0">
                <a:solidFill>
                  <a:srgbClr val="1B2340"/>
                </a:solidFill>
                <a:latin typeface="Calibri" pitchFamily="34" charset="0"/>
                <a:ea typeface="Calibri" pitchFamily="34" charset="-122"/>
                <a:cs typeface="Calibri" pitchFamily="34" charset="-120"/>
              </a:rPr>
              <a:t>DSA CODING PRACTICE</a:t>
            </a:r>
            <a:endParaRPr lang="en-US" sz="1100" dirty="0"/>
          </a:p>
        </p:txBody>
      </p:sp>
      <p:sp>
        <p:nvSpPr>
          <p:cNvPr id="4" name="Text 2"/>
          <p:cNvSpPr/>
          <p:nvPr/>
        </p:nvSpPr>
        <p:spPr>
          <a:xfrm>
            <a:off x="502920" y="786384"/>
            <a:ext cx="11155680" cy="868680"/>
          </a:xfrm>
          <a:prstGeom prst="rect">
            <a:avLst/>
          </a:prstGeom>
          <a:noFill/>
          <a:ln/>
        </p:spPr>
        <p:txBody>
          <a:bodyPr wrap="square" rtlCol="0" anchor="t"/>
          <a:lstStyle/>
          <a:p>
            <a:pPr marL="0" indent="0">
              <a:lnSpc>
                <a:spcPct val="102000"/>
              </a:lnSpc>
              <a:buNone/>
            </a:pPr>
            <a:r>
              <a:rPr lang="en-US" sz="2500" b="1" dirty="0">
                <a:solidFill>
                  <a:srgbClr val="1B2340"/>
                </a:solidFill>
                <a:latin typeface="Century Schoolbook" pitchFamily="34" charset="0"/>
                <a:ea typeface="Century Schoolbook" pitchFamily="34" charset="-122"/>
                <a:cs typeface="Century Schoolbook" pitchFamily="34" charset="-120"/>
              </a:rPr>
              <a:t>Prime Number Check - Code &amp; Explanation</a:t>
            </a:r>
            <a:endParaRPr lang="en-US" sz="2500" dirty="0"/>
          </a:p>
        </p:txBody>
      </p:sp>
      <p:sp>
        <p:nvSpPr>
          <p:cNvPr id="5" name="Shape 3"/>
          <p:cNvSpPr/>
          <p:nvPr/>
        </p:nvSpPr>
        <p:spPr>
          <a:xfrm>
            <a:off x="502920" y="1810512"/>
            <a:ext cx="164592" cy="274320"/>
          </a:xfrm>
          <a:prstGeom prst="roundRect">
            <a:avLst>
              <a:gd name="adj" fmla="val 22222"/>
            </a:avLst>
          </a:prstGeom>
          <a:solidFill>
            <a:srgbClr val="E8A33D"/>
          </a:solidFill>
          <a:ln/>
        </p:spPr>
      </p:sp>
      <p:sp>
        <p:nvSpPr>
          <p:cNvPr id="6" name="Text 4"/>
          <p:cNvSpPr/>
          <p:nvPr/>
        </p:nvSpPr>
        <p:spPr>
          <a:xfrm>
            <a:off x="758952" y="1783080"/>
            <a:ext cx="5230368" cy="329184"/>
          </a:xfrm>
          <a:prstGeom prst="rect">
            <a:avLst/>
          </a:prstGeom>
          <a:noFill/>
          <a:ln/>
        </p:spPr>
        <p:txBody>
          <a:bodyPr wrap="square" rtlCol="0" anchor="ctr"/>
          <a:lstStyle/>
          <a:p>
            <a:pPr marL="0" indent="0">
              <a:buNone/>
            </a:pPr>
            <a:r>
              <a:rPr lang="en-US" sz="1300" b="1" kern="0" spc="50" dirty="0">
                <a:solidFill>
                  <a:srgbClr val="1B2340"/>
                </a:solidFill>
                <a:latin typeface="Calibri" pitchFamily="34" charset="0"/>
                <a:ea typeface="Calibri" pitchFamily="34" charset="-122"/>
                <a:cs typeface="Calibri" pitchFamily="34" charset="-120"/>
              </a:rPr>
              <a:t>EXAMPLE - CODE</a:t>
            </a:r>
            <a:endParaRPr lang="en-US" sz="1300" dirty="0"/>
          </a:p>
        </p:txBody>
      </p:sp>
      <p:sp>
        <p:nvSpPr>
          <p:cNvPr id="7" name="Shape 5"/>
          <p:cNvSpPr/>
          <p:nvPr/>
        </p:nvSpPr>
        <p:spPr>
          <a:xfrm>
            <a:off x="502920" y="2121408"/>
            <a:ext cx="5486400" cy="2156460"/>
          </a:xfrm>
          <a:prstGeom prst="roundRect">
            <a:avLst>
              <a:gd name="adj" fmla="val 3392"/>
            </a:avLst>
          </a:prstGeom>
          <a:solidFill>
            <a:srgbClr val="1E1E2E"/>
          </a:solidFill>
          <a:ln/>
        </p:spPr>
      </p:sp>
      <p:sp>
        <p:nvSpPr>
          <p:cNvPr id="8" name="Shape 6"/>
          <p:cNvSpPr/>
          <p:nvPr/>
        </p:nvSpPr>
        <p:spPr>
          <a:xfrm>
            <a:off x="640080" y="2249424"/>
            <a:ext cx="100584" cy="100584"/>
          </a:xfrm>
          <a:prstGeom prst="ellipse">
            <a:avLst/>
          </a:prstGeom>
          <a:solidFill>
            <a:srgbClr val="FF5F56"/>
          </a:solidFill>
          <a:ln/>
        </p:spPr>
      </p:sp>
      <p:sp>
        <p:nvSpPr>
          <p:cNvPr id="9" name="Shape 7"/>
          <p:cNvSpPr/>
          <p:nvPr/>
        </p:nvSpPr>
        <p:spPr>
          <a:xfrm>
            <a:off x="795528" y="2249424"/>
            <a:ext cx="100584" cy="100584"/>
          </a:xfrm>
          <a:prstGeom prst="ellipse">
            <a:avLst/>
          </a:prstGeom>
          <a:solidFill>
            <a:srgbClr val="FFBD2E"/>
          </a:solidFill>
          <a:ln/>
        </p:spPr>
      </p:sp>
      <p:sp>
        <p:nvSpPr>
          <p:cNvPr id="10" name="Shape 8"/>
          <p:cNvSpPr/>
          <p:nvPr/>
        </p:nvSpPr>
        <p:spPr>
          <a:xfrm>
            <a:off x="950976" y="2249424"/>
            <a:ext cx="100584" cy="100584"/>
          </a:xfrm>
          <a:prstGeom prst="ellipse">
            <a:avLst/>
          </a:prstGeom>
          <a:solidFill>
            <a:srgbClr val="27C93F"/>
          </a:solidFill>
          <a:ln/>
        </p:spPr>
      </p:sp>
      <p:sp>
        <p:nvSpPr>
          <p:cNvPr id="11" name="Text 9"/>
          <p:cNvSpPr/>
          <p:nvPr/>
        </p:nvSpPr>
        <p:spPr>
          <a:xfrm>
            <a:off x="1143000" y="2167128"/>
            <a:ext cx="4572000" cy="274320"/>
          </a:xfrm>
          <a:prstGeom prst="rect">
            <a:avLst/>
          </a:prstGeom>
          <a:noFill/>
          <a:ln/>
        </p:spPr>
        <p:txBody>
          <a:bodyPr wrap="square" rtlCol="0" anchor="ctr"/>
          <a:lstStyle/>
          <a:p>
            <a:pPr marL="0" indent="0" algn="r">
              <a:buNone/>
            </a:pPr>
            <a:r>
              <a:rPr lang="en-US" sz="1000" dirty="0">
                <a:solidFill>
                  <a:srgbClr val="8A90AC"/>
                </a:solidFill>
                <a:latin typeface="Courier New" pitchFamily="34" charset="0"/>
                <a:ea typeface="Courier New" pitchFamily="34" charset="-122"/>
                <a:cs typeface="Courier New" pitchFamily="34" charset="-120"/>
              </a:rPr>
              <a:t>Main.java</a:t>
            </a:r>
            <a:endParaRPr lang="en-US" sz="1000" dirty="0"/>
          </a:p>
        </p:txBody>
      </p:sp>
      <p:sp>
        <p:nvSpPr>
          <p:cNvPr id="12" name="Text 10"/>
          <p:cNvSpPr/>
          <p:nvPr/>
        </p:nvSpPr>
        <p:spPr>
          <a:xfrm>
            <a:off x="731520" y="2487168"/>
            <a:ext cx="5029200" cy="1699260"/>
          </a:xfrm>
          <a:prstGeom prst="rect">
            <a:avLst/>
          </a:prstGeom>
          <a:noFill/>
          <a:ln/>
        </p:spPr>
        <p:txBody>
          <a:bodyPr wrap="square" lIns="0" tIns="0" rIns="0" bIns="0" rtlCol="0" anchor="t"/>
          <a:lstStyle/>
          <a:p>
            <a:pPr marL="0" indent="0">
              <a:lnSpc>
                <a:spcPct val="120000"/>
              </a:lnSpc>
              <a:buNone/>
            </a:pPr>
            <a:r>
              <a:rPr lang="en-US" sz="1200" dirty="0">
                <a:solidFill>
                  <a:srgbClr val="D4D4E0"/>
                </a:solidFill>
                <a:latin typeface="Courier New" pitchFamily="34" charset="0"/>
                <a:ea typeface="Courier New" pitchFamily="34" charset="-122"/>
                <a:cs typeface="Courier New" pitchFamily="34" charset="-120"/>
              </a:rPr>
              <a:t>boolean isPrime(int n) {</a:t>
            </a:r>
            <a:endParaRPr lang="en-US" sz="1200" dirty="0"/>
          </a:p>
          <a:p>
            <a:pPr marL="0" indent="0">
              <a:lnSpc>
                <a:spcPct val="120000"/>
              </a:lnSpc>
              <a:buNone/>
            </a:pPr>
            <a:r>
              <a:rPr lang="en-US" sz="1200" dirty="0">
                <a:solidFill>
                  <a:srgbClr val="D4D4E0"/>
                </a:solidFill>
                <a:latin typeface="Courier New" pitchFamily="34" charset="0"/>
                <a:ea typeface="Courier New" pitchFamily="34" charset="-122"/>
                <a:cs typeface="Courier New" pitchFamily="34" charset="-120"/>
              </a:rPr>
              <a:t>    if (n &lt;= 1) return false;</a:t>
            </a:r>
            <a:endParaRPr lang="en-US" sz="1200" dirty="0"/>
          </a:p>
          <a:p>
            <a:pPr marL="0" indent="0">
              <a:lnSpc>
                <a:spcPct val="120000"/>
              </a:lnSpc>
              <a:buNone/>
            </a:pPr>
            <a:r>
              <a:rPr lang="en-US" sz="1200" dirty="0">
                <a:solidFill>
                  <a:srgbClr val="D4D4E0"/>
                </a:solidFill>
                <a:latin typeface="Courier New" pitchFamily="34" charset="0"/>
                <a:ea typeface="Courier New" pitchFamily="34" charset="-122"/>
                <a:cs typeface="Courier New" pitchFamily="34" charset="-120"/>
              </a:rPr>
              <a:t>    for (int i = 2; i * i &lt;= n; i++) {</a:t>
            </a:r>
            <a:endParaRPr lang="en-US" sz="1200" dirty="0"/>
          </a:p>
          <a:p>
            <a:pPr marL="0" indent="0">
              <a:lnSpc>
                <a:spcPct val="120000"/>
              </a:lnSpc>
              <a:buNone/>
            </a:pPr>
            <a:r>
              <a:rPr lang="en-US" sz="1200" dirty="0">
                <a:solidFill>
                  <a:srgbClr val="D4D4E0"/>
                </a:solidFill>
                <a:latin typeface="Courier New" pitchFamily="34" charset="0"/>
                <a:ea typeface="Courier New" pitchFamily="34" charset="-122"/>
                <a:cs typeface="Courier New" pitchFamily="34" charset="-120"/>
              </a:rPr>
              <a:t>        if (n % i == 0) return false;</a:t>
            </a:r>
            <a:endParaRPr lang="en-US" sz="1200" dirty="0"/>
          </a:p>
          <a:p>
            <a:pPr marL="0" indent="0">
              <a:lnSpc>
                <a:spcPct val="120000"/>
              </a:lnSpc>
              <a:buNone/>
            </a:pPr>
            <a:r>
              <a:rPr lang="en-US" sz="1200" dirty="0">
                <a:solidFill>
                  <a:srgbClr val="D4D4E0"/>
                </a:solidFill>
                <a:latin typeface="Courier New" pitchFamily="34" charset="0"/>
                <a:ea typeface="Courier New" pitchFamily="34" charset="-122"/>
                <a:cs typeface="Courier New" pitchFamily="34" charset="-120"/>
              </a:rPr>
              <a:t>    }</a:t>
            </a:r>
            <a:endParaRPr lang="en-US" sz="1200" dirty="0"/>
          </a:p>
          <a:p>
            <a:pPr marL="0" indent="0">
              <a:lnSpc>
                <a:spcPct val="120000"/>
              </a:lnSpc>
              <a:buNone/>
            </a:pPr>
            <a:r>
              <a:rPr lang="en-US" sz="1200" dirty="0">
                <a:solidFill>
                  <a:srgbClr val="D4D4E0"/>
                </a:solidFill>
                <a:latin typeface="Courier New" pitchFamily="34" charset="0"/>
                <a:ea typeface="Courier New" pitchFamily="34" charset="-122"/>
                <a:cs typeface="Courier New" pitchFamily="34" charset="-120"/>
              </a:rPr>
              <a:t>    return true;</a:t>
            </a:r>
            <a:endParaRPr lang="en-US" sz="1200" dirty="0"/>
          </a:p>
          <a:p>
            <a:pPr marL="0" indent="0">
              <a:lnSpc>
                <a:spcPct val="120000"/>
              </a:lnSpc>
              <a:buNone/>
            </a:pPr>
            <a:r>
              <a:rPr lang="en-US" sz="1200" dirty="0">
                <a:solidFill>
                  <a:srgbClr val="D4D4E0"/>
                </a:solidFill>
                <a:latin typeface="Courier New" pitchFamily="34" charset="0"/>
                <a:ea typeface="Courier New" pitchFamily="34" charset="-122"/>
                <a:cs typeface="Courier New" pitchFamily="34" charset="-120"/>
              </a:rPr>
              <a:t>}</a:t>
            </a:r>
            <a:endParaRPr lang="en-US" sz="1200" dirty="0"/>
          </a:p>
        </p:txBody>
      </p:sp>
      <p:sp>
        <p:nvSpPr>
          <p:cNvPr id="13" name="Shape 11"/>
          <p:cNvSpPr/>
          <p:nvPr/>
        </p:nvSpPr>
        <p:spPr>
          <a:xfrm>
            <a:off x="502920" y="4460748"/>
            <a:ext cx="5486400" cy="868680"/>
          </a:xfrm>
          <a:prstGeom prst="roundRect">
            <a:avLst>
              <a:gd name="adj" fmla="val 8421"/>
            </a:avLst>
          </a:prstGeom>
          <a:solidFill>
            <a:srgbClr val="1B2340"/>
          </a:solidFill>
          <a:ln/>
        </p:spPr>
      </p:sp>
      <p:sp>
        <p:nvSpPr>
          <p:cNvPr id="14" name="Text 12"/>
          <p:cNvSpPr/>
          <p:nvPr/>
        </p:nvSpPr>
        <p:spPr>
          <a:xfrm>
            <a:off x="731520" y="4552188"/>
            <a:ext cx="5029200" cy="256032"/>
          </a:xfrm>
          <a:prstGeom prst="rect">
            <a:avLst/>
          </a:prstGeom>
          <a:noFill/>
          <a:ln/>
        </p:spPr>
        <p:txBody>
          <a:bodyPr wrap="square" rtlCol="0" anchor="ctr"/>
          <a:lstStyle/>
          <a:p>
            <a:pPr marL="0" indent="0">
              <a:buNone/>
            </a:pPr>
            <a:r>
              <a:rPr lang="en-US" sz="1050" b="1" kern="0" spc="80" dirty="0">
                <a:solidFill>
                  <a:srgbClr val="E8A33D"/>
                </a:solidFill>
                <a:latin typeface="Calibri" pitchFamily="34" charset="0"/>
                <a:ea typeface="Calibri" pitchFamily="34" charset="-122"/>
                <a:cs typeface="Calibri" pitchFamily="34" charset="-120"/>
              </a:rPr>
              <a:t>ONE-LINE INTERVIEW ANSWER</a:t>
            </a:r>
            <a:endParaRPr lang="en-US" sz="1050" dirty="0"/>
          </a:p>
        </p:txBody>
      </p:sp>
      <p:sp>
        <p:nvSpPr>
          <p:cNvPr id="15" name="Text 13"/>
          <p:cNvSpPr/>
          <p:nvPr/>
        </p:nvSpPr>
        <p:spPr>
          <a:xfrm>
            <a:off x="731520" y="4808220"/>
            <a:ext cx="5029200" cy="411480"/>
          </a:xfrm>
          <a:prstGeom prst="rect">
            <a:avLst/>
          </a:prstGeom>
          <a:noFill/>
          <a:ln/>
        </p:spPr>
        <p:txBody>
          <a:bodyPr wrap="square" lIns="0" tIns="0" rIns="0" bIns="0" rtlCol="0" anchor="t"/>
          <a:lstStyle/>
          <a:p>
            <a:pPr marL="0" indent="0">
              <a:lnSpc>
                <a:spcPct val="105000"/>
              </a:lnSpc>
              <a:buNone/>
            </a:pPr>
            <a:r>
              <a:rPr lang="en-US" sz="1250" dirty="0">
                <a:solidFill>
                  <a:srgbClr val="FFFFFF"/>
                </a:solidFill>
                <a:latin typeface="Calibri" pitchFamily="34" charset="0"/>
                <a:ea typeface="Calibri" pitchFamily="34" charset="-122"/>
                <a:cs typeface="Calibri" pitchFamily="34" charset="-120"/>
              </a:rPr>
              <a:t>A number is prime if no integer from 2 up to its square root divides it evenly - checking only up to the square root keeps this efficient.</a:t>
            </a:r>
            <a:endParaRPr lang="en-US" sz="1250" dirty="0"/>
          </a:p>
        </p:txBody>
      </p:sp>
      <p:sp>
        <p:nvSpPr>
          <p:cNvPr id="16" name="Shape 14"/>
          <p:cNvSpPr/>
          <p:nvPr/>
        </p:nvSpPr>
        <p:spPr>
          <a:xfrm>
            <a:off x="6263640" y="1810512"/>
            <a:ext cx="164592" cy="274320"/>
          </a:xfrm>
          <a:prstGeom prst="roundRect">
            <a:avLst>
              <a:gd name="adj" fmla="val 22222"/>
            </a:avLst>
          </a:prstGeom>
          <a:solidFill>
            <a:srgbClr val="3FBFAE"/>
          </a:solidFill>
          <a:ln/>
        </p:spPr>
      </p:sp>
      <p:sp>
        <p:nvSpPr>
          <p:cNvPr id="17" name="Text 15"/>
          <p:cNvSpPr/>
          <p:nvPr/>
        </p:nvSpPr>
        <p:spPr>
          <a:xfrm>
            <a:off x="6519672" y="1783080"/>
            <a:ext cx="5184648" cy="329184"/>
          </a:xfrm>
          <a:prstGeom prst="rect">
            <a:avLst/>
          </a:prstGeom>
          <a:noFill/>
          <a:ln/>
        </p:spPr>
        <p:txBody>
          <a:bodyPr wrap="square" rtlCol="0" anchor="ctr"/>
          <a:lstStyle/>
          <a:p>
            <a:pPr marL="0" indent="0">
              <a:buNone/>
            </a:pPr>
            <a:r>
              <a:rPr lang="en-US" sz="1300" b="1" kern="0" spc="50" dirty="0">
                <a:solidFill>
                  <a:srgbClr val="1B2340"/>
                </a:solidFill>
                <a:latin typeface="Calibri" pitchFamily="34" charset="0"/>
                <a:ea typeface="Calibri" pitchFamily="34" charset="-122"/>
                <a:cs typeface="Calibri" pitchFamily="34" charset="-120"/>
              </a:rPr>
              <a:t>EXPLANATION</a:t>
            </a:r>
            <a:endParaRPr lang="en-US" sz="1300" dirty="0"/>
          </a:p>
        </p:txBody>
      </p:sp>
      <p:sp>
        <p:nvSpPr>
          <p:cNvPr id="18" name="Text 16"/>
          <p:cNvSpPr/>
          <p:nvPr/>
        </p:nvSpPr>
        <p:spPr>
          <a:xfrm>
            <a:off x="6263640" y="2139696"/>
            <a:ext cx="5440680" cy="2011680"/>
          </a:xfrm>
          <a:prstGeom prst="rect">
            <a:avLst/>
          </a:prstGeom>
          <a:noFill/>
          <a:ln/>
        </p:spPr>
        <p:txBody>
          <a:bodyPr wrap="square" lIns="0" tIns="0" rIns="0" bIns="0" rtlCol="0" anchor="t"/>
          <a:lstStyle/>
          <a:p>
            <a:pPr marL="177800" indent="-177800">
              <a:spcAft>
                <a:spcPts val="800"/>
              </a:spcAft>
              <a:buSzPct val="100000"/>
              <a:buChar char="•"/>
            </a:pPr>
            <a:r>
              <a:rPr lang="en-US" sz="1250" dirty="0">
                <a:solidFill>
                  <a:srgbClr val="1B2340"/>
                </a:solidFill>
                <a:latin typeface="Calibri" pitchFamily="34" charset="0"/>
                <a:ea typeface="Calibri" pitchFamily="34" charset="-122"/>
                <a:cs typeface="Calibri" pitchFamily="34" charset="-120"/>
              </a:rPr>
              <a:t>The loop only checks divisors up to Math.sqrt(n), since a larger factor would always pair with a smaller one already checked</a:t>
            </a:r>
            <a:endParaRPr lang="en-US" sz="1250" dirty="0"/>
          </a:p>
          <a:p>
            <a:pPr marL="177800" indent="-177800">
              <a:spcAft>
                <a:spcPts val="800"/>
              </a:spcAft>
              <a:buSzPct val="100000"/>
              <a:buChar char="•"/>
            </a:pPr>
            <a:r>
              <a:rPr lang="en-US" sz="1250" dirty="0">
                <a:solidFill>
                  <a:srgbClr val="1B2340"/>
                </a:solidFill>
                <a:latin typeface="Calibri" pitchFamily="34" charset="0"/>
                <a:ea typeface="Calibri" pitchFamily="34" charset="-122"/>
                <a:cs typeface="Calibri" pitchFamily="34" charset="-120"/>
              </a:rPr>
              <a:t>If n is divisible by any i in that range, it immediately returns false</a:t>
            </a:r>
            <a:endParaRPr lang="en-US" sz="1250" dirty="0"/>
          </a:p>
          <a:p>
            <a:pPr marL="177800" indent="-177800">
              <a:spcAft>
                <a:spcPts val="800"/>
              </a:spcAft>
              <a:buSzPct val="100000"/>
              <a:buChar char="•"/>
            </a:pPr>
            <a:r>
              <a:rPr lang="en-US" sz="1250" dirty="0">
                <a:solidFill>
                  <a:srgbClr val="1B2340"/>
                </a:solidFill>
                <a:latin typeface="Calibri" pitchFamily="34" charset="0"/>
                <a:ea typeface="Calibri" pitchFamily="34" charset="-122"/>
                <a:cs typeface="Calibri" pitchFamily="34" charset="-120"/>
              </a:rPr>
              <a:t>If the loop completes without finding a divisor, the number is prime</a:t>
            </a:r>
            <a:endParaRPr lang="en-US" sz="1250" dirty="0"/>
          </a:p>
          <a:p>
            <a:pPr marL="177800" indent="-177800">
              <a:spcAft>
                <a:spcPts val="800"/>
              </a:spcAft>
              <a:buSzPct val="100000"/>
              <a:buChar char="•"/>
            </a:pPr>
            <a:r>
              <a:rPr lang="en-US" sz="1250" dirty="0">
                <a:solidFill>
                  <a:srgbClr val="1B2340"/>
                </a:solidFill>
                <a:latin typeface="Calibri" pitchFamily="34" charset="0"/>
                <a:ea typeface="Calibri" pitchFamily="34" charset="-122"/>
                <a:cs typeface="Calibri" pitchFamily="34" charset="-120"/>
              </a:rPr>
              <a:t>This is far more efficient than checking all the way up to n</a:t>
            </a:r>
            <a:endParaRPr lang="en-US" sz="1250" dirty="0"/>
          </a:p>
        </p:txBody>
      </p:sp>
      <p:sp>
        <p:nvSpPr>
          <p:cNvPr id="19" name="Shape 17"/>
          <p:cNvSpPr/>
          <p:nvPr/>
        </p:nvSpPr>
        <p:spPr>
          <a:xfrm>
            <a:off x="6263640" y="4261104"/>
            <a:ext cx="5440680" cy="1783080"/>
          </a:xfrm>
          <a:prstGeom prst="roundRect">
            <a:avLst>
              <a:gd name="adj" fmla="val 4103"/>
            </a:avLst>
          </a:prstGeom>
          <a:solidFill>
            <a:srgbClr val="FDF3E3"/>
          </a:solidFill>
          <a:ln/>
        </p:spPr>
      </p:sp>
      <p:sp>
        <p:nvSpPr>
          <p:cNvPr id="20" name="Text 18"/>
          <p:cNvSpPr/>
          <p:nvPr/>
        </p:nvSpPr>
        <p:spPr>
          <a:xfrm>
            <a:off x="6464808" y="4370832"/>
            <a:ext cx="5038344" cy="274320"/>
          </a:xfrm>
          <a:prstGeom prst="rect">
            <a:avLst/>
          </a:prstGeom>
          <a:noFill/>
          <a:ln/>
        </p:spPr>
        <p:txBody>
          <a:bodyPr wrap="square" rtlCol="0" anchor="ctr"/>
          <a:lstStyle/>
          <a:p>
            <a:pPr marL="0" indent="0">
              <a:buNone/>
            </a:pPr>
            <a:r>
              <a:rPr lang="en-US" sz="1100" b="1" kern="0" spc="50" dirty="0">
                <a:solidFill>
                  <a:srgbClr val="C9862A"/>
                </a:solidFill>
                <a:latin typeface="Calibri" pitchFamily="34" charset="0"/>
                <a:ea typeface="Calibri" pitchFamily="34" charset="-122"/>
                <a:cs typeface="Calibri" pitchFamily="34" charset="-120"/>
              </a:rPr>
              <a:t>💡 REAL-LIFE ANALOGY</a:t>
            </a:r>
            <a:endParaRPr lang="en-US" sz="1100" dirty="0"/>
          </a:p>
        </p:txBody>
      </p:sp>
      <p:sp>
        <p:nvSpPr>
          <p:cNvPr id="21" name="Text 19"/>
          <p:cNvSpPr/>
          <p:nvPr/>
        </p:nvSpPr>
        <p:spPr>
          <a:xfrm>
            <a:off x="6464808" y="4663440"/>
            <a:ext cx="5038344" cy="1252728"/>
          </a:xfrm>
          <a:prstGeom prst="rect">
            <a:avLst/>
          </a:prstGeom>
          <a:noFill/>
          <a:ln/>
        </p:spPr>
        <p:txBody>
          <a:bodyPr wrap="square" lIns="0" tIns="0" rIns="0" bIns="0" rtlCol="0" anchor="t"/>
          <a:lstStyle/>
          <a:p>
            <a:pPr marL="0" indent="0">
              <a:lnSpc>
                <a:spcPct val="110000"/>
              </a:lnSpc>
              <a:buNone/>
            </a:pPr>
            <a:r>
              <a:rPr lang="en-US" sz="1250" i="1" dirty="0">
                <a:solidFill>
                  <a:srgbClr val="1B2340"/>
                </a:solidFill>
                <a:latin typeface="Calibri" pitchFamily="34" charset="0"/>
                <a:ea typeface="Calibri" pitchFamily="34" charset="-122"/>
                <a:cs typeface="Calibri" pitchFamily="34" charset="-120"/>
              </a:rPr>
              <a:t>Checking up to the square root is like checking if two people can evenly split a group photo into rows and columns - you never need to try a row size bigger than the square root of the total people.</a:t>
            </a:r>
            <a:endParaRPr lang="en-US" sz="1250" dirty="0"/>
          </a:p>
        </p:txBody>
      </p:sp>
      <p:sp>
        <p:nvSpPr>
          <p:cNvPr id="22" name="Text 20"/>
          <p:cNvSpPr/>
          <p:nvPr/>
        </p:nvSpPr>
        <p:spPr>
          <a:xfrm>
            <a:off x="457200" y="6583680"/>
            <a:ext cx="5486400" cy="228600"/>
          </a:xfrm>
          <a:prstGeom prst="rect">
            <a:avLst/>
          </a:prstGeom>
          <a:noFill/>
          <a:ln/>
        </p:spPr>
        <p:txBody>
          <a:bodyPr wrap="square" rtlCol="0" anchor="ctr"/>
          <a:lstStyle/>
          <a:p>
            <a:pPr marL="0" indent="0" algn="l">
              <a:buNone/>
            </a:pPr>
            <a:r>
              <a:rPr lang="en-US" sz="850" dirty="0">
                <a:solidFill>
                  <a:srgbClr val="5B6178"/>
                </a:solidFill>
                <a:latin typeface="Calibri" pitchFamily="34" charset="0"/>
                <a:ea typeface="Calibri" pitchFamily="34" charset="-122"/>
                <a:cs typeface="Calibri" pitchFamily="34" charset="-120"/>
              </a:rPr>
              <a:t>Java &amp; Full-Stack Interview Prep</a:t>
            </a:r>
            <a:endParaRPr lang="en-US" sz="85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Shape 0"/>
          <p:cNvSpPr/>
          <p:nvPr/>
        </p:nvSpPr>
        <p:spPr>
          <a:xfrm>
            <a:off x="502920" y="384048"/>
            <a:ext cx="4279392" cy="310896"/>
          </a:xfrm>
          <a:prstGeom prst="roundRect">
            <a:avLst>
              <a:gd name="adj" fmla="val 23529"/>
            </a:avLst>
          </a:prstGeom>
          <a:solidFill>
            <a:srgbClr val="E8A33D"/>
          </a:solidFill>
          <a:ln/>
        </p:spPr>
      </p:sp>
      <p:sp>
        <p:nvSpPr>
          <p:cNvPr id="3" name="Text 1"/>
          <p:cNvSpPr/>
          <p:nvPr/>
        </p:nvSpPr>
        <p:spPr>
          <a:xfrm>
            <a:off x="502920" y="384048"/>
            <a:ext cx="4279392" cy="310896"/>
          </a:xfrm>
          <a:prstGeom prst="rect">
            <a:avLst/>
          </a:prstGeom>
          <a:noFill/>
          <a:ln/>
        </p:spPr>
        <p:txBody>
          <a:bodyPr wrap="square" rtlCol="0" anchor="ctr"/>
          <a:lstStyle/>
          <a:p>
            <a:pPr marL="0" indent="0" algn="ctr">
              <a:buNone/>
            </a:pPr>
            <a:r>
              <a:rPr lang="en-US" sz="1100" b="1" kern="0" spc="100" dirty="0">
                <a:solidFill>
                  <a:srgbClr val="1B2340"/>
                </a:solidFill>
                <a:latin typeface="Calibri" pitchFamily="34" charset="0"/>
                <a:ea typeface="Calibri" pitchFamily="34" charset="-122"/>
                <a:cs typeface="Calibri" pitchFamily="34" charset="-120"/>
              </a:rPr>
              <a:t>DSA CODING PRACTICE</a:t>
            </a:r>
            <a:endParaRPr lang="en-US" sz="1100" dirty="0"/>
          </a:p>
        </p:txBody>
      </p:sp>
      <p:sp>
        <p:nvSpPr>
          <p:cNvPr id="4" name="Text 2"/>
          <p:cNvSpPr/>
          <p:nvPr/>
        </p:nvSpPr>
        <p:spPr>
          <a:xfrm>
            <a:off x="502920" y="786384"/>
            <a:ext cx="11155680" cy="868680"/>
          </a:xfrm>
          <a:prstGeom prst="rect">
            <a:avLst/>
          </a:prstGeom>
          <a:noFill/>
          <a:ln/>
        </p:spPr>
        <p:txBody>
          <a:bodyPr wrap="square" rtlCol="0" anchor="t"/>
          <a:lstStyle/>
          <a:p>
            <a:pPr marL="0" indent="0">
              <a:lnSpc>
                <a:spcPct val="102000"/>
              </a:lnSpc>
              <a:buNone/>
            </a:pPr>
            <a:r>
              <a:rPr lang="en-US" sz="2500" b="1" dirty="0">
                <a:solidFill>
                  <a:srgbClr val="1B2340"/>
                </a:solidFill>
                <a:latin typeface="Century Schoolbook" pitchFamily="34" charset="0"/>
                <a:ea typeface="Century Schoolbook" pitchFamily="34" charset="-122"/>
                <a:cs typeface="Century Schoolbook" pitchFamily="34" charset="-120"/>
              </a:rPr>
              <a:t>How do you generate the Fibonacci series?</a:t>
            </a:r>
            <a:endParaRPr lang="en-US" sz="2500" dirty="0"/>
          </a:p>
        </p:txBody>
      </p:sp>
      <p:sp>
        <p:nvSpPr>
          <p:cNvPr id="5" name="Shape 3"/>
          <p:cNvSpPr/>
          <p:nvPr/>
        </p:nvSpPr>
        <p:spPr>
          <a:xfrm>
            <a:off x="502920" y="1874520"/>
            <a:ext cx="164592" cy="274320"/>
          </a:xfrm>
          <a:prstGeom prst="roundRect">
            <a:avLst>
              <a:gd name="adj" fmla="val 22222"/>
            </a:avLst>
          </a:prstGeom>
          <a:solidFill>
            <a:srgbClr val="E8A33D"/>
          </a:solidFill>
          <a:ln/>
        </p:spPr>
      </p:sp>
      <p:sp>
        <p:nvSpPr>
          <p:cNvPr id="6" name="Text 4"/>
          <p:cNvSpPr/>
          <p:nvPr/>
        </p:nvSpPr>
        <p:spPr>
          <a:xfrm>
            <a:off x="758952" y="1847088"/>
            <a:ext cx="7059168" cy="329184"/>
          </a:xfrm>
          <a:prstGeom prst="rect">
            <a:avLst/>
          </a:prstGeom>
          <a:noFill/>
          <a:ln/>
        </p:spPr>
        <p:txBody>
          <a:bodyPr wrap="square" rtlCol="0" anchor="ctr"/>
          <a:lstStyle/>
          <a:p>
            <a:pPr marL="0" indent="0">
              <a:buNone/>
            </a:pPr>
            <a:r>
              <a:rPr lang="en-US" sz="1300" b="1" kern="0" spc="50" dirty="0">
                <a:solidFill>
                  <a:srgbClr val="1B2340"/>
                </a:solidFill>
                <a:latin typeface="Calibri" pitchFamily="34" charset="0"/>
                <a:ea typeface="Calibri" pitchFamily="34" charset="-122"/>
                <a:cs typeface="Calibri" pitchFamily="34" charset="-120"/>
              </a:rPr>
              <a:t>DEFINITION / CONCEPT</a:t>
            </a:r>
            <a:endParaRPr lang="en-US" sz="1300" dirty="0"/>
          </a:p>
        </p:txBody>
      </p:sp>
      <p:sp>
        <p:nvSpPr>
          <p:cNvPr id="7" name="Shape 5"/>
          <p:cNvSpPr/>
          <p:nvPr/>
        </p:nvSpPr>
        <p:spPr>
          <a:xfrm>
            <a:off x="502920" y="2194560"/>
            <a:ext cx="11201400" cy="1188720"/>
          </a:xfrm>
          <a:prstGeom prst="roundRect">
            <a:avLst>
              <a:gd name="adj" fmla="val 6154"/>
            </a:avLst>
          </a:prstGeom>
          <a:solidFill>
            <a:srgbClr val="F7F7FA"/>
          </a:solidFill>
          <a:ln w="12700">
            <a:solidFill>
              <a:srgbClr val="E4E6EF"/>
            </a:solidFill>
            <a:prstDash val="solid"/>
          </a:ln>
        </p:spPr>
      </p:sp>
      <p:sp>
        <p:nvSpPr>
          <p:cNvPr id="8" name="Text 6"/>
          <p:cNvSpPr/>
          <p:nvPr/>
        </p:nvSpPr>
        <p:spPr>
          <a:xfrm>
            <a:off x="758952" y="2377440"/>
            <a:ext cx="10689336" cy="822960"/>
          </a:xfrm>
          <a:prstGeom prst="rect">
            <a:avLst/>
          </a:prstGeom>
          <a:noFill/>
          <a:ln/>
        </p:spPr>
        <p:txBody>
          <a:bodyPr wrap="square" lIns="0" tIns="0" rIns="0" bIns="0" rtlCol="0" anchor="t"/>
          <a:lstStyle/>
          <a:p>
            <a:pPr marL="0" indent="0">
              <a:lnSpc>
                <a:spcPct val="115000"/>
              </a:lnSpc>
              <a:buNone/>
            </a:pPr>
            <a:r>
              <a:rPr lang="en-US" sz="1450" dirty="0">
                <a:solidFill>
                  <a:srgbClr val="1B2340"/>
                </a:solidFill>
                <a:latin typeface="Calibri" pitchFamily="34" charset="0"/>
                <a:ea typeface="Calibri" pitchFamily="34" charset="-122"/>
                <a:cs typeface="Calibri" pitchFamily="34" charset="-120"/>
              </a:rPr>
              <a:t>The Fibonacci series is a sequence where each number is the sum of the two numbers before it, starting with 0 and 1 (0, 1, 1, 2, 3, 5, 8...).</a:t>
            </a:r>
            <a:endParaRPr lang="en-US" sz="1450" dirty="0"/>
          </a:p>
        </p:txBody>
      </p:sp>
      <p:sp>
        <p:nvSpPr>
          <p:cNvPr id="9" name="Shape 7"/>
          <p:cNvSpPr/>
          <p:nvPr/>
        </p:nvSpPr>
        <p:spPr>
          <a:xfrm>
            <a:off x="502920" y="3611880"/>
            <a:ext cx="164592" cy="274320"/>
          </a:xfrm>
          <a:prstGeom prst="roundRect">
            <a:avLst>
              <a:gd name="adj" fmla="val 22222"/>
            </a:avLst>
          </a:prstGeom>
          <a:solidFill>
            <a:srgbClr val="3FBFAE"/>
          </a:solidFill>
          <a:ln/>
        </p:spPr>
      </p:sp>
      <p:sp>
        <p:nvSpPr>
          <p:cNvPr id="10" name="Text 8"/>
          <p:cNvSpPr/>
          <p:nvPr/>
        </p:nvSpPr>
        <p:spPr>
          <a:xfrm>
            <a:off x="758952" y="3584448"/>
            <a:ext cx="7059168" cy="329184"/>
          </a:xfrm>
          <a:prstGeom prst="rect">
            <a:avLst/>
          </a:prstGeom>
          <a:noFill/>
          <a:ln/>
        </p:spPr>
        <p:txBody>
          <a:bodyPr wrap="square" rtlCol="0" anchor="ctr"/>
          <a:lstStyle/>
          <a:p>
            <a:pPr marL="0" indent="0">
              <a:buNone/>
            </a:pPr>
            <a:r>
              <a:rPr lang="en-US" sz="1300" b="1" kern="0" spc="50" dirty="0">
                <a:solidFill>
                  <a:srgbClr val="1B2340"/>
                </a:solidFill>
                <a:latin typeface="Calibri" pitchFamily="34" charset="0"/>
                <a:ea typeface="Calibri" pitchFamily="34" charset="-122"/>
                <a:cs typeface="Calibri" pitchFamily="34" charset="-120"/>
              </a:rPr>
              <a:t>APPROACH - HOW TO SOLVE IT</a:t>
            </a:r>
            <a:endParaRPr lang="en-US" sz="1300" dirty="0"/>
          </a:p>
        </p:txBody>
      </p:sp>
      <p:sp>
        <p:nvSpPr>
          <p:cNvPr id="11" name="Text 9"/>
          <p:cNvSpPr/>
          <p:nvPr/>
        </p:nvSpPr>
        <p:spPr>
          <a:xfrm>
            <a:off x="502920" y="3950208"/>
            <a:ext cx="10607040" cy="2468880"/>
          </a:xfrm>
          <a:prstGeom prst="rect">
            <a:avLst/>
          </a:prstGeom>
          <a:noFill/>
          <a:ln/>
        </p:spPr>
        <p:txBody>
          <a:bodyPr wrap="square" lIns="0" tIns="0" rIns="0" bIns="0" rtlCol="0" anchor="t"/>
          <a:lstStyle/>
          <a:p>
            <a:pPr marL="177800" indent="-177800">
              <a:spcAft>
                <a:spcPts val="1200"/>
              </a:spcAft>
              <a:buSzPct val="100000"/>
              <a:buChar char="•"/>
            </a:pPr>
            <a:r>
              <a:rPr lang="en-US" sz="1450" dirty="0">
                <a:solidFill>
                  <a:srgbClr val="1B2340"/>
                </a:solidFill>
                <a:latin typeface="Calibri" pitchFamily="34" charset="0"/>
                <a:ea typeface="Calibri" pitchFamily="34" charset="-122"/>
                <a:cs typeface="Calibri" pitchFamily="34" charset="-120"/>
              </a:rPr>
              <a:t>Start with the first two numbers, 0 and 1</a:t>
            </a:r>
            <a:endParaRPr lang="en-US" sz="1450" dirty="0"/>
          </a:p>
          <a:p>
            <a:pPr marL="177800" indent="-177800">
              <a:spcAft>
                <a:spcPts val="1200"/>
              </a:spcAft>
              <a:buSzPct val="100000"/>
              <a:buChar char="•"/>
            </a:pPr>
            <a:r>
              <a:rPr lang="en-US" sz="1450" dirty="0">
                <a:solidFill>
                  <a:srgbClr val="1B2340"/>
                </a:solidFill>
                <a:latin typeface="Calibri" pitchFamily="34" charset="0"/>
                <a:ea typeface="Calibri" pitchFamily="34" charset="-122"/>
                <a:cs typeface="Calibri" pitchFamily="34" charset="-120"/>
              </a:rPr>
              <a:t>Each next number is the sum of the previous two numbers</a:t>
            </a:r>
            <a:endParaRPr lang="en-US" sz="1450" dirty="0"/>
          </a:p>
          <a:p>
            <a:pPr marL="177800" indent="-177800">
              <a:spcAft>
                <a:spcPts val="1200"/>
              </a:spcAft>
              <a:buSzPct val="100000"/>
              <a:buChar char="•"/>
            </a:pPr>
            <a:r>
              <a:rPr lang="en-US" sz="1450" dirty="0">
                <a:solidFill>
                  <a:srgbClr val="1B2340"/>
                </a:solidFill>
                <a:latin typeface="Calibri" pitchFamily="34" charset="0"/>
                <a:ea typeface="Calibri" pitchFamily="34" charset="-122"/>
                <a:cs typeface="Calibri" pitchFamily="34" charset="-120"/>
              </a:rPr>
              <a:t>This can be done iteratively (loop, fast) or recursively (elegant, but slower without optimization)</a:t>
            </a:r>
            <a:endParaRPr lang="en-US" sz="1450" dirty="0"/>
          </a:p>
          <a:p>
            <a:pPr marL="177800" indent="-177800">
              <a:spcAft>
                <a:spcPts val="1200"/>
              </a:spcAft>
              <a:buSzPct val="100000"/>
              <a:buChar char="•"/>
            </a:pPr>
            <a:r>
              <a:rPr lang="en-US" sz="1450" dirty="0">
                <a:solidFill>
                  <a:srgbClr val="1B2340"/>
                </a:solidFill>
                <a:latin typeface="Calibri" pitchFamily="34" charset="0"/>
                <a:ea typeface="Calibri" pitchFamily="34" charset="-122"/>
                <a:cs typeface="Calibri" pitchFamily="34" charset="-120"/>
              </a:rPr>
              <a:t>Interviewers often ask for both approaches, and to discuss time complexity</a:t>
            </a:r>
            <a:endParaRPr lang="en-US" sz="1450" dirty="0"/>
          </a:p>
        </p:txBody>
      </p:sp>
      <p:sp>
        <p:nvSpPr>
          <p:cNvPr id="12" name="Shape 10"/>
          <p:cNvSpPr/>
          <p:nvPr/>
        </p:nvSpPr>
        <p:spPr>
          <a:xfrm>
            <a:off x="9052560" y="5394960"/>
            <a:ext cx="2651760" cy="822960"/>
          </a:xfrm>
          <a:prstGeom prst="roundRect">
            <a:avLst>
              <a:gd name="adj" fmla="val 11111"/>
            </a:avLst>
          </a:prstGeom>
          <a:solidFill>
            <a:srgbClr val="1B2340"/>
          </a:solidFill>
          <a:ln/>
        </p:spPr>
      </p:sp>
      <p:sp>
        <p:nvSpPr>
          <p:cNvPr id="13" name="Text 11"/>
          <p:cNvSpPr/>
          <p:nvPr/>
        </p:nvSpPr>
        <p:spPr>
          <a:xfrm>
            <a:off x="9052560" y="5394960"/>
            <a:ext cx="2651760" cy="822960"/>
          </a:xfrm>
          <a:prstGeom prst="rect">
            <a:avLst/>
          </a:prstGeom>
          <a:noFill/>
          <a:ln/>
        </p:spPr>
        <p:txBody>
          <a:bodyPr wrap="square" rtlCol="0" anchor="ctr"/>
          <a:lstStyle/>
          <a:p>
            <a:pPr marL="0" indent="0" algn="ctr">
              <a:buNone/>
            </a:pPr>
            <a:r>
              <a:rPr lang="en-US" sz="1250" b="1" dirty="0">
                <a:solidFill>
                  <a:srgbClr val="E8A33D"/>
                </a:solidFill>
                <a:latin typeface="Calibri" pitchFamily="34" charset="0"/>
                <a:ea typeface="Calibri" pitchFamily="34" charset="-122"/>
                <a:cs typeface="Calibri" pitchFamily="34" charset="-120"/>
              </a:rPr>
              <a:t>See code on</a:t>
            </a:r>
            <a:endParaRPr lang="en-US" sz="1250" dirty="0"/>
          </a:p>
          <a:p>
            <a:pPr marL="0" indent="0" algn="ctr">
              <a:buNone/>
            </a:pPr>
            <a:r>
              <a:rPr lang="en-US" sz="1250" b="1" dirty="0">
                <a:solidFill>
                  <a:srgbClr val="E8A33D"/>
                </a:solidFill>
                <a:latin typeface="Calibri" pitchFamily="34" charset="0"/>
                <a:ea typeface="Calibri" pitchFamily="34" charset="-122"/>
                <a:cs typeface="Calibri" pitchFamily="34" charset="-120"/>
              </a:rPr>
              <a:t>the next slide →</a:t>
            </a:r>
            <a:endParaRPr lang="en-US" sz="1250" dirty="0"/>
          </a:p>
        </p:txBody>
      </p:sp>
      <p:sp>
        <p:nvSpPr>
          <p:cNvPr id="14" name="Text 12"/>
          <p:cNvSpPr/>
          <p:nvPr/>
        </p:nvSpPr>
        <p:spPr>
          <a:xfrm>
            <a:off x="457200" y="6583680"/>
            <a:ext cx="5486400" cy="228600"/>
          </a:xfrm>
          <a:prstGeom prst="rect">
            <a:avLst/>
          </a:prstGeom>
          <a:noFill/>
          <a:ln/>
        </p:spPr>
        <p:txBody>
          <a:bodyPr wrap="square" rtlCol="0" anchor="ctr"/>
          <a:lstStyle/>
          <a:p>
            <a:pPr marL="0" indent="0" algn="l">
              <a:buNone/>
            </a:pPr>
            <a:r>
              <a:rPr lang="en-US" sz="850" dirty="0">
                <a:solidFill>
                  <a:srgbClr val="5B6178"/>
                </a:solidFill>
                <a:latin typeface="Calibri" pitchFamily="34" charset="0"/>
                <a:ea typeface="Calibri" pitchFamily="34" charset="-122"/>
                <a:cs typeface="Calibri" pitchFamily="34" charset="-120"/>
              </a:rPr>
              <a:t>Java &amp; Full-Stack Interview Prep</a:t>
            </a:r>
            <a:endParaRPr lang="en-US" sz="85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spTree>
      <p:nvGrpSpPr>
        <p:cNvPr id="1" name=""/>
        <p:cNvGrpSpPr/>
        <p:nvPr/>
      </p:nvGrpSpPr>
      <p:grpSpPr>
        <a:xfrm>
          <a:off x="0" y="0"/>
          <a:ext cx="0" cy="0"/>
          <a:chOff x="0" y="0"/>
          <a:chExt cx="0" cy="0"/>
        </a:xfrm>
      </p:grpSpPr>
      <p:sp>
        <p:nvSpPr>
          <p:cNvPr id="2" name="Shape 0"/>
          <p:cNvSpPr/>
          <p:nvPr/>
        </p:nvSpPr>
        <p:spPr>
          <a:xfrm>
            <a:off x="502920" y="384048"/>
            <a:ext cx="4279392" cy="310896"/>
          </a:xfrm>
          <a:prstGeom prst="roundRect">
            <a:avLst>
              <a:gd name="adj" fmla="val 23529"/>
            </a:avLst>
          </a:prstGeom>
          <a:solidFill>
            <a:srgbClr val="E8A33D"/>
          </a:solidFill>
          <a:ln/>
        </p:spPr>
      </p:sp>
      <p:sp>
        <p:nvSpPr>
          <p:cNvPr id="3" name="Text 1"/>
          <p:cNvSpPr/>
          <p:nvPr/>
        </p:nvSpPr>
        <p:spPr>
          <a:xfrm>
            <a:off x="502920" y="384048"/>
            <a:ext cx="4279392" cy="310896"/>
          </a:xfrm>
          <a:prstGeom prst="rect">
            <a:avLst/>
          </a:prstGeom>
          <a:noFill/>
          <a:ln/>
        </p:spPr>
        <p:txBody>
          <a:bodyPr wrap="square" rtlCol="0" anchor="ctr"/>
          <a:lstStyle/>
          <a:p>
            <a:pPr marL="0" indent="0" algn="ctr">
              <a:buNone/>
            </a:pPr>
            <a:r>
              <a:rPr lang="en-US" sz="1100" b="1" kern="0" spc="100" dirty="0">
                <a:solidFill>
                  <a:srgbClr val="1B2340"/>
                </a:solidFill>
                <a:latin typeface="Calibri" pitchFamily="34" charset="0"/>
                <a:ea typeface="Calibri" pitchFamily="34" charset="-122"/>
                <a:cs typeface="Calibri" pitchFamily="34" charset="-120"/>
              </a:rPr>
              <a:t>DSA CODING PRACTICE</a:t>
            </a:r>
            <a:endParaRPr lang="en-US" sz="1100" dirty="0"/>
          </a:p>
        </p:txBody>
      </p:sp>
      <p:sp>
        <p:nvSpPr>
          <p:cNvPr id="4" name="Text 2"/>
          <p:cNvSpPr/>
          <p:nvPr/>
        </p:nvSpPr>
        <p:spPr>
          <a:xfrm>
            <a:off x="502920" y="786384"/>
            <a:ext cx="11155680" cy="868680"/>
          </a:xfrm>
          <a:prstGeom prst="rect">
            <a:avLst/>
          </a:prstGeom>
          <a:noFill/>
          <a:ln/>
        </p:spPr>
        <p:txBody>
          <a:bodyPr wrap="square" rtlCol="0" anchor="t"/>
          <a:lstStyle/>
          <a:p>
            <a:pPr marL="0" indent="0">
              <a:lnSpc>
                <a:spcPct val="102000"/>
              </a:lnSpc>
              <a:buNone/>
            </a:pPr>
            <a:r>
              <a:rPr lang="en-US" sz="2500" b="1" dirty="0">
                <a:solidFill>
                  <a:srgbClr val="1B2340"/>
                </a:solidFill>
                <a:latin typeface="Century Schoolbook" pitchFamily="34" charset="0"/>
                <a:ea typeface="Century Schoolbook" pitchFamily="34" charset="-122"/>
                <a:cs typeface="Century Schoolbook" pitchFamily="34" charset="-120"/>
              </a:rPr>
              <a:t>Fibonacci Series - Code &amp; Explanation</a:t>
            </a:r>
            <a:endParaRPr lang="en-US" sz="2500" dirty="0"/>
          </a:p>
        </p:txBody>
      </p:sp>
      <p:sp>
        <p:nvSpPr>
          <p:cNvPr id="5" name="Shape 3"/>
          <p:cNvSpPr/>
          <p:nvPr/>
        </p:nvSpPr>
        <p:spPr>
          <a:xfrm>
            <a:off x="502920" y="1810512"/>
            <a:ext cx="164592" cy="274320"/>
          </a:xfrm>
          <a:prstGeom prst="roundRect">
            <a:avLst>
              <a:gd name="adj" fmla="val 22222"/>
            </a:avLst>
          </a:prstGeom>
          <a:solidFill>
            <a:srgbClr val="E8A33D"/>
          </a:solidFill>
          <a:ln/>
        </p:spPr>
      </p:sp>
      <p:sp>
        <p:nvSpPr>
          <p:cNvPr id="6" name="Text 4"/>
          <p:cNvSpPr/>
          <p:nvPr/>
        </p:nvSpPr>
        <p:spPr>
          <a:xfrm>
            <a:off x="758952" y="1783080"/>
            <a:ext cx="5230368" cy="329184"/>
          </a:xfrm>
          <a:prstGeom prst="rect">
            <a:avLst/>
          </a:prstGeom>
          <a:noFill/>
          <a:ln/>
        </p:spPr>
        <p:txBody>
          <a:bodyPr wrap="square" rtlCol="0" anchor="ctr"/>
          <a:lstStyle/>
          <a:p>
            <a:pPr marL="0" indent="0">
              <a:buNone/>
            </a:pPr>
            <a:r>
              <a:rPr lang="en-US" sz="1300" b="1" kern="0" spc="50" dirty="0">
                <a:solidFill>
                  <a:srgbClr val="1B2340"/>
                </a:solidFill>
                <a:latin typeface="Calibri" pitchFamily="34" charset="0"/>
                <a:ea typeface="Calibri" pitchFamily="34" charset="-122"/>
                <a:cs typeface="Calibri" pitchFamily="34" charset="-120"/>
              </a:rPr>
              <a:t>EXAMPLE - CODE</a:t>
            </a:r>
            <a:endParaRPr lang="en-US" sz="1300" dirty="0"/>
          </a:p>
        </p:txBody>
      </p:sp>
      <p:sp>
        <p:nvSpPr>
          <p:cNvPr id="7" name="Shape 5"/>
          <p:cNvSpPr/>
          <p:nvPr/>
        </p:nvSpPr>
        <p:spPr>
          <a:xfrm>
            <a:off x="502920" y="2121408"/>
            <a:ext cx="5486400" cy="2156460"/>
          </a:xfrm>
          <a:prstGeom prst="roundRect">
            <a:avLst>
              <a:gd name="adj" fmla="val 3392"/>
            </a:avLst>
          </a:prstGeom>
          <a:solidFill>
            <a:srgbClr val="1E1E2E"/>
          </a:solidFill>
          <a:ln/>
        </p:spPr>
      </p:sp>
      <p:sp>
        <p:nvSpPr>
          <p:cNvPr id="8" name="Shape 6"/>
          <p:cNvSpPr/>
          <p:nvPr/>
        </p:nvSpPr>
        <p:spPr>
          <a:xfrm>
            <a:off x="640080" y="2249424"/>
            <a:ext cx="100584" cy="100584"/>
          </a:xfrm>
          <a:prstGeom prst="ellipse">
            <a:avLst/>
          </a:prstGeom>
          <a:solidFill>
            <a:srgbClr val="FF5F56"/>
          </a:solidFill>
          <a:ln/>
        </p:spPr>
      </p:sp>
      <p:sp>
        <p:nvSpPr>
          <p:cNvPr id="9" name="Shape 7"/>
          <p:cNvSpPr/>
          <p:nvPr/>
        </p:nvSpPr>
        <p:spPr>
          <a:xfrm>
            <a:off x="795528" y="2249424"/>
            <a:ext cx="100584" cy="100584"/>
          </a:xfrm>
          <a:prstGeom prst="ellipse">
            <a:avLst/>
          </a:prstGeom>
          <a:solidFill>
            <a:srgbClr val="FFBD2E"/>
          </a:solidFill>
          <a:ln/>
        </p:spPr>
      </p:sp>
      <p:sp>
        <p:nvSpPr>
          <p:cNvPr id="10" name="Shape 8"/>
          <p:cNvSpPr/>
          <p:nvPr/>
        </p:nvSpPr>
        <p:spPr>
          <a:xfrm>
            <a:off x="950976" y="2249424"/>
            <a:ext cx="100584" cy="100584"/>
          </a:xfrm>
          <a:prstGeom prst="ellipse">
            <a:avLst/>
          </a:prstGeom>
          <a:solidFill>
            <a:srgbClr val="27C93F"/>
          </a:solidFill>
          <a:ln/>
        </p:spPr>
      </p:sp>
      <p:sp>
        <p:nvSpPr>
          <p:cNvPr id="11" name="Text 9"/>
          <p:cNvSpPr/>
          <p:nvPr/>
        </p:nvSpPr>
        <p:spPr>
          <a:xfrm>
            <a:off x="1143000" y="2167128"/>
            <a:ext cx="4572000" cy="274320"/>
          </a:xfrm>
          <a:prstGeom prst="rect">
            <a:avLst/>
          </a:prstGeom>
          <a:noFill/>
          <a:ln/>
        </p:spPr>
        <p:txBody>
          <a:bodyPr wrap="square" rtlCol="0" anchor="ctr"/>
          <a:lstStyle/>
          <a:p>
            <a:pPr marL="0" indent="0" algn="r">
              <a:buNone/>
            </a:pPr>
            <a:r>
              <a:rPr lang="en-US" sz="1000" dirty="0">
                <a:solidFill>
                  <a:srgbClr val="8A90AC"/>
                </a:solidFill>
                <a:latin typeface="Courier New" pitchFamily="34" charset="0"/>
                <a:ea typeface="Courier New" pitchFamily="34" charset="-122"/>
                <a:cs typeface="Courier New" pitchFamily="34" charset="-120"/>
              </a:rPr>
              <a:t>Main.java</a:t>
            </a:r>
            <a:endParaRPr lang="en-US" sz="1000" dirty="0"/>
          </a:p>
        </p:txBody>
      </p:sp>
      <p:sp>
        <p:nvSpPr>
          <p:cNvPr id="12" name="Text 10"/>
          <p:cNvSpPr/>
          <p:nvPr/>
        </p:nvSpPr>
        <p:spPr>
          <a:xfrm>
            <a:off x="731520" y="2487168"/>
            <a:ext cx="5029200" cy="1699260"/>
          </a:xfrm>
          <a:prstGeom prst="rect">
            <a:avLst/>
          </a:prstGeom>
          <a:noFill/>
          <a:ln/>
        </p:spPr>
        <p:txBody>
          <a:bodyPr wrap="square" lIns="0" tIns="0" rIns="0" bIns="0" rtlCol="0" anchor="t"/>
          <a:lstStyle/>
          <a:p>
            <a:pPr marL="0" indent="0">
              <a:lnSpc>
                <a:spcPct val="120000"/>
              </a:lnSpc>
              <a:buNone/>
            </a:pPr>
            <a:r>
              <a:rPr lang="en-US" sz="1200" dirty="0">
                <a:solidFill>
                  <a:srgbClr val="D4D4E0"/>
                </a:solidFill>
                <a:latin typeface="Courier New" pitchFamily="34" charset="0"/>
                <a:ea typeface="Courier New" pitchFamily="34" charset="-122"/>
                <a:cs typeface="Courier New" pitchFamily="34" charset="-120"/>
              </a:rPr>
              <a:t>void printFibonacci(int n) {</a:t>
            </a:r>
            <a:endParaRPr lang="en-US" sz="1200" dirty="0"/>
          </a:p>
          <a:p>
            <a:pPr marL="0" indent="0">
              <a:lnSpc>
                <a:spcPct val="120000"/>
              </a:lnSpc>
              <a:buNone/>
            </a:pPr>
            <a:r>
              <a:rPr lang="en-US" sz="1200" dirty="0">
                <a:solidFill>
                  <a:srgbClr val="D4D4E0"/>
                </a:solidFill>
                <a:latin typeface="Courier New" pitchFamily="34" charset="0"/>
                <a:ea typeface="Courier New" pitchFamily="34" charset="-122"/>
                <a:cs typeface="Courier New" pitchFamily="34" charset="-120"/>
              </a:rPr>
              <a:t>    int a = 0, b = 1;</a:t>
            </a:r>
            <a:endParaRPr lang="en-US" sz="1200" dirty="0"/>
          </a:p>
          <a:p>
            <a:pPr marL="0" indent="0">
              <a:lnSpc>
                <a:spcPct val="120000"/>
              </a:lnSpc>
              <a:buNone/>
            </a:pPr>
            <a:r>
              <a:rPr lang="en-US" sz="1200" dirty="0">
                <a:solidFill>
                  <a:srgbClr val="D4D4E0"/>
                </a:solidFill>
                <a:latin typeface="Courier New" pitchFamily="34" charset="0"/>
                <a:ea typeface="Courier New" pitchFamily="34" charset="-122"/>
                <a:cs typeface="Courier New" pitchFamily="34" charset="-120"/>
              </a:rPr>
              <a:t>    for (int i = 0; i &lt; n; i++) {</a:t>
            </a:r>
            <a:endParaRPr lang="en-US" sz="1200" dirty="0"/>
          </a:p>
          <a:p>
            <a:pPr marL="0" indent="0">
              <a:lnSpc>
                <a:spcPct val="120000"/>
              </a:lnSpc>
              <a:buNone/>
            </a:pPr>
            <a:r>
              <a:rPr lang="en-US" sz="1200" dirty="0">
                <a:solidFill>
                  <a:srgbClr val="D4D4E0"/>
                </a:solidFill>
                <a:latin typeface="Courier New" pitchFamily="34" charset="0"/>
                <a:ea typeface="Courier New" pitchFamily="34" charset="-122"/>
                <a:cs typeface="Courier New" pitchFamily="34" charset="-120"/>
              </a:rPr>
              <a:t>        System.out.print(a + " ");</a:t>
            </a:r>
            <a:endParaRPr lang="en-US" sz="1200" dirty="0"/>
          </a:p>
          <a:p>
            <a:pPr marL="0" indent="0">
              <a:lnSpc>
                <a:spcPct val="120000"/>
              </a:lnSpc>
              <a:buNone/>
            </a:pPr>
            <a:r>
              <a:rPr lang="en-US" sz="1200" dirty="0">
                <a:solidFill>
                  <a:srgbClr val="D4D4E0"/>
                </a:solidFill>
                <a:latin typeface="Courier New" pitchFamily="34" charset="0"/>
                <a:ea typeface="Courier New" pitchFamily="34" charset="-122"/>
                <a:cs typeface="Courier New" pitchFamily="34" charset="-120"/>
              </a:rPr>
              <a:t>        int next = a + b; a = b; b = next;</a:t>
            </a:r>
            <a:endParaRPr lang="en-US" sz="1200" dirty="0"/>
          </a:p>
          <a:p>
            <a:pPr marL="0" indent="0">
              <a:lnSpc>
                <a:spcPct val="120000"/>
              </a:lnSpc>
              <a:buNone/>
            </a:pPr>
            <a:r>
              <a:rPr lang="en-US" sz="1200" dirty="0">
                <a:solidFill>
                  <a:srgbClr val="D4D4E0"/>
                </a:solidFill>
                <a:latin typeface="Courier New" pitchFamily="34" charset="0"/>
                <a:ea typeface="Courier New" pitchFamily="34" charset="-122"/>
                <a:cs typeface="Courier New" pitchFamily="34" charset="-120"/>
              </a:rPr>
              <a:t>    }</a:t>
            </a:r>
            <a:endParaRPr lang="en-US" sz="1200" dirty="0"/>
          </a:p>
          <a:p>
            <a:pPr marL="0" indent="0">
              <a:lnSpc>
                <a:spcPct val="120000"/>
              </a:lnSpc>
              <a:buNone/>
            </a:pPr>
            <a:r>
              <a:rPr lang="en-US" sz="1200" dirty="0">
                <a:solidFill>
                  <a:srgbClr val="D4D4E0"/>
                </a:solidFill>
                <a:latin typeface="Courier New" pitchFamily="34" charset="0"/>
                <a:ea typeface="Courier New" pitchFamily="34" charset="-122"/>
                <a:cs typeface="Courier New" pitchFamily="34" charset="-120"/>
              </a:rPr>
              <a:t>}</a:t>
            </a:r>
            <a:endParaRPr lang="en-US" sz="1200" dirty="0"/>
          </a:p>
        </p:txBody>
      </p:sp>
      <p:sp>
        <p:nvSpPr>
          <p:cNvPr id="13" name="Shape 11"/>
          <p:cNvSpPr/>
          <p:nvPr/>
        </p:nvSpPr>
        <p:spPr>
          <a:xfrm>
            <a:off x="502920" y="4460748"/>
            <a:ext cx="5486400" cy="868680"/>
          </a:xfrm>
          <a:prstGeom prst="roundRect">
            <a:avLst>
              <a:gd name="adj" fmla="val 8421"/>
            </a:avLst>
          </a:prstGeom>
          <a:solidFill>
            <a:srgbClr val="1B2340"/>
          </a:solidFill>
          <a:ln/>
        </p:spPr>
      </p:sp>
      <p:sp>
        <p:nvSpPr>
          <p:cNvPr id="14" name="Text 12"/>
          <p:cNvSpPr/>
          <p:nvPr/>
        </p:nvSpPr>
        <p:spPr>
          <a:xfrm>
            <a:off x="731520" y="4552188"/>
            <a:ext cx="5029200" cy="256032"/>
          </a:xfrm>
          <a:prstGeom prst="rect">
            <a:avLst/>
          </a:prstGeom>
          <a:noFill/>
          <a:ln/>
        </p:spPr>
        <p:txBody>
          <a:bodyPr wrap="square" rtlCol="0" anchor="ctr"/>
          <a:lstStyle/>
          <a:p>
            <a:pPr marL="0" indent="0">
              <a:buNone/>
            </a:pPr>
            <a:r>
              <a:rPr lang="en-US" sz="1050" b="1" kern="0" spc="80" dirty="0">
                <a:solidFill>
                  <a:srgbClr val="E8A33D"/>
                </a:solidFill>
                <a:latin typeface="Calibri" pitchFamily="34" charset="0"/>
                <a:ea typeface="Calibri" pitchFamily="34" charset="-122"/>
                <a:cs typeface="Calibri" pitchFamily="34" charset="-120"/>
              </a:rPr>
              <a:t>ONE-LINE INTERVIEW ANSWER</a:t>
            </a:r>
            <a:endParaRPr lang="en-US" sz="1050" dirty="0"/>
          </a:p>
        </p:txBody>
      </p:sp>
      <p:sp>
        <p:nvSpPr>
          <p:cNvPr id="15" name="Text 13"/>
          <p:cNvSpPr/>
          <p:nvPr/>
        </p:nvSpPr>
        <p:spPr>
          <a:xfrm>
            <a:off x="731520" y="4808220"/>
            <a:ext cx="5029200" cy="411480"/>
          </a:xfrm>
          <a:prstGeom prst="rect">
            <a:avLst/>
          </a:prstGeom>
          <a:noFill/>
          <a:ln/>
        </p:spPr>
        <p:txBody>
          <a:bodyPr wrap="square" lIns="0" tIns="0" rIns="0" bIns="0" rtlCol="0" anchor="t"/>
          <a:lstStyle/>
          <a:p>
            <a:pPr marL="0" indent="0">
              <a:lnSpc>
                <a:spcPct val="105000"/>
              </a:lnSpc>
              <a:buNone/>
            </a:pPr>
            <a:r>
              <a:rPr lang="en-US" sz="1250" dirty="0">
                <a:solidFill>
                  <a:srgbClr val="FFFFFF"/>
                </a:solidFill>
                <a:latin typeface="Calibri" pitchFamily="34" charset="0"/>
                <a:ea typeface="Calibri" pitchFamily="34" charset="-122"/>
                <a:cs typeface="Calibri" pitchFamily="34" charset="-120"/>
              </a:rPr>
              <a:t>The Fibonacci series is generated by repeatedly adding the last two numbers; an iterative loop does this in O(n) time.</a:t>
            </a:r>
            <a:endParaRPr lang="en-US" sz="1250" dirty="0"/>
          </a:p>
        </p:txBody>
      </p:sp>
      <p:sp>
        <p:nvSpPr>
          <p:cNvPr id="16" name="Shape 14"/>
          <p:cNvSpPr/>
          <p:nvPr/>
        </p:nvSpPr>
        <p:spPr>
          <a:xfrm>
            <a:off x="6263640" y="1810512"/>
            <a:ext cx="164592" cy="274320"/>
          </a:xfrm>
          <a:prstGeom prst="roundRect">
            <a:avLst>
              <a:gd name="adj" fmla="val 22222"/>
            </a:avLst>
          </a:prstGeom>
          <a:solidFill>
            <a:srgbClr val="3FBFAE"/>
          </a:solidFill>
          <a:ln/>
        </p:spPr>
      </p:sp>
      <p:sp>
        <p:nvSpPr>
          <p:cNvPr id="17" name="Text 15"/>
          <p:cNvSpPr/>
          <p:nvPr/>
        </p:nvSpPr>
        <p:spPr>
          <a:xfrm>
            <a:off x="6519672" y="1783080"/>
            <a:ext cx="5184648" cy="329184"/>
          </a:xfrm>
          <a:prstGeom prst="rect">
            <a:avLst/>
          </a:prstGeom>
          <a:noFill/>
          <a:ln/>
        </p:spPr>
        <p:txBody>
          <a:bodyPr wrap="square" rtlCol="0" anchor="ctr"/>
          <a:lstStyle/>
          <a:p>
            <a:pPr marL="0" indent="0">
              <a:buNone/>
            </a:pPr>
            <a:r>
              <a:rPr lang="en-US" sz="1300" b="1" kern="0" spc="50" dirty="0">
                <a:solidFill>
                  <a:srgbClr val="1B2340"/>
                </a:solidFill>
                <a:latin typeface="Calibri" pitchFamily="34" charset="0"/>
                <a:ea typeface="Calibri" pitchFamily="34" charset="-122"/>
                <a:cs typeface="Calibri" pitchFamily="34" charset="-120"/>
              </a:rPr>
              <a:t>EXPLANATION</a:t>
            </a:r>
            <a:endParaRPr lang="en-US" sz="1300" dirty="0"/>
          </a:p>
        </p:txBody>
      </p:sp>
      <p:sp>
        <p:nvSpPr>
          <p:cNvPr id="18" name="Text 16"/>
          <p:cNvSpPr/>
          <p:nvPr/>
        </p:nvSpPr>
        <p:spPr>
          <a:xfrm>
            <a:off x="6263640" y="2139696"/>
            <a:ext cx="5440680" cy="2011680"/>
          </a:xfrm>
          <a:prstGeom prst="rect">
            <a:avLst/>
          </a:prstGeom>
          <a:noFill/>
          <a:ln/>
        </p:spPr>
        <p:txBody>
          <a:bodyPr wrap="square" lIns="0" tIns="0" rIns="0" bIns="0" rtlCol="0" anchor="t"/>
          <a:lstStyle/>
          <a:p>
            <a:pPr marL="177800" indent="-177800">
              <a:spcAft>
                <a:spcPts val="800"/>
              </a:spcAft>
              <a:buSzPct val="100000"/>
              <a:buChar char="•"/>
            </a:pPr>
            <a:r>
              <a:rPr lang="en-US" sz="1250" dirty="0">
                <a:solidFill>
                  <a:srgbClr val="1B2340"/>
                </a:solidFill>
                <a:latin typeface="Calibri" pitchFamily="34" charset="0"/>
                <a:ea typeface="Calibri" pitchFamily="34" charset="-122"/>
                <a:cs typeface="Calibri" pitchFamily="34" charset="-120"/>
              </a:rPr>
              <a:t>a and b hold the two most recent Fibonacci numbers, starting at 0 and 1</a:t>
            </a:r>
            <a:endParaRPr lang="en-US" sz="1250" dirty="0"/>
          </a:p>
          <a:p>
            <a:pPr marL="177800" indent="-177800">
              <a:spcAft>
                <a:spcPts val="800"/>
              </a:spcAft>
              <a:buSzPct val="100000"/>
              <a:buChar char="•"/>
            </a:pPr>
            <a:r>
              <a:rPr lang="en-US" sz="1250" dirty="0">
                <a:solidFill>
                  <a:srgbClr val="1B2340"/>
                </a:solidFill>
                <a:latin typeface="Calibri" pitchFamily="34" charset="0"/>
                <a:ea typeface="Calibri" pitchFamily="34" charset="-122"/>
                <a:cs typeface="Calibri" pitchFamily="34" charset="-120"/>
              </a:rPr>
              <a:t>In each loop, the next number is calculated as a + b</a:t>
            </a:r>
            <a:endParaRPr lang="en-US" sz="1250" dirty="0"/>
          </a:p>
          <a:p>
            <a:pPr marL="177800" indent="-177800">
              <a:spcAft>
                <a:spcPts val="800"/>
              </a:spcAft>
              <a:buSzPct val="100000"/>
              <a:buChar char="•"/>
            </a:pPr>
            <a:r>
              <a:rPr lang="en-US" sz="1250" dirty="0">
                <a:solidFill>
                  <a:srgbClr val="1B2340"/>
                </a:solidFill>
                <a:latin typeface="Calibri" pitchFamily="34" charset="0"/>
                <a:ea typeface="Calibri" pitchFamily="34" charset="-122"/>
                <a:cs typeface="Calibri" pitchFamily="34" charset="-120"/>
              </a:rPr>
              <a:t>a and b then shift forward by one position for the next iteration</a:t>
            </a:r>
            <a:endParaRPr lang="en-US" sz="1250" dirty="0"/>
          </a:p>
          <a:p>
            <a:pPr marL="177800" indent="-177800">
              <a:spcAft>
                <a:spcPts val="800"/>
              </a:spcAft>
              <a:buSzPct val="100000"/>
              <a:buChar char="•"/>
            </a:pPr>
            <a:r>
              <a:rPr lang="en-US" sz="1250" dirty="0">
                <a:solidFill>
                  <a:srgbClr val="1B2340"/>
                </a:solidFill>
                <a:latin typeface="Calibri" pitchFamily="34" charset="0"/>
                <a:ea typeface="Calibri" pitchFamily="34" charset="-122"/>
                <a:cs typeface="Calibri" pitchFamily="34" charset="-120"/>
              </a:rPr>
              <a:t>This iterative approach runs in O(n) time and O(1) space - much faster than plain recursion</a:t>
            </a:r>
            <a:endParaRPr lang="en-US" sz="1250" dirty="0"/>
          </a:p>
        </p:txBody>
      </p:sp>
      <p:sp>
        <p:nvSpPr>
          <p:cNvPr id="19" name="Shape 17"/>
          <p:cNvSpPr/>
          <p:nvPr/>
        </p:nvSpPr>
        <p:spPr>
          <a:xfrm>
            <a:off x="6263640" y="4261104"/>
            <a:ext cx="5440680" cy="1783080"/>
          </a:xfrm>
          <a:prstGeom prst="roundRect">
            <a:avLst>
              <a:gd name="adj" fmla="val 4103"/>
            </a:avLst>
          </a:prstGeom>
          <a:solidFill>
            <a:srgbClr val="FDF3E3"/>
          </a:solidFill>
          <a:ln/>
        </p:spPr>
      </p:sp>
      <p:sp>
        <p:nvSpPr>
          <p:cNvPr id="20" name="Text 18"/>
          <p:cNvSpPr/>
          <p:nvPr/>
        </p:nvSpPr>
        <p:spPr>
          <a:xfrm>
            <a:off x="6464808" y="4370832"/>
            <a:ext cx="5038344" cy="274320"/>
          </a:xfrm>
          <a:prstGeom prst="rect">
            <a:avLst/>
          </a:prstGeom>
          <a:noFill/>
          <a:ln/>
        </p:spPr>
        <p:txBody>
          <a:bodyPr wrap="square" rtlCol="0" anchor="ctr"/>
          <a:lstStyle/>
          <a:p>
            <a:pPr marL="0" indent="0">
              <a:buNone/>
            </a:pPr>
            <a:r>
              <a:rPr lang="en-US" sz="1100" b="1" kern="0" spc="50" dirty="0">
                <a:solidFill>
                  <a:srgbClr val="C9862A"/>
                </a:solidFill>
                <a:latin typeface="Calibri" pitchFamily="34" charset="0"/>
                <a:ea typeface="Calibri" pitchFamily="34" charset="-122"/>
                <a:cs typeface="Calibri" pitchFamily="34" charset="-120"/>
              </a:rPr>
              <a:t>💡 REAL-LIFE ANALOGY</a:t>
            </a:r>
            <a:endParaRPr lang="en-US" sz="1100" dirty="0"/>
          </a:p>
        </p:txBody>
      </p:sp>
      <p:sp>
        <p:nvSpPr>
          <p:cNvPr id="21" name="Text 19"/>
          <p:cNvSpPr/>
          <p:nvPr/>
        </p:nvSpPr>
        <p:spPr>
          <a:xfrm>
            <a:off x="6464808" y="4663440"/>
            <a:ext cx="5038344" cy="1252728"/>
          </a:xfrm>
          <a:prstGeom prst="rect">
            <a:avLst/>
          </a:prstGeom>
          <a:noFill/>
          <a:ln/>
        </p:spPr>
        <p:txBody>
          <a:bodyPr wrap="square" lIns="0" tIns="0" rIns="0" bIns="0" rtlCol="0" anchor="t"/>
          <a:lstStyle/>
          <a:p>
            <a:pPr marL="0" indent="0">
              <a:lnSpc>
                <a:spcPct val="110000"/>
              </a:lnSpc>
              <a:buNone/>
            </a:pPr>
            <a:r>
              <a:rPr lang="en-US" sz="1250" i="1" dirty="0">
                <a:solidFill>
                  <a:srgbClr val="1B2340"/>
                </a:solidFill>
                <a:latin typeface="Calibri" pitchFamily="34" charset="0"/>
                <a:ea typeface="Calibri" pitchFamily="34" charset="-122"/>
                <a:cs typeface="Calibri" pitchFamily="34" charset="-120"/>
              </a:rPr>
              <a:t>It's like a relay race baton pass - each new runner's position is simply the sum of the positions of the two runners just before them.</a:t>
            </a:r>
            <a:endParaRPr lang="en-US" sz="1250" dirty="0"/>
          </a:p>
        </p:txBody>
      </p:sp>
      <p:sp>
        <p:nvSpPr>
          <p:cNvPr id="22" name="Text 20"/>
          <p:cNvSpPr/>
          <p:nvPr/>
        </p:nvSpPr>
        <p:spPr>
          <a:xfrm>
            <a:off x="457200" y="6583680"/>
            <a:ext cx="5486400" cy="228600"/>
          </a:xfrm>
          <a:prstGeom prst="rect">
            <a:avLst/>
          </a:prstGeom>
          <a:noFill/>
          <a:ln/>
        </p:spPr>
        <p:txBody>
          <a:bodyPr wrap="square" rtlCol="0" anchor="ctr"/>
          <a:lstStyle/>
          <a:p>
            <a:pPr marL="0" indent="0" algn="l">
              <a:buNone/>
            </a:pPr>
            <a:r>
              <a:rPr lang="en-US" sz="850" dirty="0">
                <a:solidFill>
                  <a:srgbClr val="5B6178"/>
                </a:solidFill>
                <a:latin typeface="Calibri" pitchFamily="34" charset="0"/>
                <a:ea typeface="Calibri" pitchFamily="34" charset="-122"/>
                <a:cs typeface="Calibri" pitchFamily="34" charset="-120"/>
              </a:rPr>
              <a:t>Java &amp; Full-Stack Interview Prep</a:t>
            </a:r>
            <a:endParaRPr lang="en-US" sz="85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spTree>
      <p:nvGrpSpPr>
        <p:cNvPr id="1" name=""/>
        <p:cNvGrpSpPr/>
        <p:nvPr/>
      </p:nvGrpSpPr>
      <p:grpSpPr>
        <a:xfrm>
          <a:off x="0" y="0"/>
          <a:ext cx="0" cy="0"/>
          <a:chOff x="0" y="0"/>
          <a:chExt cx="0" cy="0"/>
        </a:xfrm>
      </p:grpSpPr>
      <p:sp>
        <p:nvSpPr>
          <p:cNvPr id="2" name="Shape 0"/>
          <p:cNvSpPr/>
          <p:nvPr/>
        </p:nvSpPr>
        <p:spPr>
          <a:xfrm>
            <a:off x="502920" y="384048"/>
            <a:ext cx="4279392" cy="310896"/>
          </a:xfrm>
          <a:prstGeom prst="roundRect">
            <a:avLst>
              <a:gd name="adj" fmla="val 23529"/>
            </a:avLst>
          </a:prstGeom>
          <a:solidFill>
            <a:srgbClr val="E8A33D"/>
          </a:solidFill>
          <a:ln/>
        </p:spPr>
      </p:sp>
      <p:sp>
        <p:nvSpPr>
          <p:cNvPr id="3" name="Text 1"/>
          <p:cNvSpPr/>
          <p:nvPr/>
        </p:nvSpPr>
        <p:spPr>
          <a:xfrm>
            <a:off x="502920" y="384048"/>
            <a:ext cx="4279392" cy="310896"/>
          </a:xfrm>
          <a:prstGeom prst="rect">
            <a:avLst/>
          </a:prstGeom>
          <a:noFill/>
          <a:ln/>
        </p:spPr>
        <p:txBody>
          <a:bodyPr wrap="square" rtlCol="0" anchor="ctr"/>
          <a:lstStyle/>
          <a:p>
            <a:pPr marL="0" indent="0" algn="ctr">
              <a:buNone/>
            </a:pPr>
            <a:r>
              <a:rPr lang="en-US" sz="1100" b="1" kern="0" spc="100" dirty="0">
                <a:solidFill>
                  <a:srgbClr val="1B2340"/>
                </a:solidFill>
                <a:latin typeface="Calibri" pitchFamily="34" charset="0"/>
                <a:ea typeface="Calibri" pitchFamily="34" charset="-122"/>
                <a:cs typeface="Calibri" pitchFamily="34" charset="-120"/>
              </a:rPr>
              <a:t>DSA CODING PRACTICE</a:t>
            </a:r>
            <a:endParaRPr lang="en-US" sz="1100" dirty="0"/>
          </a:p>
        </p:txBody>
      </p:sp>
      <p:sp>
        <p:nvSpPr>
          <p:cNvPr id="4" name="Text 2"/>
          <p:cNvSpPr/>
          <p:nvPr/>
        </p:nvSpPr>
        <p:spPr>
          <a:xfrm>
            <a:off x="502920" y="786384"/>
            <a:ext cx="11155680" cy="868680"/>
          </a:xfrm>
          <a:prstGeom prst="rect">
            <a:avLst/>
          </a:prstGeom>
          <a:noFill/>
          <a:ln/>
        </p:spPr>
        <p:txBody>
          <a:bodyPr wrap="square" rtlCol="0" anchor="t"/>
          <a:lstStyle/>
          <a:p>
            <a:pPr marL="0" indent="0">
              <a:lnSpc>
                <a:spcPct val="102000"/>
              </a:lnSpc>
              <a:buNone/>
            </a:pPr>
            <a:r>
              <a:rPr lang="en-US" sz="2500" b="1" dirty="0">
                <a:solidFill>
                  <a:srgbClr val="1B2340"/>
                </a:solidFill>
                <a:latin typeface="Century Schoolbook" pitchFamily="34" charset="0"/>
                <a:ea typeface="Century Schoolbook" pitchFamily="34" charset="-122"/>
                <a:cs typeface="Century Schoolbook" pitchFamily="34" charset="-120"/>
              </a:rPr>
              <a:t>How do you count the frequency of elements in an Array or String?</a:t>
            </a:r>
            <a:endParaRPr lang="en-US" sz="2500" dirty="0"/>
          </a:p>
        </p:txBody>
      </p:sp>
      <p:sp>
        <p:nvSpPr>
          <p:cNvPr id="5" name="Shape 3"/>
          <p:cNvSpPr/>
          <p:nvPr/>
        </p:nvSpPr>
        <p:spPr>
          <a:xfrm>
            <a:off x="502920" y="1874520"/>
            <a:ext cx="164592" cy="274320"/>
          </a:xfrm>
          <a:prstGeom prst="roundRect">
            <a:avLst>
              <a:gd name="adj" fmla="val 22222"/>
            </a:avLst>
          </a:prstGeom>
          <a:solidFill>
            <a:srgbClr val="E8A33D"/>
          </a:solidFill>
          <a:ln/>
        </p:spPr>
      </p:sp>
      <p:sp>
        <p:nvSpPr>
          <p:cNvPr id="6" name="Text 4"/>
          <p:cNvSpPr/>
          <p:nvPr/>
        </p:nvSpPr>
        <p:spPr>
          <a:xfrm>
            <a:off x="758952" y="1847088"/>
            <a:ext cx="7059168" cy="329184"/>
          </a:xfrm>
          <a:prstGeom prst="rect">
            <a:avLst/>
          </a:prstGeom>
          <a:noFill/>
          <a:ln/>
        </p:spPr>
        <p:txBody>
          <a:bodyPr wrap="square" rtlCol="0" anchor="ctr"/>
          <a:lstStyle/>
          <a:p>
            <a:pPr marL="0" indent="0">
              <a:buNone/>
            </a:pPr>
            <a:r>
              <a:rPr lang="en-US" sz="1300" b="1" kern="0" spc="50" dirty="0">
                <a:solidFill>
                  <a:srgbClr val="1B2340"/>
                </a:solidFill>
                <a:latin typeface="Calibri" pitchFamily="34" charset="0"/>
                <a:ea typeface="Calibri" pitchFamily="34" charset="-122"/>
                <a:cs typeface="Calibri" pitchFamily="34" charset="-120"/>
              </a:rPr>
              <a:t>DEFINITION / CONCEPT</a:t>
            </a:r>
            <a:endParaRPr lang="en-US" sz="1300" dirty="0"/>
          </a:p>
        </p:txBody>
      </p:sp>
      <p:sp>
        <p:nvSpPr>
          <p:cNvPr id="7" name="Shape 5"/>
          <p:cNvSpPr/>
          <p:nvPr/>
        </p:nvSpPr>
        <p:spPr>
          <a:xfrm>
            <a:off x="502920" y="2194560"/>
            <a:ext cx="11201400" cy="1188720"/>
          </a:xfrm>
          <a:prstGeom prst="roundRect">
            <a:avLst>
              <a:gd name="adj" fmla="val 6154"/>
            </a:avLst>
          </a:prstGeom>
          <a:solidFill>
            <a:srgbClr val="F7F7FA"/>
          </a:solidFill>
          <a:ln w="12700">
            <a:solidFill>
              <a:srgbClr val="E4E6EF"/>
            </a:solidFill>
            <a:prstDash val="solid"/>
          </a:ln>
        </p:spPr>
      </p:sp>
      <p:sp>
        <p:nvSpPr>
          <p:cNvPr id="8" name="Text 6"/>
          <p:cNvSpPr/>
          <p:nvPr/>
        </p:nvSpPr>
        <p:spPr>
          <a:xfrm>
            <a:off x="758952" y="2377440"/>
            <a:ext cx="10689336" cy="822960"/>
          </a:xfrm>
          <a:prstGeom prst="rect">
            <a:avLst/>
          </a:prstGeom>
          <a:noFill/>
          <a:ln/>
        </p:spPr>
        <p:txBody>
          <a:bodyPr wrap="square" lIns="0" tIns="0" rIns="0" bIns="0" rtlCol="0" anchor="t"/>
          <a:lstStyle/>
          <a:p>
            <a:pPr marL="0" indent="0">
              <a:lnSpc>
                <a:spcPct val="115000"/>
              </a:lnSpc>
              <a:buNone/>
            </a:pPr>
            <a:r>
              <a:rPr lang="en-US" sz="1450" dirty="0">
                <a:solidFill>
                  <a:srgbClr val="1B2340"/>
                </a:solidFill>
                <a:latin typeface="Calibri" pitchFamily="34" charset="0"/>
                <a:ea typeface="Calibri" pitchFamily="34" charset="-122"/>
                <a:cs typeface="Calibri" pitchFamily="34" charset="-120"/>
              </a:rPr>
              <a:t>Frequency counting means finding how many times each element (or character) appears, typically using a HashMap to store element-to-count pairs.</a:t>
            </a:r>
            <a:endParaRPr lang="en-US" sz="1450" dirty="0"/>
          </a:p>
        </p:txBody>
      </p:sp>
      <p:sp>
        <p:nvSpPr>
          <p:cNvPr id="9" name="Shape 7"/>
          <p:cNvSpPr/>
          <p:nvPr/>
        </p:nvSpPr>
        <p:spPr>
          <a:xfrm>
            <a:off x="502920" y="3611880"/>
            <a:ext cx="164592" cy="274320"/>
          </a:xfrm>
          <a:prstGeom prst="roundRect">
            <a:avLst>
              <a:gd name="adj" fmla="val 22222"/>
            </a:avLst>
          </a:prstGeom>
          <a:solidFill>
            <a:srgbClr val="3FBFAE"/>
          </a:solidFill>
          <a:ln/>
        </p:spPr>
      </p:sp>
      <p:sp>
        <p:nvSpPr>
          <p:cNvPr id="10" name="Text 8"/>
          <p:cNvSpPr/>
          <p:nvPr/>
        </p:nvSpPr>
        <p:spPr>
          <a:xfrm>
            <a:off x="758952" y="3584448"/>
            <a:ext cx="7059168" cy="329184"/>
          </a:xfrm>
          <a:prstGeom prst="rect">
            <a:avLst/>
          </a:prstGeom>
          <a:noFill/>
          <a:ln/>
        </p:spPr>
        <p:txBody>
          <a:bodyPr wrap="square" rtlCol="0" anchor="ctr"/>
          <a:lstStyle/>
          <a:p>
            <a:pPr marL="0" indent="0">
              <a:buNone/>
            </a:pPr>
            <a:r>
              <a:rPr lang="en-US" sz="1300" b="1" kern="0" spc="50" dirty="0">
                <a:solidFill>
                  <a:srgbClr val="1B2340"/>
                </a:solidFill>
                <a:latin typeface="Calibri" pitchFamily="34" charset="0"/>
                <a:ea typeface="Calibri" pitchFamily="34" charset="-122"/>
                <a:cs typeface="Calibri" pitchFamily="34" charset="-120"/>
              </a:rPr>
              <a:t>APPROACH - HOW TO SOLVE IT</a:t>
            </a:r>
            <a:endParaRPr lang="en-US" sz="1300" dirty="0"/>
          </a:p>
        </p:txBody>
      </p:sp>
      <p:sp>
        <p:nvSpPr>
          <p:cNvPr id="11" name="Text 9"/>
          <p:cNvSpPr/>
          <p:nvPr/>
        </p:nvSpPr>
        <p:spPr>
          <a:xfrm>
            <a:off x="502920" y="3950208"/>
            <a:ext cx="10607040" cy="2468880"/>
          </a:xfrm>
          <a:prstGeom prst="rect">
            <a:avLst/>
          </a:prstGeom>
          <a:noFill/>
          <a:ln/>
        </p:spPr>
        <p:txBody>
          <a:bodyPr wrap="square" lIns="0" tIns="0" rIns="0" bIns="0" rtlCol="0" anchor="t"/>
          <a:lstStyle/>
          <a:p>
            <a:pPr marL="177800" indent="-177800">
              <a:spcAft>
                <a:spcPts val="1200"/>
              </a:spcAft>
              <a:buSzPct val="100000"/>
              <a:buChar char="•"/>
            </a:pPr>
            <a:r>
              <a:rPr lang="en-US" sz="1450" dirty="0">
                <a:solidFill>
                  <a:srgbClr val="1B2340"/>
                </a:solidFill>
                <a:latin typeface="Calibri" pitchFamily="34" charset="0"/>
                <a:ea typeface="Calibri" pitchFamily="34" charset="-122"/>
                <a:cs typeface="Calibri" pitchFamily="34" charset="-120"/>
              </a:rPr>
              <a:t>Create a HashMap where the key is the element and the value is its count</a:t>
            </a:r>
            <a:endParaRPr lang="en-US" sz="1450" dirty="0"/>
          </a:p>
          <a:p>
            <a:pPr marL="177800" indent="-177800">
              <a:spcAft>
                <a:spcPts val="1200"/>
              </a:spcAft>
              <a:buSzPct val="100000"/>
              <a:buChar char="•"/>
            </a:pPr>
            <a:r>
              <a:rPr lang="en-US" sz="1450" dirty="0">
                <a:solidFill>
                  <a:srgbClr val="1B2340"/>
                </a:solidFill>
                <a:latin typeface="Calibri" pitchFamily="34" charset="0"/>
                <a:ea typeface="Calibri" pitchFamily="34" charset="-122"/>
                <a:cs typeface="Calibri" pitchFamily="34" charset="-120"/>
              </a:rPr>
              <a:t>Loop through the array/string once, updating the count for each element</a:t>
            </a:r>
            <a:endParaRPr lang="en-US" sz="1450" dirty="0"/>
          </a:p>
          <a:p>
            <a:pPr marL="177800" indent="-177800">
              <a:spcAft>
                <a:spcPts val="1200"/>
              </a:spcAft>
              <a:buSzPct val="100000"/>
              <a:buChar char="•"/>
            </a:pPr>
            <a:r>
              <a:rPr lang="en-US" sz="1450" dirty="0">
                <a:solidFill>
                  <a:srgbClr val="1B2340"/>
                </a:solidFill>
                <a:latin typeface="Calibri" pitchFamily="34" charset="0"/>
                <a:ea typeface="Calibri" pitchFamily="34" charset="-122"/>
                <a:cs typeface="Calibri" pitchFamily="34" charset="-120"/>
              </a:rPr>
              <a:t>getOrDefault() is a handy way to increment a count without checking if the key already exists</a:t>
            </a:r>
            <a:endParaRPr lang="en-US" sz="1450" dirty="0"/>
          </a:p>
          <a:p>
            <a:pPr marL="177800" indent="-177800">
              <a:spcAft>
                <a:spcPts val="1200"/>
              </a:spcAft>
              <a:buSzPct val="100000"/>
              <a:buChar char="•"/>
            </a:pPr>
            <a:r>
              <a:rPr lang="en-US" sz="1450" dirty="0">
                <a:solidFill>
                  <a:srgbClr val="1B2340"/>
                </a:solidFill>
                <a:latin typeface="Calibri" pitchFamily="34" charset="0"/>
                <a:ea typeface="Calibri" pitchFamily="34" charset="-122"/>
                <a:cs typeface="Calibri" pitchFamily="34" charset="-120"/>
              </a:rPr>
              <a:t>This runs in O(n) time, much faster than comparing every pair of elements</a:t>
            </a:r>
            <a:endParaRPr lang="en-US" sz="1450" dirty="0"/>
          </a:p>
        </p:txBody>
      </p:sp>
      <p:sp>
        <p:nvSpPr>
          <p:cNvPr id="12" name="Shape 10"/>
          <p:cNvSpPr/>
          <p:nvPr/>
        </p:nvSpPr>
        <p:spPr>
          <a:xfrm>
            <a:off x="9052560" y="5394960"/>
            <a:ext cx="2651760" cy="822960"/>
          </a:xfrm>
          <a:prstGeom prst="roundRect">
            <a:avLst>
              <a:gd name="adj" fmla="val 11111"/>
            </a:avLst>
          </a:prstGeom>
          <a:solidFill>
            <a:srgbClr val="1B2340"/>
          </a:solidFill>
          <a:ln/>
        </p:spPr>
      </p:sp>
      <p:sp>
        <p:nvSpPr>
          <p:cNvPr id="13" name="Text 11"/>
          <p:cNvSpPr/>
          <p:nvPr/>
        </p:nvSpPr>
        <p:spPr>
          <a:xfrm>
            <a:off x="9052560" y="5394960"/>
            <a:ext cx="2651760" cy="822960"/>
          </a:xfrm>
          <a:prstGeom prst="rect">
            <a:avLst/>
          </a:prstGeom>
          <a:noFill/>
          <a:ln/>
        </p:spPr>
        <p:txBody>
          <a:bodyPr wrap="square" rtlCol="0" anchor="ctr"/>
          <a:lstStyle/>
          <a:p>
            <a:pPr marL="0" indent="0" algn="ctr">
              <a:buNone/>
            </a:pPr>
            <a:r>
              <a:rPr lang="en-US" sz="1250" b="1" dirty="0">
                <a:solidFill>
                  <a:srgbClr val="E8A33D"/>
                </a:solidFill>
                <a:latin typeface="Calibri" pitchFamily="34" charset="0"/>
                <a:ea typeface="Calibri" pitchFamily="34" charset="-122"/>
                <a:cs typeface="Calibri" pitchFamily="34" charset="-120"/>
              </a:rPr>
              <a:t>See code on</a:t>
            </a:r>
            <a:endParaRPr lang="en-US" sz="1250" dirty="0"/>
          </a:p>
          <a:p>
            <a:pPr marL="0" indent="0" algn="ctr">
              <a:buNone/>
            </a:pPr>
            <a:r>
              <a:rPr lang="en-US" sz="1250" b="1" dirty="0">
                <a:solidFill>
                  <a:srgbClr val="E8A33D"/>
                </a:solidFill>
                <a:latin typeface="Calibri" pitchFamily="34" charset="0"/>
                <a:ea typeface="Calibri" pitchFamily="34" charset="-122"/>
                <a:cs typeface="Calibri" pitchFamily="34" charset="-120"/>
              </a:rPr>
              <a:t>the next slide →</a:t>
            </a:r>
            <a:endParaRPr lang="en-US" sz="1250" dirty="0"/>
          </a:p>
        </p:txBody>
      </p:sp>
      <p:sp>
        <p:nvSpPr>
          <p:cNvPr id="14" name="Text 12"/>
          <p:cNvSpPr/>
          <p:nvPr/>
        </p:nvSpPr>
        <p:spPr>
          <a:xfrm>
            <a:off x="457200" y="6583680"/>
            <a:ext cx="5486400" cy="228600"/>
          </a:xfrm>
          <a:prstGeom prst="rect">
            <a:avLst/>
          </a:prstGeom>
          <a:noFill/>
          <a:ln/>
        </p:spPr>
        <p:txBody>
          <a:bodyPr wrap="square" rtlCol="0" anchor="ctr"/>
          <a:lstStyle/>
          <a:p>
            <a:pPr marL="0" indent="0" algn="l">
              <a:buNone/>
            </a:pPr>
            <a:r>
              <a:rPr lang="en-US" sz="850" dirty="0">
                <a:solidFill>
                  <a:srgbClr val="5B6178"/>
                </a:solidFill>
                <a:latin typeface="Calibri" pitchFamily="34" charset="0"/>
                <a:ea typeface="Calibri" pitchFamily="34" charset="-122"/>
                <a:cs typeface="Calibri" pitchFamily="34" charset="-120"/>
              </a:rPr>
              <a:t>Java &amp; Full-Stack Interview Prep</a:t>
            </a:r>
            <a:endParaRPr lang="en-US" sz="85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spTree>
      <p:nvGrpSpPr>
        <p:cNvPr id="1" name=""/>
        <p:cNvGrpSpPr/>
        <p:nvPr/>
      </p:nvGrpSpPr>
      <p:grpSpPr>
        <a:xfrm>
          <a:off x="0" y="0"/>
          <a:ext cx="0" cy="0"/>
          <a:chOff x="0" y="0"/>
          <a:chExt cx="0" cy="0"/>
        </a:xfrm>
      </p:grpSpPr>
      <p:sp>
        <p:nvSpPr>
          <p:cNvPr id="2" name="Shape 0"/>
          <p:cNvSpPr/>
          <p:nvPr/>
        </p:nvSpPr>
        <p:spPr>
          <a:xfrm>
            <a:off x="502920" y="384048"/>
            <a:ext cx="4279392" cy="310896"/>
          </a:xfrm>
          <a:prstGeom prst="roundRect">
            <a:avLst>
              <a:gd name="adj" fmla="val 23529"/>
            </a:avLst>
          </a:prstGeom>
          <a:solidFill>
            <a:srgbClr val="E8A33D"/>
          </a:solidFill>
          <a:ln/>
        </p:spPr>
      </p:sp>
      <p:sp>
        <p:nvSpPr>
          <p:cNvPr id="3" name="Text 1"/>
          <p:cNvSpPr/>
          <p:nvPr/>
        </p:nvSpPr>
        <p:spPr>
          <a:xfrm>
            <a:off x="502920" y="384048"/>
            <a:ext cx="4279392" cy="310896"/>
          </a:xfrm>
          <a:prstGeom prst="rect">
            <a:avLst/>
          </a:prstGeom>
          <a:noFill/>
          <a:ln/>
        </p:spPr>
        <p:txBody>
          <a:bodyPr wrap="square" rtlCol="0" anchor="ctr"/>
          <a:lstStyle/>
          <a:p>
            <a:pPr marL="0" indent="0" algn="ctr">
              <a:buNone/>
            </a:pPr>
            <a:r>
              <a:rPr lang="en-US" sz="1100" b="1" kern="0" spc="100" dirty="0">
                <a:solidFill>
                  <a:srgbClr val="1B2340"/>
                </a:solidFill>
                <a:latin typeface="Calibri" pitchFamily="34" charset="0"/>
                <a:ea typeface="Calibri" pitchFamily="34" charset="-122"/>
                <a:cs typeface="Calibri" pitchFamily="34" charset="-120"/>
              </a:rPr>
              <a:t>DSA CODING PRACTICE</a:t>
            </a:r>
            <a:endParaRPr lang="en-US" sz="1100" dirty="0"/>
          </a:p>
        </p:txBody>
      </p:sp>
      <p:sp>
        <p:nvSpPr>
          <p:cNvPr id="4" name="Text 2"/>
          <p:cNvSpPr/>
          <p:nvPr/>
        </p:nvSpPr>
        <p:spPr>
          <a:xfrm>
            <a:off x="502920" y="786384"/>
            <a:ext cx="11155680" cy="868680"/>
          </a:xfrm>
          <a:prstGeom prst="rect">
            <a:avLst/>
          </a:prstGeom>
          <a:noFill/>
          <a:ln/>
        </p:spPr>
        <p:txBody>
          <a:bodyPr wrap="square" rtlCol="0" anchor="t"/>
          <a:lstStyle/>
          <a:p>
            <a:pPr marL="0" indent="0">
              <a:lnSpc>
                <a:spcPct val="102000"/>
              </a:lnSpc>
              <a:buNone/>
            </a:pPr>
            <a:r>
              <a:rPr lang="en-US" sz="2500" b="1" dirty="0">
                <a:solidFill>
                  <a:srgbClr val="1B2340"/>
                </a:solidFill>
                <a:latin typeface="Century Schoolbook" pitchFamily="34" charset="0"/>
                <a:ea typeface="Century Schoolbook" pitchFamily="34" charset="-122"/>
                <a:cs typeface="Century Schoolbook" pitchFamily="34" charset="-120"/>
              </a:rPr>
              <a:t>Frequency Count using HashMap - Code &amp; Explanation</a:t>
            </a:r>
            <a:endParaRPr lang="en-US" sz="2500" dirty="0"/>
          </a:p>
        </p:txBody>
      </p:sp>
      <p:sp>
        <p:nvSpPr>
          <p:cNvPr id="5" name="Shape 3"/>
          <p:cNvSpPr/>
          <p:nvPr/>
        </p:nvSpPr>
        <p:spPr>
          <a:xfrm>
            <a:off x="502920" y="1810512"/>
            <a:ext cx="164592" cy="274320"/>
          </a:xfrm>
          <a:prstGeom prst="roundRect">
            <a:avLst>
              <a:gd name="adj" fmla="val 22222"/>
            </a:avLst>
          </a:prstGeom>
          <a:solidFill>
            <a:srgbClr val="E8A33D"/>
          </a:solidFill>
          <a:ln/>
        </p:spPr>
      </p:sp>
      <p:sp>
        <p:nvSpPr>
          <p:cNvPr id="6" name="Text 4"/>
          <p:cNvSpPr/>
          <p:nvPr/>
        </p:nvSpPr>
        <p:spPr>
          <a:xfrm>
            <a:off x="758952" y="1783080"/>
            <a:ext cx="5230368" cy="329184"/>
          </a:xfrm>
          <a:prstGeom prst="rect">
            <a:avLst/>
          </a:prstGeom>
          <a:noFill/>
          <a:ln/>
        </p:spPr>
        <p:txBody>
          <a:bodyPr wrap="square" rtlCol="0" anchor="ctr"/>
          <a:lstStyle/>
          <a:p>
            <a:pPr marL="0" indent="0">
              <a:buNone/>
            </a:pPr>
            <a:r>
              <a:rPr lang="en-US" sz="1300" b="1" kern="0" spc="50" dirty="0">
                <a:solidFill>
                  <a:srgbClr val="1B2340"/>
                </a:solidFill>
                <a:latin typeface="Calibri" pitchFamily="34" charset="0"/>
                <a:ea typeface="Calibri" pitchFamily="34" charset="-122"/>
                <a:cs typeface="Calibri" pitchFamily="34" charset="-120"/>
              </a:rPr>
              <a:t>EXAMPLE - CODE</a:t>
            </a:r>
            <a:endParaRPr lang="en-US" sz="1300" dirty="0"/>
          </a:p>
        </p:txBody>
      </p:sp>
      <p:sp>
        <p:nvSpPr>
          <p:cNvPr id="7" name="Shape 5"/>
          <p:cNvSpPr/>
          <p:nvPr/>
        </p:nvSpPr>
        <p:spPr>
          <a:xfrm>
            <a:off x="502920" y="2121408"/>
            <a:ext cx="5486400" cy="1920240"/>
          </a:xfrm>
          <a:prstGeom prst="roundRect">
            <a:avLst>
              <a:gd name="adj" fmla="val 3810"/>
            </a:avLst>
          </a:prstGeom>
          <a:solidFill>
            <a:srgbClr val="1E1E2E"/>
          </a:solidFill>
          <a:ln/>
        </p:spPr>
      </p:sp>
      <p:sp>
        <p:nvSpPr>
          <p:cNvPr id="8" name="Shape 6"/>
          <p:cNvSpPr/>
          <p:nvPr/>
        </p:nvSpPr>
        <p:spPr>
          <a:xfrm>
            <a:off x="640080" y="2249424"/>
            <a:ext cx="100584" cy="100584"/>
          </a:xfrm>
          <a:prstGeom prst="ellipse">
            <a:avLst/>
          </a:prstGeom>
          <a:solidFill>
            <a:srgbClr val="FF5F56"/>
          </a:solidFill>
          <a:ln/>
        </p:spPr>
      </p:sp>
      <p:sp>
        <p:nvSpPr>
          <p:cNvPr id="9" name="Shape 7"/>
          <p:cNvSpPr/>
          <p:nvPr/>
        </p:nvSpPr>
        <p:spPr>
          <a:xfrm>
            <a:off x="795528" y="2249424"/>
            <a:ext cx="100584" cy="100584"/>
          </a:xfrm>
          <a:prstGeom prst="ellipse">
            <a:avLst/>
          </a:prstGeom>
          <a:solidFill>
            <a:srgbClr val="FFBD2E"/>
          </a:solidFill>
          <a:ln/>
        </p:spPr>
      </p:sp>
      <p:sp>
        <p:nvSpPr>
          <p:cNvPr id="10" name="Shape 8"/>
          <p:cNvSpPr/>
          <p:nvPr/>
        </p:nvSpPr>
        <p:spPr>
          <a:xfrm>
            <a:off x="950976" y="2249424"/>
            <a:ext cx="100584" cy="100584"/>
          </a:xfrm>
          <a:prstGeom prst="ellipse">
            <a:avLst/>
          </a:prstGeom>
          <a:solidFill>
            <a:srgbClr val="27C93F"/>
          </a:solidFill>
          <a:ln/>
        </p:spPr>
      </p:sp>
      <p:sp>
        <p:nvSpPr>
          <p:cNvPr id="11" name="Text 9"/>
          <p:cNvSpPr/>
          <p:nvPr/>
        </p:nvSpPr>
        <p:spPr>
          <a:xfrm>
            <a:off x="1143000" y="2167128"/>
            <a:ext cx="4572000" cy="274320"/>
          </a:xfrm>
          <a:prstGeom prst="rect">
            <a:avLst/>
          </a:prstGeom>
          <a:noFill/>
          <a:ln/>
        </p:spPr>
        <p:txBody>
          <a:bodyPr wrap="square" rtlCol="0" anchor="ctr"/>
          <a:lstStyle/>
          <a:p>
            <a:pPr marL="0" indent="0" algn="r">
              <a:buNone/>
            </a:pPr>
            <a:r>
              <a:rPr lang="en-US" sz="1000" dirty="0">
                <a:solidFill>
                  <a:srgbClr val="8A90AC"/>
                </a:solidFill>
                <a:latin typeface="Courier New" pitchFamily="34" charset="0"/>
                <a:ea typeface="Courier New" pitchFamily="34" charset="-122"/>
                <a:cs typeface="Courier New" pitchFamily="34" charset="-120"/>
              </a:rPr>
              <a:t>Main.java</a:t>
            </a:r>
            <a:endParaRPr lang="en-US" sz="1000" dirty="0"/>
          </a:p>
        </p:txBody>
      </p:sp>
      <p:sp>
        <p:nvSpPr>
          <p:cNvPr id="12" name="Text 10"/>
          <p:cNvSpPr/>
          <p:nvPr/>
        </p:nvSpPr>
        <p:spPr>
          <a:xfrm>
            <a:off x="731520" y="2487168"/>
            <a:ext cx="5029200" cy="1463040"/>
          </a:xfrm>
          <a:prstGeom prst="rect">
            <a:avLst/>
          </a:prstGeom>
          <a:noFill/>
          <a:ln/>
        </p:spPr>
        <p:txBody>
          <a:bodyPr wrap="square" lIns="0" tIns="0" rIns="0" bIns="0" rtlCol="0" anchor="t"/>
          <a:lstStyle/>
          <a:p>
            <a:pPr marL="0" indent="0">
              <a:lnSpc>
                <a:spcPct val="120000"/>
              </a:lnSpc>
              <a:buNone/>
            </a:pPr>
            <a:r>
              <a:rPr lang="en-US" sz="1200" dirty="0">
                <a:solidFill>
                  <a:srgbClr val="D4D4E0"/>
                </a:solidFill>
                <a:latin typeface="Courier New" pitchFamily="34" charset="0"/>
                <a:ea typeface="Courier New" pitchFamily="34" charset="-122"/>
                <a:cs typeface="Courier New" pitchFamily="34" charset="-120"/>
              </a:rPr>
              <a:t>Map&lt;Character, Integer&gt; countFrequency(String s) {</a:t>
            </a:r>
            <a:endParaRPr lang="en-US" sz="1200" dirty="0"/>
          </a:p>
          <a:p>
            <a:pPr marL="0" indent="0">
              <a:lnSpc>
                <a:spcPct val="120000"/>
              </a:lnSpc>
              <a:buNone/>
            </a:pPr>
            <a:r>
              <a:rPr lang="en-US" sz="1200" dirty="0">
                <a:solidFill>
                  <a:srgbClr val="D4D4E0"/>
                </a:solidFill>
                <a:latin typeface="Courier New" pitchFamily="34" charset="0"/>
                <a:ea typeface="Courier New" pitchFamily="34" charset="-122"/>
                <a:cs typeface="Courier New" pitchFamily="34" charset="-120"/>
              </a:rPr>
              <a:t>    Map&lt;Character, Integer&gt; freq = new HashMap&lt;&gt;();</a:t>
            </a:r>
            <a:endParaRPr lang="en-US" sz="1200" dirty="0"/>
          </a:p>
          <a:p>
            <a:pPr marL="0" indent="0">
              <a:lnSpc>
                <a:spcPct val="120000"/>
              </a:lnSpc>
              <a:buNone/>
            </a:pPr>
            <a:r>
              <a:rPr lang="en-US" sz="1200" dirty="0">
                <a:solidFill>
                  <a:srgbClr val="D4D4E0"/>
                </a:solidFill>
                <a:latin typeface="Courier New" pitchFamily="34" charset="0"/>
                <a:ea typeface="Courier New" pitchFamily="34" charset="-122"/>
                <a:cs typeface="Courier New" pitchFamily="34" charset="-120"/>
              </a:rPr>
              <a:t>    for (char c : s.toCharArray())</a:t>
            </a:r>
            <a:endParaRPr lang="en-US" sz="1200" dirty="0"/>
          </a:p>
          <a:p>
            <a:pPr marL="0" indent="0">
              <a:lnSpc>
                <a:spcPct val="120000"/>
              </a:lnSpc>
              <a:buNone/>
            </a:pPr>
            <a:r>
              <a:rPr lang="en-US" sz="1200" dirty="0">
                <a:solidFill>
                  <a:srgbClr val="D4D4E0"/>
                </a:solidFill>
                <a:latin typeface="Courier New" pitchFamily="34" charset="0"/>
                <a:ea typeface="Courier New" pitchFamily="34" charset="-122"/>
                <a:cs typeface="Courier New" pitchFamily="34" charset="-120"/>
              </a:rPr>
              <a:t>        freq.put(c, freq.getOrDefault(c, 0) + 1);</a:t>
            </a:r>
            <a:endParaRPr lang="en-US" sz="1200" dirty="0"/>
          </a:p>
          <a:p>
            <a:pPr marL="0" indent="0">
              <a:lnSpc>
                <a:spcPct val="120000"/>
              </a:lnSpc>
              <a:buNone/>
            </a:pPr>
            <a:r>
              <a:rPr lang="en-US" sz="1200" dirty="0">
                <a:solidFill>
                  <a:srgbClr val="D4D4E0"/>
                </a:solidFill>
                <a:latin typeface="Courier New" pitchFamily="34" charset="0"/>
                <a:ea typeface="Courier New" pitchFamily="34" charset="-122"/>
                <a:cs typeface="Courier New" pitchFamily="34" charset="-120"/>
              </a:rPr>
              <a:t>    return freq;</a:t>
            </a:r>
            <a:endParaRPr lang="en-US" sz="1200" dirty="0"/>
          </a:p>
          <a:p>
            <a:pPr marL="0" indent="0">
              <a:lnSpc>
                <a:spcPct val="120000"/>
              </a:lnSpc>
              <a:buNone/>
            </a:pPr>
            <a:r>
              <a:rPr lang="en-US" sz="1200" dirty="0">
                <a:solidFill>
                  <a:srgbClr val="D4D4E0"/>
                </a:solidFill>
                <a:latin typeface="Courier New" pitchFamily="34" charset="0"/>
                <a:ea typeface="Courier New" pitchFamily="34" charset="-122"/>
                <a:cs typeface="Courier New" pitchFamily="34" charset="-120"/>
              </a:rPr>
              <a:t>}</a:t>
            </a:r>
            <a:endParaRPr lang="en-US" sz="1200" dirty="0"/>
          </a:p>
        </p:txBody>
      </p:sp>
      <p:sp>
        <p:nvSpPr>
          <p:cNvPr id="13" name="Shape 11"/>
          <p:cNvSpPr/>
          <p:nvPr/>
        </p:nvSpPr>
        <p:spPr>
          <a:xfrm>
            <a:off x="502920" y="4224528"/>
            <a:ext cx="5486400" cy="868680"/>
          </a:xfrm>
          <a:prstGeom prst="roundRect">
            <a:avLst>
              <a:gd name="adj" fmla="val 8421"/>
            </a:avLst>
          </a:prstGeom>
          <a:solidFill>
            <a:srgbClr val="1B2340"/>
          </a:solidFill>
          <a:ln/>
        </p:spPr>
      </p:sp>
      <p:sp>
        <p:nvSpPr>
          <p:cNvPr id="14" name="Text 12"/>
          <p:cNvSpPr/>
          <p:nvPr/>
        </p:nvSpPr>
        <p:spPr>
          <a:xfrm>
            <a:off x="731520" y="4315968"/>
            <a:ext cx="5029200" cy="256032"/>
          </a:xfrm>
          <a:prstGeom prst="rect">
            <a:avLst/>
          </a:prstGeom>
          <a:noFill/>
          <a:ln/>
        </p:spPr>
        <p:txBody>
          <a:bodyPr wrap="square" rtlCol="0" anchor="ctr"/>
          <a:lstStyle/>
          <a:p>
            <a:pPr marL="0" indent="0">
              <a:buNone/>
            </a:pPr>
            <a:r>
              <a:rPr lang="en-US" sz="1050" b="1" kern="0" spc="80" dirty="0">
                <a:solidFill>
                  <a:srgbClr val="E8A33D"/>
                </a:solidFill>
                <a:latin typeface="Calibri" pitchFamily="34" charset="0"/>
                <a:ea typeface="Calibri" pitchFamily="34" charset="-122"/>
                <a:cs typeface="Calibri" pitchFamily="34" charset="-120"/>
              </a:rPr>
              <a:t>ONE-LINE INTERVIEW ANSWER</a:t>
            </a:r>
            <a:endParaRPr lang="en-US" sz="1050" dirty="0"/>
          </a:p>
        </p:txBody>
      </p:sp>
      <p:sp>
        <p:nvSpPr>
          <p:cNvPr id="15" name="Text 13"/>
          <p:cNvSpPr/>
          <p:nvPr/>
        </p:nvSpPr>
        <p:spPr>
          <a:xfrm>
            <a:off x="731520" y="4572000"/>
            <a:ext cx="5029200" cy="411480"/>
          </a:xfrm>
          <a:prstGeom prst="rect">
            <a:avLst/>
          </a:prstGeom>
          <a:noFill/>
          <a:ln/>
        </p:spPr>
        <p:txBody>
          <a:bodyPr wrap="square" lIns="0" tIns="0" rIns="0" bIns="0" rtlCol="0" anchor="t"/>
          <a:lstStyle/>
          <a:p>
            <a:pPr marL="0" indent="0">
              <a:lnSpc>
                <a:spcPct val="105000"/>
              </a:lnSpc>
              <a:buNone/>
            </a:pPr>
            <a:r>
              <a:rPr lang="en-US" sz="1250" dirty="0">
                <a:solidFill>
                  <a:srgbClr val="FFFFFF"/>
                </a:solidFill>
                <a:latin typeface="Calibri" pitchFamily="34" charset="0"/>
                <a:ea typeface="Calibri" pitchFamily="34" charset="-122"/>
                <a:cs typeface="Calibri" pitchFamily="34" charset="-120"/>
              </a:rPr>
              <a:t>Frequency counting uses a HashMap to store each element's count, updated in a single O(n) pass through the data.</a:t>
            </a:r>
            <a:endParaRPr lang="en-US" sz="1250" dirty="0"/>
          </a:p>
        </p:txBody>
      </p:sp>
      <p:sp>
        <p:nvSpPr>
          <p:cNvPr id="16" name="Shape 14"/>
          <p:cNvSpPr/>
          <p:nvPr/>
        </p:nvSpPr>
        <p:spPr>
          <a:xfrm>
            <a:off x="6263640" y="1810512"/>
            <a:ext cx="164592" cy="274320"/>
          </a:xfrm>
          <a:prstGeom prst="roundRect">
            <a:avLst>
              <a:gd name="adj" fmla="val 22222"/>
            </a:avLst>
          </a:prstGeom>
          <a:solidFill>
            <a:srgbClr val="3FBFAE"/>
          </a:solidFill>
          <a:ln/>
        </p:spPr>
      </p:sp>
      <p:sp>
        <p:nvSpPr>
          <p:cNvPr id="17" name="Text 15"/>
          <p:cNvSpPr/>
          <p:nvPr/>
        </p:nvSpPr>
        <p:spPr>
          <a:xfrm>
            <a:off x="6519672" y="1783080"/>
            <a:ext cx="5184648" cy="329184"/>
          </a:xfrm>
          <a:prstGeom prst="rect">
            <a:avLst/>
          </a:prstGeom>
          <a:noFill/>
          <a:ln/>
        </p:spPr>
        <p:txBody>
          <a:bodyPr wrap="square" rtlCol="0" anchor="ctr"/>
          <a:lstStyle/>
          <a:p>
            <a:pPr marL="0" indent="0">
              <a:buNone/>
            </a:pPr>
            <a:r>
              <a:rPr lang="en-US" sz="1300" b="1" kern="0" spc="50" dirty="0">
                <a:solidFill>
                  <a:srgbClr val="1B2340"/>
                </a:solidFill>
                <a:latin typeface="Calibri" pitchFamily="34" charset="0"/>
                <a:ea typeface="Calibri" pitchFamily="34" charset="-122"/>
                <a:cs typeface="Calibri" pitchFamily="34" charset="-120"/>
              </a:rPr>
              <a:t>EXPLANATION</a:t>
            </a:r>
            <a:endParaRPr lang="en-US" sz="1300" dirty="0"/>
          </a:p>
        </p:txBody>
      </p:sp>
      <p:sp>
        <p:nvSpPr>
          <p:cNvPr id="18" name="Text 16"/>
          <p:cNvSpPr/>
          <p:nvPr/>
        </p:nvSpPr>
        <p:spPr>
          <a:xfrm>
            <a:off x="6263640" y="2139696"/>
            <a:ext cx="5440680" cy="2011680"/>
          </a:xfrm>
          <a:prstGeom prst="rect">
            <a:avLst/>
          </a:prstGeom>
          <a:noFill/>
          <a:ln/>
        </p:spPr>
        <p:txBody>
          <a:bodyPr wrap="square" lIns="0" tIns="0" rIns="0" bIns="0" rtlCol="0" anchor="t"/>
          <a:lstStyle/>
          <a:p>
            <a:pPr marL="177800" indent="-177800">
              <a:spcAft>
                <a:spcPts val="800"/>
              </a:spcAft>
              <a:buSzPct val="100000"/>
              <a:buChar char="•"/>
            </a:pPr>
            <a:r>
              <a:rPr lang="en-US" sz="1250" dirty="0">
                <a:solidFill>
                  <a:srgbClr val="1B2340"/>
                </a:solidFill>
                <a:latin typeface="Calibri" pitchFamily="34" charset="0"/>
                <a:ea typeface="Calibri" pitchFamily="34" charset="-122"/>
                <a:cs typeface="Calibri" pitchFamily="34" charset="-120"/>
              </a:rPr>
              <a:t>The HashMap&lt;Character, Integer&gt; stores each character as a key and its count as the value</a:t>
            </a:r>
            <a:endParaRPr lang="en-US" sz="1250" dirty="0"/>
          </a:p>
          <a:p>
            <a:pPr marL="177800" indent="-177800">
              <a:spcAft>
                <a:spcPts val="800"/>
              </a:spcAft>
              <a:buSzPct val="100000"/>
              <a:buChar char="•"/>
            </a:pPr>
            <a:r>
              <a:rPr lang="en-US" sz="1250" dirty="0">
                <a:solidFill>
                  <a:srgbClr val="1B2340"/>
                </a:solidFill>
                <a:latin typeface="Calibri" pitchFamily="34" charset="0"/>
                <a:ea typeface="Calibri" pitchFamily="34" charset="-122"/>
                <a:cs typeface="Calibri" pitchFamily="34" charset="-120"/>
              </a:rPr>
              <a:t>getOrDefault(c, 0) + 1 either starts a new count at 1, or increments the existing count</a:t>
            </a:r>
            <a:endParaRPr lang="en-US" sz="1250" dirty="0"/>
          </a:p>
          <a:p>
            <a:pPr marL="177800" indent="-177800">
              <a:spcAft>
                <a:spcPts val="800"/>
              </a:spcAft>
              <a:buSzPct val="100000"/>
              <a:buChar char="•"/>
            </a:pPr>
            <a:r>
              <a:rPr lang="en-US" sz="1250" dirty="0">
                <a:solidFill>
                  <a:srgbClr val="1B2340"/>
                </a:solidFill>
                <a:latin typeface="Calibri" pitchFamily="34" charset="0"/>
                <a:ea typeface="Calibri" pitchFamily="34" charset="-122"/>
                <a:cs typeface="Calibri" pitchFamily="34" charset="-120"/>
              </a:rPr>
              <a:t>This processes the whole string in a single pass - O(n) time</a:t>
            </a:r>
            <a:endParaRPr lang="en-US" sz="1250" dirty="0"/>
          </a:p>
          <a:p>
            <a:pPr marL="177800" indent="-177800">
              <a:spcAft>
                <a:spcPts val="800"/>
              </a:spcAft>
              <a:buSzPct val="100000"/>
              <a:buChar char="•"/>
            </a:pPr>
            <a:r>
              <a:rPr lang="en-US" sz="1250" dirty="0">
                <a:solidFill>
                  <a:srgbClr val="1B2340"/>
                </a:solidFill>
                <a:latin typeface="Calibri" pitchFamily="34" charset="0"/>
                <a:ea typeface="Calibri" pitchFamily="34" charset="-122"/>
                <a:cs typeface="Calibri" pitchFamily="34" charset="-120"/>
              </a:rPr>
              <a:t>The same pattern works for counting frequency of numbers in an array, or words in a sentence</a:t>
            </a:r>
            <a:endParaRPr lang="en-US" sz="1250" dirty="0"/>
          </a:p>
        </p:txBody>
      </p:sp>
      <p:sp>
        <p:nvSpPr>
          <p:cNvPr id="19" name="Shape 17"/>
          <p:cNvSpPr/>
          <p:nvPr/>
        </p:nvSpPr>
        <p:spPr>
          <a:xfrm>
            <a:off x="6263640" y="4261104"/>
            <a:ext cx="5440680" cy="1783080"/>
          </a:xfrm>
          <a:prstGeom prst="roundRect">
            <a:avLst>
              <a:gd name="adj" fmla="val 4103"/>
            </a:avLst>
          </a:prstGeom>
          <a:solidFill>
            <a:srgbClr val="FDF3E3"/>
          </a:solidFill>
          <a:ln/>
        </p:spPr>
      </p:sp>
      <p:sp>
        <p:nvSpPr>
          <p:cNvPr id="20" name="Text 18"/>
          <p:cNvSpPr/>
          <p:nvPr/>
        </p:nvSpPr>
        <p:spPr>
          <a:xfrm>
            <a:off x="6464808" y="4370832"/>
            <a:ext cx="5038344" cy="274320"/>
          </a:xfrm>
          <a:prstGeom prst="rect">
            <a:avLst/>
          </a:prstGeom>
          <a:noFill/>
          <a:ln/>
        </p:spPr>
        <p:txBody>
          <a:bodyPr wrap="square" rtlCol="0" anchor="ctr"/>
          <a:lstStyle/>
          <a:p>
            <a:pPr marL="0" indent="0">
              <a:buNone/>
            </a:pPr>
            <a:r>
              <a:rPr lang="en-US" sz="1100" b="1" kern="0" spc="50" dirty="0">
                <a:solidFill>
                  <a:srgbClr val="C9862A"/>
                </a:solidFill>
                <a:latin typeface="Calibri" pitchFamily="34" charset="0"/>
                <a:ea typeface="Calibri" pitchFamily="34" charset="-122"/>
                <a:cs typeface="Calibri" pitchFamily="34" charset="-120"/>
              </a:rPr>
              <a:t>💡 REAL-LIFE ANALOGY</a:t>
            </a:r>
            <a:endParaRPr lang="en-US" sz="1100" dirty="0"/>
          </a:p>
        </p:txBody>
      </p:sp>
      <p:sp>
        <p:nvSpPr>
          <p:cNvPr id="21" name="Text 19"/>
          <p:cNvSpPr/>
          <p:nvPr/>
        </p:nvSpPr>
        <p:spPr>
          <a:xfrm>
            <a:off x="6464808" y="4663440"/>
            <a:ext cx="5038344" cy="1252728"/>
          </a:xfrm>
          <a:prstGeom prst="rect">
            <a:avLst/>
          </a:prstGeom>
          <a:noFill/>
          <a:ln/>
        </p:spPr>
        <p:txBody>
          <a:bodyPr wrap="square" lIns="0" tIns="0" rIns="0" bIns="0" rtlCol="0" anchor="t"/>
          <a:lstStyle/>
          <a:p>
            <a:pPr marL="0" indent="0">
              <a:lnSpc>
                <a:spcPct val="110000"/>
              </a:lnSpc>
              <a:buNone/>
            </a:pPr>
            <a:r>
              <a:rPr lang="en-US" sz="1250" i="1" dirty="0">
                <a:solidFill>
                  <a:srgbClr val="1B2340"/>
                </a:solidFill>
                <a:latin typeface="Calibri" pitchFamily="34" charset="0"/>
                <a:ea typeface="Calibri" pitchFamily="34" charset="-122"/>
                <a:cs typeface="Calibri" pitchFamily="34" charset="-120"/>
              </a:rPr>
              <a:t>It's like a tally chart at a survey booth - every time a particular answer comes in, you just add one more tally mark next to it, instead of recounting everything from scratch.</a:t>
            </a:r>
            <a:endParaRPr lang="en-US" sz="1250" dirty="0"/>
          </a:p>
        </p:txBody>
      </p:sp>
      <p:sp>
        <p:nvSpPr>
          <p:cNvPr id="22" name="Text 20"/>
          <p:cNvSpPr/>
          <p:nvPr/>
        </p:nvSpPr>
        <p:spPr>
          <a:xfrm>
            <a:off x="457200" y="6583680"/>
            <a:ext cx="5486400" cy="228600"/>
          </a:xfrm>
          <a:prstGeom prst="rect">
            <a:avLst/>
          </a:prstGeom>
          <a:noFill/>
          <a:ln/>
        </p:spPr>
        <p:txBody>
          <a:bodyPr wrap="square" rtlCol="0" anchor="ctr"/>
          <a:lstStyle/>
          <a:p>
            <a:pPr marL="0" indent="0" algn="l">
              <a:buNone/>
            </a:pPr>
            <a:r>
              <a:rPr lang="en-US" sz="850" dirty="0">
                <a:solidFill>
                  <a:srgbClr val="5B6178"/>
                </a:solidFill>
                <a:latin typeface="Calibri" pitchFamily="34" charset="0"/>
                <a:ea typeface="Calibri" pitchFamily="34" charset="-122"/>
                <a:cs typeface="Calibri" pitchFamily="34" charset="-120"/>
              </a:rPr>
              <a:t>Java &amp; Full-Stack Interview Prep</a:t>
            </a:r>
            <a:endParaRPr lang="en-US" sz="85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spTree>
      <p:nvGrpSpPr>
        <p:cNvPr id="1" name=""/>
        <p:cNvGrpSpPr/>
        <p:nvPr/>
      </p:nvGrpSpPr>
      <p:grpSpPr>
        <a:xfrm>
          <a:off x="0" y="0"/>
          <a:ext cx="0" cy="0"/>
          <a:chOff x="0" y="0"/>
          <a:chExt cx="0" cy="0"/>
        </a:xfrm>
      </p:grpSpPr>
      <p:sp>
        <p:nvSpPr>
          <p:cNvPr id="2" name="Shape 0"/>
          <p:cNvSpPr/>
          <p:nvPr/>
        </p:nvSpPr>
        <p:spPr>
          <a:xfrm>
            <a:off x="502920" y="384048"/>
            <a:ext cx="4279392" cy="310896"/>
          </a:xfrm>
          <a:prstGeom prst="roundRect">
            <a:avLst>
              <a:gd name="adj" fmla="val 23529"/>
            </a:avLst>
          </a:prstGeom>
          <a:solidFill>
            <a:srgbClr val="E8A33D"/>
          </a:solidFill>
          <a:ln/>
        </p:spPr>
      </p:sp>
      <p:sp>
        <p:nvSpPr>
          <p:cNvPr id="3" name="Text 1"/>
          <p:cNvSpPr/>
          <p:nvPr/>
        </p:nvSpPr>
        <p:spPr>
          <a:xfrm>
            <a:off x="502920" y="384048"/>
            <a:ext cx="4279392" cy="310896"/>
          </a:xfrm>
          <a:prstGeom prst="rect">
            <a:avLst/>
          </a:prstGeom>
          <a:noFill/>
          <a:ln/>
        </p:spPr>
        <p:txBody>
          <a:bodyPr wrap="square" rtlCol="0" anchor="ctr"/>
          <a:lstStyle/>
          <a:p>
            <a:pPr marL="0" indent="0" algn="ctr">
              <a:buNone/>
            </a:pPr>
            <a:r>
              <a:rPr lang="en-US" sz="1100" b="1" kern="0" spc="100" dirty="0">
                <a:solidFill>
                  <a:srgbClr val="1B2340"/>
                </a:solidFill>
                <a:latin typeface="Calibri" pitchFamily="34" charset="0"/>
                <a:ea typeface="Calibri" pitchFamily="34" charset="-122"/>
                <a:cs typeface="Calibri" pitchFamily="34" charset="-120"/>
              </a:rPr>
              <a:t>DSA CODING PRACTICE</a:t>
            </a:r>
            <a:endParaRPr lang="en-US" sz="1100" dirty="0"/>
          </a:p>
        </p:txBody>
      </p:sp>
      <p:sp>
        <p:nvSpPr>
          <p:cNvPr id="4" name="Text 2"/>
          <p:cNvSpPr/>
          <p:nvPr/>
        </p:nvSpPr>
        <p:spPr>
          <a:xfrm>
            <a:off x="502920" y="786384"/>
            <a:ext cx="11155680" cy="868680"/>
          </a:xfrm>
          <a:prstGeom prst="rect">
            <a:avLst/>
          </a:prstGeom>
          <a:noFill/>
          <a:ln/>
        </p:spPr>
        <p:txBody>
          <a:bodyPr wrap="square" rtlCol="0" anchor="t"/>
          <a:lstStyle/>
          <a:p>
            <a:pPr marL="0" indent="0">
              <a:lnSpc>
                <a:spcPct val="102000"/>
              </a:lnSpc>
              <a:buNone/>
            </a:pPr>
            <a:r>
              <a:rPr lang="en-US" sz="2500" b="1" dirty="0">
                <a:solidFill>
                  <a:srgbClr val="1B2340"/>
                </a:solidFill>
                <a:latin typeface="Century Schoolbook" pitchFamily="34" charset="0"/>
                <a:ea typeface="Century Schoolbook" pitchFamily="34" charset="-122"/>
                <a:cs typeface="Century Schoolbook" pitchFamily="34" charset="-120"/>
              </a:rPr>
              <a:t>How do you check if two Strings are Anagrams?</a:t>
            </a:r>
            <a:endParaRPr lang="en-US" sz="2500" dirty="0"/>
          </a:p>
        </p:txBody>
      </p:sp>
      <p:sp>
        <p:nvSpPr>
          <p:cNvPr id="5" name="Shape 3"/>
          <p:cNvSpPr/>
          <p:nvPr/>
        </p:nvSpPr>
        <p:spPr>
          <a:xfrm>
            <a:off x="502920" y="1874520"/>
            <a:ext cx="164592" cy="274320"/>
          </a:xfrm>
          <a:prstGeom prst="roundRect">
            <a:avLst>
              <a:gd name="adj" fmla="val 22222"/>
            </a:avLst>
          </a:prstGeom>
          <a:solidFill>
            <a:srgbClr val="E8A33D"/>
          </a:solidFill>
          <a:ln/>
        </p:spPr>
      </p:sp>
      <p:sp>
        <p:nvSpPr>
          <p:cNvPr id="6" name="Text 4"/>
          <p:cNvSpPr/>
          <p:nvPr/>
        </p:nvSpPr>
        <p:spPr>
          <a:xfrm>
            <a:off x="758952" y="1847088"/>
            <a:ext cx="7059168" cy="329184"/>
          </a:xfrm>
          <a:prstGeom prst="rect">
            <a:avLst/>
          </a:prstGeom>
          <a:noFill/>
          <a:ln/>
        </p:spPr>
        <p:txBody>
          <a:bodyPr wrap="square" rtlCol="0" anchor="ctr"/>
          <a:lstStyle/>
          <a:p>
            <a:pPr marL="0" indent="0">
              <a:buNone/>
            </a:pPr>
            <a:r>
              <a:rPr lang="en-US" sz="1300" b="1" kern="0" spc="50" dirty="0">
                <a:solidFill>
                  <a:srgbClr val="1B2340"/>
                </a:solidFill>
                <a:latin typeface="Calibri" pitchFamily="34" charset="0"/>
                <a:ea typeface="Calibri" pitchFamily="34" charset="-122"/>
                <a:cs typeface="Calibri" pitchFamily="34" charset="-120"/>
              </a:rPr>
              <a:t>DEFINITION / CONCEPT</a:t>
            </a:r>
            <a:endParaRPr lang="en-US" sz="1300" dirty="0"/>
          </a:p>
        </p:txBody>
      </p:sp>
      <p:sp>
        <p:nvSpPr>
          <p:cNvPr id="7" name="Shape 5"/>
          <p:cNvSpPr/>
          <p:nvPr/>
        </p:nvSpPr>
        <p:spPr>
          <a:xfrm>
            <a:off x="502920" y="2194560"/>
            <a:ext cx="11201400" cy="1188720"/>
          </a:xfrm>
          <a:prstGeom prst="roundRect">
            <a:avLst>
              <a:gd name="adj" fmla="val 6154"/>
            </a:avLst>
          </a:prstGeom>
          <a:solidFill>
            <a:srgbClr val="F7F7FA"/>
          </a:solidFill>
          <a:ln w="12700">
            <a:solidFill>
              <a:srgbClr val="E4E6EF"/>
            </a:solidFill>
            <a:prstDash val="solid"/>
          </a:ln>
        </p:spPr>
      </p:sp>
      <p:sp>
        <p:nvSpPr>
          <p:cNvPr id="8" name="Text 6"/>
          <p:cNvSpPr/>
          <p:nvPr/>
        </p:nvSpPr>
        <p:spPr>
          <a:xfrm>
            <a:off x="758952" y="2377440"/>
            <a:ext cx="10689336" cy="822960"/>
          </a:xfrm>
          <a:prstGeom prst="rect">
            <a:avLst/>
          </a:prstGeom>
          <a:noFill/>
          <a:ln/>
        </p:spPr>
        <p:txBody>
          <a:bodyPr wrap="square" lIns="0" tIns="0" rIns="0" bIns="0" rtlCol="0" anchor="t"/>
          <a:lstStyle/>
          <a:p>
            <a:pPr marL="0" indent="0">
              <a:lnSpc>
                <a:spcPct val="115000"/>
              </a:lnSpc>
              <a:buNone/>
            </a:pPr>
            <a:r>
              <a:rPr lang="en-US" sz="1450" dirty="0">
                <a:solidFill>
                  <a:srgbClr val="1B2340"/>
                </a:solidFill>
                <a:latin typeface="Calibri" pitchFamily="34" charset="0"/>
                <a:ea typeface="Calibri" pitchFamily="34" charset="-122"/>
                <a:cs typeface="Calibri" pitchFamily="34" charset="-120"/>
              </a:rPr>
              <a:t>Two strings are anagrams if they contain exactly the same characters with the same frequency, just arranged differently (e.g. 'listen' and 'silent').</a:t>
            </a:r>
            <a:endParaRPr lang="en-US" sz="1450" dirty="0"/>
          </a:p>
        </p:txBody>
      </p:sp>
      <p:sp>
        <p:nvSpPr>
          <p:cNvPr id="9" name="Shape 7"/>
          <p:cNvSpPr/>
          <p:nvPr/>
        </p:nvSpPr>
        <p:spPr>
          <a:xfrm>
            <a:off x="502920" y="3611880"/>
            <a:ext cx="164592" cy="274320"/>
          </a:xfrm>
          <a:prstGeom prst="roundRect">
            <a:avLst>
              <a:gd name="adj" fmla="val 22222"/>
            </a:avLst>
          </a:prstGeom>
          <a:solidFill>
            <a:srgbClr val="3FBFAE"/>
          </a:solidFill>
          <a:ln/>
        </p:spPr>
      </p:sp>
      <p:sp>
        <p:nvSpPr>
          <p:cNvPr id="10" name="Text 8"/>
          <p:cNvSpPr/>
          <p:nvPr/>
        </p:nvSpPr>
        <p:spPr>
          <a:xfrm>
            <a:off x="758952" y="3584448"/>
            <a:ext cx="7059168" cy="329184"/>
          </a:xfrm>
          <a:prstGeom prst="rect">
            <a:avLst/>
          </a:prstGeom>
          <a:noFill/>
          <a:ln/>
        </p:spPr>
        <p:txBody>
          <a:bodyPr wrap="square" rtlCol="0" anchor="ctr"/>
          <a:lstStyle/>
          <a:p>
            <a:pPr marL="0" indent="0">
              <a:buNone/>
            </a:pPr>
            <a:r>
              <a:rPr lang="en-US" sz="1300" b="1" kern="0" spc="50" dirty="0">
                <a:solidFill>
                  <a:srgbClr val="1B2340"/>
                </a:solidFill>
                <a:latin typeface="Calibri" pitchFamily="34" charset="0"/>
                <a:ea typeface="Calibri" pitchFamily="34" charset="-122"/>
                <a:cs typeface="Calibri" pitchFamily="34" charset="-120"/>
              </a:rPr>
              <a:t>APPROACH - HOW TO SOLVE IT</a:t>
            </a:r>
            <a:endParaRPr lang="en-US" sz="1300" dirty="0"/>
          </a:p>
        </p:txBody>
      </p:sp>
      <p:sp>
        <p:nvSpPr>
          <p:cNvPr id="11" name="Text 9"/>
          <p:cNvSpPr/>
          <p:nvPr/>
        </p:nvSpPr>
        <p:spPr>
          <a:xfrm>
            <a:off x="502920" y="3950208"/>
            <a:ext cx="10607040" cy="2468880"/>
          </a:xfrm>
          <a:prstGeom prst="rect">
            <a:avLst/>
          </a:prstGeom>
          <a:noFill/>
          <a:ln/>
        </p:spPr>
        <p:txBody>
          <a:bodyPr wrap="square" lIns="0" tIns="0" rIns="0" bIns="0" rtlCol="0" anchor="t"/>
          <a:lstStyle/>
          <a:p>
            <a:pPr marL="177800" indent="-177800">
              <a:spcAft>
                <a:spcPts val="1200"/>
              </a:spcAft>
              <a:buSzPct val="100000"/>
              <a:buChar char="•"/>
            </a:pPr>
            <a:r>
              <a:rPr lang="en-US" sz="1450" dirty="0">
                <a:solidFill>
                  <a:srgbClr val="1B2340"/>
                </a:solidFill>
                <a:latin typeface="Calibri" pitchFamily="34" charset="0"/>
                <a:ea typeface="Calibri" pitchFamily="34" charset="-122"/>
                <a:cs typeface="Calibri" pitchFamily="34" charset="-120"/>
              </a:rPr>
              <a:t>A quick check: if the two strings have different lengths, they can't be anagrams</a:t>
            </a:r>
            <a:endParaRPr lang="en-US" sz="1450" dirty="0"/>
          </a:p>
          <a:p>
            <a:pPr marL="177800" indent="-177800">
              <a:spcAft>
                <a:spcPts val="1200"/>
              </a:spcAft>
              <a:buSzPct val="100000"/>
              <a:buChar char="•"/>
            </a:pPr>
            <a:r>
              <a:rPr lang="en-US" sz="1450" dirty="0">
                <a:solidFill>
                  <a:srgbClr val="1B2340"/>
                </a:solidFill>
                <a:latin typeface="Calibri" pitchFamily="34" charset="0"/>
                <a:ea typeface="Calibri" pitchFamily="34" charset="-122"/>
                <a:cs typeface="Calibri" pitchFamily="34" charset="-120"/>
              </a:rPr>
              <a:t>One approach: sort both strings and check if the sorted versions are equal</a:t>
            </a:r>
            <a:endParaRPr lang="en-US" sz="1450" dirty="0"/>
          </a:p>
          <a:p>
            <a:pPr marL="177800" indent="-177800">
              <a:spcAft>
                <a:spcPts val="1200"/>
              </a:spcAft>
              <a:buSzPct val="100000"/>
              <a:buChar char="•"/>
            </a:pPr>
            <a:r>
              <a:rPr lang="en-US" sz="1450" dirty="0">
                <a:solidFill>
                  <a:srgbClr val="1B2340"/>
                </a:solidFill>
                <a:latin typeface="Calibri" pitchFamily="34" charset="0"/>
                <a:ea typeface="Calibri" pitchFamily="34" charset="-122"/>
                <a:cs typeface="Calibri" pitchFamily="34" charset="-120"/>
              </a:rPr>
              <a:t>A faster approach: count character frequencies of both strings using a HashMap/array and compare</a:t>
            </a:r>
            <a:endParaRPr lang="en-US" sz="1450" dirty="0"/>
          </a:p>
          <a:p>
            <a:pPr marL="177800" indent="-177800">
              <a:spcAft>
                <a:spcPts val="1200"/>
              </a:spcAft>
              <a:buSzPct val="100000"/>
              <a:buChar char="•"/>
            </a:pPr>
            <a:r>
              <a:rPr lang="en-US" sz="1450" dirty="0">
                <a:solidFill>
                  <a:srgbClr val="1B2340"/>
                </a:solidFill>
                <a:latin typeface="Calibri" pitchFamily="34" charset="0"/>
                <a:ea typeface="Calibri" pitchFamily="34" charset="-122"/>
                <a:cs typeface="Calibri" pitchFamily="34" charset="-120"/>
              </a:rPr>
              <a:t>The frequency-count approach runs in O(n) time versus O(n log n) for sorting</a:t>
            </a:r>
            <a:endParaRPr lang="en-US" sz="1450" dirty="0"/>
          </a:p>
        </p:txBody>
      </p:sp>
      <p:sp>
        <p:nvSpPr>
          <p:cNvPr id="12" name="Shape 10"/>
          <p:cNvSpPr/>
          <p:nvPr/>
        </p:nvSpPr>
        <p:spPr>
          <a:xfrm>
            <a:off x="9052560" y="5394960"/>
            <a:ext cx="2651760" cy="822960"/>
          </a:xfrm>
          <a:prstGeom prst="roundRect">
            <a:avLst>
              <a:gd name="adj" fmla="val 11111"/>
            </a:avLst>
          </a:prstGeom>
          <a:solidFill>
            <a:srgbClr val="1B2340"/>
          </a:solidFill>
          <a:ln/>
        </p:spPr>
      </p:sp>
      <p:sp>
        <p:nvSpPr>
          <p:cNvPr id="13" name="Text 11"/>
          <p:cNvSpPr/>
          <p:nvPr/>
        </p:nvSpPr>
        <p:spPr>
          <a:xfrm>
            <a:off x="9052560" y="5394960"/>
            <a:ext cx="2651760" cy="822960"/>
          </a:xfrm>
          <a:prstGeom prst="rect">
            <a:avLst/>
          </a:prstGeom>
          <a:noFill/>
          <a:ln/>
        </p:spPr>
        <p:txBody>
          <a:bodyPr wrap="square" rtlCol="0" anchor="ctr"/>
          <a:lstStyle/>
          <a:p>
            <a:pPr marL="0" indent="0" algn="ctr">
              <a:buNone/>
            </a:pPr>
            <a:r>
              <a:rPr lang="en-US" sz="1250" b="1" dirty="0">
                <a:solidFill>
                  <a:srgbClr val="E8A33D"/>
                </a:solidFill>
                <a:latin typeface="Calibri" pitchFamily="34" charset="0"/>
                <a:ea typeface="Calibri" pitchFamily="34" charset="-122"/>
                <a:cs typeface="Calibri" pitchFamily="34" charset="-120"/>
              </a:rPr>
              <a:t>See code on</a:t>
            </a:r>
            <a:endParaRPr lang="en-US" sz="1250" dirty="0"/>
          </a:p>
          <a:p>
            <a:pPr marL="0" indent="0" algn="ctr">
              <a:buNone/>
            </a:pPr>
            <a:r>
              <a:rPr lang="en-US" sz="1250" b="1" dirty="0">
                <a:solidFill>
                  <a:srgbClr val="E8A33D"/>
                </a:solidFill>
                <a:latin typeface="Calibri" pitchFamily="34" charset="0"/>
                <a:ea typeface="Calibri" pitchFamily="34" charset="-122"/>
                <a:cs typeface="Calibri" pitchFamily="34" charset="-120"/>
              </a:rPr>
              <a:t>the next slide →</a:t>
            </a:r>
            <a:endParaRPr lang="en-US" sz="1250" dirty="0"/>
          </a:p>
        </p:txBody>
      </p:sp>
      <p:sp>
        <p:nvSpPr>
          <p:cNvPr id="14" name="Text 12"/>
          <p:cNvSpPr/>
          <p:nvPr/>
        </p:nvSpPr>
        <p:spPr>
          <a:xfrm>
            <a:off x="457200" y="6583680"/>
            <a:ext cx="5486400" cy="228600"/>
          </a:xfrm>
          <a:prstGeom prst="rect">
            <a:avLst/>
          </a:prstGeom>
          <a:noFill/>
          <a:ln/>
        </p:spPr>
        <p:txBody>
          <a:bodyPr wrap="square" rtlCol="0" anchor="ctr"/>
          <a:lstStyle/>
          <a:p>
            <a:pPr marL="0" indent="0" algn="l">
              <a:buNone/>
            </a:pPr>
            <a:r>
              <a:rPr lang="en-US" sz="850" dirty="0">
                <a:solidFill>
                  <a:srgbClr val="5B6178"/>
                </a:solidFill>
                <a:latin typeface="Calibri" pitchFamily="34" charset="0"/>
                <a:ea typeface="Calibri" pitchFamily="34" charset="-122"/>
                <a:cs typeface="Calibri" pitchFamily="34" charset="-120"/>
              </a:rPr>
              <a:t>Java &amp; Full-Stack Interview Prep</a:t>
            </a:r>
            <a:endParaRPr lang="en-US" sz="850"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spTree>
      <p:nvGrpSpPr>
        <p:cNvPr id="1" name=""/>
        <p:cNvGrpSpPr/>
        <p:nvPr/>
      </p:nvGrpSpPr>
      <p:grpSpPr>
        <a:xfrm>
          <a:off x="0" y="0"/>
          <a:ext cx="0" cy="0"/>
          <a:chOff x="0" y="0"/>
          <a:chExt cx="0" cy="0"/>
        </a:xfrm>
      </p:grpSpPr>
      <p:sp>
        <p:nvSpPr>
          <p:cNvPr id="2" name="Shape 0"/>
          <p:cNvSpPr/>
          <p:nvPr/>
        </p:nvSpPr>
        <p:spPr>
          <a:xfrm>
            <a:off x="502920" y="384048"/>
            <a:ext cx="4279392" cy="310896"/>
          </a:xfrm>
          <a:prstGeom prst="roundRect">
            <a:avLst>
              <a:gd name="adj" fmla="val 23529"/>
            </a:avLst>
          </a:prstGeom>
          <a:solidFill>
            <a:srgbClr val="E8A33D"/>
          </a:solidFill>
          <a:ln/>
        </p:spPr>
      </p:sp>
      <p:sp>
        <p:nvSpPr>
          <p:cNvPr id="3" name="Text 1"/>
          <p:cNvSpPr/>
          <p:nvPr/>
        </p:nvSpPr>
        <p:spPr>
          <a:xfrm>
            <a:off x="502920" y="384048"/>
            <a:ext cx="4279392" cy="310896"/>
          </a:xfrm>
          <a:prstGeom prst="rect">
            <a:avLst/>
          </a:prstGeom>
          <a:noFill/>
          <a:ln/>
        </p:spPr>
        <p:txBody>
          <a:bodyPr wrap="square" rtlCol="0" anchor="ctr"/>
          <a:lstStyle/>
          <a:p>
            <a:pPr marL="0" indent="0" algn="ctr">
              <a:buNone/>
            </a:pPr>
            <a:r>
              <a:rPr lang="en-US" sz="1100" b="1" kern="0" spc="100" dirty="0">
                <a:solidFill>
                  <a:srgbClr val="1B2340"/>
                </a:solidFill>
                <a:latin typeface="Calibri" pitchFamily="34" charset="0"/>
                <a:ea typeface="Calibri" pitchFamily="34" charset="-122"/>
                <a:cs typeface="Calibri" pitchFamily="34" charset="-120"/>
              </a:rPr>
              <a:t>DSA CODING PRACTICE</a:t>
            </a:r>
            <a:endParaRPr lang="en-US" sz="1100" dirty="0"/>
          </a:p>
        </p:txBody>
      </p:sp>
      <p:sp>
        <p:nvSpPr>
          <p:cNvPr id="4" name="Text 2"/>
          <p:cNvSpPr/>
          <p:nvPr/>
        </p:nvSpPr>
        <p:spPr>
          <a:xfrm>
            <a:off x="502920" y="786384"/>
            <a:ext cx="11155680" cy="868680"/>
          </a:xfrm>
          <a:prstGeom prst="rect">
            <a:avLst/>
          </a:prstGeom>
          <a:noFill/>
          <a:ln/>
        </p:spPr>
        <p:txBody>
          <a:bodyPr wrap="square" rtlCol="0" anchor="t"/>
          <a:lstStyle/>
          <a:p>
            <a:pPr marL="0" indent="0">
              <a:lnSpc>
                <a:spcPct val="102000"/>
              </a:lnSpc>
              <a:buNone/>
            </a:pPr>
            <a:r>
              <a:rPr lang="en-US" sz="2500" b="1" dirty="0">
                <a:solidFill>
                  <a:srgbClr val="1B2340"/>
                </a:solidFill>
                <a:latin typeface="Century Schoolbook" pitchFamily="34" charset="0"/>
                <a:ea typeface="Century Schoolbook" pitchFamily="34" charset="-122"/>
                <a:cs typeface="Century Schoolbook" pitchFamily="34" charset="-120"/>
              </a:rPr>
              <a:t>Anagram Check - Code &amp; Explanation</a:t>
            </a:r>
            <a:endParaRPr lang="en-US" sz="2500" dirty="0"/>
          </a:p>
        </p:txBody>
      </p:sp>
      <p:sp>
        <p:nvSpPr>
          <p:cNvPr id="5" name="Shape 3"/>
          <p:cNvSpPr/>
          <p:nvPr/>
        </p:nvSpPr>
        <p:spPr>
          <a:xfrm>
            <a:off x="502920" y="1810512"/>
            <a:ext cx="164592" cy="274320"/>
          </a:xfrm>
          <a:prstGeom prst="roundRect">
            <a:avLst>
              <a:gd name="adj" fmla="val 22222"/>
            </a:avLst>
          </a:prstGeom>
          <a:solidFill>
            <a:srgbClr val="E8A33D"/>
          </a:solidFill>
          <a:ln/>
        </p:spPr>
      </p:sp>
      <p:sp>
        <p:nvSpPr>
          <p:cNvPr id="6" name="Text 4"/>
          <p:cNvSpPr/>
          <p:nvPr/>
        </p:nvSpPr>
        <p:spPr>
          <a:xfrm>
            <a:off x="758952" y="1783080"/>
            <a:ext cx="5230368" cy="329184"/>
          </a:xfrm>
          <a:prstGeom prst="rect">
            <a:avLst/>
          </a:prstGeom>
          <a:noFill/>
          <a:ln/>
        </p:spPr>
        <p:txBody>
          <a:bodyPr wrap="square" rtlCol="0" anchor="ctr"/>
          <a:lstStyle/>
          <a:p>
            <a:pPr marL="0" indent="0">
              <a:buNone/>
            </a:pPr>
            <a:r>
              <a:rPr lang="en-US" sz="1300" b="1" kern="0" spc="50" dirty="0">
                <a:solidFill>
                  <a:srgbClr val="1B2340"/>
                </a:solidFill>
                <a:latin typeface="Calibri" pitchFamily="34" charset="0"/>
                <a:ea typeface="Calibri" pitchFamily="34" charset="-122"/>
                <a:cs typeface="Calibri" pitchFamily="34" charset="-120"/>
              </a:rPr>
              <a:t>EXAMPLE - CODE</a:t>
            </a:r>
            <a:endParaRPr lang="en-US" sz="1300" dirty="0"/>
          </a:p>
        </p:txBody>
      </p:sp>
      <p:sp>
        <p:nvSpPr>
          <p:cNvPr id="7" name="Shape 5"/>
          <p:cNvSpPr/>
          <p:nvPr/>
        </p:nvSpPr>
        <p:spPr>
          <a:xfrm>
            <a:off x="502920" y="2121408"/>
            <a:ext cx="5486400" cy="1920240"/>
          </a:xfrm>
          <a:prstGeom prst="roundRect">
            <a:avLst>
              <a:gd name="adj" fmla="val 3810"/>
            </a:avLst>
          </a:prstGeom>
          <a:solidFill>
            <a:srgbClr val="1E1E2E"/>
          </a:solidFill>
          <a:ln/>
        </p:spPr>
      </p:sp>
      <p:sp>
        <p:nvSpPr>
          <p:cNvPr id="8" name="Shape 6"/>
          <p:cNvSpPr/>
          <p:nvPr/>
        </p:nvSpPr>
        <p:spPr>
          <a:xfrm>
            <a:off x="640080" y="2249424"/>
            <a:ext cx="100584" cy="100584"/>
          </a:xfrm>
          <a:prstGeom prst="ellipse">
            <a:avLst/>
          </a:prstGeom>
          <a:solidFill>
            <a:srgbClr val="FF5F56"/>
          </a:solidFill>
          <a:ln/>
        </p:spPr>
      </p:sp>
      <p:sp>
        <p:nvSpPr>
          <p:cNvPr id="9" name="Shape 7"/>
          <p:cNvSpPr/>
          <p:nvPr/>
        </p:nvSpPr>
        <p:spPr>
          <a:xfrm>
            <a:off x="795528" y="2249424"/>
            <a:ext cx="100584" cy="100584"/>
          </a:xfrm>
          <a:prstGeom prst="ellipse">
            <a:avLst/>
          </a:prstGeom>
          <a:solidFill>
            <a:srgbClr val="FFBD2E"/>
          </a:solidFill>
          <a:ln/>
        </p:spPr>
      </p:sp>
      <p:sp>
        <p:nvSpPr>
          <p:cNvPr id="10" name="Shape 8"/>
          <p:cNvSpPr/>
          <p:nvPr/>
        </p:nvSpPr>
        <p:spPr>
          <a:xfrm>
            <a:off x="950976" y="2249424"/>
            <a:ext cx="100584" cy="100584"/>
          </a:xfrm>
          <a:prstGeom prst="ellipse">
            <a:avLst/>
          </a:prstGeom>
          <a:solidFill>
            <a:srgbClr val="27C93F"/>
          </a:solidFill>
          <a:ln/>
        </p:spPr>
      </p:sp>
      <p:sp>
        <p:nvSpPr>
          <p:cNvPr id="11" name="Text 9"/>
          <p:cNvSpPr/>
          <p:nvPr/>
        </p:nvSpPr>
        <p:spPr>
          <a:xfrm>
            <a:off x="1143000" y="2167128"/>
            <a:ext cx="4572000" cy="274320"/>
          </a:xfrm>
          <a:prstGeom prst="rect">
            <a:avLst/>
          </a:prstGeom>
          <a:noFill/>
          <a:ln/>
        </p:spPr>
        <p:txBody>
          <a:bodyPr wrap="square" rtlCol="0" anchor="ctr"/>
          <a:lstStyle/>
          <a:p>
            <a:pPr marL="0" indent="0" algn="r">
              <a:buNone/>
            </a:pPr>
            <a:r>
              <a:rPr lang="en-US" sz="1000" dirty="0">
                <a:solidFill>
                  <a:srgbClr val="8A90AC"/>
                </a:solidFill>
                <a:latin typeface="Courier New" pitchFamily="34" charset="0"/>
                <a:ea typeface="Courier New" pitchFamily="34" charset="-122"/>
                <a:cs typeface="Courier New" pitchFamily="34" charset="-120"/>
              </a:rPr>
              <a:t>Main.java</a:t>
            </a:r>
            <a:endParaRPr lang="en-US" sz="1000" dirty="0"/>
          </a:p>
        </p:txBody>
      </p:sp>
      <p:sp>
        <p:nvSpPr>
          <p:cNvPr id="12" name="Text 10"/>
          <p:cNvSpPr/>
          <p:nvPr/>
        </p:nvSpPr>
        <p:spPr>
          <a:xfrm>
            <a:off x="731520" y="2487168"/>
            <a:ext cx="5029200" cy="1463040"/>
          </a:xfrm>
          <a:prstGeom prst="rect">
            <a:avLst/>
          </a:prstGeom>
          <a:noFill/>
          <a:ln/>
        </p:spPr>
        <p:txBody>
          <a:bodyPr wrap="square" lIns="0" tIns="0" rIns="0" bIns="0" rtlCol="0" anchor="t"/>
          <a:lstStyle/>
          <a:p>
            <a:pPr marL="0" indent="0">
              <a:lnSpc>
                <a:spcPct val="120000"/>
              </a:lnSpc>
              <a:buNone/>
            </a:pPr>
            <a:r>
              <a:rPr lang="en-US" sz="1200" dirty="0">
                <a:solidFill>
                  <a:srgbClr val="D4D4E0"/>
                </a:solidFill>
                <a:latin typeface="Courier New" pitchFamily="34" charset="0"/>
                <a:ea typeface="Courier New" pitchFamily="34" charset="-122"/>
                <a:cs typeface="Courier New" pitchFamily="34" charset="-120"/>
              </a:rPr>
              <a:t>boolean isAnagram(String s1, String s2) {</a:t>
            </a:r>
            <a:endParaRPr lang="en-US" sz="1200" dirty="0"/>
          </a:p>
          <a:p>
            <a:pPr marL="0" indent="0">
              <a:lnSpc>
                <a:spcPct val="120000"/>
              </a:lnSpc>
              <a:buNone/>
            </a:pPr>
            <a:r>
              <a:rPr lang="en-US" sz="1200" dirty="0">
                <a:solidFill>
                  <a:srgbClr val="D4D4E0"/>
                </a:solidFill>
                <a:latin typeface="Courier New" pitchFamily="34" charset="0"/>
                <a:ea typeface="Courier New" pitchFamily="34" charset="-122"/>
                <a:cs typeface="Courier New" pitchFamily="34" charset="-120"/>
              </a:rPr>
              <a:t>    if (s1.length() != s2.length()) return false;</a:t>
            </a:r>
            <a:endParaRPr lang="en-US" sz="1200" dirty="0"/>
          </a:p>
          <a:p>
            <a:pPr marL="0" indent="0">
              <a:lnSpc>
                <a:spcPct val="120000"/>
              </a:lnSpc>
              <a:buNone/>
            </a:pPr>
            <a:r>
              <a:rPr lang="en-US" sz="1200" dirty="0">
                <a:solidFill>
                  <a:srgbClr val="D4D4E0"/>
                </a:solidFill>
                <a:latin typeface="Courier New" pitchFamily="34" charset="0"/>
                <a:ea typeface="Courier New" pitchFamily="34" charset="-122"/>
                <a:cs typeface="Courier New" pitchFamily="34" charset="-120"/>
              </a:rPr>
              <a:t>    char[] a = s1.toCharArray(), b = s2.toCharArray();</a:t>
            </a:r>
            <a:endParaRPr lang="en-US" sz="1200" dirty="0"/>
          </a:p>
          <a:p>
            <a:pPr marL="0" indent="0">
              <a:lnSpc>
                <a:spcPct val="120000"/>
              </a:lnSpc>
              <a:buNone/>
            </a:pPr>
            <a:r>
              <a:rPr lang="en-US" sz="1200" dirty="0">
                <a:solidFill>
                  <a:srgbClr val="D4D4E0"/>
                </a:solidFill>
                <a:latin typeface="Courier New" pitchFamily="34" charset="0"/>
                <a:ea typeface="Courier New" pitchFamily="34" charset="-122"/>
                <a:cs typeface="Courier New" pitchFamily="34" charset="-120"/>
              </a:rPr>
              <a:t>    Arrays.sort(a); Arrays.sort(b);</a:t>
            </a:r>
            <a:endParaRPr lang="en-US" sz="1200" dirty="0"/>
          </a:p>
          <a:p>
            <a:pPr marL="0" indent="0">
              <a:lnSpc>
                <a:spcPct val="120000"/>
              </a:lnSpc>
              <a:buNone/>
            </a:pPr>
            <a:r>
              <a:rPr lang="en-US" sz="1200" dirty="0">
                <a:solidFill>
                  <a:srgbClr val="D4D4E0"/>
                </a:solidFill>
                <a:latin typeface="Courier New" pitchFamily="34" charset="0"/>
                <a:ea typeface="Courier New" pitchFamily="34" charset="-122"/>
                <a:cs typeface="Courier New" pitchFamily="34" charset="-120"/>
              </a:rPr>
              <a:t>    return Arrays.equals(a, b);</a:t>
            </a:r>
            <a:endParaRPr lang="en-US" sz="1200" dirty="0"/>
          </a:p>
          <a:p>
            <a:pPr marL="0" indent="0">
              <a:lnSpc>
                <a:spcPct val="120000"/>
              </a:lnSpc>
              <a:buNone/>
            </a:pPr>
            <a:r>
              <a:rPr lang="en-US" sz="1200" dirty="0">
                <a:solidFill>
                  <a:srgbClr val="D4D4E0"/>
                </a:solidFill>
                <a:latin typeface="Courier New" pitchFamily="34" charset="0"/>
                <a:ea typeface="Courier New" pitchFamily="34" charset="-122"/>
                <a:cs typeface="Courier New" pitchFamily="34" charset="-120"/>
              </a:rPr>
              <a:t>}</a:t>
            </a:r>
            <a:endParaRPr lang="en-US" sz="1200" dirty="0"/>
          </a:p>
        </p:txBody>
      </p:sp>
      <p:sp>
        <p:nvSpPr>
          <p:cNvPr id="13" name="Shape 11"/>
          <p:cNvSpPr/>
          <p:nvPr/>
        </p:nvSpPr>
        <p:spPr>
          <a:xfrm>
            <a:off x="502920" y="4224528"/>
            <a:ext cx="5486400" cy="868680"/>
          </a:xfrm>
          <a:prstGeom prst="roundRect">
            <a:avLst>
              <a:gd name="adj" fmla="val 8421"/>
            </a:avLst>
          </a:prstGeom>
          <a:solidFill>
            <a:srgbClr val="1B2340"/>
          </a:solidFill>
          <a:ln/>
        </p:spPr>
      </p:sp>
      <p:sp>
        <p:nvSpPr>
          <p:cNvPr id="14" name="Text 12"/>
          <p:cNvSpPr/>
          <p:nvPr/>
        </p:nvSpPr>
        <p:spPr>
          <a:xfrm>
            <a:off x="731520" y="4315968"/>
            <a:ext cx="5029200" cy="256032"/>
          </a:xfrm>
          <a:prstGeom prst="rect">
            <a:avLst/>
          </a:prstGeom>
          <a:noFill/>
          <a:ln/>
        </p:spPr>
        <p:txBody>
          <a:bodyPr wrap="square" rtlCol="0" anchor="ctr"/>
          <a:lstStyle/>
          <a:p>
            <a:pPr marL="0" indent="0">
              <a:buNone/>
            </a:pPr>
            <a:r>
              <a:rPr lang="en-US" sz="1050" b="1" kern="0" spc="80" dirty="0">
                <a:solidFill>
                  <a:srgbClr val="E8A33D"/>
                </a:solidFill>
                <a:latin typeface="Calibri" pitchFamily="34" charset="0"/>
                <a:ea typeface="Calibri" pitchFamily="34" charset="-122"/>
                <a:cs typeface="Calibri" pitchFamily="34" charset="-120"/>
              </a:rPr>
              <a:t>ONE-LINE INTERVIEW ANSWER</a:t>
            </a:r>
            <a:endParaRPr lang="en-US" sz="1050" dirty="0"/>
          </a:p>
        </p:txBody>
      </p:sp>
      <p:sp>
        <p:nvSpPr>
          <p:cNvPr id="15" name="Text 13"/>
          <p:cNvSpPr/>
          <p:nvPr/>
        </p:nvSpPr>
        <p:spPr>
          <a:xfrm>
            <a:off x="731520" y="4572000"/>
            <a:ext cx="5029200" cy="411480"/>
          </a:xfrm>
          <a:prstGeom prst="rect">
            <a:avLst/>
          </a:prstGeom>
          <a:noFill/>
          <a:ln/>
        </p:spPr>
        <p:txBody>
          <a:bodyPr wrap="square" lIns="0" tIns="0" rIns="0" bIns="0" rtlCol="0" anchor="t"/>
          <a:lstStyle/>
          <a:p>
            <a:pPr marL="0" indent="0">
              <a:lnSpc>
                <a:spcPct val="105000"/>
              </a:lnSpc>
              <a:buNone/>
            </a:pPr>
            <a:r>
              <a:rPr lang="en-US" sz="1250" dirty="0">
                <a:solidFill>
                  <a:srgbClr val="FFFFFF"/>
                </a:solidFill>
                <a:latin typeface="Calibri" pitchFamily="34" charset="0"/>
                <a:ea typeface="Calibri" pitchFamily="34" charset="-122"/>
                <a:cs typeface="Calibri" pitchFamily="34" charset="-120"/>
              </a:rPr>
              <a:t>Two strings are anagrams if their sorted character arrays are identical - a simple and reliable check.</a:t>
            </a:r>
            <a:endParaRPr lang="en-US" sz="1250" dirty="0"/>
          </a:p>
        </p:txBody>
      </p:sp>
      <p:sp>
        <p:nvSpPr>
          <p:cNvPr id="16" name="Shape 14"/>
          <p:cNvSpPr/>
          <p:nvPr/>
        </p:nvSpPr>
        <p:spPr>
          <a:xfrm>
            <a:off x="6263640" y="1810512"/>
            <a:ext cx="164592" cy="274320"/>
          </a:xfrm>
          <a:prstGeom prst="roundRect">
            <a:avLst>
              <a:gd name="adj" fmla="val 22222"/>
            </a:avLst>
          </a:prstGeom>
          <a:solidFill>
            <a:srgbClr val="3FBFAE"/>
          </a:solidFill>
          <a:ln/>
        </p:spPr>
      </p:sp>
      <p:sp>
        <p:nvSpPr>
          <p:cNvPr id="17" name="Text 15"/>
          <p:cNvSpPr/>
          <p:nvPr/>
        </p:nvSpPr>
        <p:spPr>
          <a:xfrm>
            <a:off x="6519672" y="1783080"/>
            <a:ext cx="5184648" cy="329184"/>
          </a:xfrm>
          <a:prstGeom prst="rect">
            <a:avLst/>
          </a:prstGeom>
          <a:noFill/>
          <a:ln/>
        </p:spPr>
        <p:txBody>
          <a:bodyPr wrap="square" rtlCol="0" anchor="ctr"/>
          <a:lstStyle/>
          <a:p>
            <a:pPr marL="0" indent="0">
              <a:buNone/>
            </a:pPr>
            <a:r>
              <a:rPr lang="en-US" sz="1300" b="1" kern="0" spc="50" dirty="0">
                <a:solidFill>
                  <a:srgbClr val="1B2340"/>
                </a:solidFill>
                <a:latin typeface="Calibri" pitchFamily="34" charset="0"/>
                <a:ea typeface="Calibri" pitchFamily="34" charset="-122"/>
                <a:cs typeface="Calibri" pitchFamily="34" charset="-120"/>
              </a:rPr>
              <a:t>EXPLANATION</a:t>
            </a:r>
            <a:endParaRPr lang="en-US" sz="1300" dirty="0"/>
          </a:p>
        </p:txBody>
      </p:sp>
      <p:sp>
        <p:nvSpPr>
          <p:cNvPr id="18" name="Text 16"/>
          <p:cNvSpPr/>
          <p:nvPr/>
        </p:nvSpPr>
        <p:spPr>
          <a:xfrm>
            <a:off x="6263640" y="2139696"/>
            <a:ext cx="5440680" cy="2011680"/>
          </a:xfrm>
          <a:prstGeom prst="rect">
            <a:avLst/>
          </a:prstGeom>
          <a:noFill/>
          <a:ln/>
        </p:spPr>
        <p:txBody>
          <a:bodyPr wrap="square" lIns="0" tIns="0" rIns="0" bIns="0" rtlCol="0" anchor="t"/>
          <a:lstStyle/>
          <a:p>
            <a:pPr marL="177800" indent="-177800">
              <a:spcAft>
                <a:spcPts val="800"/>
              </a:spcAft>
              <a:buSzPct val="100000"/>
              <a:buChar char="•"/>
            </a:pPr>
            <a:r>
              <a:rPr lang="en-US" sz="1250" dirty="0">
                <a:solidFill>
                  <a:srgbClr val="1B2340"/>
                </a:solidFill>
                <a:latin typeface="Calibri" pitchFamily="34" charset="0"/>
                <a:ea typeface="Calibri" pitchFamily="34" charset="-122"/>
                <a:cs typeface="Calibri" pitchFamily="34" charset="-120"/>
              </a:rPr>
              <a:t>Both strings are converted to char arrays and sorted alphabetically</a:t>
            </a:r>
            <a:endParaRPr lang="en-US" sz="1250" dirty="0"/>
          </a:p>
          <a:p>
            <a:pPr marL="177800" indent="-177800">
              <a:spcAft>
                <a:spcPts val="800"/>
              </a:spcAft>
              <a:buSzPct val="100000"/>
              <a:buChar char="•"/>
            </a:pPr>
            <a:r>
              <a:rPr lang="en-US" sz="1250" dirty="0">
                <a:solidFill>
                  <a:srgbClr val="1B2340"/>
                </a:solidFill>
                <a:latin typeface="Calibri" pitchFamily="34" charset="0"/>
                <a:ea typeface="Calibri" pitchFamily="34" charset="-122"/>
                <a:cs typeface="Calibri" pitchFamily="34" charset="-120"/>
              </a:rPr>
              <a:t>If the sorted versions are exactly equal, the original strings must be anagrams</a:t>
            </a:r>
            <a:endParaRPr lang="en-US" sz="1250" dirty="0"/>
          </a:p>
          <a:p>
            <a:pPr marL="177800" indent="-177800">
              <a:spcAft>
                <a:spcPts val="800"/>
              </a:spcAft>
              <a:buSzPct val="100000"/>
              <a:buChar char="•"/>
            </a:pPr>
            <a:r>
              <a:rPr lang="en-US" sz="1250" dirty="0">
                <a:solidFill>
                  <a:srgbClr val="1B2340"/>
                </a:solidFill>
                <a:latin typeface="Calibri" pitchFamily="34" charset="0"/>
                <a:ea typeface="Calibri" pitchFamily="34" charset="-122"/>
                <a:cs typeface="Calibri" pitchFamily="34" charset="-120"/>
              </a:rPr>
              <a:t>This is simple to write and understand, though a frequency-map approach is slightly faster</a:t>
            </a:r>
            <a:endParaRPr lang="en-US" sz="1250" dirty="0"/>
          </a:p>
          <a:p>
            <a:pPr marL="177800" indent="-177800">
              <a:spcAft>
                <a:spcPts val="800"/>
              </a:spcAft>
              <a:buSzPct val="100000"/>
              <a:buChar char="•"/>
            </a:pPr>
            <a:r>
              <a:rPr lang="en-US" sz="1250" dirty="0">
                <a:solidFill>
                  <a:srgbClr val="1B2340"/>
                </a:solidFill>
                <a:latin typeface="Calibri" pitchFamily="34" charset="0"/>
                <a:ea typeface="Calibri" pitchFamily="34" charset="-122"/>
                <a:cs typeface="Calibri" pitchFamily="34" charset="-120"/>
              </a:rPr>
              <a:t>Always compare lengths first as a quick early exit before sorting</a:t>
            </a:r>
            <a:endParaRPr lang="en-US" sz="1250" dirty="0"/>
          </a:p>
        </p:txBody>
      </p:sp>
      <p:sp>
        <p:nvSpPr>
          <p:cNvPr id="19" name="Shape 17"/>
          <p:cNvSpPr/>
          <p:nvPr/>
        </p:nvSpPr>
        <p:spPr>
          <a:xfrm>
            <a:off x="6263640" y="4261104"/>
            <a:ext cx="5440680" cy="1783080"/>
          </a:xfrm>
          <a:prstGeom prst="roundRect">
            <a:avLst>
              <a:gd name="adj" fmla="val 4103"/>
            </a:avLst>
          </a:prstGeom>
          <a:solidFill>
            <a:srgbClr val="FDF3E3"/>
          </a:solidFill>
          <a:ln/>
        </p:spPr>
      </p:sp>
      <p:sp>
        <p:nvSpPr>
          <p:cNvPr id="20" name="Text 18"/>
          <p:cNvSpPr/>
          <p:nvPr/>
        </p:nvSpPr>
        <p:spPr>
          <a:xfrm>
            <a:off x="6464808" y="4370832"/>
            <a:ext cx="5038344" cy="274320"/>
          </a:xfrm>
          <a:prstGeom prst="rect">
            <a:avLst/>
          </a:prstGeom>
          <a:noFill/>
          <a:ln/>
        </p:spPr>
        <p:txBody>
          <a:bodyPr wrap="square" rtlCol="0" anchor="ctr"/>
          <a:lstStyle/>
          <a:p>
            <a:pPr marL="0" indent="0">
              <a:buNone/>
            </a:pPr>
            <a:r>
              <a:rPr lang="en-US" sz="1100" b="1" kern="0" spc="50" dirty="0">
                <a:solidFill>
                  <a:srgbClr val="C9862A"/>
                </a:solidFill>
                <a:latin typeface="Calibri" pitchFamily="34" charset="0"/>
                <a:ea typeface="Calibri" pitchFamily="34" charset="-122"/>
                <a:cs typeface="Calibri" pitchFamily="34" charset="-120"/>
              </a:rPr>
              <a:t>💡 REAL-LIFE ANALOGY</a:t>
            </a:r>
            <a:endParaRPr lang="en-US" sz="1100" dirty="0"/>
          </a:p>
        </p:txBody>
      </p:sp>
      <p:sp>
        <p:nvSpPr>
          <p:cNvPr id="21" name="Text 19"/>
          <p:cNvSpPr/>
          <p:nvPr/>
        </p:nvSpPr>
        <p:spPr>
          <a:xfrm>
            <a:off x="6464808" y="4663440"/>
            <a:ext cx="5038344" cy="1252728"/>
          </a:xfrm>
          <a:prstGeom prst="rect">
            <a:avLst/>
          </a:prstGeom>
          <a:noFill/>
          <a:ln/>
        </p:spPr>
        <p:txBody>
          <a:bodyPr wrap="square" lIns="0" tIns="0" rIns="0" bIns="0" rtlCol="0" anchor="t"/>
          <a:lstStyle/>
          <a:p>
            <a:pPr marL="0" indent="0">
              <a:lnSpc>
                <a:spcPct val="110000"/>
              </a:lnSpc>
              <a:buNone/>
            </a:pPr>
            <a:r>
              <a:rPr lang="en-US" sz="1250" i="1" dirty="0">
                <a:solidFill>
                  <a:srgbClr val="1B2340"/>
                </a:solidFill>
                <a:latin typeface="Calibri" pitchFamily="34" charset="0"/>
                <a:ea typeface="Calibri" pitchFamily="34" charset="-122"/>
                <a:cs typeface="Calibri" pitchFamily="34" charset="-120"/>
              </a:rPr>
              <a:t>It's like checking if two bags of Scrabble tiles contain exactly the same letters, just picked out in a different order - if you sort both bags' tiles alphabetically, they should match exactly.</a:t>
            </a:r>
            <a:endParaRPr lang="en-US" sz="1250" dirty="0"/>
          </a:p>
        </p:txBody>
      </p:sp>
      <p:sp>
        <p:nvSpPr>
          <p:cNvPr id="22" name="Text 20"/>
          <p:cNvSpPr/>
          <p:nvPr/>
        </p:nvSpPr>
        <p:spPr>
          <a:xfrm>
            <a:off x="457200" y="6583680"/>
            <a:ext cx="5486400" cy="228600"/>
          </a:xfrm>
          <a:prstGeom prst="rect">
            <a:avLst/>
          </a:prstGeom>
          <a:noFill/>
          <a:ln/>
        </p:spPr>
        <p:txBody>
          <a:bodyPr wrap="square" rtlCol="0" anchor="ctr"/>
          <a:lstStyle/>
          <a:p>
            <a:pPr marL="0" indent="0" algn="l">
              <a:buNone/>
            </a:pPr>
            <a:r>
              <a:rPr lang="en-US" sz="850" dirty="0">
                <a:solidFill>
                  <a:srgbClr val="5B6178"/>
                </a:solidFill>
                <a:latin typeface="Calibri" pitchFamily="34" charset="0"/>
                <a:ea typeface="Calibri" pitchFamily="34" charset="-122"/>
                <a:cs typeface="Calibri" pitchFamily="34" charset="-120"/>
              </a:rPr>
              <a:t>Java &amp; Full-Stack Interview Prep</a:t>
            </a:r>
            <a:endParaRPr lang="en-US" sz="850"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bg>
      <p:bgPr>
        <a:solidFill>
          <a:srgbClr val="1B2340"/>
        </a:solidFill>
        <a:effectLst/>
      </p:bgPr>
    </p:bg>
    <p:spTree>
      <p:nvGrpSpPr>
        <p:cNvPr id="1" name=""/>
        <p:cNvGrpSpPr/>
        <p:nvPr/>
      </p:nvGrpSpPr>
      <p:grpSpPr>
        <a:xfrm>
          <a:off x="0" y="0"/>
          <a:ext cx="0" cy="0"/>
          <a:chOff x="0" y="0"/>
          <a:chExt cx="0" cy="0"/>
        </a:xfrm>
      </p:grpSpPr>
      <p:sp>
        <p:nvSpPr>
          <p:cNvPr id="2" name="Shape 0"/>
          <p:cNvSpPr/>
          <p:nvPr/>
        </p:nvSpPr>
        <p:spPr>
          <a:xfrm>
            <a:off x="9692640" y="-1463040"/>
            <a:ext cx="4206240" cy="4206240"/>
          </a:xfrm>
          <a:prstGeom prst="ellipse">
            <a:avLst/>
          </a:prstGeom>
          <a:solidFill>
            <a:srgbClr val="232B4D"/>
          </a:solidFill>
          <a:ln/>
        </p:spPr>
      </p:sp>
      <p:sp>
        <p:nvSpPr>
          <p:cNvPr id="3" name="Text 1"/>
          <p:cNvSpPr/>
          <p:nvPr/>
        </p:nvSpPr>
        <p:spPr>
          <a:xfrm>
            <a:off x="822960" y="1920240"/>
            <a:ext cx="2743200" cy="1463040"/>
          </a:xfrm>
          <a:prstGeom prst="rect">
            <a:avLst/>
          </a:prstGeom>
          <a:noFill/>
          <a:ln/>
        </p:spPr>
        <p:txBody>
          <a:bodyPr wrap="square" rtlCol="0" anchor="ctr"/>
          <a:lstStyle/>
          <a:p>
            <a:pPr marL="0" indent="0">
              <a:buNone/>
            </a:pPr>
            <a:r>
              <a:rPr lang="en-US" sz="6400" b="1" dirty="0">
                <a:solidFill>
                  <a:srgbClr val="232B4D"/>
                </a:solidFill>
                <a:latin typeface="Century Schoolbook" pitchFamily="34" charset="0"/>
                <a:ea typeface="Century Schoolbook" pitchFamily="34" charset="-122"/>
                <a:cs typeface="Century Schoolbook" pitchFamily="34" charset="-120"/>
              </a:rPr>
              <a:t>07</a:t>
            </a:r>
            <a:endParaRPr lang="en-US" sz="6400" dirty="0"/>
          </a:p>
        </p:txBody>
      </p:sp>
      <p:sp>
        <p:nvSpPr>
          <p:cNvPr id="4" name="Shape 2"/>
          <p:cNvSpPr/>
          <p:nvPr/>
        </p:nvSpPr>
        <p:spPr>
          <a:xfrm>
            <a:off x="868680" y="3383280"/>
            <a:ext cx="1005840" cy="82296"/>
          </a:xfrm>
          <a:prstGeom prst="rect">
            <a:avLst/>
          </a:prstGeom>
          <a:solidFill>
            <a:srgbClr val="E8A33D"/>
          </a:solidFill>
          <a:ln/>
        </p:spPr>
      </p:sp>
      <p:sp>
        <p:nvSpPr>
          <p:cNvPr id="5" name="Text 3"/>
          <p:cNvSpPr/>
          <p:nvPr/>
        </p:nvSpPr>
        <p:spPr>
          <a:xfrm>
            <a:off x="822960" y="3520440"/>
            <a:ext cx="9601200" cy="1005840"/>
          </a:xfrm>
          <a:prstGeom prst="rect">
            <a:avLst/>
          </a:prstGeom>
          <a:noFill/>
          <a:ln/>
        </p:spPr>
        <p:txBody>
          <a:bodyPr wrap="square" rtlCol="0" anchor="ctr"/>
          <a:lstStyle/>
          <a:p>
            <a:pPr marL="0" indent="0">
              <a:buNone/>
            </a:pPr>
            <a:r>
              <a:rPr lang="en-US" sz="3800" b="1" dirty="0">
                <a:solidFill>
                  <a:srgbClr val="FFFFFF"/>
                </a:solidFill>
                <a:latin typeface="Century Schoolbook" pitchFamily="34" charset="0"/>
                <a:ea typeface="Century Schoolbook" pitchFamily="34" charset="-122"/>
                <a:cs typeface="Century Schoolbook" pitchFamily="34" charset="-120"/>
              </a:rPr>
              <a:t>Git, Cloud &amp; AI Basics</a:t>
            </a:r>
            <a:endParaRPr lang="en-US" sz="3800" dirty="0"/>
          </a:p>
        </p:txBody>
      </p:sp>
      <p:sp>
        <p:nvSpPr>
          <p:cNvPr id="6" name="Text 4"/>
          <p:cNvSpPr/>
          <p:nvPr/>
        </p:nvSpPr>
        <p:spPr>
          <a:xfrm>
            <a:off x="822960" y="4434840"/>
            <a:ext cx="8229600" cy="457200"/>
          </a:xfrm>
          <a:prstGeom prst="rect">
            <a:avLst/>
          </a:prstGeom>
          <a:noFill/>
          <a:ln/>
        </p:spPr>
        <p:txBody>
          <a:bodyPr wrap="square" rtlCol="0" anchor="ctr"/>
          <a:lstStyle/>
          <a:p>
            <a:pPr marL="0" indent="0">
              <a:buNone/>
            </a:pPr>
            <a:r>
              <a:rPr lang="en-US" sz="1400" i="1" dirty="0">
                <a:solidFill>
                  <a:srgbClr val="C3C8DC"/>
                </a:solidFill>
                <a:latin typeface="Calibri" pitchFamily="34" charset="0"/>
                <a:ea typeface="Calibri" pitchFamily="34" charset="-122"/>
                <a:cs typeface="Calibri" pitchFamily="34" charset="-120"/>
              </a:rPr>
              <a:t>4 slides covering commonly asked interview questions</a:t>
            </a:r>
            <a:endParaRPr lang="en-US" sz="1400" dirty="0"/>
          </a:p>
        </p:txBody>
      </p:sp>
      <p:sp>
        <p:nvSpPr>
          <p:cNvPr id="7" name="Text 5"/>
          <p:cNvSpPr/>
          <p:nvPr/>
        </p:nvSpPr>
        <p:spPr>
          <a:xfrm>
            <a:off x="457200" y="6583680"/>
            <a:ext cx="5486400" cy="228600"/>
          </a:xfrm>
          <a:prstGeom prst="rect">
            <a:avLst/>
          </a:prstGeom>
          <a:noFill/>
          <a:ln/>
        </p:spPr>
        <p:txBody>
          <a:bodyPr wrap="square" rtlCol="0" anchor="ctr"/>
          <a:lstStyle/>
          <a:p>
            <a:pPr marL="0" indent="0" algn="l">
              <a:buNone/>
            </a:pPr>
            <a:r>
              <a:rPr lang="en-US" sz="850" dirty="0">
                <a:solidFill>
                  <a:srgbClr val="5B6178"/>
                </a:solidFill>
                <a:latin typeface="Calibri" pitchFamily="34" charset="0"/>
                <a:ea typeface="Calibri" pitchFamily="34" charset="-122"/>
                <a:cs typeface="Calibri" pitchFamily="34" charset="-120"/>
              </a:rPr>
              <a:t>Java &amp; Full-Stack Interview Prep</a:t>
            </a:r>
            <a:endParaRPr lang="en-US" sz="850"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spTree>
      <p:nvGrpSpPr>
        <p:cNvPr id="1" name=""/>
        <p:cNvGrpSpPr/>
        <p:nvPr/>
      </p:nvGrpSpPr>
      <p:grpSpPr>
        <a:xfrm>
          <a:off x="0" y="0"/>
          <a:ext cx="0" cy="0"/>
          <a:chOff x="0" y="0"/>
          <a:chExt cx="0" cy="0"/>
        </a:xfrm>
      </p:grpSpPr>
      <p:sp>
        <p:nvSpPr>
          <p:cNvPr id="2" name="Shape 0"/>
          <p:cNvSpPr/>
          <p:nvPr/>
        </p:nvSpPr>
        <p:spPr>
          <a:xfrm>
            <a:off x="502920" y="384048"/>
            <a:ext cx="4882896" cy="310896"/>
          </a:xfrm>
          <a:prstGeom prst="roundRect">
            <a:avLst>
              <a:gd name="adj" fmla="val 23529"/>
            </a:avLst>
          </a:prstGeom>
          <a:solidFill>
            <a:srgbClr val="E8A33D"/>
          </a:solidFill>
          <a:ln/>
        </p:spPr>
      </p:sp>
      <p:sp>
        <p:nvSpPr>
          <p:cNvPr id="3" name="Text 1"/>
          <p:cNvSpPr/>
          <p:nvPr/>
        </p:nvSpPr>
        <p:spPr>
          <a:xfrm>
            <a:off x="502920" y="384048"/>
            <a:ext cx="4882896" cy="310896"/>
          </a:xfrm>
          <a:prstGeom prst="rect">
            <a:avLst/>
          </a:prstGeom>
          <a:noFill/>
          <a:ln/>
        </p:spPr>
        <p:txBody>
          <a:bodyPr wrap="square" rtlCol="0" anchor="ctr"/>
          <a:lstStyle/>
          <a:p>
            <a:pPr marL="0" indent="0" algn="ctr">
              <a:buNone/>
            </a:pPr>
            <a:r>
              <a:rPr lang="en-US" sz="1100" b="1" kern="0" spc="100" dirty="0">
                <a:solidFill>
                  <a:srgbClr val="1B2340"/>
                </a:solidFill>
                <a:latin typeface="Calibri" pitchFamily="34" charset="0"/>
                <a:ea typeface="Calibri" pitchFamily="34" charset="-122"/>
                <a:cs typeface="Calibri" pitchFamily="34" charset="-120"/>
              </a:rPr>
              <a:t>GIT, CLOUD &amp; AI BASICS</a:t>
            </a:r>
            <a:endParaRPr lang="en-US" sz="1100" dirty="0"/>
          </a:p>
        </p:txBody>
      </p:sp>
      <p:sp>
        <p:nvSpPr>
          <p:cNvPr id="4" name="Text 2"/>
          <p:cNvSpPr/>
          <p:nvPr/>
        </p:nvSpPr>
        <p:spPr>
          <a:xfrm>
            <a:off x="502920" y="786384"/>
            <a:ext cx="11155680" cy="868680"/>
          </a:xfrm>
          <a:prstGeom prst="rect">
            <a:avLst/>
          </a:prstGeom>
          <a:noFill/>
          <a:ln/>
        </p:spPr>
        <p:txBody>
          <a:bodyPr wrap="square" rtlCol="0" anchor="t"/>
          <a:lstStyle/>
          <a:p>
            <a:pPr marL="0" indent="0">
              <a:lnSpc>
                <a:spcPct val="102000"/>
              </a:lnSpc>
              <a:buNone/>
            </a:pPr>
            <a:r>
              <a:rPr lang="en-US" sz="2500" b="1" dirty="0">
                <a:solidFill>
                  <a:srgbClr val="1B2340"/>
                </a:solidFill>
                <a:latin typeface="Century Schoolbook" pitchFamily="34" charset="0"/>
                <a:ea typeface="Century Schoolbook" pitchFamily="34" charset="-122"/>
                <a:cs typeface="Century Schoolbook" pitchFamily="34" charset="-120"/>
              </a:rPr>
              <a:t>Difference between Git and GitHub.</a:t>
            </a:r>
            <a:endParaRPr lang="en-US" sz="2500" dirty="0"/>
          </a:p>
        </p:txBody>
      </p:sp>
      <p:sp>
        <p:nvSpPr>
          <p:cNvPr id="5" name="Shape 3"/>
          <p:cNvSpPr/>
          <p:nvPr/>
        </p:nvSpPr>
        <p:spPr>
          <a:xfrm>
            <a:off x="502920" y="1810512"/>
            <a:ext cx="164592" cy="274320"/>
          </a:xfrm>
          <a:prstGeom prst="roundRect">
            <a:avLst>
              <a:gd name="adj" fmla="val 22222"/>
            </a:avLst>
          </a:prstGeom>
          <a:solidFill>
            <a:srgbClr val="E8A33D"/>
          </a:solidFill>
          <a:ln/>
        </p:spPr>
      </p:sp>
      <p:sp>
        <p:nvSpPr>
          <p:cNvPr id="6" name="Text 4"/>
          <p:cNvSpPr/>
          <p:nvPr/>
        </p:nvSpPr>
        <p:spPr>
          <a:xfrm>
            <a:off x="758952" y="1783080"/>
            <a:ext cx="4315968" cy="329184"/>
          </a:xfrm>
          <a:prstGeom prst="rect">
            <a:avLst/>
          </a:prstGeom>
          <a:noFill/>
          <a:ln/>
        </p:spPr>
        <p:txBody>
          <a:bodyPr wrap="square" rtlCol="0" anchor="ctr"/>
          <a:lstStyle/>
          <a:p>
            <a:pPr marL="0" indent="0">
              <a:buNone/>
            </a:pPr>
            <a:r>
              <a:rPr lang="en-US" sz="1300" b="1" kern="0" spc="50" dirty="0">
                <a:solidFill>
                  <a:srgbClr val="1B2340"/>
                </a:solidFill>
                <a:latin typeface="Calibri" pitchFamily="34" charset="0"/>
                <a:ea typeface="Calibri" pitchFamily="34" charset="-122"/>
                <a:cs typeface="Calibri" pitchFamily="34" charset="-120"/>
              </a:rPr>
              <a:t>DEFINITION / CONCEPT</a:t>
            </a:r>
            <a:endParaRPr lang="en-US" sz="1300" dirty="0"/>
          </a:p>
        </p:txBody>
      </p:sp>
      <p:sp>
        <p:nvSpPr>
          <p:cNvPr id="7" name="Shape 5"/>
          <p:cNvSpPr/>
          <p:nvPr/>
        </p:nvSpPr>
        <p:spPr>
          <a:xfrm>
            <a:off x="502920" y="2121408"/>
            <a:ext cx="11201400" cy="914400"/>
          </a:xfrm>
          <a:prstGeom prst="roundRect">
            <a:avLst>
              <a:gd name="adj" fmla="val 8000"/>
            </a:avLst>
          </a:prstGeom>
          <a:solidFill>
            <a:srgbClr val="F7F7FA"/>
          </a:solidFill>
          <a:ln w="12700">
            <a:solidFill>
              <a:srgbClr val="E4E6EF"/>
            </a:solidFill>
            <a:prstDash val="solid"/>
          </a:ln>
        </p:spPr>
      </p:sp>
      <p:sp>
        <p:nvSpPr>
          <p:cNvPr id="8" name="Text 6"/>
          <p:cNvSpPr/>
          <p:nvPr/>
        </p:nvSpPr>
        <p:spPr>
          <a:xfrm>
            <a:off x="758952" y="2304288"/>
            <a:ext cx="10689336" cy="548640"/>
          </a:xfrm>
          <a:prstGeom prst="rect">
            <a:avLst/>
          </a:prstGeom>
          <a:noFill/>
          <a:ln/>
        </p:spPr>
        <p:txBody>
          <a:bodyPr wrap="square" lIns="0" tIns="0" rIns="0" bIns="0" rtlCol="0" anchor="t"/>
          <a:lstStyle/>
          <a:p>
            <a:pPr marL="0" indent="0">
              <a:lnSpc>
                <a:spcPct val="115000"/>
              </a:lnSpc>
              <a:buNone/>
            </a:pPr>
            <a:r>
              <a:rPr lang="en-US" sz="1450" dirty="0">
                <a:solidFill>
                  <a:srgbClr val="1B2340"/>
                </a:solidFill>
                <a:latin typeface="Calibri" pitchFamily="34" charset="0"/>
                <a:ea typeface="Calibri" pitchFamily="34" charset="-122"/>
                <a:cs typeface="Calibri" pitchFamily="34" charset="-120"/>
              </a:rPr>
              <a:t>Git and GitHub are related but different tools that work together in modern software development.</a:t>
            </a:r>
            <a:endParaRPr lang="en-US" sz="1450" dirty="0"/>
          </a:p>
        </p:txBody>
      </p:sp>
      <p:sp>
        <p:nvSpPr>
          <p:cNvPr id="9" name="Shape 7"/>
          <p:cNvSpPr/>
          <p:nvPr/>
        </p:nvSpPr>
        <p:spPr>
          <a:xfrm>
            <a:off x="502920" y="3200400"/>
            <a:ext cx="164592" cy="274320"/>
          </a:xfrm>
          <a:prstGeom prst="roundRect">
            <a:avLst>
              <a:gd name="adj" fmla="val 22222"/>
            </a:avLst>
          </a:prstGeom>
          <a:solidFill>
            <a:srgbClr val="3FBFAE"/>
          </a:solidFill>
          <a:ln/>
        </p:spPr>
      </p:sp>
      <p:sp>
        <p:nvSpPr>
          <p:cNvPr id="10" name="Text 8"/>
          <p:cNvSpPr/>
          <p:nvPr/>
        </p:nvSpPr>
        <p:spPr>
          <a:xfrm>
            <a:off x="758952" y="3172968"/>
            <a:ext cx="4315968" cy="329184"/>
          </a:xfrm>
          <a:prstGeom prst="rect">
            <a:avLst/>
          </a:prstGeom>
          <a:noFill/>
          <a:ln/>
        </p:spPr>
        <p:txBody>
          <a:bodyPr wrap="square" rtlCol="0" anchor="ctr"/>
          <a:lstStyle/>
          <a:p>
            <a:pPr marL="0" indent="0">
              <a:buNone/>
            </a:pPr>
            <a:r>
              <a:rPr lang="en-US" sz="1300" b="1" kern="0" spc="50" dirty="0">
                <a:solidFill>
                  <a:srgbClr val="1B2340"/>
                </a:solidFill>
                <a:latin typeface="Calibri" pitchFamily="34" charset="0"/>
                <a:ea typeface="Calibri" pitchFamily="34" charset="-122"/>
                <a:cs typeface="Calibri" pitchFamily="34" charset="-120"/>
              </a:rPr>
              <a:t>EXPLANATION</a:t>
            </a:r>
            <a:endParaRPr lang="en-US" sz="1300" dirty="0"/>
          </a:p>
        </p:txBody>
      </p:sp>
      <p:sp>
        <p:nvSpPr>
          <p:cNvPr id="11" name="Text 9"/>
          <p:cNvSpPr/>
          <p:nvPr/>
        </p:nvSpPr>
        <p:spPr>
          <a:xfrm>
            <a:off x="502920" y="3529584"/>
            <a:ext cx="6858000" cy="2331720"/>
          </a:xfrm>
          <a:prstGeom prst="rect">
            <a:avLst/>
          </a:prstGeom>
          <a:noFill/>
          <a:ln/>
        </p:spPr>
        <p:txBody>
          <a:bodyPr wrap="square" lIns="0" tIns="0" rIns="0" bIns="0" rtlCol="0" anchor="t"/>
          <a:lstStyle/>
          <a:p>
            <a:pPr marL="177800" indent="-177800">
              <a:spcAft>
                <a:spcPts val="800"/>
              </a:spcAft>
              <a:buSzPct val="100000"/>
              <a:buChar char="•"/>
            </a:pPr>
            <a:r>
              <a:rPr lang="en-US" sz="1300" dirty="0">
                <a:solidFill>
                  <a:srgbClr val="1B2340"/>
                </a:solidFill>
                <a:latin typeface="Calibri" pitchFamily="34" charset="0"/>
                <a:ea typeface="Calibri" pitchFamily="34" charset="-122"/>
                <a:cs typeface="Calibri" pitchFamily="34" charset="-120"/>
              </a:rPr>
              <a:t>Git - a distributed version control system installed locally, used to track code changes over time</a:t>
            </a:r>
            <a:endParaRPr lang="en-US" sz="1300" dirty="0"/>
          </a:p>
          <a:p>
            <a:pPr marL="177800" indent="-177800">
              <a:spcAft>
                <a:spcPts val="800"/>
              </a:spcAft>
              <a:buSzPct val="100000"/>
              <a:buChar char="•"/>
            </a:pPr>
            <a:r>
              <a:rPr lang="en-US" sz="1300" dirty="0">
                <a:solidFill>
                  <a:srgbClr val="1B2340"/>
                </a:solidFill>
                <a:latin typeface="Calibri" pitchFamily="34" charset="0"/>
                <a:ea typeface="Calibri" pitchFamily="34" charset="-122"/>
                <a:cs typeface="Calibri" pitchFamily="34" charset="-120"/>
              </a:rPr>
              <a:t>GitHub - a cloud platform that hosts Git repositories online and adds collaboration features</a:t>
            </a:r>
            <a:endParaRPr lang="en-US" sz="1300" dirty="0"/>
          </a:p>
          <a:p>
            <a:pPr marL="177800" indent="-177800">
              <a:spcAft>
                <a:spcPts val="800"/>
              </a:spcAft>
              <a:buSzPct val="100000"/>
              <a:buChar char="•"/>
            </a:pPr>
            <a:r>
              <a:rPr lang="en-US" sz="1300" dirty="0">
                <a:solidFill>
                  <a:srgbClr val="1B2340"/>
                </a:solidFill>
                <a:latin typeface="Calibri" pitchFamily="34" charset="0"/>
                <a:ea typeface="Calibri" pitchFamily="34" charset="-122"/>
                <a:cs typeface="Calibri" pitchFamily="34" charset="-120"/>
              </a:rPr>
              <a:t>Git works even without internet access; GitHub requires it to push/pull/share code</a:t>
            </a:r>
            <a:endParaRPr lang="en-US" sz="1300" dirty="0"/>
          </a:p>
          <a:p>
            <a:pPr marL="177800" indent="-177800">
              <a:spcAft>
                <a:spcPts val="800"/>
              </a:spcAft>
              <a:buSzPct val="100000"/>
              <a:buChar char="•"/>
            </a:pPr>
            <a:r>
              <a:rPr lang="en-US" sz="1300" dirty="0">
                <a:solidFill>
                  <a:srgbClr val="1B2340"/>
                </a:solidFill>
                <a:latin typeface="Calibri" pitchFamily="34" charset="0"/>
                <a:ea typeface="Calibri" pitchFamily="34" charset="-122"/>
                <a:cs typeface="Calibri" pitchFamily="34" charset="-120"/>
              </a:rPr>
              <a:t>GitHub adds features like pull requests, issue tracking, and team collaboration on top of Git</a:t>
            </a:r>
            <a:endParaRPr lang="en-US" sz="1300" dirty="0"/>
          </a:p>
        </p:txBody>
      </p:sp>
      <p:sp>
        <p:nvSpPr>
          <p:cNvPr id="12" name="Shape 10"/>
          <p:cNvSpPr/>
          <p:nvPr/>
        </p:nvSpPr>
        <p:spPr>
          <a:xfrm>
            <a:off x="7589520" y="3200400"/>
            <a:ext cx="4114800" cy="2194560"/>
          </a:xfrm>
          <a:prstGeom prst="roundRect">
            <a:avLst>
              <a:gd name="adj" fmla="val 3333"/>
            </a:avLst>
          </a:prstGeom>
          <a:solidFill>
            <a:srgbClr val="FDF3E3"/>
          </a:solidFill>
          <a:ln/>
        </p:spPr>
      </p:sp>
      <p:sp>
        <p:nvSpPr>
          <p:cNvPr id="13" name="Text 11"/>
          <p:cNvSpPr/>
          <p:nvPr/>
        </p:nvSpPr>
        <p:spPr>
          <a:xfrm>
            <a:off x="7790688" y="3310128"/>
            <a:ext cx="3712464" cy="274320"/>
          </a:xfrm>
          <a:prstGeom prst="rect">
            <a:avLst/>
          </a:prstGeom>
          <a:noFill/>
          <a:ln/>
        </p:spPr>
        <p:txBody>
          <a:bodyPr wrap="square" rtlCol="0" anchor="ctr"/>
          <a:lstStyle/>
          <a:p>
            <a:pPr marL="0" indent="0">
              <a:buNone/>
            </a:pPr>
            <a:r>
              <a:rPr lang="en-US" sz="1100" b="1" kern="0" spc="50" dirty="0">
                <a:solidFill>
                  <a:srgbClr val="C9862A"/>
                </a:solidFill>
                <a:latin typeface="Calibri" pitchFamily="34" charset="0"/>
                <a:ea typeface="Calibri" pitchFamily="34" charset="-122"/>
                <a:cs typeface="Calibri" pitchFamily="34" charset="-120"/>
              </a:rPr>
              <a:t>💡 REAL-LIFE ANALOGY</a:t>
            </a:r>
            <a:endParaRPr lang="en-US" sz="1100" dirty="0"/>
          </a:p>
        </p:txBody>
      </p:sp>
      <p:sp>
        <p:nvSpPr>
          <p:cNvPr id="14" name="Text 12"/>
          <p:cNvSpPr/>
          <p:nvPr/>
        </p:nvSpPr>
        <p:spPr>
          <a:xfrm>
            <a:off x="7790688" y="3602736"/>
            <a:ext cx="3712464" cy="1664208"/>
          </a:xfrm>
          <a:prstGeom prst="rect">
            <a:avLst/>
          </a:prstGeom>
          <a:noFill/>
          <a:ln/>
        </p:spPr>
        <p:txBody>
          <a:bodyPr wrap="square" lIns="0" tIns="0" rIns="0" bIns="0" rtlCol="0" anchor="t"/>
          <a:lstStyle/>
          <a:p>
            <a:pPr marL="0" indent="0">
              <a:lnSpc>
                <a:spcPct val="110000"/>
              </a:lnSpc>
              <a:buNone/>
            </a:pPr>
            <a:r>
              <a:rPr lang="en-US" sz="1250" i="1" dirty="0">
                <a:solidFill>
                  <a:srgbClr val="1B2340"/>
                </a:solidFill>
                <a:latin typeface="Calibri" pitchFamily="34" charset="0"/>
                <a:ea typeface="Calibri" pitchFamily="34" charset="-122"/>
                <a:cs typeface="Calibri" pitchFamily="34" charset="-120"/>
              </a:rPr>
              <a:t>Git is like a personal diary that tracks every change you make. GitHub is like publishing that diary online in a shared library where others can read it, comment on it, and suggest edits.</a:t>
            </a:r>
            <a:endParaRPr lang="en-US" sz="1250" dirty="0"/>
          </a:p>
        </p:txBody>
      </p:sp>
      <p:sp>
        <p:nvSpPr>
          <p:cNvPr id="15" name="Shape 13"/>
          <p:cNvSpPr/>
          <p:nvPr/>
        </p:nvSpPr>
        <p:spPr>
          <a:xfrm>
            <a:off x="502920" y="5870448"/>
            <a:ext cx="11201400" cy="603504"/>
          </a:xfrm>
          <a:prstGeom prst="roundRect">
            <a:avLst>
              <a:gd name="adj" fmla="val 12121"/>
            </a:avLst>
          </a:prstGeom>
          <a:solidFill>
            <a:srgbClr val="1B2340"/>
          </a:solidFill>
          <a:ln/>
        </p:spPr>
      </p:sp>
      <p:sp>
        <p:nvSpPr>
          <p:cNvPr id="16" name="Text 14"/>
          <p:cNvSpPr/>
          <p:nvPr/>
        </p:nvSpPr>
        <p:spPr>
          <a:xfrm>
            <a:off x="731520" y="5961888"/>
            <a:ext cx="10744200" cy="256032"/>
          </a:xfrm>
          <a:prstGeom prst="rect">
            <a:avLst/>
          </a:prstGeom>
          <a:noFill/>
          <a:ln/>
        </p:spPr>
        <p:txBody>
          <a:bodyPr wrap="square" rtlCol="0" anchor="ctr"/>
          <a:lstStyle/>
          <a:p>
            <a:pPr marL="0" indent="0">
              <a:buNone/>
            </a:pPr>
            <a:r>
              <a:rPr lang="en-US" sz="1050" b="1" kern="0" spc="80" dirty="0">
                <a:solidFill>
                  <a:srgbClr val="E8A33D"/>
                </a:solidFill>
                <a:latin typeface="Calibri" pitchFamily="34" charset="0"/>
                <a:ea typeface="Calibri" pitchFamily="34" charset="-122"/>
                <a:cs typeface="Calibri" pitchFamily="34" charset="-120"/>
              </a:rPr>
              <a:t>ONE-LINE INTERVIEW ANSWER</a:t>
            </a:r>
            <a:endParaRPr lang="en-US" sz="1050" dirty="0"/>
          </a:p>
        </p:txBody>
      </p:sp>
      <p:sp>
        <p:nvSpPr>
          <p:cNvPr id="17" name="Text 15"/>
          <p:cNvSpPr/>
          <p:nvPr/>
        </p:nvSpPr>
        <p:spPr>
          <a:xfrm>
            <a:off x="731520" y="6217920"/>
            <a:ext cx="10744200" cy="146304"/>
          </a:xfrm>
          <a:prstGeom prst="rect">
            <a:avLst/>
          </a:prstGeom>
          <a:noFill/>
          <a:ln/>
        </p:spPr>
        <p:txBody>
          <a:bodyPr wrap="square" lIns="0" tIns="0" rIns="0" bIns="0" rtlCol="0" anchor="t"/>
          <a:lstStyle/>
          <a:p>
            <a:pPr marL="0" indent="0">
              <a:lnSpc>
                <a:spcPct val="105000"/>
              </a:lnSpc>
              <a:buNone/>
            </a:pPr>
            <a:r>
              <a:rPr lang="en-US" sz="1250" dirty="0">
                <a:solidFill>
                  <a:srgbClr val="FFFFFF"/>
                </a:solidFill>
                <a:latin typeface="Calibri" pitchFamily="34" charset="0"/>
                <a:ea typeface="Calibri" pitchFamily="34" charset="-122"/>
                <a:cs typeface="Calibri" pitchFamily="34" charset="-120"/>
              </a:rPr>
              <a:t>Git is the version control tool that tracks code changes locally, while GitHub is an online platform that hosts Git repositories for collaboration.</a:t>
            </a:r>
            <a:endParaRPr lang="en-US" sz="1250" dirty="0"/>
          </a:p>
        </p:txBody>
      </p:sp>
      <p:sp>
        <p:nvSpPr>
          <p:cNvPr id="18" name="Text 16"/>
          <p:cNvSpPr/>
          <p:nvPr/>
        </p:nvSpPr>
        <p:spPr>
          <a:xfrm>
            <a:off x="457200" y="6583680"/>
            <a:ext cx="5486400" cy="228600"/>
          </a:xfrm>
          <a:prstGeom prst="rect">
            <a:avLst/>
          </a:prstGeom>
          <a:noFill/>
          <a:ln/>
        </p:spPr>
        <p:txBody>
          <a:bodyPr wrap="square" rtlCol="0" anchor="ctr"/>
          <a:lstStyle/>
          <a:p>
            <a:pPr marL="0" indent="0" algn="l">
              <a:buNone/>
            </a:pPr>
            <a:r>
              <a:rPr lang="en-US" sz="850" dirty="0">
                <a:solidFill>
                  <a:srgbClr val="5B6178"/>
                </a:solidFill>
                <a:latin typeface="Calibri" pitchFamily="34" charset="0"/>
                <a:ea typeface="Calibri" pitchFamily="34" charset="-122"/>
                <a:cs typeface="Calibri" pitchFamily="34" charset="-120"/>
              </a:rPr>
              <a:t>Java &amp; Full-Stack Interview Prep</a:t>
            </a:r>
            <a:endParaRPr lang="en-US" sz="850"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spTree>
      <p:nvGrpSpPr>
        <p:cNvPr id="1" name=""/>
        <p:cNvGrpSpPr/>
        <p:nvPr/>
      </p:nvGrpSpPr>
      <p:grpSpPr>
        <a:xfrm>
          <a:off x="0" y="0"/>
          <a:ext cx="0" cy="0"/>
          <a:chOff x="0" y="0"/>
          <a:chExt cx="0" cy="0"/>
        </a:xfrm>
      </p:grpSpPr>
      <p:sp>
        <p:nvSpPr>
          <p:cNvPr id="2" name="Shape 0"/>
          <p:cNvSpPr/>
          <p:nvPr/>
        </p:nvSpPr>
        <p:spPr>
          <a:xfrm>
            <a:off x="502920" y="384048"/>
            <a:ext cx="4882896" cy="310896"/>
          </a:xfrm>
          <a:prstGeom prst="roundRect">
            <a:avLst>
              <a:gd name="adj" fmla="val 23529"/>
            </a:avLst>
          </a:prstGeom>
          <a:solidFill>
            <a:srgbClr val="E8A33D"/>
          </a:solidFill>
          <a:ln/>
        </p:spPr>
      </p:sp>
      <p:sp>
        <p:nvSpPr>
          <p:cNvPr id="3" name="Text 1"/>
          <p:cNvSpPr/>
          <p:nvPr/>
        </p:nvSpPr>
        <p:spPr>
          <a:xfrm>
            <a:off x="502920" y="384048"/>
            <a:ext cx="4882896" cy="310896"/>
          </a:xfrm>
          <a:prstGeom prst="rect">
            <a:avLst/>
          </a:prstGeom>
          <a:noFill/>
          <a:ln/>
        </p:spPr>
        <p:txBody>
          <a:bodyPr wrap="square" rtlCol="0" anchor="ctr"/>
          <a:lstStyle/>
          <a:p>
            <a:pPr marL="0" indent="0" algn="ctr">
              <a:buNone/>
            </a:pPr>
            <a:r>
              <a:rPr lang="en-US" sz="1100" b="1" kern="0" spc="100" dirty="0">
                <a:solidFill>
                  <a:srgbClr val="1B2340"/>
                </a:solidFill>
                <a:latin typeface="Calibri" pitchFamily="34" charset="0"/>
                <a:ea typeface="Calibri" pitchFamily="34" charset="-122"/>
                <a:cs typeface="Calibri" pitchFamily="34" charset="-120"/>
              </a:rPr>
              <a:t>GIT, CLOUD &amp; AI BASICS</a:t>
            </a:r>
            <a:endParaRPr lang="en-US" sz="1100" dirty="0"/>
          </a:p>
        </p:txBody>
      </p:sp>
      <p:sp>
        <p:nvSpPr>
          <p:cNvPr id="4" name="Text 2"/>
          <p:cNvSpPr/>
          <p:nvPr/>
        </p:nvSpPr>
        <p:spPr>
          <a:xfrm>
            <a:off x="502920" y="786384"/>
            <a:ext cx="11155680" cy="868680"/>
          </a:xfrm>
          <a:prstGeom prst="rect">
            <a:avLst/>
          </a:prstGeom>
          <a:noFill/>
          <a:ln/>
        </p:spPr>
        <p:txBody>
          <a:bodyPr wrap="square" rtlCol="0" anchor="t"/>
          <a:lstStyle/>
          <a:p>
            <a:pPr marL="0" indent="0">
              <a:lnSpc>
                <a:spcPct val="102000"/>
              </a:lnSpc>
              <a:buNone/>
            </a:pPr>
            <a:r>
              <a:rPr lang="en-US" sz="2500" b="1" dirty="0">
                <a:solidFill>
                  <a:srgbClr val="1B2340"/>
                </a:solidFill>
                <a:latin typeface="Century Schoolbook" pitchFamily="34" charset="0"/>
                <a:ea typeface="Century Schoolbook" pitchFamily="34" charset="-122"/>
                <a:cs typeface="Century Schoolbook" pitchFamily="34" charset="-120"/>
              </a:rPr>
              <a:t>What is a VPC? Explain public and private subnets.</a:t>
            </a:r>
            <a:endParaRPr lang="en-US" sz="2500" dirty="0"/>
          </a:p>
        </p:txBody>
      </p:sp>
      <p:sp>
        <p:nvSpPr>
          <p:cNvPr id="5" name="Shape 3"/>
          <p:cNvSpPr/>
          <p:nvPr/>
        </p:nvSpPr>
        <p:spPr>
          <a:xfrm>
            <a:off x="502920" y="1810512"/>
            <a:ext cx="164592" cy="274320"/>
          </a:xfrm>
          <a:prstGeom prst="roundRect">
            <a:avLst>
              <a:gd name="adj" fmla="val 22222"/>
            </a:avLst>
          </a:prstGeom>
          <a:solidFill>
            <a:srgbClr val="E8A33D"/>
          </a:solidFill>
          <a:ln/>
        </p:spPr>
      </p:sp>
      <p:sp>
        <p:nvSpPr>
          <p:cNvPr id="6" name="Text 4"/>
          <p:cNvSpPr/>
          <p:nvPr/>
        </p:nvSpPr>
        <p:spPr>
          <a:xfrm>
            <a:off x="758952" y="1783080"/>
            <a:ext cx="4315968" cy="329184"/>
          </a:xfrm>
          <a:prstGeom prst="rect">
            <a:avLst/>
          </a:prstGeom>
          <a:noFill/>
          <a:ln/>
        </p:spPr>
        <p:txBody>
          <a:bodyPr wrap="square" rtlCol="0" anchor="ctr"/>
          <a:lstStyle/>
          <a:p>
            <a:pPr marL="0" indent="0">
              <a:buNone/>
            </a:pPr>
            <a:r>
              <a:rPr lang="en-US" sz="1300" b="1" kern="0" spc="50" dirty="0">
                <a:solidFill>
                  <a:srgbClr val="1B2340"/>
                </a:solidFill>
                <a:latin typeface="Calibri" pitchFamily="34" charset="0"/>
                <a:ea typeface="Calibri" pitchFamily="34" charset="-122"/>
                <a:cs typeface="Calibri" pitchFamily="34" charset="-120"/>
              </a:rPr>
              <a:t>DEFINITION / CONCEPT</a:t>
            </a:r>
            <a:endParaRPr lang="en-US" sz="1300" dirty="0"/>
          </a:p>
        </p:txBody>
      </p:sp>
      <p:sp>
        <p:nvSpPr>
          <p:cNvPr id="7" name="Shape 5"/>
          <p:cNvSpPr/>
          <p:nvPr/>
        </p:nvSpPr>
        <p:spPr>
          <a:xfrm>
            <a:off x="502920" y="2121408"/>
            <a:ext cx="11201400" cy="914400"/>
          </a:xfrm>
          <a:prstGeom prst="roundRect">
            <a:avLst>
              <a:gd name="adj" fmla="val 8000"/>
            </a:avLst>
          </a:prstGeom>
          <a:solidFill>
            <a:srgbClr val="F7F7FA"/>
          </a:solidFill>
          <a:ln w="12700">
            <a:solidFill>
              <a:srgbClr val="E4E6EF"/>
            </a:solidFill>
            <a:prstDash val="solid"/>
          </a:ln>
        </p:spPr>
      </p:sp>
      <p:sp>
        <p:nvSpPr>
          <p:cNvPr id="8" name="Text 6"/>
          <p:cNvSpPr/>
          <p:nvPr/>
        </p:nvSpPr>
        <p:spPr>
          <a:xfrm>
            <a:off x="758952" y="2304288"/>
            <a:ext cx="10689336" cy="548640"/>
          </a:xfrm>
          <a:prstGeom prst="rect">
            <a:avLst/>
          </a:prstGeom>
          <a:noFill/>
          <a:ln/>
        </p:spPr>
        <p:txBody>
          <a:bodyPr wrap="square" lIns="0" tIns="0" rIns="0" bIns="0" rtlCol="0" anchor="t"/>
          <a:lstStyle/>
          <a:p>
            <a:pPr marL="0" indent="0">
              <a:lnSpc>
                <a:spcPct val="115000"/>
              </a:lnSpc>
              <a:buNone/>
            </a:pPr>
            <a:r>
              <a:rPr lang="en-US" sz="1450" dirty="0">
                <a:solidFill>
                  <a:srgbClr val="1B2340"/>
                </a:solidFill>
                <a:latin typeface="Calibri" pitchFamily="34" charset="0"/>
                <a:ea typeface="Calibri" pitchFamily="34" charset="-122"/>
                <a:cs typeface="Calibri" pitchFamily="34" charset="-120"/>
              </a:rPr>
              <a:t>A VPC (Virtual Private Cloud) is an isolated, private section of a cloud provider's network where you can launch your own resources securely.</a:t>
            </a:r>
            <a:endParaRPr lang="en-US" sz="1450" dirty="0"/>
          </a:p>
        </p:txBody>
      </p:sp>
      <p:sp>
        <p:nvSpPr>
          <p:cNvPr id="9" name="Shape 7"/>
          <p:cNvSpPr/>
          <p:nvPr/>
        </p:nvSpPr>
        <p:spPr>
          <a:xfrm>
            <a:off x="502920" y="3200400"/>
            <a:ext cx="164592" cy="274320"/>
          </a:xfrm>
          <a:prstGeom prst="roundRect">
            <a:avLst>
              <a:gd name="adj" fmla="val 22222"/>
            </a:avLst>
          </a:prstGeom>
          <a:solidFill>
            <a:srgbClr val="3FBFAE"/>
          </a:solidFill>
          <a:ln/>
        </p:spPr>
      </p:sp>
      <p:sp>
        <p:nvSpPr>
          <p:cNvPr id="10" name="Text 8"/>
          <p:cNvSpPr/>
          <p:nvPr/>
        </p:nvSpPr>
        <p:spPr>
          <a:xfrm>
            <a:off x="758952" y="3172968"/>
            <a:ext cx="4315968" cy="329184"/>
          </a:xfrm>
          <a:prstGeom prst="rect">
            <a:avLst/>
          </a:prstGeom>
          <a:noFill/>
          <a:ln/>
        </p:spPr>
        <p:txBody>
          <a:bodyPr wrap="square" rtlCol="0" anchor="ctr"/>
          <a:lstStyle/>
          <a:p>
            <a:pPr marL="0" indent="0">
              <a:buNone/>
            </a:pPr>
            <a:r>
              <a:rPr lang="en-US" sz="1300" b="1" kern="0" spc="50" dirty="0">
                <a:solidFill>
                  <a:srgbClr val="1B2340"/>
                </a:solidFill>
                <a:latin typeface="Calibri" pitchFamily="34" charset="0"/>
                <a:ea typeface="Calibri" pitchFamily="34" charset="-122"/>
                <a:cs typeface="Calibri" pitchFamily="34" charset="-120"/>
              </a:rPr>
              <a:t>EXPLANATION</a:t>
            </a:r>
            <a:endParaRPr lang="en-US" sz="1300" dirty="0"/>
          </a:p>
        </p:txBody>
      </p:sp>
      <p:sp>
        <p:nvSpPr>
          <p:cNvPr id="11" name="Text 9"/>
          <p:cNvSpPr/>
          <p:nvPr/>
        </p:nvSpPr>
        <p:spPr>
          <a:xfrm>
            <a:off x="502920" y="3529584"/>
            <a:ext cx="6858000" cy="2331720"/>
          </a:xfrm>
          <a:prstGeom prst="rect">
            <a:avLst/>
          </a:prstGeom>
          <a:noFill/>
          <a:ln/>
        </p:spPr>
        <p:txBody>
          <a:bodyPr wrap="square" lIns="0" tIns="0" rIns="0" bIns="0" rtlCol="0" anchor="t"/>
          <a:lstStyle/>
          <a:p>
            <a:pPr marL="177800" indent="-177800">
              <a:spcAft>
                <a:spcPts val="800"/>
              </a:spcAft>
              <a:buSzPct val="100000"/>
              <a:buChar char="•"/>
            </a:pPr>
            <a:r>
              <a:rPr lang="en-US" sz="1300" dirty="0">
                <a:solidFill>
                  <a:srgbClr val="1B2340"/>
                </a:solidFill>
                <a:latin typeface="Calibri" pitchFamily="34" charset="0"/>
                <a:ea typeface="Calibri" pitchFamily="34" charset="-122"/>
                <a:cs typeface="Calibri" pitchFamily="34" charset="-120"/>
              </a:rPr>
              <a:t>A VPC is divided into smaller sections called subnets</a:t>
            </a:r>
            <a:endParaRPr lang="en-US" sz="1300" dirty="0"/>
          </a:p>
          <a:p>
            <a:pPr marL="177800" indent="-177800">
              <a:spcAft>
                <a:spcPts val="800"/>
              </a:spcAft>
              <a:buSzPct val="100000"/>
              <a:buChar char="•"/>
            </a:pPr>
            <a:r>
              <a:rPr lang="en-US" sz="1300" dirty="0">
                <a:solidFill>
                  <a:srgbClr val="1B2340"/>
                </a:solidFill>
                <a:latin typeface="Calibri" pitchFamily="34" charset="0"/>
                <a:ea typeface="Calibri" pitchFamily="34" charset="-122"/>
                <a:cs typeface="Calibri" pitchFamily="34" charset="-120"/>
              </a:rPr>
              <a:t>A public subnet has a route to the internet (via an Internet Gateway) - used for web servers</a:t>
            </a:r>
            <a:endParaRPr lang="en-US" sz="1300" dirty="0"/>
          </a:p>
          <a:p>
            <a:pPr marL="177800" indent="-177800">
              <a:spcAft>
                <a:spcPts val="800"/>
              </a:spcAft>
              <a:buSzPct val="100000"/>
              <a:buChar char="•"/>
            </a:pPr>
            <a:r>
              <a:rPr lang="en-US" sz="1300" dirty="0">
                <a:solidFill>
                  <a:srgbClr val="1B2340"/>
                </a:solidFill>
                <a:latin typeface="Calibri" pitchFamily="34" charset="0"/>
                <a:ea typeface="Calibri" pitchFamily="34" charset="-122"/>
                <a:cs typeface="Calibri" pitchFamily="34" charset="-120"/>
              </a:rPr>
              <a:t>A private subnet has no direct internet route - used for databases and internal services that need protection</a:t>
            </a:r>
            <a:endParaRPr lang="en-US" sz="1300" dirty="0"/>
          </a:p>
          <a:p>
            <a:pPr marL="177800" indent="-177800">
              <a:spcAft>
                <a:spcPts val="800"/>
              </a:spcAft>
              <a:buSzPct val="100000"/>
              <a:buChar char="•"/>
            </a:pPr>
            <a:r>
              <a:rPr lang="en-US" sz="1300" dirty="0">
                <a:solidFill>
                  <a:srgbClr val="1B2340"/>
                </a:solidFill>
                <a:latin typeface="Calibri" pitchFamily="34" charset="0"/>
                <a:ea typeface="Calibri" pitchFamily="34" charset="-122"/>
                <a:cs typeface="Calibri" pitchFamily="34" charset="-120"/>
              </a:rPr>
              <a:t>Traffic between subnets and the internet is controlled by gateways, route tables, and security groups</a:t>
            </a:r>
            <a:endParaRPr lang="en-US" sz="1300" dirty="0"/>
          </a:p>
        </p:txBody>
      </p:sp>
      <p:sp>
        <p:nvSpPr>
          <p:cNvPr id="12" name="Shape 10"/>
          <p:cNvSpPr/>
          <p:nvPr/>
        </p:nvSpPr>
        <p:spPr>
          <a:xfrm>
            <a:off x="7589520" y="3200400"/>
            <a:ext cx="4114800" cy="2194560"/>
          </a:xfrm>
          <a:prstGeom prst="roundRect">
            <a:avLst>
              <a:gd name="adj" fmla="val 3333"/>
            </a:avLst>
          </a:prstGeom>
          <a:solidFill>
            <a:srgbClr val="FDF3E3"/>
          </a:solidFill>
          <a:ln/>
        </p:spPr>
      </p:sp>
      <p:sp>
        <p:nvSpPr>
          <p:cNvPr id="13" name="Text 11"/>
          <p:cNvSpPr/>
          <p:nvPr/>
        </p:nvSpPr>
        <p:spPr>
          <a:xfrm>
            <a:off x="7790688" y="3310128"/>
            <a:ext cx="3712464" cy="274320"/>
          </a:xfrm>
          <a:prstGeom prst="rect">
            <a:avLst/>
          </a:prstGeom>
          <a:noFill/>
          <a:ln/>
        </p:spPr>
        <p:txBody>
          <a:bodyPr wrap="square" rtlCol="0" anchor="ctr"/>
          <a:lstStyle/>
          <a:p>
            <a:pPr marL="0" indent="0">
              <a:buNone/>
            </a:pPr>
            <a:r>
              <a:rPr lang="en-US" sz="1100" b="1" kern="0" spc="50" dirty="0">
                <a:solidFill>
                  <a:srgbClr val="C9862A"/>
                </a:solidFill>
                <a:latin typeface="Calibri" pitchFamily="34" charset="0"/>
                <a:ea typeface="Calibri" pitchFamily="34" charset="-122"/>
                <a:cs typeface="Calibri" pitchFamily="34" charset="-120"/>
              </a:rPr>
              <a:t>💡 REAL-LIFE ANALOGY</a:t>
            </a:r>
            <a:endParaRPr lang="en-US" sz="1100" dirty="0"/>
          </a:p>
        </p:txBody>
      </p:sp>
      <p:sp>
        <p:nvSpPr>
          <p:cNvPr id="14" name="Text 12"/>
          <p:cNvSpPr/>
          <p:nvPr/>
        </p:nvSpPr>
        <p:spPr>
          <a:xfrm>
            <a:off x="7790688" y="3602736"/>
            <a:ext cx="3712464" cy="1664208"/>
          </a:xfrm>
          <a:prstGeom prst="rect">
            <a:avLst/>
          </a:prstGeom>
          <a:noFill/>
          <a:ln/>
        </p:spPr>
        <p:txBody>
          <a:bodyPr wrap="square" lIns="0" tIns="0" rIns="0" bIns="0" rtlCol="0" anchor="t"/>
          <a:lstStyle/>
          <a:p>
            <a:pPr marL="0" indent="0">
              <a:lnSpc>
                <a:spcPct val="110000"/>
              </a:lnSpc>
              <a:buNone/>
            </a:pPr>
            <a:r>
              <a:rPr lang="en-US" sz="1250" i="1" dirty="0">
                <a:solidFill>
                  <a:srgbClr val="1B2340"/>
                </a:solidFill>
                <a:latin typeface="Calibri" pitchFamily="34" charset="0"/>
                <a:ea typeface="Calibri" pitchFamily="34" charset="-122"/>
                <a:cs typeface="Calibri" pitchFamily="34" charset="-120"/>
              </a:rPr>
              <a:t>Think of a VPC like a gated housing society. Public subnets are like houses facing the main road (accessible from outside), while private subnets are like inner houses only reachable through the society's internal roads, kept safer from outside traffic.</a:t>
            </a:r>
            <a:endParaRPr lang="en-US" sz="1250" dirty="0"/>
          </a:p>
        </p:txBody>
      </p:sp>
      <p:sp>
        <p:nvSpPr>
          <p:cNvPr id="15" name="Shape 13"/>
          <p:cNvSpPr/>
          <p:nvPr/>
        </p:nvSpPr>
        <p:spPr>
          <a:xfrm>
            <a:off x="502920" y="5870448"/>
            <a:ext cx="11201400" cy="603504"/>
          </a:xfrm>
          <a:prstGeom prst="roundRect">
            <a:avLst>
              <a:gd name="adj" fmla="val 12121"/>
            </a:avLst>
          </a:prstGeom>
          <a:solidFill>
            <a:srgbClr val="1B2340"/>
          </a:solidFill>
          <a:ln/>
        </p:spPr>
      </p:sp>
      <p:sp>
        <p:nvSpPr>
          <p:cNvPr id="16" name="Text 14"/>
          <p:cNvSpPr/>
          <p:nvPr/>
        </p:nvSpPr>
        <p:spPr>
          <a:xfrm>
            <a:off x="731520" y="5961888"/>
            <a:ext cx="10744200" cy="256032"/>
          </a:xfrm>
          <a:prstGeom prst="rect">
            <a:avLst/>
          </a:prstGeom>
          <a:noFill/>
          <a:ln/>
        </p:spPr>
        <p:txBody>
          <a:bodyPr wrap="square" rtlCol="0" anchor="ctr"/>
          <a:lstStyle/>
          <a:p>
            <a:pPr marL="0" indent="0">
              <a:buNone/>
            </a:pPr>
            <a:r>
              <a:rPr lang="en-US" sz="1050" b="1" kern="0" spc="80" dirty="0">
                <a:solidFill>
                  <a:srgbClr val="E8A33D"/>
                </a:solidFill>
                <a:latin typeface="Calibri" pitchFamily="34" charset="0"/>
                <a:ea typeface="Calibri" pitchFamily="34" charset="-122"/>
                <a:cs typeface="Calibri" pitchFamily="34" charset="-120"/>
              </a:rPr>
              <a:t>ONE-LINE INTERVIEW ANSWER</a:t>
            </a:r>
            <a:endParaRPr lang="en-US" sz="1050" dirty="0"/>
          </a:p>
        </p:txBody>
      </p:sp>
      <p:sp>
        <p:nvSpPr>
          <p:cNvPr id="17" name="Text 15"/>
          <p:cNvSpPr/>
          <p:nvPr/>
        </p:nvSpPr>
        <p:spPr>
          <a:xfrm>
            <a:off x="731520" y="6217920"/>
            <a:ext cx="10744200" cy="146304"/>
          </a:xfrm>
          <a:prstGeom prst="rect">
            <a:avLst/>
          </a:prstGeom>
          <a:noFill/>
          <a:ln/>
        </p:spPr>
        <p:txBody>
          <a:bodyPr wrap="square" lIns="0" tIns="0" rIns="0" bIns="0" rtlCol="0" anchor="t"/>
          <a:lstStyle/>
          <a:p>
            <a:pPr marL="0" indent="0">
              <a:lnSpc>
                <a:spcPct val="105000"/>
              </a:lnSpc>
              <a:buNone/>
            </a:pPr>
            <a:r>
              <a:rPr lang="en-US" sz="1250" dirty="0">
                <a:solidFill>
                  <a:srgbClr val="FFFFFF"/>
                </a:solidFill>
                <a:latin typeface="Calibri" pitchFamily="34" charset="0"/>
                <a:ea typeface="Calibri" pitchFamily="34" charset="-122"/>
                <a:cs typeface="Calibri" pitchFamily="34" charset="-120"/>
              </a:rPr>
              <a:t>A VPC is an isolated private network in the cloud; public subnets connect to the internet while private subnets stay protected and internal.</a:t>
            </a:r>
            <a:endParaRPr lang="en-US" sz="1250" dirty="0"/>
          </a:p>
        </p:txBody>
      </p:sp>
      <p:sp>
        <p:nvSpPr>
          <p:cNvPr id="18" name="Text 16"/>
          <p:cNvSpPr/>
          <p:nvPr/>
        </p:nvSpPr>
        <p:spPr>
          <a:xfrm>
            <a:off x="457200" y="6583680"/>
            <a:ext cx="5486400" cy="228600"/>
          </a:xfrm>
          <a:prstGeom prst="rect">
            <a:avLst/>
          </a:prstGeom>
          <a:noFill/>
          <a:ln/>
        </p:spPr>
        <p:txBody>
          <a:bodyPr wrap="square" rtlCol="0" anchor="ctr"/>
          <a:lstStyle/>
          <a:p>
            <a:pPr marL="0" indent="0" algn="l">
              <a:buNone/>
            </a:pPr>
            <a:r>
              <a:rPr lang="en-US" sz="850" dirty="0">
                <a:solidFill>
                  <a:srgbClr val="5B6178"/>
                </a:solidFill>
                <a:latin typeface="Calibri" pitchFamily="34" charset="0"/>
                <a:ea typeface="Calibri" pitchFamily="34" charset="-122"/>
                <a:cs typeface="Calibri" pitchFamily="34" charset="-120"/>
              </a:rPr>
              <a:t>Java &amp; Full-Stack Interview Prep</a:t>
            </a:r>
            <a:endParaRPr lang="en-US" sz="850"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spTree>
      <p:nvGrpSpPr>
        <p:cNvPr id="1" name=""/>
        <p:cNvGrpSpPr/>
        <p:nvPr/>
      </p:nvGrpSpPr>
      <p:grpSpPr>
        <a:xfrm>
          <a:off x="0" y="0"/>
          <a:ext cx="0" cy="0"/>
          <a:chOff x="0" y="0"/>
          <a:chExt cx="0" cy="0"/>
        </a:xfrm>
      </p:grpSpPr>
      <p:sp>
        <p:nvSpPr>
          <p:cNvPr id="2" name="Shape 0"/>
          <p:cNvSpPr/>
          <p:nvPr/>
        </p:nvSpPr>
        <p:spPr>
          <a:xfrm>
            <a:off x="502920" y="384048"/>
            <a:ext cx="4882896" cy="310896"/>
          </a:xfrm>
          <a:prstGeom prst="roundRect">
            <a:avLst>
              <a:gd name="adj" fmla="val 23529"/>
            </a:avLst>
          </a:prstGeom>
          <a:solidFill>
            <a:srgbClr val="E8A33D"/>
          </a:solidFill>
          <a:ln/>
        </p:spPr>
      </p:sp>
      <p:sp>
        <p:nvSpPr>
          <p:cNvPr id="3" name="Text 1"/>
          <p:cNvSpPr/>
          <p:nvPr/>
        </p:nvSpPr>
        <p:spPr>
          <a:xfrm>
            <a:off x="502920" y="384048"/>
            <a:ext cx="4882896" cy="310896"/>
          </a:xfrm>
          <a:prstGeom prst="rect">
            <a:avLst/>
          </a:prstGeom>
          <a:noFill/>
          <a:ln/>
        </p:spPr>
        <p:txBody>
          <a:bodyPr wrap="square" rtlCol="0" anchor="ctr"/>
          <a:lstStyle/>
          <a:p>
            <a:pPr marL="0" indent="0" algn="ctr">
              <a:buNone/>
            </a:pPr>
            <a:r>
              <a:rPr lang="en-US" sz="1100" b="1" kern="0" spc="100" dirty="0">
                <a:solidFill>
                  <a:srgbClr val="1B2340"/>
                </a:solidFill>
                <a:latin typeface="Calibri" pitchFamily="34" charset="0"/>
                <a:ea typeface="Calibri" pitchFamily="34" charset="-122"/>
                <a:cs typeface="Calibri" pitchFamily="34" charset="-120"/>
              </a:rPr>
              <a:t>GIT, CLOUD &amp; AI BASICS</a:t>
            </a:r>
            <a:endParaRPr lang="en-US" sz="1100" dirty="0"/>
          </a:p>
        </p:txBody>
      </p:sp>
      <p:sp>
        <p:nvSpPr>
          <p:cNvPr id="4" name="Text 2"/>
          <p:cNvSpPr/>
          <p:nvPr/>
        </p:nvSpPr>
        <p:spPr>
          <a:xfrm>
            <a:off x="502920" y="786384"/>
            <a:ext cx="11155680" cy="868680"/>
          </a:xfrm>
          <a:prstGeom prst="rect">
            <a:avLst/>
          </a:prstGeom>
          <a:noFill/>
          <a:ln/>
        </p:spPr>
        <p:txBody>
          <a:bodyPr wrap="square" rtlCol="0" anchor="t"/>
          <a:lstStyle/>
          <a:p>
            <a:pPr marL="0" indent="0">
              <a:lnSpc>
                <a:spcPct val="102000"/>
              </a:lnSpc>
              <a:buNone/>
            </a:pPr>
            <a:r>
              <a:rPr lang="en-US" sz="2500" b="1" dirty="0">
                <a:solidFill>
                  <a:srgbClr val="1B2340"/>
                </a:solidFill>
                <a:latin typeface="Century Schoolbook" pitchFamily="34" charset="0"/>
                <a:ea typeface="Century Schoolbook" pitchFamily="34" charset="-122"/>
                <a:cs typeface="Century Schoolbook" pitchFamily="34" charset="-120"/>
              </a:rPr>
              <a:t>What are Generative AI, LLMs, and Prompt Engineering?</a:t>
            </a:r>
            <a:endParaRPr lang="en-US" sz="2500" dirty="0"/>
          </a:p>
        </p:txBody>
      </p:sp>
      <p:sp>
        <p:nvSpPr>
          <p:cNvPr id="5" name="Shape 3"/>
          <p:cNvSpPr/>
          <p:nvPr/>
        </p:nvSpPr>
        <p:spPr>
          <a:xfrm>
            <a:off x="502920" y="1810512"/>
            <a:ext cx="164592" cy="274320"/>
          </a:xfrm>
          <a:prstGeom prst="roundRect">
            <a:avLst>
              <a:gd name="adj" fmla="val 22222"/>
            </a:avLst>
          </a:prstGeom>
          <a:solidFill>
            <a:srgbClr val="E8A33D"/>
          </a:solidFill>
          <a:ln/>
        </p:spPr>
      </p:sp>
      <p:sp>
        <p:nvSpPr>
          <p:cNvPr id="6" name="Text 4"/>
          <p:cNvSpPr/>
          <p:nvPr/>
        </p:nvSpPr>
        <p:spPr>
          <a:xfrm>
            <a:off x="758952" y="1783080"/>
            <a:ext cx="4315968" cy="329184"/>
          </a:xfrm>
          <a:prstGeom prst="rect">
            <a:avLst/>
          </a:prstGeom>
          <a:noFill/>
          <a:ln/>
        </p:spPr>
        <p:txBody>
          <a:bodyPr wrap="square" rtlCol="0" anchor="ctr"/>
          <a:lstStyle/>
          <a:p>
            <a:pPr marL="0" indent="0">
              <a:buNone/>
            </a:pPr>
            <a:r>
              <a:rPr lang="en-US" sz="1300" b="1" kern="0" spc="50" dirty="0">
                <a:solidFill>
                  <a:srgbClr val="1B2340"/>
                </a:solidFill>
                <a:latin typeface="Calibri" pitchFamily="34" charset="0"/>
                <a:ea typeface="Calibri" pitchFamily="34" charset="-122"/>
                <a:cs typeface="Calibri" pitchFamily="34" charset="-120"/>
              </a:rPr>
              <a:t>DEFINITION / CONCEPT</a:t>
            </a:r>
            <a:endParaRPr lang="en-US" sz="1300" dirty="0"/>
          </a:p>
        </p:txBody>
      </p:sp>
      <p:sp>
        <p:nvSpPr>
          <p:cNvPr id="7" name="Shape 5"/>
          <p:cNvSpPr/>
          <p:nvPr/>
        </p:nvSpPr>
        <p:spPr>
          <a:xfrm>
            <a:off x="502920" y="2121408"/>
            <a:ext cx="11201400" cy="914400"/>
          </a:xfrm>
          <a:prstGeom prst="roundRect">
            <a:avLst>
              <a:gd name="adj" fmla="val 8000"/>
            </a:avLst>
          </a:prstGeom>
          <a:solidFill>
            <a:srgbClr val="F7F7FA"/>
          </a:solidFill>
          <a:ln w="12700">
            <a:solidFill>
              <a:srgbClr val="E4E6EF"/>
            </a:solidFill>
            <a:prstDash val="solid"/>
          </a:ln>
        </p:spPr>
      </p:sp>
      <p:sp>
        <p:nvSpPr>
          <p:cNvPr id="8" name="Text 6"/>
          <p:cNvSpPr/>
          <p:nvPr/>
        </p:nvSpPr>
        <p:spPr>
          <a:xfrm>
            <a:off x="758952" y="2304288"/>
            <a:ext cx="10689336" cy="548640"/>
          </a:xfrm>
          <a:prstGeom prst="rect">
            <a:avLst/>
          </a:prstGeom>
          <a:noFill/>
          <a:ln/>
        </p:spPr>
        <p:txBody>
          <a:bodyPr wrap="square" lIns="0" tIns="0" rIns="0" bIns="0" rtlCol="0" anchor="t"/>
          <a:lstStyle/>
          <a:p>
            <a:pPr marL="0" indent="0">
              <a:lnSpc>
                <a:spcPct val="115000"/>
              </a:lnSpc>
              <a:buNone/>
            </a:pPr>
            <a:r>
              <a:rPr lang="en-US" sz="1450" dirty="0">
                <a:solidFill>
                  <a:srgbClr val="1B2340"/>
                </a:solidFill>
                <a:latin typeface="Calibri" pitchFamily="34" charset="0"/>
                <a:ea typeface="Calibri" pitchFamily="34" charset="-122"/>
                <a:cs typeface="Calibri" pitchFamily="34" charset="-120"/>
              </a:rPr>
              <a:t>Generative AI refers to AI systems that can create new content (text, images, code). LLMs (Large Language Models) are a type of Generative AI trained on huge amounts of text to understand and generate human-like language.</a:t>
            </a:r>
            <a:endParaRPr lang="en-US" sz="1450" dirty="0"/>
          </a:p>
        </p:txBody>
      </p:sp>
      <p:sp>
        <p:nvSpPr>
          <p:cNvPr id="9" name="Shape 7"/>
          <p:cNvSpPr/>
          <p:nvPr/>
        </p:nvSpPr>
        <p:spPr>
          <a:xfrm>
            <a:off x="502920" y="3200400"/>
            <a:ext cx="164592" cy="274320"/>
          </a:xfrm>
          <a:prstGeom prst="roundRect">
            <a:avLst>
              <a:gd name="adj" fmla="val 22222"/>
            </a:avLst>
          </a:prstGeom>
          <a:solidFill>
            <a:srgbClr val="3FBFAE"/>
          </a:solidFill>
          <a:ln/>
        </p:spPr>
      </p:sp>
      <p:sp>
        <p:nvSpPr>
          <p:cNvPr id="10" name="Text 8"/>
          <p:cNvSpPr/>
          <p:nvPr/>
        </p:nvSpPr>
        <p:spPr>
          <a:xfrm>
            <a:off x="758952" y="3172968"/>
            <a:ext cx="4315968" cy="329184"/>
          </a:xfrm>
          <a:prstGeom prst="rect">
            <a:avLst/>
          </a:prstGeom>
          <a:noFill/>
          <a:ln/>
        </p:spPr>
        <p:txBody>
          <a:bodyPr wrap="square" rtlCol="0" anchor="ctr"/>
          <a:lstStyle/>
          <a:p>
            <a:pPr marL="0" indent="0">
              <a:buNone/>
            </a:pPr>
            <a:r>
              <a:rPr lang="en-US" sz="1300" b="1" kern="0" spc="50" dirty="0">
                <a:solidFill>
                  <a:srgbClr val="1B2340"/>
                </a:solidFill>
                <a:latin typeface="Calibri" pitchFamily="34" charset="0"/>
                <a:ea typeface="Calibri" pitchFamily="34" charset="-122"/>
                <a:cs typeface="Calibri" pitchFamily="34" charset="-120"/>
              </a:rPr>
              <a:t>EXPLANATION</a:t>
            </a:r>
            <a:endParaRPr lang="en-US" sz="1300" dirty="0"/>
          </a:p>
        </p:txBody>
      </p:sp>
      <p:sp>
        <p:nvSpPr>
          <p:cNvPr id="11" name="Text 9"/>
          <p:cNvSpPr/>
          <p:nvPr/>
        </p:nvSpPr>
        <p:spPr>
          <a:xfrm>
            <a:off x="502920" y="3529584"/>
            <a:ext cx="6858000" cy="2331720"/>
          </a:xfrm>
          <a:prstGeom prst="rect">
            <a:avLst/>
          </a:prstGeom>
          <a:noFill/>
          <a:ln/>
        </p:spPr>
        <p:txBody>
          <a:bodyPr wrap="square" lIns="0" tIns="0" rIns="0" bIns="0" rtlCol="0" anchor="t"/>
          <a:lstStyle/>
          <a:p>
            <a:pPr marL="177800" indent="-177800">
              <a:spcAft>
                <a:spcPts val="800"/>
              </a:spcAft>
              <a:buSzPct val="100000"/>
              <a:buChar char="•"/>
            </a:pPr>
            <a:r>
              <a:rPr lang="en-US" sz="1300" dirty="0">
                <a:solidFill>
                  <a:srgbClr val="1B2340"/>
                </a:solidFill>
                <a:latin typeface="Calibri" pitchFamily="34" charset="0"/>
                <a:ea typeface="Calibri" pitchFamily="34" charset="-122"/>
                <a:cs typeface="Calibri" pitchFamily="34" charset="-120"/>
              </a:rPr>
              <a:t>Generative AI - broad category of AI that generates new content, not just analyzes existing data</a:t>
            </a:r>
            <a:endParaRPr lang="en-US" sz="1300" dirty="0"/>
          </a:p>
          <a:p>
            <a:pPr marL="177800" indent="-177800">
              <a:spcAft>
                <a:spcPts val="800"/>
              </a:spcAft>
              <a:buSzPct val="100000"/>
              <a:buChar char="•"/>
            </a:pPr>
            <a:r>
              <a:rPr lang="en-US" sz="1300" dirty="0">
                <a:solidFill>
                  <a:srgbClr val="1B2340"/>
                </a:solidFill>
                <a:latin typeface="Calibri" pitchFamily="34" charset="0"/>
                <a:ea typeface="Calibri" pitchFamily="34" charset="-122"/>
                <a:cs typeface="Calibri" pitchFamily="34" charset="-120"/>
              </a:rPr>
              <a:t>LLM (Large Language Model) - a model like GPT or Claude, trained on massive text data to understand and produce language</a:t>
            </a:r>
            <a:endParaRPr lang="en-US" sz="1300" dirty="0"/>
          </a:p>
          <a:p>
            <a:pPr marL="177800" indent="-177800">
              <a:spcAft>
                <a:spcPts val="800"/>
              </a:spcAft>
              <a:buSzPct val="100000"/>
              <a:buChar char="•"/>
            </a:pPr>
            <a:r>
              <a:rPr lang="en-US" sz="1300" dirty="0">
                <a:solidFill>
                  <a:srgbClr val="1B2340"/>
                </a:solidFill>
                <a:latin typeface="Calibri" pitchFamily="34" charset="0"/>
                <a:ea typeface="Calibri" pitchFamily="34" charset="-122"/>
                <a:cs typeface="Calibri" pitchFamily="34" charset="-120"/>
              </a:rPr>
              <a:t>Prompt Engineering - the skill of writing clear, well-structured instructions to get the best output from an LLM</a:t>
            </a:r>
            <a:endParaRPr lang="en-US" sz="1300" dirty="0"/>
          </a:p>
          <a:p>
            <a:pPr marL="177800" indent="-177800">
              <a:spcAft>
                <a:spcPts val="800"/>
              </a:spcAft>
              <a:buSzPct val="100000"/>
              <a:buChar char="•"/>
            </a:pPr>
            <a:r>
              <a:rPr lang="en-US" sz="1300" dirty="0">
                <a:solidFill>
                  <a:srgbClr val="1B2340"/>
                </a:solidFill>
                <a:latin typeface="Calibri" pitchFamily="34" charset="0"/>
                <a:ea typeface="Calibri" pitchFamily="34" charset="-122"/>
                <a:cs typeface="Calibri" pitchFamily="34" charset="-120"/>
              </a:rPr>
              <a:t>Common uses in projects: chatbots, code assistance, content generation, and summarization</a:t>
            </a:r>
            <a:endParaRPr lang="en-US" sz="1300" dirty="0"/>
          </a:p>
        </p:txBody>
      </p:sp>
      <p:sp>
        <p:nvSpPr>
          <p:cNvPr id="12" name="Shape 10"/>
          <p:cNvSpPr/>
          <p:nvPr/>
        </p:nvSpPr>
        <p:spPr>
          <a:xfrm>
            <a:off x="7589520" y="3200400"/>
            <a:ext cx="4114800" cy="2194560"/>
          </a:xfrm>
          <a:prstGeom prst="roundRect">
            <a:avLst>
              <a:gd name="adj" fmla="val 3333"/>
            </a:avLst>
          </a:prstGeom>
          <a:solidFill>
            <a:srgbClr val="FDF3E3"/>
          </a:solidFill>
          <a:ln/>
        </p:spPr>
      </p:sp>
      <p:sp>
        <p:nvSpPr>
          <p:cNvPr id="13" name="Text 11"/>
          <p:cNvSpPr/>
          <p:nvPr/>
        </p:nvSpPr>
        <p:spPr>
          <a:xfrm>
            <a:off x="7790688" y="3310128"/>
            <a:ext cx="3712464" cy="274320"/>
          </a:xfrm>
          <a:prstGeom prst="rect">
            <a:avLst/>
          </a:prstGeom>
          <a:noFill/>
          <a:ln/>
        </p:spPr>
        <p:txBody>
          <a:bodyPr wrap="square" rtlCol="0" anchor="ctr"/>
          <a:lstStyle/>
          <a:p>
            <a:pPr marL="0" indent="0">
              <a:buNone/>
            </a:pPr>
            <a:r>
              <a:rPr lang="en-US" sz="1100" b="1" kern="0" spc="50" dirty="0">
                <a:solidFill>
                  <a:srgbClr val="C9862A"/>
                </a:solidFill>
                <a:latin typeface="Calibri" pitchFamily="34" charset="0"/>
                <a:ea typeface="Calibri" pitchFamily="34" charset="-122"/>
                <a:cs typeface="Calibri" pitchFamily="34" charset="-120"/>
              </a:rPr>
              <a:t>💡 REAL-LIFE ANALOGY</a:t>
            </a:r>
            <a:endParaRPr lang="en-US" sz="1100" dirty="0"/>
          </a:p>
        </p:txBody>
      </p:sp>
      <p:sp>
        <p:nvSpPr>
          <p:cNvPr id="14" name="Text 12"/>
          <p:cNvSpPr/>
          <p:nvPr/>
        </p:nvSpPr>
        <p:spPr>
          <a:xfrm>
            <a:off x="7790688" y="3602736"/>
            <a:ext cx="3712464" cy="1664208"/>
          </a:xfrm>
          <a:prstGeom prst="rect">
            <a:avLst/>
          </a:prstGeom>
          <a:noFill/>
          <a:ln/>
        </p:spPr>
        <p:txBody>
          <a:bodyPr wrap="square" lIns="0" tIns="0" rIns="0" bIns="0" rtlCol="0" anchor="t"/>
          <a:lstStyle/>
          <a:p>
            <a:pPr marL="0" indent="0">
              <a:lnSpc>
                <a:spcPct val="110000"/>
              </a:lnSpc>
              <a:buNone/>
            </a:pPr>
            <a:r>
              <a:rPr lang="en-US" sz="1250" i="1" dirty="0">
                <a:solidFill>
                  <a:srgbClr val="1B2340"/>
                </a:solidFill>
                <a:latin typeface="Calibri" pitchFamily="34" charset="0"/>
                <a:ea typeface="Calibri" pitchFamily="34" charset="-122"/>
                <a:cs typeface="Calibri" pitchFamily="34" charset="-120"/>
              </a:rPr>
              <a:t>An LLM is like an extremely well-read assistant. Prompt engineering is like learning how to ask that assistant clear, specific questions so you get useful, accurate answers instead of vague ones.</a:t>
            </a:r>
            <a:endParaRPr lang="en-US" sz="1250" dirty="0"/>
          </a:p>
        </p:txBody>
      </p:sp>
      <p:sp>
        <p:nvSpPr>
          <p:cNvPr id="15" name="Shape 13"/>
          <p:cNvSpPr/>
          <p:nvPr/>
        </p:nvSpPr>
        <p:spPr>
          <a:xfrm>
            <a:off x="502920" y="5870448"/>
            <a:ext cx="11201400" cy="603504"/>
          </a:xfrm>
          <a:prstGeom prst="roundRect">
            <a:avLst>
              <a:gd name="adj" fmla="val 12121"/>
            </a:avLst>
          </a:prstGeom>
          <a:solidFill>
            <a:srgbClr val="1B2340"/>
          </a:solidFill>
          <a:ln/>
        </p:spPr>
      </p:sp>
      <p:sp>
        <p:nvSpPr>
          <p:cNvPr id="16" name="Text 14"/>
          <p:cNvSpPr/>
          <p:nvPr/>
        </p:nvSpPr>
        <p:spPr>
          <a:xfrm>
            <a:off x="731520" y="5961888"/>
            <a:ext cx="10744200" cy="256032"/>
          </a:xfrm>
          <a:prstGeom prst="rect">
            <a:avLst/>
          </a:prstGeom>
          <a:noFill/>
          <a:ln/>
        </p:spPr>
        <p:txBody>
          <a:bodyPr wrap="square" rtlCol="0" anchor="ctr"/>
          <a:lstStyle/>
          <a:p>
            <a:pPr marL="0" indent="0">
              <a:buNone/>
            </a:pPr>
            <a:r>
              <a:rPr lang="en-US" sz="1050" b="1" kern="0" spc="80" dirty="0">
                <a:solidFill>
                  <a:srgbClr val="E8A33D"/>
                </a:solidFill>
                <a:latin typeface="Calibri" pitchFamily="34" charset="0"/>
                <a:ea typeface="Calibri" pitchFamily="34" charset="-122"/>
                <a:cs typeface="Calibri" pitchFamily="34" charset="-120"/>
              </a:rPr>
              <a:t>ONE-LINE INTERVIEW ANSWER</a:t>
            </a:r>
            <a:endParaRPr lang="en-US" sz="1050" dirty="0"/>
          </a:p>
        </p:txBody>
      </p:sp>
      <p:sp>
        <p:nvSpPr>
          <p:cNvPr id="17" name="Text 15"/>
          <p:cNvSpPr/>
          <p:nvPr/>
        </p:nvSpPr>
        <p:spPr>
          <a:xfrm>
            <a:off x="731520" y="6217920"/>
            <a:ext cx="10744200" cy="146304"/>
          </a:xfrm>
          <a:prstGeom prst="rect">
            <a:avLst/>
          </a:prstGeom>
          <a:noFill/>
          <a:ln/>
        </p:spPr>
        <p:txBody>
          <a:bodyPr wrap="square" lIns="0" tIns="0" rIns="0" bIns="0" rtlCol="0" anchor="t"/>
          <a:lstStyle/>
          <a:p>
            <a:pPr marL="0" indent="0">
              <a:lnSpc>
                <a:spcPct val="105000"/>
              </a:lnSpc>
              <a:buNone/>
            </a:pPr>
            <a:r>
              <a:rPr lang="en-US" sz="1250" dirty="0">
                <a:solidFill>
                  <a:srgbClr val="FFFFFF"/>
                </a:solidFill>
                <a:latin typeface="Calibri" pitchFamily="34" charset="0"/>
                <a:ea typeface="Calibri" pitchFamily="34" charset="-122"/>
                <a:cs typeface="Calibri" pitchFamily="34" charset="-120"/>
              </a:rPr>
              <a:t>Generative AI creates new content, LLMs are language-based generative AI models, and Prompt Engineering is the skill of crafting effective instructions for them.</a:t>
            </a:r>
            <a:endParaRPr lang="en-US" sz="1250" dirty="0"/>
          </a:p>
        </p:txBody>
      </p:sp>
      <p:sp>
        <p:nvSpPr>
          <p:cNvPr id="18" name="Text 16"/>
          <p:cNvSpPr/>
          <p:nvPr/>
        </p:nvSpPr>
        <p:spPr>
          <a:xfrm>
            <a:off x="457200" y="6583680"/>
            <a:ext cx="5486400" cy="228600"/>
          </a:xfrm>
          <a:prstGeom prst="rect">
            <a:avLst/>
          </a:prstGeom>
          <a:noFill/>
          <a:ln/>
        </p:spPr>
        <p:txBody>
          <a:bodyPr wrap="square" rtlCol="0" anchor="ctr"/>
          <a:lstStyle/>
          <a:p>
            <a:pPr marL="0" indent="0" algn="l">
              <a:buNone/>
            </a:pPr>
            <a:r>
              <a:rPr lang="en-US" sz="850" dirty="0">
                <a:solidFill>
                  <a:srgbClr val="5B6178"/>
                </a:solidFill>
                <a:latin typeface="Calibri" pitchFamily="34" charset="0"/>
                <a:ea typeface="Calibri" pitchFamily="34" charset="-122"/>
                <a:cs typeface="Calibri" pitchFamily="34" charset="-120"/>
              </a:rPr>
              <a:t>Java &amp; Full-Stack Interview Prep</a:t>
            </a:r>
            <a:endParaRPr lang="en-US" sz="850"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spTree>
      <p:nvGrpSpPr>
        <p:cNvPr id="1" name=""/>
        <p:cNvGrpSpPr/>
        <p:nvPr/>
      </p:nvGrpSpPr>
      <p:grpSpPr>
        <a:xfrm>
          <a:off x="0" y="0"/>
          <a:ext cx="0" cy="0"/>
          <a:chOff x="0" y="0"/>
          <a:chExt cx="0" cy="0"/>
        </a:xfrm>
      </p:grpSpPr>
      <p:sp>
        <p:nvSpPr>
          <p:cNvPr id="2" name="Shape 0"/>
          <p:cNvSpPr/>
          <p:nvPr/>
        </p:nvSpPr>
        <p:spPr>
          <a:xfrm>
            <a:off x="502920" y="384048"/>
            <a:ext cx="4882896" cy="310896"/>
          </a:xfrm>
          <a:prstGeom prst="roundRect">
            <a:avLst>
              <a:gd name="adj" fmla="val 23529"/>
            </a:avLst>
          </a:prstGeom>
          <a:solidFill>
            <a:srgbClr val="E8A33D"/>
          </a:solidFill>
          <a:ln/>
        </p:spPr>
      </p:sp>
      <p:sp>
        <p:nvSpPr>
          <p:cNvPr id="3" name="Text 1"/>
          <p:cNvSpPr/>
          <p:nvPr/>
        </p:nvSpPr>
        <p:spPr>
          <a:xfrm>
            <a:off x="502920" y="384048"/>
            <a:ext cx="4882896" cy="310896"/>
          </a:xfrm>
          <a:prstGeom prst="rect">
            <a:avLst/>
          </a:prstGeom>
          <a:noFill/>
          <a:ln/>
        </p:spPr>
        <p:txBody>
          <a:bodyPr wrap="square" rtlCol="0" anchor="ctr"/>
          <a:lstStyle/>
          <a:p>
            <a:pPr marL="0" indent="0" algn="ctr">
              <a:buNone/>
            </a:pPr>
            <a:r>
              <a:rPr lang="en-US" sz="1100" b="1" kern="0" spc="100" dirty="0">
                <a:solidFill>
                  <a:srgbClr val="1B2340"/>
                </a:solidFill>
                <a:latin typeface="Calibri" pitchFamily="34" charset="0"/>
                <a:ea typeface="Calibri" pitchFamily="34" charset="-122"/>
                <a:cs typeface="Calibri" pitchFamily="34" charset="-120"/>
              </a:rPr>
              <a:t>GIT, CLOUD &amp; AI BASICS</a:t>
            </a:r>
            <a:endParaRPr lang="en-US" sz="1100" dirty="0"/>
          </a:p>
        </p:txBody>
      </p:sp>
      <p:sp>
        <p:nvSpPr>
          <p:cNvPr id="4" name="Text 2"/>
          <p:cNvSpPr/>
          <p:nvPr/>
        </p:nvSpPr>
        <p:spPr>
          <a:xfrm>
            <a:off x="502920" y="786384"/>
            <a:ext cx="11155680" cy="868680"/>
          </a:xfrm>
          <a:prstGeom prst="rect">
            <a:avLst/>
          </a:prstGeom>
          <a:noFill/>
          <a:ln/>
        </p:spPr>
        <p:txBody>
          <a:bodyPr wrap="square" rtlCol="0" anchor="t"/>
          <a:lstStyle/>
          <a:p>
            <a:pPr marL="0" indent="0">
              <a:lnSpc>
                <a:spcPct val="102000"/>
              </a:lnSpc>
              <a:buNone/>
            </a:pPr>
            <a:r>
              <a:rPr lang="en-US" sz="2500" b="1" dirty="0">
                <a:solidFill>
                  <a:srgbClr val="1B2340"/>
                </a:solidFill>
                <a:latin typeface="Century Schoolbook" pitchFamily="34" charset="0"/>
                <a:ea typeface="Century Schoolbook" pitchFamily="34" charset="-122"/>
                <a:cs typeface="Century Schoolbook" pitchFamily="34" charset="-120"/>
              </a:rPr>
              <a:t>What are Design Patterns? Explain Singleton and Factory.</a:t>
            </a:r>
            <a:endParaRPr lang="en-US" sz="2500" dirty="0"/>
          </a:p>
        </p:txBody>
      </p:sp>
      <p:sp>
        <p:nvSpPr>
          <p:cNvPr id="5" name="Shape 3"/>
          <p:cNvSpPr/>
          <p:nvPr/>
        </p:nvSpPr>
        <p:spPr>
          <a:xfrm>
            <a:off x="502920" y="1810512"/>
            <a:ext cx="164592" cy="274320"/>
          </a:xfrm>
          <a:prstGeom prst="roundRect">
            <a:avLst>
              <a:gd name="adj" fmla="val 22222"/>
            </a:avLst>
          </a:prstGeom>
          <a:solidFill>
            <a:srgbClr val="E8A33D"/>
          </a:solidFill>
          <a:ln/>
        </p:spPr>
      </p:sp>
      <p:sp>
        <p:nvSpPr>
          <p:cNvPr id="6" name="Text 4"/>
          <p:cNvSpPr/>
          <p:nvPr/>
        </p:nvSpPr>
        <p:spPr>
          <a:xfrm>
            <a:off x="758952" y="1783080"/>
            <a:ext cx="4681728" cy="329184"/>
          </a:xfrm>
          <a:prstGeom prst="rect">
            <a:avLst/>
          </a:prstGeom>
          <a:noFill/>
          <a:ln/>
        </p:spPr>
        <p:txBody>
          <a:bodyPr wrap="square" rtlCol="0" anchor="ctr"/>
          <a:lstStyle/>
          <a:p>
            <a:pPr marL="0" indent="0">
              <a:buNone/>
            </a:pPr>
            <a:r>
              <a:rPr lang="en-US" sz="1300" b="1" kern="0" spc="50" dirty="0">
                <a:solidFill>
                  <a:srgbClr val="1B2340"/>
                </a:solidFill>
                <a:latin typeface="Calibri" pitchFamily="34" charset="0"/>
                <a:ea typeface="Calibri" pitchFamily="34" charset="-122"/>
                <a:cs typeface="Calibri" pitchFamily="34" charset="-120"/>
              </a:rPr>
              <a:t>DEFINITION / CONCEPT</a:t>
            </a:r>
            <a:endParaRPr lang="en-US" sz="1300" dirty="0"/>
          </a:p>
        </p:txBody>
      </p:sp>
      <p:sp>
        <p:nvSpPr>
          <p:cNvPr id="7" name="Shape 5"/>
          <p:cNvSpPr/>
          <p:nvPr/>
        </p:nvSpPr>
        <p:spPr>
          <a:xfrm>
            <a:off x="502920" y="2121408"/>
            <a:ext cx="4937760" cy="1234440"/>
          </a:xfrm>
          <a:prstGeom prst="roundRect">
            <a:avLst>
              <a:gd name="adj" fmla="val 5926"/>
            </a:avLst>
          </a:prstGeom>
          <a:solidFill>
            <a:srgbClr val="F7F7FA"/>
          </a:solidFill>
          <a:ln w="12700">
            <a:solidFill>
              <a:srgbClr val="E4E6EF"/>
            </a:solidFill>
            <a:prstDash val="solid"/>
          </a:ln>
        </p:spPr>
      </p:sp>
      <p:sp>
        <p:nvSpPr>
          <p:cNvPr id="8" name="Text 6"/>
          <p:cNvSpPr/>
          <p:nvPr/>
        </p:nvSpPr>
        <p:spPr>
          <a:xfrm>
            <a:off x="758952" y="2304288"/>
            <a:ext cx="4425696" cy="868680"/>
          </a:xfrm>
          <a:prstGeom prst="rect">
            <a:avLst/>
          </a:prstGeom>
          <a:noFill/>
          <a:ln/>
        </p:spPr>
        <p:txBody>
          <a:bodyPr wrap="square" lIns="0" tIns="0" rIns="0" bIns="0" rtlCol="0" anchor="t"/>
          <a:lstStyle/>
          <a:p>
            <a:pPr marL="0" indent="0">
              <a:lnSpc>
                <a:spcPct val="115000"/>
              </a:lnSpc>
              <a:buNone/>
            </a:pPr>
            <a:r>
              <a:rPr lang="en-US" sz="1450" dirty="0">
                <a:solidFill>
                  <a:srgbClr val="1B2340"/>
                </a:solidFill>
                <a:latin typeface="Calibri" pitchFamily="34" charset="0"/>
                <a:ea typeface="Calibri" pitchFamily="34" charset="-122"/>
                <a:cs typeface="Calibri" pitchFamily="34" charset="-120"/>
              </a:rPr>
              <a:t>Design patterns are proven, reusable solutions to common software design problems. Singleton and Factory are two of the most commonly asked patterns in interviews.</a:t>
            </a:r>
            <a:endParaRPr lang="en-US" sz="1450" dirty="0"/>
          </a:p>
        </p:txBody>
      </p:sp>
      <p:sp>
        <p:nvSpPr>
          <p:cNvPr id="9" name="Shape 7"/>
          <p:cNvSpPr/>
          <p:nvPr/>
        </p:nvSpPr>
        <p:spPr>
          <a:xfrm>
            <a:off x="502920" y="3493008"/>
            <a:ext cx="4937760" cy="1554480"/>
          </a:xfrm>
          <a:prstGeom prst="roundRect">
            <a:avLst>
              <a:gd name="adj" fmla="val 4706"/>
            </a:avLst>
          </a:prstGeom>
          <a:solidFill>
            <a:srgbClr val="FDF3E3"/>
          </a:solidFill>
          <a:ln/>
        </p:spPr>
      </p:sp>
      <p:sp>
        <p:nvSpPr>
          <p:cNvPr id="10" name="Text 8"/>
          <p:cNvSpPr/>
          <p:nvPr/>
        </p:nvSpPr>
        <p:spPr>
          <a:xfrm>
            <a:off x="704088" y="3602736"/>
            <a:ext cx="4535424" cy="274320"/>
          </a:xfrm>
          <a:prstGeom prst="rect">
            <a:avLst/>
          </a:prstGeom>
          <a:noFill/>
          <a:ln/>
        </p:spPr>
        <p:txBody>
          <a:bodyPr wrap="square" rtlCol="0" anchor="ctr"/>
          <a:lstStyle/>
          <a:p>
            <a:pPr marL="0" indent="0">
              <a:buNone/>
            </a:pPr>
            <a:r>
              <a:rPr lang="en-US" sz="1100" b="1" kern="0" spc="50" dirty="0">
                <a:solidFill>
                  <a:srgbClr val="C9862A"/>
                </a:solidFill>
                <a:latin typeface="Calibri" pitchFamily="34" charset="0"/>
                <a:ea typeface="Calibri" pitchFamily="34" charset="-122"/>
                <a:cs typeface="Calibri" pitchFamily="34" charset="-120"/>
              </a:rPr>
              <a:t>💡 REAL-LIFE ANALOGY</a:t>
            </a:r>
            <a:endParaRPr lang="en-US" sz="1100" dirty="0"/>
          </a:p>
        </p:txBody>
      </p:sp>
      <p:sp>
        <p:nvSpPr>
          <p:cNvPr id="11" name="Text 9"/>
          <p:cNvSpPr/>
          <p:nvPr/>
        </p:nvSpPr>
        <p:spPr>
          <a:xfrm>
            <a:off x="704088" y="3895344"/>
            <a:ext cx="4535424" cy="1024128"/>
          </a:xfrm>
          <a:prstGeom prst="rect">
            <a:avLst/>
          </a:prstGeom>
          <a:noFill/>
          <a:ln/>
        </p:spPr>
        <p:txBody>
          <a:bodyPr wrap="square" lIns="0" tIns="0" rIns="0" bIns="0" rtlCol="0" anchor="t"/>
          <a:lstStyle/>
          <a:p>
            <a:pPr marL="0" indent="0">
              <a:lnSpc>
                <a:spcPct val="110000"/>
              </a:lnSpc>
              <a:buNone/>
            </a:pPr>
            <a:r>
              <a:rPr lang="en-US" sz="1250" i="1" dirty="0">
                <a:solidFill>
                  <a:srgbClr val="1B2340"/>
                </a:solidFill>
                <a:latin typeface="Calibri" pitchFamily="34" charset="0"/>
                <a:ea typeface="Calibri" pitchFamily="34" charset="-122"/>
                <a:cs typeface="Calibri" pitchFamily="34" charset="-120"/>
              </a:rPr>
              <a:t>Singleton is like a single president of a country - there can only be one at a time. Factory is like a car factory that produces different car models based on the order it receives, without the customer needing to know the internal manufacturing steps.</a:t>
            </a:r>
            <a:endParaRPr lang="en-US" sz="1250" dirty="0"/>
          </a:p>
        </p:txBody>
      </p:sp>
      <p:sp>
        <p:nvSpPr>
          <p:cNvPr id="12" name="Shape 10"/>
          <p:cNvSpPr/>
          <p:nvPr/>
        </p:nvSpPr>
        <p:spPr>
          <a:xfrm>
            <a:off x="502920" y="5193792"/>
            <a:ext cx="4937760" cy="1051560"/>
          </a:xfrm>
          <a:prstGeom prst="roundRect">
            <a:avLst>
              <a:gd name="adj" fmla="val 6957"/>
            </a:avLst>
          </a:prstGeom>
          <a:solidFill>
            <a:srgbClr val="1B2340"/>
          </a:solidFill>
          <a:ln/>
        </p:spPr>
      </p:sp>
      <p:sp>
        <p:nvSpPr>
          <p:cNvPr id="13" name="Text 11"/>
          <p:cNvSpPr/>
          <p:nvPr/>
        </p:nvSpPr>
        <p:spPr>
          <a:xfrm>
            <a:off x="731520" y="5285232"/>
            <a:ext cx="4480560" cy="256032"/>
          </a:xfrm>
          <a:prstGeom prst="rect">
            <a:avLst/>
          </a:prstGeom>
          <a:noFill/>
          <a:ln/>
        </p:spPr>
        <p:txBody>
          <a:bodyPr wrap="square" rtlCol="0" anchor="ctr"/>
          <a:lstStyle/>
          <a:p>
            <a:pPr marL="0" indent="0">
              <a:buNone/>
            </a:pPr>
            <a:r>
              <a:rPr lang="en-US" sz="1050" b="1" kern="0" spc="80" dirty="0">
                <a:solidFill>
                  <a:srgbClr val="E8A33D"/>
                </a:solidFill>
                <a:latin typeface="Calibri" pitchFamily="34" charset="0"/>
                <a:ea typeface="Calibri" pitchFamily="34" charset="-122"/>
                <a:cs typeface="Calibri" pitchFamily="34" charset="-120"/>
              </a:rPr>
              <a:t>ONE-LINE INTERVIEW ANSWER</a:t>
            </a:r>
            <a:endParaRPr lang="en-US" sz="1050" dirty="0"/>
          </a:p>
        </p:txBody>
      </p:sp>
      <p:sp>
        <p:nvSpPr>
          <p:cNvPr id="14" name="Text 12"/>
          <p:cNvSpPr/>
          <p:nvPr/>
        </p:nvSpPr>
        <p:spPr>
          <a:xfrm>
            <a:off x="731520" y="5541264"/>
            <a:ext cx="4480560" cy="594360"/>
          </a:xfrm>
          <a:prstGeom prst="rect">
            <a:avLst/>
          </a:prstGeom>
          <a:noFill/>
          <a:ln/>
        </p:spPr>
        <p:txBody>
          <a:bodyPr wrap="square" lIns="0" tIns="0" rIns="0" bIns="0" rtlCol="0" anchor="t"/>
          <a:lstStyle/>
          <a:p>
            <a:pPr marL="0" indent="0">
              <a:lnSpc>
                <a:spcPct val="105000"/>
              </a:lnSpc>
              <a:buNone/>
            </a:pPr>
            <a:r>
              <a:rPr lang="en-US" sz="1250" dirty="0">
                <a:solidFill>
                  <a:srgbClr val="FFFFFF"/>
                </a:solidFill>
                <a:latin typeface="Calibri" pitchFamily="34" charset="0"/>
                <a:ea typeface="Calibri" pitchFamily="34" charset="-122"/>
                <a:cs typeface="Calibri" pitchFamily="34" charset="-120"/>
              </a:rPr>
              <a:t>Singleton guarantees only one instance of a class exists, while Factory centralizes and hides the logic of creating objects.</a:t>
            </a:r>
            <a:endParaRPr lang="en-US" sz="1250" dirty="0"/>
          </a:p>
        </p:txBody>
      </p:sp>
      <p:sp>
        <p:nvSpPr>
          <p:cNvPr id="15" name="Shape 13"/>
          <p:cNvSpPr/>
          <p:nvPr/>
        </p:nvSpPr>
        <p:spPr>
          <a:xfrm>
            <a:off x="5669280" y="1810512"/>
            <a:ext cx="164592" cy="274320"/>
          </a:xfrm>
          <a:prstGeom prst="roundRect">
            <a:avLst>
              <a:gd name="adj" fmla="val 22222"/>
            </a:avLst>
          </a:prstGeom>
          <a:solidFill>
            <a:srgbClr val="3FBFAE"/>
          </a:solidFill>
          <a:ln/>
        </p:spPr>
      </p:sp>
      <p:sp>
        <p:nvSpPr>
          <p:cNvPr id="16" name="Text 14"/>
          <p:cNvSpPr/>
          <p:nvPr/>
        </p:nvSpPr>
        <p:spPr>
          <a:xfrm>
            <a:off x="5925312" y="1783080"/>
            <a:ext cx="5779008" cy="329184"/>
          </a:xfrm>
          <a:prstGeom prst="rect">
            <a:avLst/>
          </a:prstGeom>
          <a:noFill/>
          <a:ln/>
        </p:spPr>
        <p:txBody>
          <a:bodyPr wrap="square" rtlCol="0" anchor="ctr"/>
          <a:lstStyle/>
          <a:p>
            <a:pPr marL="0" indent="0">
              <a:buNone/>
            </a:pPr>
            <a:r>
              <a:rPr lang="en-US" sz="1300" b="1" kern="0" spc="50" dirty="0">
                <a:solidFill>
                  <a:srgbClr val="1B2340"/>
                </a:solidFill>
                <a:latin typeface="Calibri" pitchFamily="34" charset="0"/>
                <a:ea typeface="Calibri" pitchFamily="34" charset="-122"/>
                <a:cs typeface="Calibri" pitchFamily="34" charset="-120"/>
              </a:rPr>
              <a:t>EXAMPLE</a:t>
            </a:r>
            <a:endParaRPr lang="en-US" sz="1300" dirty="0"/>
          </a:p>
        </p:txBody>
      </p:sp>
      <p:sp>
        <p:nvSpPr>
          <p:cNvPr id="17" name="Shape 15"/>
          <p:cNvSpPr/>
          <p:nvPr/>
        </p:nvSpPr>
        <p:spPr>
          <a:xfrm>
            <a:off x="5669280" y="2121408"/>
            <a:ext cx="6035040" cy="2628900"/>
          </a:xfrm>
          <a:prstGeom prst="roundRect">
            <a:avLst>
              <a:gd name="adj" fmla="val 2783"/>
            </a:avLst>
          </a:prstGeom>
          <a:solidFill>
            <a:srgbClr val="1E1E2E"/>
          </a:solidFill>
          <a:ln/>
        </p:spPr>
      </p:sp>
      <p:sp>
        <p:nvSpPr>
          <p:cNvPr id="18" name="Shape 16"/>
          <p:cNvSpPr/>
          <p:nvPr/>
        </p:nvSpPr>
        <p:spPr>
          <a:xfrm>
            <a:off x="5806440" y="2249424"/>
            <a:ext cx="100584" cy="100584"/>
          </a:xfrm>
          <a:prstGeom prst="ellipse">
            <a:avLst/>
          </a:prstGeom>
          <a:solidFill>
            <a:srgbClr val="FF5F56"/>
          </a:solidFill>
          <a:ln/>
        </p:spPr>
      </p:sp>
      <p:sp>
        <p:nvSpPr>
          <p:cNvPr id="19" name="Shape 17"/>
          <p:cNvSpPr/>
          <p:nvPr/>
        </p:nvSpPr>
        <p:spPr>
          <a:xfrm>
            <a:off x="5961888" y="2249424"/>
            <a:ext cx="100584" cy="100584"/>
          </a:xfrm>
          <a:prstGeom prst="ellipse">
            <a:avLst/>
          </a:prstGeom>
          <a:solidFill>
            <a:srgbClr val="FFBD2E"/>
          </a:solidFill>
          <a:ln/>
        </p:spPr>
      </p:sp>
      <p:sp>
        <p:nvSpPr>
          <p:cNvPr id="20" name="Shape 18"/>
          <p:cNvSpPr/>
          <p:nvPr/>
        </p:nvSpPr>
        <p:spPr>
          <a:xfrm>
            <a:off x="6117336" y="2249424"/>
            <a:ext cx="100584" cy="100584"/>
          </a:xfrm>
          <a:prstGeom prst="ellipse">
            <a:avLst/>
          </a:prstGeom>
          <a:solidFill>
            <a:srgbClr val="27C93F"/>
          </a:solidFill>
          <a:ln/>
        </p:spPr>
      </p:sp>
      <p:sp>
        <p:nvSpPr>
          <p:cNvPr id="21" name="Text 19"/>
          <p:cNvSpPr/>
          <p:nvPr/>
        </p:nvSpPr>
        <p:spPr>
          <a:xfrm>
            <a:off x="6309360" y="2167128"/>
            <a:ext cx="5120640" cy="274320"/>
          </a:xfrm>
          <a:prstGeom prst="rect">
            <a:avLst/>
          </a:prstGeom>
          <a:noFill/>
          <a:ln/>
        </p:spPr>
        <p:txBody>
          <a:bodyPr wrap="square" rtlCol="0" anchor="ctr"/>
          <a:lstStyle/>
          <a:p>
            <a:pPr marL="0" indent="0" algn="r">
              <a:buNone/>
            </a:pPr>
            <a:r>
              <a:rPr lang="en-US" sz="1000" dirty="0">
                <a:solidFill>
                  <a:srgbClr val="8A90AC"/>
                </a:solidFill>
                <a:latin typeface="Courier New" pitchFamily="34" charset="0"/>
                <a:ea typeface="Courier New" pitchFamily="34" charset="-122"/>
                <a:cs typeface="Courier New" pitchFamily="34" charset="-120"/>
              </a:rPr>
              <a:t>Main.java</a:t>
            </a:r>
            <a:endParaRPr lang="en-US" sz="1000" dirty="0"/>
          </a:p>
        </p:txBody>
      </p:sp>
      <p:sp>
        <p:nvSpPr>
          <p:cNvPr id="22" name="Text 20"/>
          <p:cNvSpPr/>
          <p:nvPr/>
        </p:nvSpPr>
        <p:spPr>
          <a:xfrm>
            <a:off x="5897880" y="2487168"/>
            <a:ext cx="5577840" cy="2171700"/>
          </a:xfrm>
          <a:prstGeom prst="rect">
            <a:avLst/>
          </a:prstGeom>
          <a:noFill/>
          <a:ln/>
        </p:spPr>
        <p:txBody>
          <a:bodyPr wrap="square" lIns="0" tIns="0" rIns="0" bIns="0" rtlCol="0" anchor="t"/>
          <a:lstStyle/>
          <a:p>
            <a:pPr marL="0" indent="0">
              <a:lnSpc>
                <a:spcPct val="120000"/>
              </a:lnSpc>
              <a:buNone/>
            </a:pPr>
            <a:r>
              <a:rPr lang="en-US" sz="1200" dirty="0">
                <a:solidFill>
                  <a:srgbClr val="D4D4E0"/>
                </a:solidFill>
                <a:latin typeface="Courier New" pitchFamily="34" charset="0"/>
                <a:ea typeface="Courier New" pitchFamily="34" charset="-122"/>
                <a:cs typeface="Courier New" pitchFamily="34" charset="-120"/>
              </a:rPr>
              <a:t>class Singleton {</a:t>
            </a:r>
            <a:endParaRPr lang="en-US" sz="1200" dirty="0"/>
          </a:p>
          <a:p>
            <a:pPr marL="0" indent="0">
              <a:lnSpc>
                <a:spcPct val="120000"/>
              </a:lnSpc>
              <a:buNone/>
            </a:pPr>
            <a:r>
              <a:rPr lang="en-US" sz="1200" dirty="0">
                <a:solidFill>
                  <a:srgbClr val="D4D4E0"/>
                </a:solidFill>
                <a:latin typeface="Courier New" pitchFamily="34" charset="0"/>
                <a:ea typeface="Courier New" pitchFamily="34" charset="-122"/>
                <a:cs typeface="Courier New" pitchFamily="34" charset="-120"/>
              </a:rPr>
              <a:t>    private static Singleton instance;</a:t>
            </a:r>
            <a:endParaRPr lang="en-US" sz="1200" dirty="0"/>
          </a:p>
          <a:p>
            <a:pPr marL="0" indent="0">
              <a:lnSpc>
                <a:spcPct val="120000"/>
              </a:lnSpc>
              <a:buNone/>
            </a:pPr>
            <a:r>
              <a:rPr lang="en-US" sz="1200" dirty="0">
                <a:solidFill>
                  <a:srgbClr val="D4D4E0"/>
                </a:solidFill>
                <a:latin typeface="Courier New" pitchFamily="34" charset="0"/>
                <a:ea typeface="Courier New" pitchFamily="34" charset="-122"/>
                <a:cs typeface="Courier New" pitchFamily="34" charset="-120"/>
              </a:rPr>
              <a:t>    private Singleton() {}</a:t>
            </a:r>
            <a:endParaRPr lang="en-US" sz="1200" dirty="0"/>
          </a:p>
          <a:p>
            <a:pPr marL="0" indent="0">
              <a:lnSpc>
                <a:spcPct val="120000"/>
              </a:lnSpc>
              <a:buNone/>
            </a:pPr>
            <a:r>
              <a:rPr lang="en-US" sz="1200" dirty="0">
                <a:solidFill>
                  <a:srgbClr val="D4D4E0"/>
                </a:solidFill>
                <a:latin typeface="Courier New" pitchFamily="34" charset="0"/>
                <a:ea typeface="Courier New" pitchFamily="34" charset="-122"/>
                <a:cs typeface="Courier New" pitchFamily="34" charset="-120"/>
              </a:rPr>
              <a:t>    public static Singleton getInstance() {</a:t>
            </a:r>
            <a:endParaRPr lang="en-US" sz="1200" dirty="0"/>
          </a:p>
          <a:p>
            <a:pPr marL="0" indent="0">
              <a:lnSpc>
                <a:spcPct val="120000"/>
              </a:lnSpc>
              <a:buNone/>
            </a:pPr>
            <a:r>
              <a:rPr lang="en-US" sz="1200" dirty="0">
                <a:solidFill>
                  <a:srgbClr val="D4D4E0"/>
                </a:solidFill>
                <a:latin typeface="Courier New" pitchFamily="34" charset="0"/>
                <a:ea typeface="Courier New" pitchFamily="34" charset="-122"/>
                <a:cs typeface="Courier New" pitchFamily="34" charset="-120"/>
              </a:rPr>
              <a:t>        if (instance == null)</a:t>
            </a:r>
            <a:endParaRPr lang="en-US" sz="1200" dirty="0"/>
          </a:p>
          <a:p>
            <a:pPr marL="0" indent="0">
              <a:lnSpc>
                <a:spcPct val="120000"/>
              </a:lnSpc>
              <a:buNone/>
            </a:pPr>
            <a:r>
              <a:rPr lang="en-US" sz="1200" dirty="0">
                <a:solidFill>
                  <a:srgbClr val="D4D4E0"/>
                </a:solidFill>
                <a:latin typeface="Courier New" pitchFamily="34" charset="0"/>
                <a:ea typeface="Courier New" pitchFamily="34" charset="-122"/>
                <a:cs typeface="Courier New" pitchFamily="34" charset="-120"/>
              </a:rPr>
              <a:t>            instance = new Singleton();</a:t>
            </a:r>
            <a:endParaRPr lang="en-US" sz="1200" dirty="0"/>
          </a:p>
          <a:p>
            <a:pPr marL="0" indent="0">
              <a:lnSpc>
                <a:spcPct val="120000"/>
              </a:lnSpc>
              <a:buNone/>
            </a:pPr>
            <a:r>
              <a:rPr lang="en-US" sz="1200" dirty="0">
                <a:solidFill>
                  <a:srgbClr val="D4D4E0"/>
                </a:solidFill>
                <a:latin typeface="Courier New" pitchFamily="34" charset="0"/>
                <a:ea typeface="Courier New" pitchFamily="34" charset="-122"/>
                <a:cs typeface="Courier New" pitchFamily="34" charset="-120"/>
              </a:rPr>
              <a:t>        return instance;</a:t>
            </a:r>
            <a:endParaRPr lang="en-US" sz="1200" dirty="0"/>
          </a:p>
          <a:p>
            <a:pPr marL="0" indent="0">
              <a:lnSpc>
                <a:spcPct val="120000"/>
              </a:lnSpc>
              <a:buNone/>
            </a:pPr>
            <a:r>
              <a:rPr lang="en-US" sz="1200" dirty="0">
                <a:solidFill>
                  <a:srgbClr val="D4D4E0"/>
                </a:solidFill>
                <a:latin typeface="Courier New" pitchFamily="34" charset="0"/>
                <a:ea typeface="Courier New" pitchFamily="34" charset="-122"/>
                <a:cs typeface="Courier New" pitchFamily="34" charset="-120"/>
              </a:rPr>
              <a:t>    }</a:t>
            </a:r>
            <a:endParaRPr lang="en-US" sz="1200" dirty="0"/>
          </a:p>
          <a:p>
            <a:pPr marL="0" indent="0">
              <a:lnSpc>
                <a:spcPct val="120000"/>
              </a:lnSpc>
              <a:buNone/>
            </a:pPr>
            <a:r>
              <a:rPr lang="en-US" sz="1200" dirty="0">
                <a:solidFill>
                  <a:srgbClr val="D4D4E0"/>
                </a:solidFill>
                <a:latin typeface="Courier New" pitchFamily="34" charset="0"/>
                <a:ea typeface="Courier New" pitchFamily="34" charset="-122"/>
                <a:cs typeface="Courier New" pitchFamily="34" charset="-120"/>
              </a:rPr>
              <a:t>}</a:t>
            </a:r>
            <a:endParaRPr lang="en-US" sz="1200" dirty="0"/>
          </a:p>
        </p:txBody>
      </p:sp>
      <p:sp>
        <p:nvSpPr>
          <p:cNvPr id="23" name="Shape 21"/>
          <p:cNvSpPr/>
          <p:nvPr/>
        </p:nvSpPr>
        <p:spPr>
          <a:xfrm>
            <a:off x="5669280" y="4914900"/>
            <a:ext cx="164592" cy="274320"/>
          </a:xfrm>
          <a:prstGeom prst="roundRect">
            <a:avLst>
              <a:gd name="adj" fmla="val 22222"/>
            </a:avLst>
          </a:prstGeom>
          <a:solidFill>
            <a:srgbClr val="3FBFAE"/>
          </a:solidFill>
          <a:ln/>
        </p:spPr>
      </p:sp>
      <p:sp>
        <p:nvSpPr>
          <p:cNvPr id="24" name="Text 22"/>
          <p:cNvSpPr/>
          <p:nvPr/>
        </p:nvSpPr>
        <p:spPr>
          <a:xfrm>
            <a:off x="5925312" y="4887468"/>
            <a:ext cx="5779008" cy="329184"/>
          </a:xfrm>
          <a:prstGeom prst="rect">
            <a:avLst/>
          </a:prstGeom>
          <a:noFill/>
          <a:ln/>
        </p:spPr>
        <p:txBody>
          <a:bodyPr wrap="square" rtlCol="0" anchor="ctr"/>
          <a:lstStyle/>
          <a:p>
            <a:pPr marL="0" indent="0">
              <a:buNone/>
            </a:pPr>
            <a:r>
              <a:rPr lang="en-US" sz="1300" b="1" kern="0" spc="50" dirty="0">
                <a:solidFill>
                  <a:srgbClr val="1B2340"/>
                </a:solidFill>
                <a:latin typeface="Calibri" pitchFamily="34" charset="0"/>
                <a:ea typeface="Calibri" pitchFamily="34" charset="-122"/>
                <a:cs typeface="Calibri" pitchFamily="34" charset="-120"/>
              </a:rPr>
              <a:t>EXPLANATION</a:t>
            </a:r>
            <a:endParaRPr lang="en-US" sz="1300" dirty="0"/>
          </a:p>
        </p:txBody>
      </p:sp>
      <p:sp>
        <p:nvSpPr>
          <p:cNvPr id="25" name="Text 23"/>
          <p:cNvSpPr/>
          <p:nvPr/>
        </p:nvSpPr>
        <p:spPr>
          <a:xfrm>
            <a:off x="5669280" y="5244084"/>
            <a:ext cx="6035040" cy="1156716"/>
          </a:xfrm>
          <a:prstGeom prst="rect">
            <a:avLst/>
          </a:prstGeom>
          <a:noFill/>
          <a:ln/>
        </p:spPr>
        <p:txBody>
          <a:bodyPr wrap="square" lIns="0" tIns="0" rIns="0" bIns="0" rtlCol="0" anchor="t"/>
          <a:lstStyle/>
          <a:p>
            <a:pPr marL="177800" indent="-177800">
              <a:spcAft>
                <a:spcPts val="600"/>
              </a:spcAft>
              <a:buSzPct val="100000"/>
              <a:buChar char="•"/>
            </a:pPr>
            <a:r>
              <a:rPr lang="en-US" sz="1200" dirty="0">
                <a:solidFill>
                  <a:srgbClr val="1B2340"/>
                </a:solidFill>
                <a:latin typeface="Calibri" pitchFamily="34" charset="0"/>
                <a:ea typeface="Calibri" pitchFamily="34" charset="-122"/>
                <a:cs typeface="Calibri" pitchFamily="34" charset="-120"/>
              </a:rPr>
              <a:t>Singleton Pattern - ensures a class has only ONE instance throughout the application, with a global access point</a:t>
            </a:r>
            <a:endParaRPr lang="en-US" sz="1200" dirty="0"/>
          </a:p>
          <a:p>
            <a:pPr marL="177800" indent="-177800">
              <a:spcAft>
                <a:spcPts val="600"/>
              </a:spcAft>
              <a:buSzPct val="100000"/>
              <a:buChar char="•"/>
            </a:pPr>
            <a:r>
              <a:rPr lang="en-US" sz="1200" dirty="0">
                <a:solidFill>
                  <a:srgbClr val="1B2340"/>
                </a:solidFill>
                <a:latin typeface="Calibri" pitchFamily="34" charset="0"/>
                <a:ea typeface="Calibri" pitchFamily="34" charset="-122"/>
                <a:cs typeface="Calibri" pitchFamily="34" charset="-120"/>
              </a:rPr>
              <a:t>Factory Pattern - provides a way to create objects without specifying the exact class to instantiate, based on input</a:t>
            </a:r>
            <a:endParaRPr lang="en-US" sz="1200" dirty="0"/>
          </a:p>
          <a:p>
            <a:pPr marL="177800" indent="-177800">
              <a:spcAft>
                <a:spcPts val="600"/>
              </a:spcAft>
              <a:buSzPct val="100000"/>
              <a:buChar char="•"/>
            </a:pPr>
            <a:r>
              <a:rPr lang="en-US" sz="1200" dirty="0">
                <a:solidFill>
                  <a:srgbClr val="1B2340"/>
                </a:solidFill>
                <a:latin typeface="Calibri" pitchFamily="34" charset="0"/>
                <a:ea typeface="Calibri" pitchFamily="34" charset="-122"/>
                <a:cs typeface="Calibri" pitchFamily="34" charset="-120"/>
              </a:rPr>
              <a:t>Singleton is useful for shared resources like a database connection or config manager</a:t>
            </a:r>
            <a:endParaRPr lang="en-US" sz="1200" dirty="0"/>
          </a:p>
          <a:p>
            <a:pPr marL="177800" indent="-177800">
              <a:spcAft>
                <a:spcPts val="600"/>
              </a:spcAft>
              <a:buSzPct val="100000"/>
              <a:buChar char="•"/>
            </a:pPr>
            <a:r>
              <a:rPr lang="en-US" sz="1200" dirty="0">
                <a:solidFill>
                  <a:srgbClr val="1B2340"/>
                </a:solidFill>
                <a:latin typeface="Calibri" pitchFamily="34" charset="0"/>
                <a:ea typeface="Calibri" pitchFamily="34" charset="-122"/>
                <a:cs typeface="Calibri" pitchFamily="34" charset="-120"/>
              </a:rPr>
              <a:t>Factory is useful when object creation logic is complex or depends on conditions</a:t>
            </a:r>
            <a:endParaRPr lang="en-US" sz="1200" dirty="0"/>
          </a:p>
        </p:txBody>
      </p:sp>
      <p:sp>
        <p:nvSpPr>
          <p:cNvPr id="26" name="Text 24"/>
          <p:cNvSpPr/>
          <p:nvPr/>
        </p:nvSpPr>
        <p:spPr>
          <a:xfrm>
            <a:off x="457200" y="6583680"/>
            <a:ext cx="5486400" cy="228600"/>
          </a:xfrm>
          <a:prstGeom prst="rect">
            <a:avLst/>
          </a:prstGeom>
          <a:noFill/>
          <a:ln/>
        </p:spPr>
        <p:txBody>
          <a:bodyPr wrap="square" rtlCol="0" anchor="ctr"/>
          <a:lstStyle/>
          <a:p>
            <a:pPr marL="0" indent="0" algn="l">
              <a:buNone/>
            </a:pPr>
            <a:r>
              <a:rPr lang="en-US" sz="850" dirty="0">
                <a:solidFill>
                  <a:srgbClr val="5B6178"/>
                </a:solidFill>
                <a:latin typeface="Calibri" pitchFamily="34" charset="0"/>
                <a:ea typeface="Calibri" pitchFamily="34" charset="-122"/>
                <a:cs typeface="Calibri" pitchFamily="34" charset="-120"/>
              </a:rPr>
              <a:t>Java &amp; Full-Stack Interview Prep</a:t>
            </a:r>
            <a:endParaRPr lang="en-US" sz="850"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bg>
      <p:bgPr>
        <a:solidFill>
          <a:srgbClr val="1B2340"/>
        </a:solidFill>
        <a:effectLst/>
      </p:bgPr>
    </p:bg>
    <p:spTree>
      <p:nvGrpSpPr>
        <p:cNvPr id="1" name=""/>
        <p:cNvGrpSpPr/>
        <p:nvPr/>
      </p:nvGrpSpPr>
      <p:grpSpPr>
        <a:xfrm>
          <a:off x="0" y="0"/>
          <a:ext cx="0" cy="0"/>
          <a:chOff x="0" y="0"/>
          <a:chExt cx="0" cy="0"/>
        </a:xfrm>
      </p:grpSpPr>
      <p:sp>
        <p:nvSpPr>
          <p:cNvPr id="2" name="Shape 0"/>
          <p:cNvSpPr/>
          <p:nvPr/>
        </p:nvSpPr>
        <p:spPr>
          <a:xfrm>
            <a:off x="-1645920" y="-1645920"/>
            <a:ext cx="4206240" cy="4206240"/>
          </a:xfrm>
          <a:prstGeom prst="ellipse">
            <a:avLst/>
          </a:prstGeom>
          <a:solidFill>
            <a:srgbClr val="232B4D"/>
          </a:solidFill>
          <a:ln/>
        </p:spPr>
      </p:sp>
      <p:sp>
        <p:nvSpPr>
          <p:cNvPr id="3" name="Shape 1"/>
          <p:cNvSpPr/>
          <p:nvPr/>
        </p:nvSpPr>
        <p:spPr>
          <a:xfrm>
            <a:off x="9875520" y="4206240"/>
            <a:ext cx="4206240" cy="4206240"/>
          </a:xfrm>
          <a:prstGeom prst="ellipse">
            <a:avLst/>
          </a:prstGeom>
          <a:solidFill>
            <a:srgbClr val="E8A33D"/>
          </a:solidFill>
          <a:ln/>
        </p:spPr>
      </p:sp>
      <p:sp>
        <p:nvSpPr>
          <p:cNvPr id="4" name="Text 2"/>
          <p:cNvSpPr/>
          <p:nvPr/>
        </p:nvSpPr>
        <p:spPr>
          <a:xfrm>
            <a:off x="822960" y="2468880"/>
            <a:ext cx="10058400" cy="1005840"/>
          </a:xfrm>
          <a:prstGeom prst="rect">
            <a:avLst/>
          </a:prstGeom>
          <a:noFill/>
          <a:ln/>
        </p:spPr>
        <p:txBody>
          <a:bodyPr wrap="square" rtlCol="0" anchor="ctr"/>
          <a:lstStyle/>
          <a:p>
            <a:pPr marL="0" indent="0">
              <a:buNone/>
            </a:pPr>
            <a:r>
              <a:rPr lang="en-US" sz="4200" b="1" dirty="0">
                <a:solidFill>
                  <a:srgbClr val="FFFFFF"/>
                </a:solidFill>
                <a:latin typeface="Century Schoolbook" pitchFamily="34" charset="0"/>
                <a:ea typeface="Century Schoolbook" pitchFamily="34" charset="-122"/>
                <a:cs typeface="Century Schoolbook" pitchFamily="34" charset="-120"/>
              </a:rPr>
              <a:t>You've Got This! 🚀</a:t>
            </a:r>
            <a:endParaRPr lang="en-US" sz="4200" dirty="0"/>
          </a:p>
        </p:txBody>
      </p:sp>
      <p:sp>
        <p:nvSpPr>
          <p:cNvPr id="5" name="Text 3"/>
          <p:cNvSpPr/>
          <p:nvPr/>
        </p:nvSpPr>
        <p:spPr>
          <a:xfrm>
            <a:off x="822960" y="3429000"/>
            <a:ext cx="9144000" cy="1005840"/>
          </a:xfrm>
          <a:prstGeom prst="rect">
            <a:avLst/>
          </a:prstGeom>
          <a:noFill/>
          <a:ln/>
        </p:spPr>
        <p:txBody>
          <a:bodyPr wrap="square" rtlCol="0" anchor="ctr"/>
          <a:lstStyle/>
          <a:p>
            <a:pPr marL="0" indent="0">
              <a:lnSpc>
                <a:spcPct val="130000"/>
              </a:lnSpc>
              <a:buNone/>
            </a:pPr>
            <a:r>
              <a:rPr lang="en-US" sz="1600" dirty="0">
                <a:solidFill>
                  <a:srgbClr val="C3C8DC"/>
                </a:solidFill>
                <a:latin typeface="Calibri" pitchFamily="34" charset="0"/>
                <a:ea typeface="Calibri" pitchFamily="34" charset="-122"/>
                <a:cs typeface="Calibri" pitchFamily="34" charset="-120"/>
              </a:rPr>
              <a:t>Revise these concepts, practice the code examples out loud, and walk into your interview</a:t>
            </a:r>
            <a:endParaRPr lang="en-US" sz="1600" dirty="0"/>
          </a:p>
          <a:p>
            <a:pPr marL="0" indent="0">
              <a:lnSpc>
                <a:spcPct val="130000"/>
              </a:lnSpc>
              <a:buNone/>
            </a:pPr>
            <a:r>
              <a:rPr lang="en-US" sz="1600" dirty="0">
                <a:solidFill>
                  <a:srgbClr val="C3C8DC"/>
                </a:solidFill>
                <a:latin typeface="Calibri" pitchFamily="34" charset="0"/>
                <a:ea typeface="Calibri" pitchFamily="34" charset="-122"/>
                <a:cs typeface="Calibri" pitchFamily="34" charset="-120"/>
              </a:rPr>
              <a:t>with confidence. Understanding beats memorizing - every time.</a:t>
            </a:r>
            <a:endParaRPr lang="en-US" sz="1600" dirty="0"/>
          </a:p>
        </p:txBody>
      </p:sp>
      <p:sp>
        <p:nvSpPr>
          <p:cNvPr id="6" name="Text 4"/>
          <p:cNvSpPr/>
          <p:nvPr/>
        </p:nvSpPr>
        <p:spPr>
          <a:xfrm>
            <a:off x="457200" y="6583680"/>
            <a:ext cx="5486400" cy="228600"/>
          </a:xfrm>
          <a:prstGeom prst="rect">
            <a:avLst/>
          </a:prstGeom>
          <a:noFill/>
          <a:ln/>
        </p:spPr>
        <p:txBody>
          <a:bodyPr wrap="square" rtlCol="0" anchor="ctr"/>
          <a:lstStyle/>
          <a:p>
            <a:pPr marL="0" indent="0" algn="l">
              <a:buNone/>
            </a:pPr>
            <a:r>
              <a:rPr lang="en-US" sz="850" dirty="0">
                <a:solidFill>
                  <a:srgbClr val="5B6178"/>
                </a:solidFill>
                <a:latin typeface="Calibri" pitchFamily="34" charset="0"/>
                <a:ea typeface="Calibri" pitchFamily="34" charset="-122"/>
                <a:cs typeface="Calibri" pitchFamily="34" charset="-120"/>
              </a:rPr>
              <a:t>Java &amp; Full-Stack Interview Prep</a:t>
            </a:r>
            <a:endParaRPr lang="en-US" sz="8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34</TotalTime>
  <Words>10743</Words>
  <Application>Microsoft Office PowerPoint</Application>
  <PresentationFormat>Widescreen</PresentationFormat>
  <Paragraphs>1106</Paragraphs>
  <Slides>66</Slides>
  <Notes>66</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66</vt:i4>
      </vt:variant>
    </vt:vector>
  </HeadingPairs>
  <TitlesOfParts>
    <vt:vector size="71" baseType="lpstr">
      <vt:lpstr>Arial</vt:lpstr>
      <vt:lpstr>Calibri</vt:lpstr>
      <vt:lpstr>Century Schoolbook</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sumedh manwatkar</cp:lastModifiedBy>
  <cp:revision>2</cp:revision>
  <dcterms:created xsi:type="dcterms:W3CDTF">2026-08-13T06:16:45Z</dcterms:created>
  <dcterms:modified xsi:type="dcterms:W3CDTF">2026-08-13T11:50:46Z</dcterms:modified>
</cp:coreProperties>
</file>