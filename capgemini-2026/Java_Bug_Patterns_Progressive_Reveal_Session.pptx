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BB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60704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DEBUGGING COMMON JAVA BUGS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40280"/>
            <a:ext cx="102412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600" b="1">
                <a:solidFill>
                  <a:srgbClr val="C3DBF6"/>
                </a:solidFill>
                <a:latin typeface="Aptos"/>
              </a:defRPr>
            </a:pPr>
            <a:r>
              <a:t>Six Meta-Patterns + Off-by-One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996696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Trainer-led session • Spot the pattern • Trace the code • Apply the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80760"/>
            <a:ext cx="98755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300" b="0">
                <a:solidFill>
                  <a:srgbClr val="D4DFEF"/>
                </a:solidFill>
                <a:latin typeface="Aptos"/>
              </a:defRPr>
            </a:pPr>
            <a:r>
              <a:t>Progressive reveal: click to move through heading → explanation → 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Session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What learners will be able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7313E"/>
                </a:solidFill>
                <a:latin typeface="Aptos"/>
              </a:defRPr>
            </a:pPr>
            <a:r>
              <a:t>Recognize six common bug patterns, even when the problem wording changes.</a:t>
            </a:r>
          </a:p>
          <a:p>
            <a:pPr>
              <a:spcAft>
                <a:spcPts val="1400"/>
              </a:spcAft>
              <a:defRPr sz="2200">
                <a:solidFill>
                  <a:srgbClr val="27313E"/>
                </a:solidFill>
                <a:latin typeface="Aptos"/>
              </a:defRPr>
            </a:pPr>
            <a:r>
              <a:t>Explain off-by-one errors in loop bounds and window sizes.</a:t>
            </a:r>
          </a:p>
          <a:p>
            <a:pPr>
              <a:spcAft>
                <a:spcPts val="1400"/>
              </a:spcAft>
              <a:defRPr sz="2200">
                <a:solidFill>
                  <a:srgbClr val="27313E"/>
                </a:solidFill>
                <a:latin typeface="Aptos"/>
              </a:defRPr>
            </a:pPr>
            <a:r>
              <a:t>Read short Java examples and predict their output.</a:t>
            </a:r>
          </a:p>
          <a:p>
            <a:pPr>
              <a:spcAft>
                <a:spcPts val="1400"/>
              </a:spcAft>
              <a:defRPr sz="2200">
                <a:solidFill>
                  <a:srgbClr val="27313E"/>
                </a:solidFill>
                <a:latin typeface="Aptos"/>
              </a:defRPr>
            </a:pPr>
            <a:r>
              <a:t>Use a repeatable checklist to identify and fix boundary/state mistakes.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The Six Meta-Patterns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Use this table as a debugging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2423160" cy="630936"/>
          </a:xfrm>
          <a:prstGeom prst="rect">
            <a:avLst/>
          </a:prstGeom>
          <a:solidFill>
            <a:srgbClr val="14274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BUG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3794760" cy="630936"/>
          </a:xfrm>
          <a:prstGeom prst="rect">
            <a:avLst/>
          </a:prstGeom>
          <a:solidFill>
            <a:srgbClr val="14274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HOW TO SPOT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4892040" cy="630936"/>
          </a:xfrm>
          <a:prstGeom prst="rect">
            <a:avLst/>
          </a:prstGeom>
          <a:solidFill>
            <a:srgbClr val="14274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FIX PATTERN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67128"/>
            <a:ext cx="2423160" cy="630936"/>
          </a:xfrm>
          <a:prstGeom prst="rect">
            <a:avLst/>
          </a:prstGeom>
          <a:solidFill>
            <a:srgbClr val="E5F0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400" b="1">
                <a:solidFill>
                  <a:srgbClr val="27313E"/>
                </a:solidFill>
                <a:latin typeface="Aptos"/>
              </a:defRPr>
            </a:pPr>
            <a:r>
              <a:t>Off-by-one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67128"/>
            <a:ext cx="3794760" cy="630936"/>
          </a:xfrm>
          <a:prstGeom prst="rect">
            <a:avLst/>
          </a:prstGeom>
          <a:solidFill>
            <a:srgbClr val="E5F0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400" b="0">
                <a:solidFill>
                  <a:srgbClr val="27313E"/>
                </a:solidFill>
                <a:latin typeface="Aptos"/>
              </a:defRPr>
            </a:pPr>
            <a:r>
              <a:t>Index/bound is one too many or few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67128"/>
            <a:ext cx="4892040" cy="630936"/>
          </a:xfrm>
          <a:prstGeom prst="rect">
            <a:avLst/>
          </a:prstGeom>
          <a:solidFill>
            <a:srgbClr val="E5F0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400" b="0">
                <a:solidFill>
                  <a:srgbClr val="27313E"/>
                </a:solidFill>
                <a:latin typeface="Aptos"/>
              </a:defRPr>
            </a:pPr>
            <a:r>
              <a:t>Trace n = 0, 1, 2 by hand; adjust the bound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98063"/>
            <a:ext cx="2423160" cy="630936"/>
          </a:xfrm>
          <a:prstGeom prst="rect">
            <a:avLst/>
          </a:prstGeom>
          <a:solidFill>
            <a:srgbClr val="F6F8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400" b="1">
                <a:solidFill>
                  <a:srgbClr val="27313E"/>
                </a:solidFill>
                <a:latin typeface="Aptos"/>
              </a:defRPr>
            </a:pPr>
            <a:r>
              <a:t>Wrong comparison direction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98063"/>
            <a:ext cx="3794760" cy="630936"/>
          </a:xfrm>
          <a:prstGeom prst="rect">
            <a:avLst/>
          </a:prstGeom>
          <a:solidFill>
            <a:srgbClr val="F6F8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400" b="0">
                <a:solidFill>
                  <a:srgbClr val="27313E"/>
                </a:solidFill>
                <a:latin typeface="Aptos"/>
              </a:defRPr>
            </a:pPr>
            <a:r>
              <a:t>Result is the opposite of what’s wanted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98063"/>
            <a:ext cx="4892040" cy="630936"/>
          </a:xfrm>
          <a:prstGeom prst="rect">
            <a:avLst/>
          </a:prstGeom>
          <a:solidFill>
            <a:srgbClr val="F6F8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400" b="0">
                <a:solidFill>
                  <a:srgbClr val="27313E"/>
                </a:solidFill>
                <a:latin typeface="Aptos"/>
              </a:defRPr>
            </a:pPr>
            <a:r>
              <a:t>State what should win, then check the operator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29000"/>
            <a:ext cx="2423160" cy="630936"/>
          </a:xfrm>
          <a:prstGeom prst="rect">
            <a:avLst/>
          </a:prstGeom>
          <a:solidFill>
            <a:srgbClr val="E5F0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400" b="1">
                <a:solidFill>
                  <a:srgbClr val="27313E"/>
                </a:solidFill>
                <a:latin typeface="Aptos"/>
              </a:defRPr>
            </a:pPr>
            <a:r>
              <a:t>Missing/wrong base case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429000"/>
            <a:ext cx="3794760" cy="630936"/>
          </a:xfrm>
          <a:prstGeom prst="rect">
            <a:avLst/>
          </a:prstGeom>
          <a:solidFill>
            <a:srgbClr val="E5F0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400" b="0">
                <a:solidFill>
                  <a:srgbClr val="27313E"/>
                </a:solidFill>
                <a:latin typeface="Aptos"/>
              </a:defRPr>
            </a:pPr>
            <a:r>
              <a:t>Crashes on smallest input, or answer is offset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29000"/>
            <a:ext cx="4892040" cy="630936"/>
          </a:xfrm>
          <a:prstGeom prst="rect">
            <a:avLst/>
          </a:prstGeom>
          <a:solidFill>
            <a:srgbClr val="E5F0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400" b="0">
                <a:solidFill>
                  <a:srgbClr val="27313E"/>
                </a:solidFill>
                <a:latin typeface="Aptos"/>
              </a:defRPr>
            </a:pPr>
            <a:r>
              <a:t>Match the base case to the literal empty case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59935"/>
            <a:ext cx="2423160" cy="630936"/>
          </a:xfrm>
          <a:prstGeom prst="rect">
            <a:avLst/>
          </a:prstGeom>
          <a:solidFill>
            <a:srgbClr val="F6F8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400" b="1">
                <a:solidFill>
                  <a:srgbClr val="27313E"/>
                </a:solidFill>
                <a:latin typeface="Aptos"/>
              </a:defRPr>
            </a:pPr>
            <a:r>
              <a:t>State not reset/updated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59935"/>
            <a:ext cx="3794760" cy="630936"/>
          </a:xfrm>
          <a:prstGeom prst="rect">
            <a:avLst/>
          </a:prstGeom>
          <a:solidFill>
            <a:srgbClr val="F6F8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400" b="0">
                <a:solidFill>
                  <a:srgbClr val="27313E"/>
                </a:solidFill>
                <a:latin typeface="Aptos"/>
              </a:defRPr>
            </a:pPr>
            <a:r>
              <a:t>Works once, then gives stale results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059935"/>
            <a:ext cx="4892040" cy="630936"/>
          </a:xfrm>
          <a:prstGeom prst="rect">
            <a:avLst/>
          </a:prstGeom>
          <a:solidFill>
            <a:srgbClr val="F6F8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400" b="0">
                <a:solidFill>
                  <a:srgbClr val="27313E"/>
                </a:solidFill>
                <a:latin typeface="Aptos"/>
              </a:defRPr>
            </a:pPr>
            <a:r>
              <a:t>Find every piece of state and confirm it updates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690872"/>
            <a:ext cx="2423160" cy="630936"/>
          </a:xfrm>
          <a:prstGeom prst="rect">
            <a:avLst/>
          </a:prstGeom>
          <a:solidFill>
            <a:srgbClr val="E5F0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400" b="1">
                <a:solidFill>
                  <a:srgbClr val="27313E"/>
                </a:solidFill>
                <a:latin typeface="Aptos"/>
              </a:defRPr>
            </a:pPr>
            <a:r>
              <a:t>Reference instead of snapshot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90872"/>
            <a:ext cx="3794760" cy="630936"/>
          </a:xfrm>
          <a:prstGeom prst="rect">
            <a:avLst/>
          </a:prstGeom>
          <a:solidFill>
            <a:srgbClr val="E5F0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400" b="0">
                <a:solidFill>
                  <a:srgbClr val="27313E"/>
                </a:solidFill>
                <a:latin typeface="Aptos"/>
              </a:defRPr>
            </a:pPr>
            <a:r>
              <a:t>Stored results all end up identical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690872"/>
            <a:ext cx="4892040" cy="630936"/>
          </a:xfrm>
          <a:prstGeom prst="rect">
            <a:avLst/>
          </a:prstGeom>
          <a:solidFill>
            <a:srgbClr val="E5F0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400" b="0">
                <a:solidFill>
                  <a:srgbClr val="27313E"/>
                </a:solidFill>
                <a:latin typeface="Aptos"/>
              </a:defRPr>
            </a:pPr>
            <a:r>
              <a:t>Copy the value when storing it, not a live reference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321807"/>
            <a:ext cx="2423160" cy="630936"/>
          </a:xfrm>
          <a:prstGeom prst="rect">
            <a:avLst/>
          </a:prstGeom>
          <a:solidFill>
            <a:srgbClr val="F6F8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400" b="1">
                <a:solidFill>
                  <a:srgbClr val="27313E"/>
                </a:solidFill>
                <a:latin typeface="Aptos"/>
              </a:defRPr>
            </a:pPr>
            <a:r>
              <a:t>Order-of-operations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21807"/>
            <a:ext cx="3794760" cy="630936"/>
          </a:xfrm>
          <a:prstGeom prst="rect">
            <a:avLst/>
          </a:prstGeom>
          <a:solidFill>
            <a:srgbClr val="F6F8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400" b="0">
                <a:solidFill>
                  <a:srgbClr val="27313E"/>
                </a:solidFill>
                <a:latin typeface="Aptos"/>
              </a:defRPr>
            </a:pPr>
            <a:r>
              <a:t>A value is used after being overwritten/freed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321807"/>
            <a:ext cx="4892040" cy="630936"/>
          </a:xfrm>
          <a:prstGeom prst="rect">
            <a:avLst/>
          </a:prstGeom>
          <a:solidFill>
            <a:srgbClr val="F6F8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18288" rtlCol="0" anchor="ctr"/>
          <a:lstStyle/>
          <a:p>
            <a:pPr algn="l">
              <a:defRPr sz="1400" b="0">
                <a:solidFill>
                  <a:srgbClr val="27313E"/>
                </a:solidFill>
                <a:latin typeface="Aptos"/>
              </a:defRPr>
            </a:pPr>
            <a:r>
              <a:t>Save what you’re about to overwrite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126480"/>
            <a:ext cx="107899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200" b="0">
                <a:solidFill>
                  <a:srgbClr val="637080"/>
                </a:solidFill>
                <a:latin typeface="Aptos"/>
              </a:defRPr>
            </a:pPr>
            <a:r>
              <a:t>Trainer tip: ask students to name the pattern before they suggest a fix.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Off-by-One: What Does It Mean?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A boundary or count is wrong by exactly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100" b="1">
                <a:solidFill>
                  <a:srgbClr val="142748"/>
                </a:solidFill>
                <a:latin typeface="Aptos"/>
              </a:defRPr>
            </a:pPr>
            <a:r>
              <a:t>Intended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75488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000" b="1">
                <a:solidFill>
                  <a:srgbClr val="22825B"/>
                </a:solidFill>
                <a:latin typeface="Aptos"/>
              </a:defRPr>
            </a:pPr>
            <a:r>
              <a:t>1   2   3   4   5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48463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100" b="1">
                <a:solidFill>
                  <a:srgbClr val="142748"/>
                </a:solidFill>
                <a:latin typeface="Aptos"/>
              </a:defRPr>
            </a:pPr>
            <a:r>
              <a:t>Actual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560320"/>
            <a:ext cx="475488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000" b="1">
                <a:solidFill>
                  <a:srgbClr val="B83939"/>
                </a:solidFill>
                <a:latin typeface="Aptos"/>
              </a:defRPr>
            </a:pPr>
            <a:r>
              <a:t>1   2   3   4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77639"/>
            <a:ext cx="1042416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300" b="1">
                <a:solidFill>
                  <a:srgbClr val="27313E"/>
                </a:solidFill>
                <a:latin typeface="Aptos"/>
              </a:defRPr>
            </a:pPr>
            <a:r>
              <a:t>One item is missing because the loop stopped one step too early.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212080"/>
            <a:ext cx="104241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800" b="0">
                <a:solidFill>
                  <a:srgbClr val="637080"/>
                </a:solidFill>
                <a:latin typeface="Aptos"/>
              </a:defRPr>
            </a:pPr>
            <a:r>
              <a:t>Java arrays start at index 0, so the last valid index is length − 1.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Off-by-One in a Loop Bound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Goal: print all five array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400800" cy="3337560"/>
          </a:xfrm>
          <a:prstGeom prst="roundRect">
            <a:avLst/>
          </a:prstGeom>
          <a:solidFill>
            <a:srgbClr val="F6F8FB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tlCol="0" anchor="ctr"/>
          <a:lstStyle/>
          <a:p>
            <a:pPr algn="ctr">
              <a:spcAft>
                <a:spcPts val="0"/>
              </a:spcAft>
              <a:defRPr sz="1700">
                <a:solidFill>
                  <a:srgbClr val="142748"/>
                </a:solidFill>
                <a:latin typeface="Consolas"/>
              </a:defRPr>
            </a:pPr>
            <a:r>
              <a:t>int[] arr = {10, 20, 30, 40, 50};</a:t>
            </a:r>
          </a:p>
          <a:p>
            <a:pPr>
              <a:spcAft>
                <a:spcPts val="0"/>
              </a:spcAft>
              <a:defRPr sz="1700">
                <a:solidFill>
                  <a:srgbClr val="142748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700">
                <a:solidFill>
                  <a:srgbClr val="142748"/>
                </a:solidFill>
                <a:latin typeface="Consolas"/>
              </a:defRPr>
            </a:pPr>
            <a:r>
              <a:t>for (int i = 0; i &lt; arr.length - 1; i++) {</a:t>
            </a:r>
          </a:p>
          <a:p>
            <a:pPr>
              <a:spcAft>
                <a:spcPts val="0"/>
              </a:spcAft>
              <a:defRPr sz="1700">
                <a:solidFill>
                  <a:srgbClr val="142748"/>
                </a:solidFill>
                <a:latin typeface="Consolas"/>
              </a:defRPr>
            </a:pPr>
            <a:r>
              <a:t>    System.out.println(arr[i]);</a:t>
            </a:r>
          </a:p>
          <a:p>
            <a:pPr>
              <a:spcAft>
                <a:spcPts val="0"/>
              </a:spcAft>
              <a:defRPr sz="1700">
                <a:solidFill>
                  <a:srgbClr val="142748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783080"/>
            <a:ext cx="34747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000" b="1">
                <a:solidFill>
                  <a:srgbClr val="142748"/>
                </a:solidFill>
                <a:latin typeface="Aptos"/>
              </a:defRPr>
            </a:pPr>
            <a:r>
              <a:rPr dirty="0"/>
              <a:t>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331720"/>
            <a:ext cx="292608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200" b="1">
                <a:solidFill>
                  <a:srgbClr val="B83939"/>
                </a:solidFill>
                <a:latin typeface="Aptos"/>
              </a:defRPr>
            </a:pPr>
            <a:r>
              <a:t>10</a:t>
            </a:r>
            <a:br/>
            <a:r>
              <a:t>20</a:t>
            </a:r>
            <a:br/>
            <a:r>
              <a:t>30</a:t>
            </a:r>
            <a:br/>
            <a: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4069080"/>
            <a:ext cx="3749039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900" b="1">
                <a:solidFill>
                  <a:srgbClr val="B83939"/>
                </a:solidFill>
                <a:latin typeface="Aptos"/>
              </a:defRPr>
            </a:pPr>
            <a:r>
              <a:t>Missing: 50 (index 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3327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000" b="1">
                <a:solidFill>
                  <a:srgbClr val="22825B"/>
                </a:solidFill>
                <a:latin typeface="Aptos"/>
              </a:defRPr>
            </a:pPr>
            <a:r>
              <a:t>Fix: use i &lt; arr.length to visit every valid index.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Off-by-One in a Window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Goal: sum exactly k = 3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400800" cy="3474720"/>
          </a:xfrm>
          <a:prstGeom prst="roundRect">
            <a:avLst/>
          </a:prstGeom>
          <a:solidFill>
            <a:srgbClr val="F6F8FB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tlCol="0" anchor="ctr"/>
          <a:lstStyle/>
          <a:p>
            <a:pPr algn="ctr">
              <a:spcAft>
                <a:spcPts val="0"/>
              </a:spcAft>
              <a:defRPr sz="1600">
                <a:solidFill>
                  <a:srgbClr val="142748"/>
                </a:solidFill>
                <a:latin typeface="Consolas"/>
              </a:defRPr>
            </a:pPr>
            <a:r>
              <a:rPr dirty="0"/>
              <a:t>int[] </a:t>
            </a:r>
            <a:r>
              <a:rPr dirty="0" err="1"/>
              <a:t>arr</a:t>
            </a:r>
            <a:r>
              <a:rPr dirty="0"/>
              <a:t> = {10, 20, 30, 40, 50};</a:t>
            </a:r>
          </a:p>
          <a:p>
            <a:pPr>
              <a:spcAft>
                <a:spcPts val="0"/>
              </a:spcAft>
              <a:defRPr sz="1600">
                <a:solidFill>
                  <a:srgbClr val="142748"/>
                </a:solidFill>
                <a:latin typeface="Consolas"/>
              </a:defRPr>
            </a:pPr>
            <a:r>
              <a:rPr dirty="0"/>
              <a:t>int k = 3;</a:t>
            </a:r>
          </a:p>
          <a:p>
            <a:pPr>
              <a:spcAft>
                <a:spcPts val="0"/>
              </a:spcAft>
              <a:defRPr sz="1600">
                <a:solidFill>
                  <a:srgbClr val="142748"/>
                </a:solidFill>
                <a:latin typeface="Consolas"/>
              </a:defRPr>
            </a:pPr>
            <a:r>
              <a:rPr dirty="0"/>
              <a:t>int sum = 0;</a:t>
            </a:r>
          </a:p>
          <a:p>
            <a:pPr>
              <a:spcAft>
                <a:spcPts val="0"/>
              </a:spcAft>
              <a:defRPr sz="1600">
                <a:solidFill>
                  <a:srgbClr val="142748"/>
                </a:solidFill>
                <a:latin typeface="Consolas"/>
              </a:defRPr>
            </a:pPr>
            <a:endParaRPr dirty="0"/>
          </a:p>
          <a:p>
            <a:pPr>
              <a:spcAft>
                <a:spcPts val="0"/>
              </a:spcAft>
              <a:defRPr sz="1600">
                <a:solidFill>
                  <a:srgbClr val="142748"/>
                </a:solidFill>
                <a:latin typeface="Consolas"/>
              </a:defRPr>
            </a:pPr>
            <a:r>
              <a:rPr dirty="0"/>
              <a:t>for (int </a:t>
            </a:r>
            <a:r>
              <a:rPr dirty="0" err="1"/>
              <a:t>i</a:t>
            </a:r>
            <a:r>
              <a:rPr dirty="0"/>
              <a:t> = 0; </a:t>
            </a:r>
            <a:r>
              <a:rPr dirty="0" err="1"/>
              <a:t>i</a:t>
            </a:r>
            <a:r>
              <a:rPr dirty="0"/>
              <a:t> &lt; k - 1; </a:t>
            </a:r>
            <a:r>
              <a:rPr dirty="0" err="1"/>
              <a:t>i</a:t>
            </a:r>
            <a:r>
              <a:rPr dirty="0"/>
              <a:t>++) {</a:t>
            </a:r>
          </a:p>
          <a:p>
            <a:pPr>
              <a:spcAft>
                <a:spcPts val="0"/>
              </a:spcAft>
              <a:defRPr sz="1600">
                <a:solidFill>
                  <a:srgbClr val="142748"/>
                </a:solidFill>
                <a:latin typeface="Consolas"/>
              </a:defRPr>
            </a:pPr>
            <a:r>
              <a:rPr dirty="0"/>
              <a:t>    sum += </a:t>
            </a:r>
            <a:r>
              <a:rPr dirty="0" err="1"/>
              <a:t>arr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];</a:t>
            </a:r>
          </a:p>
          <a:p>
            <a:pPr>
              <a:spcAft>
                <a:spcPts val="0"/>
              </a:spcAft>
              <a:defRPr sz="1600">
                <a:solidFill>
                  <a:srgbClr val="142748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spcAft>
                <a:spcPts val="0"/>
              </a:spcAft>
              <a:defRPr sz="1600">
                <a:solidFill>
                  <a:srgbClr val="142748"/>
                </a:solidFill>
                <a:latin typeface="Consolas"/>
              </a:defRPr>
            </a:pPr>
            <a:r>
              <a:rPr dirty="0" err="1"/>
              <a:t>System.out.println</a:t>
            </a:r>
            <a:r>
              <a:rPr dirty="0"/>
              <a:t>(sum);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783080"/>
            <a:ext cx="3749039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100" b="1">
                <a:solidFill>
                  <a:srgbClr val="B83939"/>
                </a:solidFill>
                <a:latin typeface="Aptos"/>
              </a:defRPr>
            </a:pPr>
            <a:r>
              <a:t>Actual output: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14600"/>
            <a:ext cx="3749039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100" b="1">
                <a:solidFill>
                  <a:srgbClr val="22825B"/>
                </a:solidFill>
                <a:latin typeface="Aptos"/>
              </a:defRPr>
            </a:pPr>
            <a:r>
              <a:t>Expected output: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383280"/>
            <a:ext cx="384048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800" b="0">
                <a:solidFill>
                  <a:srgbClr val="27313E"/>
                </a:solidFill>
                <a:latin typeface="Aptos"/>
              </a:defRPr>
            </a:pPr>
            <a:r>
              <a:rPr dirty="0"/>
              <a:t>Only 10 + 20 is added. The loop processes 2 elements, not 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24128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000" b="1">
                <a:solidFill>
                  <a:srgbClr val="22825B"/>
                </a:solidFill>
                <a:latin typeface="Aptos"/>
              </a:defRPr>
            </a:pPr>
            <a:r>
              <a:t>Fix: use i &lt; k when reading the first k elements.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Off-by-One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Boundary or count is one too many or too few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2B6AB4"/>
                </a:solidFill>
                <a:latin typeface="Aptos"/>
              </a:defRPr>
            </a:pPr>
            <a:r>
              <a:t>Off-by-One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Off-by-One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Boundary or count is one too many or too few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2B6AB4"/>
                </a:solidFill>
                <a:latin typeface="Aptos"/>
              </a:defRPr>
            </a:pPr>
            <a:r>
              <a:t>Off-by-One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200" b="1">
                <a:solidFill>
                  <a:srgbClr val="27313E"/>
                </a:solidFill>
                <a:latin typeface="Aptos"/>
              </a:defRPr>
            </a:pPr>
            <a:r>
              <a:t>How to spot it: the result is missing one item, includes one extra item, or fails at the last index.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42416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6F53AA"/>
                </a:solidFill>
                <a:latin typeface="Aptos"/>
              </a:defRPr>
            </a:pPr>
            <a:r>
              <a:t>Fix pattern: trace the first few indexes by hand; count elements rather than guessing.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Off-by-One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Boundary or count is one too many or too few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2B6AB4"/>
                </a:solidFill>
                <a:latin typeface="Aptos"/>
              </a:defRPr>
            </a:pPr>
            <a:r>
              <a:t>Off-by-One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200" b="1">
                <a:solidFill>
                  <a:srgbClr val="27313E"/>
                </a:solidFill>
                <a:latin typeface="Aptos"/>
              </a:defRPr>
            </a:pPr>
            <a:r>
              <a:t>How to spot it: the result is missing one item, includes one extra item, or fails at the last index.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424160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6F53AA"/>
                </a:solidFill>
                <a:latin typeface="Aptos"/>
              </a:defRPr>
            </a:pPr>
            <a:r>
              <a:rPr dirty="0"/>
              <a:t>Fix pattern: trace the first few indexes by hand; count elements </a:t>
            </a:r>
            <a:r>
              <a:rPr dirty="0" err="1"/>
              <a:t>ra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77240" y="3703320"/>
            <a:ext cx="6492240" cy="2331720"/>
          </a:xfrm>
          <a:prstGeom prst="roundRect">
            <a:avLst/>
          </a:prstGeom>
          <a:solidFill>
            <a:srgbClr val="F6F8FB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tlCol="0" anchor="ctr"/>
          <a:lstStyle/>
          <a:p>
            <a:pPr algn="ctr"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/>
              <a:t>int[] a = {5, 10, 15, 20};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/>
              <a:t>for (int </a:t>
            </a:r>
            <a:r>
              <a:rPr dirty="0" err="1"/>
              <a:t>i</a:t>
            </a:r>
            <a:r>
              <a:rPr dirty="0"/>
              <a:t> = 0; </a:t>
            </a:r>
            <a:r>
              <a:rPr dirty="0" err="1"/>
              <a:t>i</a:t>
            </a:r>
            <a:r>
              <a:rPr dirty="0"/>
              <a:t> &lt; </a:t>
            </a:r>
            <a:r>
              <a:rPr dirty="0" err="1"/>
              <a:t>a.length</a:t>
            </a:r>
            <a:r>
              <a:rPr dirty="0"/>
              <a:t> - 1; </a:t>
            </a:r>
            <a:r>
              <a:rPr dirty="0" err="1"/>
              <a:t>i</a:t>
            </a:r>
            <a:r>
              <a:rPr dirty="0"/>
              <a:t>++) {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System.out.println</a:t>
            </a:r>
            <a:r>
              <a:rPr dirty="0"/>
              <a:t>(a[</a:t>
            </a:r>
            <a:r>
              <a:rPr dirty="0" err="1"/>
              <a:t>i</a:t>
            </a:r>
            <a:r>
              <a:rPr dirty="0"/>
              <a:t>]);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/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749039"/>
            <a:ext cx="36576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500" b="1">
                <a:solidFill>
                  <a:srgbClr val="142748"/>
                </a:solidFill>
                <a:latin typeface="Aptos"/>
              </a:defRPr>
            </a:pPr>
            <a:r>
              <a:t>WHAT YOU SEE / 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206240"/>
            <a:ext cx="3749039" cy="1463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800" b="1">
                <a:solidFill>
                  <a:srgbClr val="22825B"/>
                </a:solidFill>
                <a:latin typeface="Aptos"/>
              </a:defRPr>
            </a:pPr>
            <a:r>
              <a:rPr dirty="0"/>
              <a:t>Actual: 5, 10, 15</a:t>
            </a:r>
            <a:br>
              <a:rPr dirty="0"/>
            </a:br>
            <a:r>
              <a:rPr dirty="0"/>
              <a:t>Missing: 20</a:t>
            </a:r>
            <a:br>
              <a:rPr dirty="0"/>
            </a:br>
            <a:r>
              <a:rPr dirty="0"/>
              <a:t>Correct bound: </a:t>
            </a:r>
            <a:r>
              <a:rPr dirty="0" err="1"/>
              <a:t>i</a:t>
            </a:r>
            <a:r>
              <a:rPr dirty="0"/>
              <a:t> &lt; </a:t>
            </a:r>
            <a:r>
              <a:rPr dirty="0" err="1"/>
              <a:t>a.length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103327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1">
                <a:solidFill>
                  <a:srgbClr val="6F53AA"/>
                </a:solidFill>
                <a:latin typeface="Aptos"/>
              </a:defRPr>
            </a:pPr>
            <a:r>
              <a:t>Fix pattern: trace the first few indexes by hand; count elements rather than guessing.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Wrong Comparison Direction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The result is the opposite of what you wanted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2B6AB4"/>
                </a:solidFill>
                <a:latin typeface="Aptos"/>
              </a:defRPr>
            </a:pPr>
            <a:r>
              <a:t>Wrong Comparison Direction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Wrong Comparison Direction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The result is the opposite of what you wanted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2B6AB4"/>
                </a:solidFill>
                <a:latin typeface="Aptos"/>
              </a:defRPr>
            </a:pPr>
            <a:r>
              <a:t>Wrong Comparison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200" b="1">
                <a:solidFill>
                  <a:srgbClr val="27313E"/>
                </a:solidFill>
                <a:latin typeface="Aptos"/>
              </a:defRPr>
            </a:pPr>
            <a:r>
              <a:t>How to spot it: the code chooses the smallest value when you wanted the largest, or accepts/rejects the opposite condition.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42416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6F53AA"/>
                </a:solidFill>
                <a:latin typeface="Aptos"/>
              </a:defRPr>
            </a:pPr>
            <a:r>
              <a:t>Fix pattern: say out loud what should win, then verify &gt; versus &lt; (and &gt;= versus &lt;=).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Wrong Comparison Direction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The result is the opposite of what you wanted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2B6AB4"/>
                </a:solidFill>
                <a:latin typeface="Aptos"/>
              </a:defRPr>
            </a:pPr>
            <a:r>
              <a:rPr dirty="0"/>
              <a:t>Wrong Comparison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200" b="1">
                <a:solidFill>
                  <a:srgbClr val="27313E"/>
                </a:solidFill>
                <a:latin typeface="Aptos"/>
              </a:defRPr>
            </a:pPr>
            <a:r>
              <a:rPr dirty="0"/>
              <a:t>How to spot it: the code chooses the smallest value when you wanted the largest, or accepts/rejects the opposite condition.</a:t>
            </a:r>
          </a:p>
        </p:txBody>
      </p:sp>
      <p:sp>
        <p:nvSpPr>
          <p:cNvPr id="10" name="Rounded Rectangle 9"/>
          <p:cNvSpPr/>
          <p:nvPr/>
        </p:nvSpPr>
        <p:spPr>
          <a:xfrm flipH="1">
            <a:off x="457198" y="3713152"/>
            <a:ext cx="6012427" cy="2331720"/>
          </a:xfrm>
          <a:prstGeom prst="roundRect">
            <a:avLst/>
          </a:prstGeom>
          <a:solidFill>
            <a:srgbClr val="F6F8FB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tlCol="0" anchor="ctr"/>
          <a:lstStyle/>
          <a:p>
            <a:pPr algn="ctr"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/>
              <a:t>int best = 0;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/>
              <a:t>int[] scores = {45, 80, 62};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/>
              <a:t>for (int score : scores) {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/>
              <a:t>    if (score &lt; best) { // wrong direction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/>
              <a:t>        best = score;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/>
              <a:t>    }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 err="1"/>
              <a:t>System.out.println</a:t>
            </a:r>
            <a:r>
              <a:rPr dirty="0"/>
              <a:t>(best);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3680460"/>
            <a:ext cx="36576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500" b="1">
                <a:solidFill>
                  <a:srgbClr val="142748"/>
                </a:solidFill>
                <a:latin typeface="Aptos"/>
              </a:defRPr>
            </a:pPr>
            <a:r>
              <a:rPr dirty="0"/>
              <a:t>WHAT YOU SEE / 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206240"/>
            <a:ext cx="3749039" cy="97872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800" b="1">
                <a:solidFill>
                  <a:srgbClr val="22825B"/>
                </a:solidFill>
                <a:latin typeface="Aptos"/>
              </a:defRPr>
            </a:pPr>
            <a:r>
              <a:rPr dirty="0"/>
              <a:t>Actual: 0</a:t>
            </a:r>
            <a:br>
              <a:rPr dirty="0"/>
            </a:br>
            <a:r>
              <a:rPr dirty="0"/>
              <a:t>Expected maximum: 80</a:t>
            </a:r>
            <a:br>
              <a:rPr dirty="0"/>
            </a:b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103327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1">
                <a:solidFill>
                  <a:srgbClr val="6F53AA"/>
                </a:solidFill>
                <a:latin typeface="Aptos"/>
              </a:defRPr>
            </a:pPr>
            <a:r>
              <a:rPr dirty="0"/>
              <a:t>Fix pattern: say out loud what should win, then verify &gt; versus &lt; (and &gt;= versus &lt;=).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A9252B-A048-75D0-DA72-F1DFA77FC5A2}"/>
              </a:ext>
            </a:extLst>
          </p:cNvPr>
          <p:cNvSpPr txBox="1"/>
          <p:nvPr/>
        </p:nvSpPr>
        <p:spPr>
          <a:xfrm>
            <a:off x="7678994" y="5692877"/>
            <a:ext cx="3274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Fix comparison: score &gt; best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1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Missing / Wrong Base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Smallest input crashes or gives an offset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2B6AB4"/>
                </a:solidFill>
                <a:latin typeface="Aptos"/>
              </a:defRPr>
            </a:pPr>
            <a:r>
              <a:t>Missing / Wrong Base Case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Missing / Wrong Base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Smallest input crashes or gives an offset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2B6AB4"/>
                </a:solidFill>
                <a:latin typeface="Aptos"/>
              </a:defRPr>
            </a:pPr>
            <a:r>
              <a:t>Missing / Wrong Base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200" b="1">
                <a:solidFill>
                  <a:srgbClr val="27313E"/>
                </a:solidFill>
                <a:latin typeface="Aptos"/>
              </a:defRPr>
            </a:pPr>
            <a:r>
              <a:t>How to spot it: empty input or the smallest allowed input behaves incorrectly; recursion may never stop.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42416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6F53AA"/>
                </a:solidFill>
                <a:latin typeface="Aptos"/>
              </a:defRPr>
            </a:pPr>
            <a:r>
              <a:t>Fix pattern: define what the answer is for the literal empty/smallest case before handling larger cases.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Missing / Wrong Base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Smallest input crashes or gives an offset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2B6AB4"/>
                </a:solidFill>
                <a:latin typeface="Aptos"/>
              </a:defRPr>
            </a:pPr>
            <a:r>
              <a:t>Missing / Wrong Base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200" b="1">
                <a:solidFill>
                  <a:srgbClr val="27313E"/>
                </a:solidFill>
                <a:latin typeface="Aptos"/>
              </a:defRPr>
            </a:pPr>
            <a:r>
              <a:rPr dirty="0"/>
              <a:t>How to spot it: empty input or the smallest allowed input behaves incorrectly; recursion may never stop.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424160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6F53AA"/>
                </a:solidFill>
                <a:latin typeface="Aptos"/>
              </a:defRPr>
            </a:pPr>
            <a:r>
              <a:rPr dirty="0"/>
              <a:t>Fix pattern: define what the answer is for the literal empty/small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03320"/>
            <a:ext cx="6492240" cy="2331720"/>
          </a:xfrm>
          <a:prstGeom prst="roundRect">
            <a:avLst/>
          </a:prstGeom>
          <a:solidFill>
            <a:srgbClr val="F6F8FB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tlCol="0" anchor="ctr"/>
          <a:lstStyle/>
          <a:p>
            <a:pPr algn="ctr"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/>
              <a:t>static int sum(int n) {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/>
              <a:t>    if (n == 0) return 0; // base case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/>
              <a:t>    return n + sum(n - 1);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/>
              <a:t>// sum(3) = 3 + 2 + 1 + 0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749039"/>
            <a:ext cx="36576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500" b="1">
                <a:solidFill>
                  <a:srgbClr val="142748"/>
                </a:solidFill>
                <a:latin typeface="Aptos"/>
              </a:defRPr>
            </a:pPr>
            <a:r>
              <a:rPr dirty="0"/>
              <a:t>WHAT YOU SEE / 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206240"/>
            <a:ext cx="3749039" cy="7017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800" b="1">
                <a:solidFill>
                  <a:srgbClr val="B83939"/>
                </a:solidFill>
                <a:latin typeface="Aptos"/>
              </a:defRPr>
            </a:pPr>
            <a:r>
              <a:rPr dirty="0"/>
              <a:t>With base case: sum(3) = 6</a:t>
            </a:r>
            <a:br>
              <a:rPr dirty="0"/>
            </a:br>
            <a:r>
              <a:rPr dirty="0"/>
              <a:t>Without it: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103327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1">
                <a:solidFill>
                  <a:srgbClr val="6F53AA"/>
                </a:solidFill>
                <a:latin typeface="Aptos"/>
              </a:defRPr>
            </a:pPr>
            <a:r>
              <a:t>Fix pattern: define what the answer is for the literal empty/smallest case before handling larger cases.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2D566F-9994-28FF-7EA0-9CDFC5F8A98E}"/>
              </a:ext>
            </a:extLst>
          </p:cNvPr>
          <p:cNvSpPr txBox="1"/>
          <p:nvPr/>
        </p:nvSpPr>
        <p:spPr>
          <a:xfrm>
            <a:off x="7737987" y="5653548"/>
            <a:ext cx="3087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recursion continues</a:t>
            </a:r>
            <a:br>
              <a:rPr lang="en-US" dirty="0"/>
            </a:br>
            <a:r>
              <a:rPr lang="en-US" dirty="0"/>
              <a:t>until a </a:t>
            </a:r>
            <a:r>
              <a:rPr lang="en-US" dirty="0" err="1"/>
              <a:t>StackOverflowError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State Not Reset / Updated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Works once, then produces stale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2B6AB4"/>
                </a:solidFill>
                <a:latin typeface="Aptos"/>
              </a:defRPr>
            </a:pPr>
            <a:r>
              <a:t>State Not Reset / Updated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State Not Reset / Updated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Works once, then produces stale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2B6AB4"/>
                </a:solidFill>
                <a:latin typeface="Aptos"/>
              </a:defRPr>
            </a:pPr>
            <a:r>
              <a:t>State Not Reset / Updated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200" b="1">
                <a:solidFill>
                  <a:srgbClr val="27313E"/>
                </a:solidFill>
                <a:latin typeface="Aptos"/>
              </a:defRPr>
            </a:pPr>
            <a:r>
              <a:t>How to spot it: calling the same method twice returns a value that includes data from the previous 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42416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6F53AA"/>
                </a:solidFill>
                <a:latin typeface="Aptos"/>
              </a:defRPr>
            </a:pPr>
            <a:r>
              <a:t>Fix pattern: identify every variable that remembers something and reset or update it at the correct time.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State Not Reset / Updated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Works once, then produces stale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2B6AB4"/>
                </a:solidFill>
                <a:latin typeface="Aptos"/>
              </a:defRPr>
            </a:pPr>
            <a:r>
              <a:t>State Not Reset / Updated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200" b="1">
                <a:solidFill>
                  <a:srgbClr val="27313E"/>
                </a:solidFill>
                <a:latin typeface="Aptos"/>
              </a:defRPr>
            </a:pPr>
            <a:r>
              <a:t>How to spot it: calling the same method twice returns a value that includes data from the previous 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424160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6F53AA"/>
                </a:solidFill>
                <a:latin typeface="Aptos"/>
              </a:defRPr>
            </a:pPr>
            <a:r>
              <a:rPr dirty="0"/>
              <a:t>Fix pattern: identify every variable that remembers something 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03320"/>
            <a:ext cx="6492240" cy="2331720"/>
          </a:xfrm>
          <a:prstGeom prst="roundRect">
            <a:avLst/>
          </a:prstGeom>
          <a:solidFill>
            <a:srgbClr val="F6F8FB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tlCol="0" anchor="ctr"/>
          <a:lstStyle/>
          <a:p>
            <a:pPr algn="ctr"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t>class Counter {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t>    int total = 0;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t>    int count(int[] a) {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t>        total = 0; // reset for each call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t>        for (int x : a) total += x;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t>        return total;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749039"/>
            <a:ext cx="36576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500" b="1">
                <a:solidFill>
                  <a:srgbClr val="142748"/>
                </a:solidFill>
                <a:latin typeface="Aptos"/>
              </a:defRPr>
            </a:pPr>
            <a:r>
              <a:t>WHAT YOU SEE / 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206240"/>
            <a:ext cx="3749039" cy="1463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800" b="1">
                <a:solidFill>
                  <a:srgbClr val="B83939"/>
                </a:solidFill>
                <a:latin typeface="Aptos"/>
              </a:defRPr>
            </a:pPr>
            <a:r>
              <a:rPr dirty="0"/>
              <a:t>count({1, 2}) → 3</a:t>
            </a:r>
            <a:br>
              <a:rPr dirty="0"/>
            </a:br>
            <a:r>
              <a:rPr dirty="0"/>
              <a:t>count({5}) → 5</a:t>
            </a:r>
            <a:br>
              <a:rPr dirty="0"/>
            </a:br>
            <a:r>
              <a:rPr dirty="0"/>
              <a:t>Without reset, second call could return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103327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1">
                <a:solidFill>
                  <a:srgbClr val="6F53AA"/>
                </a:solidFill>
                <a:latin typeface="Aptos"/>
              </a:defRPr>
            </a:pPr>
            <a:r>
              <a:t>Fix pattern: identify every variable that remembers something and reset or update it at the correct time.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Reference Instead of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Stored results unexpectedly change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2B6AB4"/>
                </a:solidFill>
                <a:latin typeface="Aptos"/>
              </a:defRPr>
            </a:pPr>
            <a:r>
              <a:t>Reference Instead of Snapshot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Reference Instead of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Stored results unexpectedly change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2B6AB4"/>
                </a:solidFill>
                <a:latin typeface="Aptos"/>
              </a:defRPr>
            </a:pPr>
            <a:r>
              <a:t>Reference Instead of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200" b="1">
                <a:solidFill>
                  <a:srgbClr val="27313E"/>
                </a:solidFill>
                <a:latin typeface="Aptos"/>
              </a:defRPr>
            </a:pPr>
            <a:r>
              <a:t>How to spot it: several saved results all show the final state because they point to the same mutable object.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42416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6F53AA"/>
                </a:solidFill>
                <a:latin typeface="Aptos"/>
              </a:defRPr>
            </a:pPr>
            <a:r>
              <a:t>Fix pattern: store a copy/snapshot when you save a result, not a reference to an object that will change.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Reference Instead of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Stored results unexpectedly change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2B6AB4"/>
                </a:solidFill>
                <a:latin typeface="Aptos"/>
              </a:defRPr>
            </a:pPr>
            <a:r>
              <a:t>Reference Instead of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200" b="1">
                <a:solidFill>
                  <a:srgbClr val="27313E"/>
                </a:solidFill>
                <a:latin typeface="Aptos"/>
              </a:defRPr>
            </a:pPr>
            <a:r>
              <a:t>How to spot it: several saved results all show the final state because they point to the same mutable object.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424160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6F53AA"/>
                </a:solidFill>
                <a:latin typeface="Aptos"/>
              </a:defRPr>
            </a:pPr>
            <a:r>
              <a:rPr dirty="0"/>
              <a:t>Fix pattern: store a copy/snapshot when you save a result, not 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03320"/>
            <a:ext cx="6492240" cy="2331720"/>
          </a:xfrm>
          <a:prstGeom prst="roundRect">
            <a:avLst/>
          </a:prstGeom>
          <a:solidFill>
            <a:srgbClr val="F6F8FB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tlCol="0" anchor="ctr"/>
          <a:lstStyle/>
          <a:p>
            <a:pPr algn="ctr"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/>
              <a:t>List&lt;Integer&gt; current = new ArrayList&lt;&gt;();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/>
              <a:t>List&lt;List&lt;Integer&gt;&gt; results = new ArrayList&lt;&gt;();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 err="1"/>
              <a:t>current.add</a:t>
            </a:r>
            <a:r>
              <a:rPr dirty="0"/>
              <a:t>(1);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 err="1"/>
              <a:t>results.add</a:t>
            </a:r>
            <a:r>
              <a:rPr dirty="0"/>
              <a:t>(new ArrayList&lt;&gt;(current)); // copy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 err="1"/>
              <a:t>current.add</a:t>
            </a:r>
            <a:r>
              <a:rPr dirty="0"/>
              <a:t>(2);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rPr dirty="0" err="1"/>
              <a:t>results.add</a:t>
            </a:r>
            <a:r>
              <a:rPr dirty="0"/>
              <a:t>(new ArrayList&lt;&gt;(current)); // 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749039"/>
            <a:ext cx="36576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500" b="1">
                <a:solidFill>
                  <a:srgbClr val="142748"/>
                </a:solidFill>
                <a:latin typeface="Aptos"/>
              </a:defRPr>
            </a:pPr>
            <a:r>
              <a:rPr dirty="0"/>
              <a:t>WHAT YOU SEE / 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206240"/>
            <a:ext cx="3749039" cy="1463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800" b="1">
                <a:solidFill>
                  <a:srgbClr val="B83939"/>
                </a:solidFill>
                <a:latin typeface="Aptos"/>
              </a:defRPr>
            </a:pPr>
            <a:r>
              <a:rPr dirty="0"/>
              <a:t>Saved snapshots: [1] and [1, 2]</a:t>
            </a:r>
            <a:br>
              <a:rPr dirty="0"/>
            </a:br>
            <a:r>
              <a:rPr dirty="0"/>
              <a:t>If you store current directly twice,</a:t>
            </a:r>
            <a:br>
              <a:rPr dirty="0"/>
            </a:br>
            <a:r>
              <a:rPr dirty="0"/>
              <a:t>both entries can reflect [1, 2].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103327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1">
                <a:solidFill>
                  <a:srgbClr val="6F53AA"/>
                </a:solidFill>
                <a:latin typeface="Aptos"/>
              </a:defRPr>
            </a:pPr>
            <a:r>
              <a:t>Fix pattern: store a copy/snapshot when you save a result, not a reference to an object that will change.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Order of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A value is overwritten before it is safely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2B6AB4"/>
                </a:solidFill>
                <a:latin typeface="Aptos"/>
              </a:defRPr>
            </a:pPr>
            <a:r>
              <a:t>Order of Operations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Order of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A value is overwritten before it is safely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2B6AB4"/>
                </a:solidFill>
                <a:latin typeface="Aptos"/>
              </a:defRPr>
            </a:pPr>
            <a:r>
              <a:t>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200" b="1">
                <a:solidFill>
                  <a:srgbClr val="27313E"/>
                </a:solidFill>
                <a:latin typeface="Aptos"/>
              </a:defRPr>
            </a:pPr>
            <a:r>
              <a:t>How to spot it: the calculation uses a changed value instead of the original value, or an update happens too 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42416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6F53AA"/>
                </a:solidFill>
                <a:latin typeface="Aptos"/>
              </a:defRPr>
            </a:pPr>
            <a:r>
              <a:t>Fix pattern: save the old value before overwriting it; perform updates in a deliberate order.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Order of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A value is overwritten before it is safely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100" b="1">
                <a:solidFill>
                  <a:srgbClr val="2B6AB4"/>
                </a:solidFill>
                <a:latin typeface="Aptos"/>
              </a:defRPr>
            </a:pPr>
            <a:r>
              <a:t>Order of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200" b="1">
                <a:solidFill>
                  <a:srgbClr val="27313E"/>
                </a:solidFill>
                <a:latin typeface="Aptos"/>
              </a:defRPr>
            </a:pPr>
            <a:r>
              <a:t>How to spot it: the calculation uses a changed value instead of the original value, or an update happens too 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424160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1">
                <a:solidFill>
                  <a:srgbClr val="6F53AA"/>
                </a:solidFill>
                <a:latin typeface="Aptos"/>
              </a:defRPr>
            </a:pPr>
            <a:r>
              <a:rPr dirty="0"/>
              <a:t>Fix pattern: save the old value before overwriting it; perform </a:t>
            </a:r>
            <a:r>
              <a:rPr dirty="0" err="1"/>
              <a:t>upda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77240" y="3703320"/>
            <a:ext cx="6492240" cy="2331720"/>
          </a:xfrm>
          <a:prstGeom prst="roundRect">
            <a:avLst/>
          </a:prstGeom>
          <a:solidFill>
            <a:srgbClr val="F6F8FB"/>
          </a:solidFill>
          <a:ln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37160" rtlCol="0" anchor="ctr"/>
          <a:lstStyle/>
          <a:p>
            <a:pPr algn="ctr"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t>int a = 3;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t>int b = 7;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t>int temp = a; // save old a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t> a = b;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t>b = temp;</a:t>
            </a:r>
          </a:p>
          <a:p>
            <a:pPr>
              <a:spcAft>
                <a:spcPts val="0"/>
              </a:spcAft>
              <a:defRPr sz="1400">
                <a:solidFill>
                  <a:srgbClr val="142748"/>
                </a:solidFill>
                <a:latin typeface="Consolas"/>
              </a:defRPr>
            </a:pPr>
            <a:r>
              <a:t>System.out.println(a + ", " + b);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749039"/>
            <a:ext cx="36576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500" b="1">
                <a:solidFill>
                  <a:srgbClr val="142748"/>
                </a:solidFill>
                <a:latin typeface="Aptos"/>
              </a:defRPr>
            </a:pPr>
            <a:r>
              <a:t>WHAT YOU SEE / 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206240"/>
            <a:ext cx="3749039" cy="1463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800" b="1">
                <a:solidFill>
                  <a:srgbClr val="B83939"/>
                </a:solidFill>
                <a:latin typeface="Aptos"/>
              </a:defRPr>
            </a:pPr>
            <a:r>
              <a:rPr dirty="0"/>
              <a:t>Output: 7, 3</a:t>
            </a:r>
            <a:br>
              <a:rPr dirty="0"/>
            </a:br>
            <a:r>
              <a:rPr dirty="0"/>
              <a:t>The temporary variable preserves the original 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103327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1">
                <a:solidFill>
                  <a:srgbClr val="6F53AA"/>
                </a:solidFill>
                <a:latin typeface="Aptos"/>
              </a:defRPr>
            </a:pPr>
            <a:r>
              <a:t>Fix pattern: save the old value before overwriting it; perform updates in a deliberate order.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700" b="1">
                <a:solidFill>
                  <a:srgbClr val="142748"/>
                </a:solidFill>
                <a:latin typeface="Aptos"/>
              </a:defRPr>
            </a:pPr>
            <a:r>
              <a:t>Debugging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960120" cy="50292"/>
          </a:xfrm>
          <a:prstGeom prst="rect">
            <a:avLst/>
          </a:prstGeom>
          <a:solidFill>
            <a:srgbClr val="2B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400" b="0">
                <a:solidFill>
                  <a:srgbClr val="637080"/>
                </a:solidFill>
                <a:latin typeface="Aptos"/>
              </a:defRPr>
            </a:pPr>
            <a:r>
              <a:t>Use this every time a test case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637080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68580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900" b="0">
                <a:solidFill>
                  <a:srgbClr val="637080"/>
                </a:solidFill>
                <a:latin typeface="Aptos"/>
              </a:defRPr>
            </a:pPr>
            <a:r>
              <a:t>Java Bug Patterns • Trainer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7313E"/>
                </a:solidFill>
                <a:latin typeface="Aptos"/>
              </a:defRPr>
            </a:pPr>
            <a:r>
              <a:t>Boundary: what are the first and last valid indexes?</a:t>
            </a:r>
          </a:p>
          <a:p>
            <a:pPr>
              <a:spcAft>
                <a:spcPts val="1400"/>
              </a:spcAft>
              <a:defRPr sz="2000">
                <a:solidFill>
                  <a:srgbClr val="27313E"/>
                </a:solidFill>
                <a:latin typeface="Aptos"/>
              </a:defRPr>
            </a:pPr>
            <a:r>
              <a:t>Comparison: which value or condition should win?</a:t>
            </a:r>
          </a:p>
          <a:p>
            <a:pPr>
              <a:spcAft>
                <a:spcPts val="1400"/>
              </a:spcAft>
              <a:defRPr sz="2000">
                <a:solidFill>
                  <a:srgbClr val="27313E"/>
                </a:solidFill>
                <a:latin typeface="Aptos"/>
              </a:defRPr>
            </a:pPr>
            <a:r>
              <a:t>Base case: what happens for empty or smallest input?</a:t>
            </a:r>
          </a:p>
          <a:p>
            <a:pPr>
              <a:spcAft>
                <a:spcPts val="1400"/>
              </a:spcAft>
              <a:defRPr sz="2000">
                <a:solidFill>
                  <a:srgbClr val="27313E"/>
                </a:solidFill>
                <a:latin typeface="Aptos"/>
              </a:defRPr>
            </a:pPr>
            <a:r>
              <a:t>State: is every variable reset or updated at the right time?</a:t>
            </a:r>
          </a:p>
          <a:p>
            <a:pPr>
              <a:spcAft>
                <a:spcPts val="1400"/>
              </a:spcAft>
              <a:defRPr sz="2000">
                <a:solidFill>
                  <a:srgbClr val="27313E"/>
                </a:solidFill>
                <a:latin typeface="Aptos"/>
              </a:defRPr>
            </a:pPr>
            <a:r>
              <a:t>Reference: do I need a copy rather than the same object?</a:t>
            </a:r>
          </a:p>
          <a:p>
            <a:pPr>
              <a:spcAft>
                <a:spcPts val="1400"/>
              </a:spcAft>
              <a:defRPr sz="2000">
                <a:solidFill>
                  <a:srgbClr val="27313E"/>
                </a:solidFill>
                <a:latin typeface="Aptos"/>
              </a:defRPr>
            </a:pPr>
            <a:r>
              <a:t>Order: am I using a value before I overwrite it?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33272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400" b="1">
                <a:solidFill>
                  <a:srgbClr val="D7E7F8"/>
                </a:solidFill>
                <a:latin typeface="Aptos"/>
              </a:defRPr>
            </a:pPr>
            <a:r>
              <a:t>Match the shape of the bug, not the exact wording.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1033272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100" b="0">
                <a:solidFill>
                  <a:srgbClr val="FFFFFF"/>
                </a:solidFill>
                <a:latin typeface="Aptos"/>
              </a:defRPr>
            </a:pPr>
            <a:r>
              <a:t>Name the pattern → trace the smallest case → check the boundary/state → apply the fix.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080760"/>
            <a:ext cx="1005840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500" b="1">
                <a:solidFill>
                  <a:srgbClr val="C3DBF6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2062</Words>
  <Application>Microsoft Office PowerPoint</Application>
  <PresentationFormat>Widescreen</PresentationFormat>
  <Paragraphs>261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sumedh manwatkar</cp:lastModifiedBy>
  <cp:revision>4</cp:revision>
  <dcterms:created xsi:type="dcterms:W3CDTF">2013-01-27T09:14:16Z</dcterms:created>
  <dcterms:modified xsi:type="dcterms:W3CDTF">2026-10-15T11:24:58Z</dcterms:modified>
  <cp:category/>
</cp:coreProperties>
</file>