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OFF-BY-ONE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51460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700" b="1">
                <a:solidFill>
                  <a:srgbClr val="C1DAF5"/>
                </a:solidFill>
                <a:latin typeface="Aptos"/>
              </a:defRPr>
            </a:pPr>
            <a:r>
              <a:t>Loop Bounds &amp; Sliding-Window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0"/>
            <a:ext cx="98755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A practical Java session: understand the bug, trace the indexes, and fix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D0DCEC"/>
                </a:solidFill>
                <a:latin typeface="Aptos"/>
              </a:defRPr>
            </a:pPr>
            <a:r>
              <a:t>Trainer presentation • Examples • Practice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Session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By the end, learners should be able to…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480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6303C"/>
                </a:solidFill>
                <a:latin typeface="Aptos"/>
              </a:defRPr>
            </a:pPr>
            <a:r>
              <a:t>Explain what “off-by-one” means in simple words.</a:t>
            </a:r>
          </a:p>
          <a:p>
            <a:pPr>
              <a:spcAft>
                <a:spcPts val="1400"/>
              </a:spcAft>
              <a:defRPr sz="2200">
                <a:solidFill>
                  <a:srgbClr val="26303C"/>
                </a:solidFill>
                <a:latin typeface="Aptos"/>
              </a:defRPr>
            </a:pPr>
            <a:r>
              <a:t>Spot a loop that stops one element too early or runs one step too far.</a:t>
            </a:r>
          </a:p>
          <a:p>
            <a:pPr>
              <a:spcAft>
                <a:spcPts val="1400"/>
              </a:spcAft>
              <a:defRPr sz="2200">
                <a:solidFill>
                  <a:srgbClr val="26303C"/>
                </a:solidFill>
                <a:latin typeface="Aptos"/>
              </a:defRPr>
            </a:pPr>
            <a:r>
              <a:t>Understand why a window of size k must contain exactly k elements.</a:t>
            </a:r>
          </a:p>
          <a:p>
            <a:pPr>
              <a:spcAft>
                <a:spcPts val="1400"/>
              </a:spcAft>
              <a:defRPr sz="2200">
                <a:solidFill>
                  <a:srgbClr val="26303C"/>
                </a:solidFill>
                <a:latin typeface="Aptos"/>
              </a:defRPr>
            </a:pPr>
            <a:r>
              <a:t>Trace Java array indexes from 0 to length − 1.</a:t>
            </a:r>
          </a:p>
          <a:p>
            <a:pPr>
              <a:spcAft>
                <a:spcPts val="1400"/>
              </a:spcAft>
              <a:defRPr sz="2200">
                <a:solidFill>
                  <a:srgbClr val="26303C"/>
                </a:solidFill>
                <a:latin typeface="Aptos"/>
              </a:defRPr>
            </a:pPr>
            <a:r>
              <a:t>Use a quick boundary-checking habit to prevent these bugs.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What Does “Off-by-One”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The result is wrong by exactly one because a boundary or count is incorrect.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100" b="1">
                <a:solidFill>
                  <a:srgbClr val="162B4D"/>
                </a:solidFill>
                <a:latin typeface="Aptos"/>
              </a:defRPr>
            </a:pPr>
            <a:r>
              <a:t>You intended to print 5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7548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000" b="1">
                <a:solidFill>
                  <a:srgbClr val="27875F"/>
                </a:solidFill>
                <a:latin typeface="Aptos"/>
              </a:defRPr>
            </a:pPr>
            <a:r>
              <a:t>1   2   3   4   5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029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100" b="1">
                <a:solidFill>
                  <a:srgbClr val="162B4D"/>
                </a:solidFill>
                <a:latin typeface="Aptos"/>
              </a:defRPr>
            </a:pPr>
            <a:r>
              <a:t>But the program prints: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47548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000" b="1">
                <a:solidFill>
                  <a:srgbClr val="BE3E3E"/>
                </a:solidFill>
                <a:latin typeface="Aptos"/>
              </a:defRPr>
            </a:pPr>
            <a:r>
              <a:t>1   2   3   4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42416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400" b="1">
                <a:solidFill>
                  <a:srgbClr val="26303C"/>
                </a:solidFill>
                <a:latin typeface="Aptos"/>
              </a:defRPr>
            </a:pPr>
            <a:r>
              <a:t>The loop stopped one step too early, so one expected item is missing.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64707D"/>
                </a:solidFill>
                <a:latin typeface="Aptos"/>
              </a:defRPr>
            </a:pPr>
            <a:r>
              <a:t>The same pattern appears in arrays, strings, binary search, and sliding-window problems.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Java Arrays: Count vs.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An array with 5 elements has indexes 0, 1, 2, 3, and 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645920" cy="1051560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2B4D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1645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600" b="1">
                <a:solidFill>
                  <a:srgbClr val="64707D"/>
                </a:solidFill>
                <a:latin typeface="Aptos"/>
              </a:defRPr>
            </a:pPr>
            <a:r>
              <a:t>Index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011680"/>
            <a:ext cx="1645920" cy="1051560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2B4D"/>
                </a:solidFill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200400"/>
            <a:ext cx="1645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600" b="1">
                <a:solidFill>
                  <a:srgbClr val="64707D"/>
                </a:solidFill>
                <a:latin typeface="Aptos"/>
              </a:defRPr>
            </a:pPr>
            <a:r>
              <a:t>Index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011680"/>
            <a:ext cx="1645920" cy="1051560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2B4D"/>
                </a:solidFill>
              </a:defRPr>
            </a:pPr>
            <a: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3200400"/>
            <a:ext cx="1645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600" b="1">
                <a:solidFill>
                  <a:srgbClr val="64707D"/>
                </a:solidFill>
                <a:latin typeface="Aptos"/>
              </a:defRPr>
            </a:pPr>
            <a:r>
              <a:t>Index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2011680"/>
            <a:ext cx="1645920" cy="1051560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2B4D"/>
                </a:solidFill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3200400"/>
            <a:ext cx="1645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600" b="1">
                <a:solidFill>
                  <a:srgbClr val="64707D"/>
                </a:solidFill>
                <a:latin typeface="Aptos"/>
              </a:defRPr>
            </a:pPr>
            <a:r>
              <a:t>Index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2011680"/>
            <a:ext cx="1645920" cy="1051560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2B4D"/>
                </a:solidFill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3200400"/>
            <a:ext cx="1645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600" b="1">
                <a:solidFill>
                  <a:srgbClr val="64707D"/>
                </a:solidFill>
                <a:latin typeface="Aptos"/>
              </a:defRPr>
            </a:pPr>
            <a:r>
              <a:t>Index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102412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500" b="1">
                <a:solidFill>
                  <a:srgbClr val="162B4D"/>
                </a:solidFill>
                <a:latin typeface="Aptos"/>
              </a:defRPr>
            </a:pPr>
            <a:r>
              <a:t>arr.length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24128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100" b="0">
                <a:solidFill>
                  <a:srgbClr val="26303C"/>
                </a:solidFill>
                <a:latin typeface="Aptos"/>
              </a:defRPr>
            </a:pPr>
            <a:r>
              <a:t>Last valid index = arr.length − 1 =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Example 1: Off-by-One in a Loop Bound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Goal: print every element in the array.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623560" cy="329184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09728" tIns="146304" bIns="109728"/>
          <a:lstStyle/>
          <a:p>
            <a:pPr algn="ctr"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int[] arr = {10, 20, 30, 40, 50};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for (int i = 0; i &lt; arr.length - 1; i++) {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    System.out.println(arr[i]);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691640"/>
            <a:ext cx="4663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62B4D"/>
                </a:solidFill>
                <a:latin typeface="Aptos"/>
              </a:defRPr>
            </a:pPr>
            <a:r>
              <a:t>Output: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420624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1">
                <a:solidFill>
                  <a:srgbClr val="BE3E3E"/>
                </a:solidFill>
                <a:latin typeface="Aptos"/>
              </a:defRPr>
            </a:pPr>
            <a:r>
              <a:t>10</a:t>
            </a:r>
            <a:br/>
            <a:r>
              <a:t>20</a:t>
            </a:r>
            <a:br/>
            <a:r>
              <a:t>30</a:t>
            </a:r>
            <a:br/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069080"/>
            <a:ext cx="466344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100" b="1">
                <a:solidFill>
                  <a:srgbClr val="BE3E3E"/>
                </a:solidFill>
                <a:latin typeface="Aptos"/>
              </a:defRPr>
            </a:pPr>
            <a:r>
              <a:t>Missing: 50 (index 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983480"/>
            <a:ext cx="47548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6303C"/>
                </a:solidFill>
                <a:latin typeface="Aptos"/>
              </a:defRPr>
            </a:pPr>
            <a:r>
              <a:t>Because i &lt; 4 stops before index 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Trace the Loop: Why Is 50 Missing?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arr.length is 5, so arr.length − 1 is 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371600" cy="594360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691640"/>
            <a:ext cx="3200400" cy="594360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Condition i &lt;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691640"/>
            <a:ext cx="2743200" cy="594360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Element printed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13716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286000"/>
            <a:ext cx="32004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true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286000"/>
            <a:ext cx="27432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80360"/>
            <a:ext cx="13716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880360"/>
            <a:ext cx="32004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880360"/>
            <a:ext cx="27432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474720"/>
            <a:ext cx="13716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474720"/>
            <a:ext cx="32004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true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474720"/>
            <a:ext cx="27432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069080"/>
            <a:ext cx="13716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069080"/>
            <a:ext cx="32004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true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4069080"/>
            <a:ext cx="2743200" cy="594360"/>
          </a:xfrm>
          <a:prstGeom prst="rect">
            <a:avLst/>
          </a:prstGeom>
          <a:solidFill>
            <a:srgbClr val="F5F8F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6303C"/>
                </a:solidFill>
              </a:defRPr>
            </a:pPr>
            <a:r>
              <a:t>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663440"/>
            <a:ext cx="1371600" cy="594360"/>
          </a:xfrm>
          <a:prstGeom prst="rect">
            <a:avLst/>
          </a:prstGeom>
          <a:solidFill>
            <a:srgbClr val="FFEBEB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BE3E3E"/>
                </a:solidFill>
              </a:defRPr>
            </a:pPr>
            <a: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663440"/>
            <a:ext cx="3200400" cy="594360"/>
          </a:xfrm>
          <a:prstGeom prst="rect">
            <a:avLst/>
          </a:prstGeom>
          <a:solidFill>
            <a:srgbClr val="FFEBEB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BE3E3E"/>
                </a:solidFill>
              </a:defRPr>
            </a:pPr>
            <a:r>
              <a:t>false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4663440"/>
            <a:ext cx="2743200" cy="594360"/>
          </a:xfrm>
          <a:prstGeom prst="rect">
            <a:avLst/>
          </a:prstGeom>
          <a:solidFill>
            <a:srgbClr val="FFEBEB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BE3E3E"/>
                </a:solidFill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97840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62B4D"/>
                </a:solidFill>
                <a:latin typeface="Aptos"/>
              </a:defRPr>
            </a:pPr>
            <a:r>
              <a:t>At i = 4, the condition is false, so the last element is skipped.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Fix 1: Use the Correct Loop Bound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To visit every array element, use i &lt; arr.length.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6492240" cy="283464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09728" tIns="146304" bIns="109728"/>
          <a:lstStyle/>
          <a:p>
            <a:pPr algn="ctr">
              <a:spcAft>
                <a:spcPts val="100"/>
              </a:spcAft>
              <a:defRPr sz="1900">
                <a:solidFill>
                  <a:srgbClr val="162B4D"/>
                </a:solidFill>
                <a:latin typeface="Consolas"/>
              </a:defRPr>
            </a:pPr>
            <a:r>
              <a:t>int[] arr = {10, 20, 30, 40, 50};</a:t>
            </a:r>
          </a:p>
          <a:p>
            <a:pPr>
              <a:spcAft>
                <a:spcPts val="100"/>
              </a:spcAft>
              <a:defRPr sz="1900">
                <a:solidFill>
                  <a:srgbClr val="162B4D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900">
                <a:solidFill>
                  <a:srgbClr val="162B4D"/>
                </a:solidFill>
                <a:latin typeface="Consolas"/>
              </a:defRPr>
            </a:pPr>
            <a:r>
              <a:t>for (int i = 0; i &lt; arr.length; i++) {</a:t>
            </a:r>
          </a:p>
          <a:p>
            <a:pPr>
              <a:spcAft>
                <a:spcPts val="100"/>
              </a:spcAft>
              <a:defRPr sz="1900">
                <a:solidFill>
                  <a:srgbClr val="162B4D"/>
                </a:solidFill>
                <a:latin typeface="Consolas"/>
              </a:defRPr>
            </a:pPr>
            <a:r>
              <a:t>    System.out.println(arr[i]);</a:t>
            </a:r>
          </a:p>
          <a:p>
            <a:pPr>
              <a:spcAft>
                <a:spcPts val="100"/>
              </a:spcAft>
              <a:defRPr sz="1900">
                <a:solidFill>
                  <a:srgbClr val="162B4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828800"/>
            <a:ext cx="32004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62B4D"/>
                </a:solidFill>
                <a:latin typeface="Aptos"/>
              </a:defRPr>
            </a:pPr>
            <a:r>
              <a:t>Now the output 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423160"/>
            <a:ext cx="3200400" cy="1554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100" b="1">
                <a:solidFill>
                  <a:srgbClr val="27875F"/>
                </a:solidFill>
                <a:latin typeface="Aptos"/>
              </a:defRPr>
            </a:pPr>
            <a:r>
              <a:t>10</a:t>
            </a:r>
            <a:br/>
            <a:r>
              <a:t>20</a:t>
            </a:r>
            <a:br/>
            <a:r>
              <a:t>30</a:t>
            </a:r>
            <a:br/>
            <a:r>
              <a:t>40</a:t>
            </a:r>
            <a:br/>
            <a: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983480"/>
            <a:ext cx="102412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100" b="1">
                <a:solidFill>
                  <a:srgbClr val="26303C"/>
                </a:solidFill>
                <a:latin typeface="Aptos"/>
              </a:defRPr>
            </a:pPr>
            <a:r>
              <a:t>Rule: valid indexes go from 0 through arr.length − 1.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What Is a Sliding Window?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A window is a group of consecutive elements processed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1">
                <a:solidFill>
                  <a:srgbClr val="162B4D"/>
                </a:solidFill>
                <a:latin typeface="Aptos"/>
              </a:defRPr>
            </a:pPr>
            <a:r>
              <a:t>Array: [10, 20, 30, 40, 50]     Window size k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105156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2331720"/>
            <a:ext cx="105156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331720"/>
            <a:ext cx="105156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331720"/>
            <a:ext cx="10515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62B4D"/>
                </a:solidFill>
              </a:defRPr>
            </a:pPr>
            <a:r>
              <a:t>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10515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62B4D"/>
                </a:solidFill>
              </a:defRPr>
            </a:pPr>
            <a: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50008"/>
            <a:ext cx="3474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6303C"/>
                </a:solidFill>
                <a:latin typeface="Aptos"/>
              </a:defRPr>
            </a:pPr>
            <a:r>
              <a:t>Window 1: 10 + 20 + 30 = 60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83279"/>
            <a:ext cx="10515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62B4D"/>
                </a:solidFill>
              </a:defRPr>
            </a:pPr>
            <a: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3383279"/>
            <a:ext cx="105156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383279"/>
            <a:ext cx="105156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383279"/>
            <a:ext cx="105156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83279"/>
            <a:ext cx="10515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62B4D"/>
                </a:solidFill>
              </a:defRPr>
            </a:pPr>
            <a: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401568"/>
            <a:ext cx="3474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6303C"/>
                </a:solidFill>
                <a:latin typeface="Aptos"/>
              </a:defRPr>
            </a:pPr>
            <a:r>
              <a:t>Window 2: 20 + 30 + 40 = 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34840"/>
            <a:ext cx="10515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62B4D"/>
                </a:solidFill>
              </a:defRPr>
            </a:pPr>
            <a:r>
              <a:t>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4434840"/>
            <a:ext cx="10515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62B4D"/>
                </a:solidFill>
              </a:defRPr>
            </a:pPr>
            <a:r>
              <a:t>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434840"/>
            <a:ext cx="105156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4434840"/>
            <a:ext cx="105156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34840"/>
            <a:ext cx="105156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453127"/>
            <a:ext cx="3474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6303C"/>
                </a:solidFill>
                <a:latin typeface="Aptos"/>
              </a:defRPr>
            </a:pPr>
            <a:r>
              <a:t>Window 3: 30 + 40 + 50 = 120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Example 2: Off-by-One in Window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Goal: sum the first k = 3 elements.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217920" cy="333756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09728" tIns="146304" bIns="109728"/>
          <a:lstStyle/>
          <a:p>
            <a:pPr algn="ctr">
              <a:spcAft>
                <a:spcPts val="100"/>
              </a:spcAft>
              <a:defRPr sz="1700">
                <a:solidFill>
                  <a:srgbClr val="162B4D"/>
                </a:solidFill>
                <a:latin typeface="Consolas"/>
              </a:defRPr>
            </a:pPr>
            <a:r>
              <a:t>int[] arr = {10, 20, 30, 40, 50};</a:t>
            </a:r>
          </a:p>
          <a:p>
            <a:pPr>
              <a:spcAft>
                <a:spcPts val="100"/>
              </a:spcAft>
              <a:defRPr sz="1700">
                <a:solidFill>
                  <a:srgbClr val="162B4D"/>
                </a:solidFill>
                <a:latin typeface="Consolas"/>
              </a:defRPr>
            </a:pPr>
            <a:r>
              <a:t>int k = 3;</a:t>
            </a:r>
          </a:p>
          <a:p>
            <a:pPr>
              <a:spcAft>
                <a:spcPts val="100"/>
              </a:spcAft>
              <a:defRPr sz="1700">
                <a:solidFill>
                  <a:srgbClr val="162B4D"/>
                </a:solidFill>
                <a:latin typeface="Consolas"/>
              </a:defRPr>
            </a:pPr>
            <a:r>
              <a:t>int sum = 0;</a:t>
            </a:r>
          </a:p>
          <a:p>
            <a:pPr>
              <a:spcAft>
                <a:spcPts val="100"/>
              </a:spcAft>
              <a:defRPr sz="1700">
                <a:solidFill>
                  <a:srgbClr val="162B4D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700">
                <a:solidFill>
                  <a:srgbClr val="162B4D"/>
                </a:solidFill>
                <a:latin typeface="Consolas"/>
              </a:defRPr>
            </a:pPr>
            <a:r>
              <a:t>for (int i = 0; i &lt; k - 1; i++) {</a:t>
            </a:r>
          </a:p>
          <a:p>
            <a:pPr>
              <a:spcAft>
                <a:spcPts val="100"/>
              </a:spcAft>
              <a:defRPr sz="1700">
                <a:solidFill>
                  <a:srgbClr val="162B4D"/>
                </a:solidFill>
                <a:latin typeface="Consolas"/>
              </a:defRPr>
            </a:pPr>
            <a:r>
              <a:t>    sum += arr[i];</a:t>
            </a:r>
          </a:p>
          <a:p>
            <a:pPr>
              <a:spcAft>
                <a:spcPts val="100"/>
              </a:spcAft>
              <a:defRPr sz="1700">
                <a:solidFill>
                  <a:srgbClr val="162B4D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700">
                <a:solidFill>
                  <a:srgbClr val="162B4D"/>
                </a:solidFill>
                <a:latin typeface="Consolas"/>
              </a:defRPr>
            </a:pPr>
            <a:r>
              <a:t>System.out.println(sum);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783080"/>
            <a:ext cx="3840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300" b="1">
                <a:solidFill>
                  <a:srgbClr val="BE3E3E"/>
                </a:solidFill>
                <a:latin typeface="Aptos"/>
              </a:defRPr>
            </a:pPr>
            <a:r>
              <a:t>Actual output: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606040"/>
            <a:ext cx="40233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300" b="1">
                <a:solidFill>
                  <a:srgbClr val="27875F"/>
                </a:solidFill>
                <a:latin typeface="Aptos"/>
              </a:defRPr>
            </a:pPr>
            <a:r>
              <a:t>Expected output: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657600"/>
            <a:ext cx="3931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0">
                <a:solidFill>
                  <a:srgbClr val="26303C"/>
                </a:solidFill>
                <a:latin typeface="Aptos"/>
              </a:defRPr>
            </a:pPr>
            <a:r>
              <a:t>The loop adds only 10 + 20. It processes 2 elements instead of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Fix 2: Process Exactly k Elements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Use i &lt; k when reading the first k elements.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6583680" cy="333756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09728" tIns="146304" bIns="109728"/>
          <a:lstStyle/>
          <a:p>
            <a:pPr algn="ctr"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int[] arr = {10, 20, 30, 40, 50};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int k = 3;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int sum = 0;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for (int i = 0; i &lt; k; i++) {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    sum += arr[i];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System.out.println(sum);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3474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62B4D"/>
                </a:solidFill>
                <a:latin typeface="Aptos"/>
              </a:defRPr>
            </a:pPr>
            <a:r>
              <a:t>Indexes visited: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3474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500" b="1">
                <a:solidFill>
                  <a:srgbClr val="2A69B4"/>
                </a:solidFill>
                <a:latin typeface="Aptos"/>
              </a:defRPr>
            </a:pPr>
            <a:r>
              <a:t>0, 1, 2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383280"/>
            <a:ext cx="3474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500" b="1">
                <a:solidFill>
                  <a:srgbClr val="27875F"/>
                </a:solidFill>
                <a:latin typeface="Aptos"/>
              </a:defRPr>
            </a:pPr>
            <a:r>
              <a:t>Sum =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26303C"/>
                </a:solidFill>
                <a:latin typeface="Aptos"/>
              </a:defRPr>
            </a:pPr>
            <a:r>
              <a:t>For a window of size k, count the elements: the window must contain exactly k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Why Are These the Same Bug Pattern?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Different situations, same underlying boundary mistake.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310896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5720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300" b="1">
                <a:solidFill>
                  <a:srgbClr val="162B4D"/>
                </a:solidFill>
                <a:latin typeface="Aptos"/>
              </a:defRPr>
            </a:pPr>
            <a:r>
              <a:t>Loop 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4572000" cy="1645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0">
                <a:solidFill>
                  <a:srgbClr val="26303C"/>
                </a:solidFill>
                <a:latin typeface="Aptos"/>
              </a:defRPr>
            </a:pPr>
            <a:r>
              <a:t>Wanted: visit 5 elements</a:t>
            </a:r>
            <a:br/>
            <a:r>
              <a:t>Got: 4 elements</a:t>
            </a:r>
            <a:br/>
            <a:br/>
            <a:r>
              <a:t>One element is skipped.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074920" cy="310896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5720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300" b="1">
                <a:solidFill>
                  <a:srgbClr val="162B4D"/>
                </a:solidFill>
                <a:latin typeface="Aptos"/>
              </a:defRPr>
            </a:pPr>
            <a:r>
              <a:t>Window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97480"/>
            <a:ext cx="4572000" cy="1645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0">
                <a:solidFill>
                  <a:srgbClr val="26303C"/>
                </a:solidFill>
                <a:latin typeface="Aptos"/>
              </a:defRPr>
            </a:pPr>
            <a:r>
              <a:t>Wanted: process 3 elements</a:t>
            </a:r>
            <a:br/>
            <a:r>
              <a:t>Got: 2 elements</a:t>
            </a:r>
            <a:br/>
            <a:br/>
            <a:r>
              <a:t>One element is skipped.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2412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200" b="1">
                <a:solidFill>
                  <a:srgbClr val="2A69B4"/>
                </a:solidFill>
                <a:latin typeface="Aptos"/>
              </a:defRPr>
            </a:pPr>
            <a:r>
              <a:t>Shared question: “Am I including the correct number of elements?”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Where Else Can This Bug Appear?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Recognize the pattern even when the problem wording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480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Strings: accidentally omit the final character of a substring.</a:t>
            </a:r>
          </a:p>
          <a:p>
            <a:pPr>
              <a:spcAft>
                <a:spcPts val="14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Two pointers: stop one position before the pointers should meet.</a:t>
            </a:r>
          </a:p>
          <a:p>
            <a:pPr>
              <a:spcAft>
                <a:spcPts val="14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Binary search: use an incorrect inclusive or exclusive boundary.</a:t>
            </a:r>
          </a:p>
          <a:p>
            <a:pPr>
              <a:spcAft>
                <a:spcPts val="14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Sliding window: include k − 1 or k + 1 elements instead of k.</a:t>
            </a:r>
          </a:p>
          <a:p>
            <a:pPr>
              <a:spcAft>
                <a:spcPts val="14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Array loops: skip the last element or access an invalid index.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A 10-Second Boundary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Before running your code, check these three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00200"/>
            <a:ext cx="621792" cy="621792"/>
          </a:xfrm>
          <a:prstGeom prst="ellipse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581912"/>
            <a:ext cx="42062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62B4D"/>
                </a:solidFill>
                <a:latin typeface="Aptos"/>
              </a:defRPr>
            </a:pPr>
            <a:r>
              <a:t>What is the first index?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581912"/>
            <a:ext cx="56692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26303C"/>
                </a:solidFill>
                <a:latin typeface="Aptos"/>
              </a:defRPr>
            </a:pPr>
            <a:r>
              <a:t>Usually 0 for a Java array.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34640"/>
            <a:ext cx="621792" cy="621792"/>
          </a:xfrm>
          <a:prstGeom prst="ellipse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816352"/>
            <a:ext cx="42062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62B4D"/>
                </a:solidFill>
                <a:latin typeface="Aptos"/>
              </a:defRPr>
            </a:pPr>
            <a:r>
              <a:t>What is the last valid index?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816352"/>
            <a:ext cx="56692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26303C"/>
                </a:solidFill>
                <a:latin typeface="Aptos"/>
              </a:defRPr>
            </a:pPr>
            <a:r>
              <a:t>arr.length − 1.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69080"/>
            <a:ext cx="621792" cy="621792"/>
          </a:xfrm>
          <a:prstGeom prst="ellipse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050792"/>
            <a:ext cx="42062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62B4D"/>
                </a:solidFill>
                <a:latin typeface="Aptos"/>
              </a:defRPr>
            </a:pPr>
            <a:r>
              <a:t>How many elements should be processed?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050792"/>
            <a:ext cx="56692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26303C"/>
                </a:solidFill>
                <a:latin typeface="Aptos"/>
              </a:defRPr>
            </a:pPr>
            <a:r>
              <a:t>Count them manually; a size-k window needs k elements.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0584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900" b="1">
                <a:solidFill>
                  <a:srgbClr val="27875F"/>
                </a:solidFill>
                <a:latin typeface="Aptos"/>
              </a:defRPr>
            </a:pPr>
            <a:r>
              <a:t>Trace the first iteration and the final iteration manually.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Practice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Ask learners to predict the output before revealing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669280" cy="237744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09728" tIns="146304" bIns="109728"/>
          <a:lstStyle/>
          <a:p>
            <a:pPr algn="ctr"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int[] arr = {5, 10, 15, 20};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for (int i = 0; i &lt; arr.length - 1; i++) {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    System.out.println(arr[i]);</a:t>
            </a:r>
          </a:p>
          <a:p>
            <a:pPr>
              <a:spcAft>
                <a:spcPts val="100"/>
              </a:spcAft>
              <a:defRPr sz="1800">
                <a:solidFill>
                  <a:srgbClr val="162B4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83080"/>
            <a:ext cx="42062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1">
                <a:solidFill>
                  <a:srgbClr val="162B4D"/>
                </a:solidFill>
                <a:latin typeface="Aptos"/>
              </a:defRPr>
            </a:pPr>
            <a:r>
              <a:t>What is the bug?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423160"/>
            <a:ext cx="4297680" cy="2194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A. It prints every element correctly.</a:t>
            </a:r>
          </a:p>
          <a:p>
            <a:pPr>
              <a:spcAft>
                <a:spcPts val="12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B. It misses the last element.</a:t>
            </a:r>
          </a:p>
          <a:p>
            <a:pPr>
              <a:spcAft>
                <a:spcPts val="12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C. It prints one extra element.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104241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2A69B4"/>
                </a:solidFill>
                <a:latin typeface="Aptos"/>
              </a:defRPr>
            </a:pPr>
            <a:r>
              <a:t>Think: arr.length = 4, so the condition becomes i &lt;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"/>
              </a:defRPr>
            </a:pPr>
            <a:r>
              <a:t>Practice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4707D"/>
                </a:solidFill>
                <a:latin typeface="Aptos"/>
              </a:defRPr>
            </a:pPr>
            <a:r>
              <a:t>Correct answer: B — it misses the last element.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4707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8463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62B4D"/>
                </a:solidFill>
                <a:latin typeface="Aptos"/>
              </a:defRPr>
            </a:pPr>
            <a:r>
              <a:t>Actual output: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743200" cy="1463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400" b="1">
                <a:solidFill>
                  <a:srgbClr val="BE3E3E"/>
                </a:solidFill>
                <a:latin typeface="Aptos"/>
              </a:defRPr>
            </a:pPr>
            <a:r>
              <a:t>5</a:t>
            </a:r>
            <a:br/>
            <a:r>
              <a:t>10</a:t>
            </a:r>
            <a:br/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737360"/>
            <a:ext cx="4754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62B4D"/>
                </a:solidFill>
                <a:latin typeface="Aptos"/>
              </a:defRPr>
            </a:pPr>
            <a:r>
              <a:t>Correct loop: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2240280"/>
            <a:ext cx="521208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09728" tIns="146304" bIns="109728"/>
          <a:lstStyle/>
          <a:p>
            <a:pPr algn="ctr">
              <a:spcAft>
                <a:spcPts val="100"/>
              </a:spcAft>
              <a:defRPr sz="1600">
                <a:solidFill>
                  <a:srgbClr val="162B4D"/>
                </a:solidFill>
                <a:latin typeface="Consolas"/>
              </a:defRPr>
            </a:pPr>
            <a:r>
              <a:t>for (int i = 0; i &lt; arr.length; i++) {</a:t>
            </a:r>
          </a:p>
          <a:p>
            <a:pPr>
              <a:spcAft>
                <a:spcPts val="100"/>
              </a:spcAft>
              <a:defRPr sz="1600">
                <a:solidFill>
                  <a:srgbClr val="162B4D"/>
                </a:solidFill>
                <a:latin typeface="Consolas"/>
              </a:defRPr>
            </a:pPr>
            <a:r>
              <a:t>    System.out.println(arr[i]);</a:t>
            </a:r>
          </a:p>
          <a:p>
            <a:pPr>
              <a:spcAft>
                <a:spcPts val="100"/>
              </a:spcAft>
              <a:defRPr sz="1600">
                <a:solidFill>
                  <a:srgbClr val="162B4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1024128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26303C"/>
                </a:solidFill>
                <a:latin typeface="Aptos"/>
              </a:defRPr>
            </a:pPr>
            <a:r>
              <a:t>The value 20 is at index 3. The incorrect condition stops before index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Coding Interview Fundamentals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070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241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300" b="1">
                <a:solidFill>
                  <a:srgbClr val="DAE8F8"/>
                </a:solidFill>
                <a:latin typeface="Aptos"/>
              </a:defRPr>
            </a:pPr>
            <a:r>
              <a:t>Off-by-one = a boundary or count is wrong by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104241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Array traversal: usually i &lt; arr.length.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104241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Window of size k: process exactly k elements.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4241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0">
                <a:solidFill>
                  <a:srgbClr val="DAE8F8"/>
                </a:solidFill>
                <a:latin typeface="Aptos"/>
              </a:defRPr>
            </a:pPr>
            <a:r>
              <a:t>Count the elements. Check the first and last indexes. Trace the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2648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C1DAF5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